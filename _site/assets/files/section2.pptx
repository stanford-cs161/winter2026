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d56c6dab2b_0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1d56c6dab2b_0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d56c6dab2b_0_1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g1d56c6dab2b_0_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d56c6dab2b_0_6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1d56c6dab2b_0_6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d56c6dab2b_0_2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1d56c6dab2b_0_2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d56c6dab2b_0_4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1d56c6dab2b_0_4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d56c6dab2b_0_4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1d56c6dab2b_0_4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d56c6dab2b_0_4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1d56c6dab2b_0_4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d56c6dab2b_0_4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1d56c6dab2b_0_4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d56c6dab2b_0_3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1d56c6dab2b_0_3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d56c6dab2b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d56c6dab2b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d56c6dab2b_0_2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1d56c6dab2b_0_2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d56c6dab2b_0_4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1d56c6dab2b_0_4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d56c6dab2b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d56c6dab2b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d56c6dab2b_0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d56c6dab2b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d56c6dab2b_0_4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1d56c6dab2b_0_4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d56c6dab2b_0_4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1d56c6dab2b_0_4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d56c6dab2b_0_4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1d56c6dab2b_0_4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d56c6dab2b_0_5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1d56c6dab2b_0_5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d56c6dab2b_0_5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1d56c6dab2b_0_5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d56c6dab2b_0_5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1d56c6dab2b_0_5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d56c6dab2b_0_5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1d56c6dab2b_0_5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d56c6dab2b_0_5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1d56c6dab2b_0_5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d56c6dab2b_0_6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1d56c6dab2b_0_6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841772"/>
            <a:ext cx="77724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8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2" y="1878806"/>
            <a:ext cx="38682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70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70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685800" y="841772"/>
            <a:ext cx="77724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"/>
              <a:t>CS 161 - Section 2</a:t>
            </a:r>
            <a:endParaRPr/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"/>
              <a:t>CA : [Name of the CA]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628650" y="205383"/>
            <a:ext cx="78867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Section 2 agenda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628650" y="1026914"/>
            <a:ext cx="7886700" cy="24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/>
              <a:t>Recurrence</a:t>
            </a:r>
            <a:r>
              <a:rPr lang="en"/>
              <a:t> Relations</a:t>
            </a:r>
            <a:endParaRPr/>
          </a:p>
          <a:p>
            <a:pPr indent="-2921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/>
              <a:t>Master Theorem</a:t>
            </a:r>
            <a:endParaRPr/>
          </a:p>
          <a:p>
            <a:pPr indent="-2921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/>
              <a:t>Substitution Method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Space Complexity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1488777" y="1839654"/>
            <a:ext cx="6156900" cy="7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/>
              <a:t>Recurrence</a:t>
            </a:r>
            <a:r>
              <a:rPr lang="en"/>
              <a:t> Relations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/>
        </p:nvSpPr>
        <p:spPr>
          <a:xfrm>
            <a:off x="471487" y="180334"/>
            <a:ext cx="8160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Recurrence Relations</a:t>
            </a:r>
            <a:endParaRPr/>
          </a:p>
        </p:txBody>
      </p:sp>
      <p:sp>
        <p:nvSpPr>
          <p:cNvPr id="147" name="Google Shape;147;p28"/>
          <p:cNvSpPr txBox="1"/>
          <p:nvPr/>
        </p:nvSpPr>
        <p:spPr>
          <a:xfrm>
            <a:off x="471487" y="1254583"/>
            <a:ext cx="81600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marR="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We explored the power of Divide and Conquer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1371600" marR="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○"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breaking a big problem into a collection of smaller problems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1371600" marR="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○"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ombining solutions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We usually perform this breaking </a:t>
            </a: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recursively</a:t>
            </a: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 until a base case is reached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/>
        </p:nvSpPr>
        <p:spPr>
          <a:xfrm>
            <a:off x="471487" y="180334"/>
            <a:ext cx="8160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Recurrence Relations</a:t>
            </a:r>
            <a:endParaRPr/>
          </a:p>
        </p:txBody>
      </p:sp>
      <p:sp>
        <p:nvSpPr>
          <p:cNvPr id="153" name="Google Shape;153;p29"/>
          <p:cNvSpPr txBox="1"/>
          <p:nvPr/>
        </p:nvSpPr>
        <p:spPr>
          <a:xfrm>
            <a:off x="471487" y="1254583"/>
            <a:ext cx="81600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marR="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Advantage: smaller problems are easier to solve!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Disadvantage: how do we reason about runtime?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marR="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○"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Might only know runtime of subproblems relative to the bigger problem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marR="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○"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We can know “subproblems can be solved twice as fast as the big problem” but won’t know what the big problem runtime is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/>
          <p:nvPr/>
        </p:nvSpPr>
        <p:spPr>
          <a:xfrm>
            <a:off x="471487" y="180334"/>
            <a:ext cx="8160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Recurrence Relations</a:t>
            </a:r>
            <a:endParaRPr/>
          </a:p>
        </p:txBody>
      </p:sp>
      <p:sp>
        <p:nvSpPr>
          <p:cNvPr id="159" name="Google Shape;159;p30"/>
          <p:cNvSpPr txBox="1"/>
          <p:nvPr/>
        </p:nvSpPr>
        <p:spPr>
          <a:xfrm>
            <a:off x="492012" y="1084908"/>
            <a:ext cx="81600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T(n) = 2*T(n/2) + O(n)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e break down the problem runtime T(n) into what we call a “</a:t>
            </a: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recurrence</a:t>
            </a: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 relation”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T(n) = </a:t>
            </a: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2*T(n/2) + O(n)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T(n) = 2*[2*T(n/4) + O(n)] + O(n)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T(n) = 2*[2*[2*T(n/8) + O(n)]+ O(n)] + O(n)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/>
        </p:nvSpPr>
        <p:spPr>
          <a:xfrm>
            <a:off x="471487" y="180334"/>
            <a:ext cx="8160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Recurrence Relations</a:t>
            </a:r>
            <a:endParaRPr/>
          </a:p>
        </p:txBody>
      </p:sp>
      <p:sp>
        <p:nvSpPr>
          <p:cNvPr id="165" name="Google Shape;165;p31"/>
          <p:cNvSpPr txBox="1"/>
          <p:nvPr/>
        </p:nvSpPr>
        <p:spPr>
          <a:xfrm>
            <a:off x="492012" y="1084908"/>
            <a:ext cx="81600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When do we stop the recursive definition for T(n)?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Don’t know properties of 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Don’t know the exact levels of recursion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We resort to solving the </a:t>
            </a: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recurrence</a:t>
            </a: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 relation directly!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methods:</a:t>
            </a:r>
            <a:endParaRPr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Master Method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 Substitution Method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/>
        </p:nvSpPr>
        <p:spPr>
          <a:xfrm>
            <a:off x="471487" y="180334"/>
            <a:ext cx="8160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Recurrence Relations</a:t>
            </a:r>
            <a:endParaRPr/>
          </a:p>
        </p:txBody>
      </p:sp>
      <p:sp>
        <p:nvSpPr>
          <p:cNvPr id="171" name="Google Shape;171;p32"/>
          <p:cNvSpPr txBox="1"/>
          <p:nvPr/>
        </p:nvSpPr>
        <p:spPr>
          <a:xfrm>
            <a:off x="471475" y="970775"/>
            <a:ext cx="83949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“Master Theorem” Method: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Closed form solution!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Easily applicable with knowledge of how the subproblems are formed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Doesn’t always work :(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Substitution</a:t>
            </a: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 Method: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Generalized method to solve </a:t>
            </a: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recurrence</a:t>
            </a: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 relations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Requires more manual math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Always works! :D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>
            <p:ph type="title"/>
          </p:nvPr>
        </p:nvSpPr>
        <p:spPr>
          <a:xfrm>
            <a:off x="628650" y="205383"/>
            <a:ext cx="78867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The Master Method</a:t>
            </a:r>
            <a:endParaRPr/>
          </a:p>
        </p:txBody>
      </p:sp>
      <p:sp>
        <p:nvSpPr>
          <p:cNvPr id="177" name="Google Shape;177;p33"/>
          <p:cNvSpPr txBox="1"/>
          <p:nvPr/>
        </p:nvSpPr>
        <p:spPr>
          <a:xfrm>
            <a:off x="166506" y="3511795"/>
            <a:ext cx="46572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 parameters: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 : number of subproblems</a:t>
            </a:r>
            <a:endParaRPr sz="20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b : factor by which input size shrinks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6400"/>
                </a:solidFill>
                <a:latin typeface="Calibri"/>
                <a:ea typeface="Calibri"/>
                <a:cs typeface="Calibri"/>
                <a:sym typeface="Calibri"/>
              </a:rPr>
              <a:t>d : need to do n</a:t>
            </a:r>
            <a:r>
              <a:rPr baseline="30000" lang="en" sz="2000">
                <a:solidFill>
                  <a:srgbClr val="FF64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" sz="2000">
                <a:solidFill>
                  <a:srgbClr val="FF6400"/>
                </a:solidFill>
                <a:latin typeface="Calibri"/>
                <a:ea typeface="Calibri"/>
                <a:cs typeface="Calibri"/>
                <a:sym typeface="Calibri"/>
              </a:rPr>
              <a:t> work to create all the subproblems and combine their solutions</a:t>
            </a:r>
            <a:r>
              <a:rPr lang="en" sz="20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</p:txBody>
      </p:sp>
      <p:sp>
        <p:nvSpPr>
          <p:cNvPr id="178" name="Google Shape;178;p33"/>
          <p:cNvSpPr txBox="1"/>
          <p:nvPr/>
        </p:nvSpPr>
        <p:spPr>
          <a:xfrm>
            <a:off x="5630450" y="0"/>
            <a:ext cx="3301500" cy="107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889" l="0" r="-548" t="-346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79" name="Google Shape;179;p33"/>
          <p:cNvCxnSpPr>
            <a:stCxn id="178" idx="2"/>
          </p:cNvCxnSpPr>
          <p:nvPr/>
        </p:nvCxnSpPr>
        <p:spPr>
          <a:xfrm flipH="1">
            <a:off x="4711100" y="1077000"/>
            <a:ext cx="2570100" cy="453900"/>
          </a:xfrm>
          <a:prstGeom prst="straightConnector1">
            <a:avLst/>
          </a:prstGeom>
          <a:noFill/>
          <a:ln cap="flat" cmpd="sng" w="9525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0" name="Google Shape;180;p33"/>
          <p:cNvSpPr txBox="1"/>
          <p:nvPr/>
        </p:nvSpPr>
        <p:spPr>
          <a:xfrm>
            <a:off x="5993170" y="3847161"/>
            <a:ext cx="2576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Requires all subproblems to be the same size!</a:t>
            </a:r>
            <a:endParaRPr/>
          </a:p>
        </p:txBody>
      </p:sp>
      <p:sp>
        <p:nvSpPr>
          <p:cNvPr id="181" name="Google Shape;181;p33"/>
          <p:cNvSpPr txBox="1"/>
          <p:nvPr>
            <p:ph idx="12" type="sldNum"/>
          </p:nvPr>
        </p:nvSpPr>
        <p:spPr>
          <a:xfrm>
            <a:off x="6457950" y="3575447"/>
            <a:ext cx="20574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33"/>
          <p:cNvSpPr txBox="1"/>
          <p:nvPr/>
        </p:nvSpPr>
        <p:spPr>
          <a:xfrm>
            <a:off x="628650" y="1369275"/>
            <a:ext cx="7886700" cy="4351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38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025" y="2225750"/>
            <a:ext cx="6061184" cy="150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4"/>
          <p:cNvPicPr preferRelativeResize="0"/>
          <p:nvPr/>
        </p:nvPicPr>
        <p:blipFill rotWithShape="1">
          <a:blip r:embed="rId3">
            <a:alphaModFix/>
          </a:blip>
          <a:srcRect b="27567" l="0" r="0" t="0"/>
          <a:stretch/>
        </p:blipFill>
        <p:spPr>
          <a:xfrm>
            <a:off x="579675" y="1541485"/>
            <a:ext cx="5029950" cy="350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4"/>
          <p:cNvPicPr preferRelativeResize="0"/>
          <p:nvPr/>
        </p:nvPicPr>
        <p:blipFill rotWithShape="1">
          <a:blip r:embed="rId4">
            <a:alphaModFix/>
          </a:blip>
          <a:srcRect b="2250" l="0" r="47712" t="1972"/>
          <a:stretch/>
        </p:blipFill>
        <p:spPr>
          <a:xfrm>
            <a:off x="5851575" y="1443025"/>
            <a:ext cx="2365525" cy="370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25" y="99525"/>
            <a:ext cx="5404249" cy="13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5"/>
          <p:cNvSpPr txBox="1"/>
          <p:nvPr>
            <p:ph type="title"/>
          </p:nvPr>
        </p:nvSpPr>
        <p:spPr>
          <a:xfrm>
            <a:off x="380827" y="26137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The Substitution Method</a:t>
            </a:r>
            <a:endParaRPr/>
          </a:p>
        </p:txBody>
      </p:sp>
      <p:sp>
        <p:nvSpPr>
          <p:cNvPr id="196" name="Google Shape;196;p35"/>
          <p:cNvSpPr txBox="1"/>
          <p:nvPr>
            <p:ph idx="1" type="body"/>
          </p:nvPr>
        </p:nvSpPr>
        <p:spPr>
          <a:xfrm>
            <a:off x="380827" y="1406626"/>
            <a:ext cx="8382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Master Theorem is extremely </a:t>
            </a:r>
            <a:r>
              <a:rPr lang="en"/>
              <a:t>convenient</a:t>
            </a:r>
            <a:r>
              <a:rPr lang="en"/>
              <a:t>, but is in reality just a </a:t>
            </a:r>
            <a:r>
              <a:rPr lang="en"/>
              <a:t>closed</a:t>
            </a:r>
            <a:r>
              <a:rPr lang="en"/>
              <a:t> form solution to a calculation that could be made by hand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Substitution is the generalized procedure to solve any </a:t>
            </a:r>
            <a:r>
              <a:rPr lang="en"/>
              <a:t>recurrence</a:t>
            </a:r>
            <a:r>
              <a:rPr lang="en"/>
              <a:t> relation, even in cases when Master Theorem fails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Soon we will explore when MT fails</a:t>
            </a:r>
            <a:endParaRPr/>
          </a:p>
        </p:txBody>
      </p:sp>
      <p:sp>
        <p:nvSpPr>
          <p:cNvPr id="197" name="Google Shape;197;p35"/>
          <p:cNvSpPr txBox="1"/>
          <p:nvPr>
            <p:ph idx="12" type="sldNum"/>
          </p:nvPr>
        </p:nvSpPr>
        <p:spPr>
          <a:xfrm>
            <a:off x="6457950" y="3575447"/>
            <a:ext cx="20574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6"/>
          <p:cNvSpPr txBox="1"/>
          <p:nvPr>
            <p:ph type="title"/>
          </p:nvPr>
        </p:nvSpPr>
        <p:spPr>
          <a:xfrm>
            <a:off x="380827" y="26137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The Substitution Method</a:t>
            </a:r>
            <a:endParaRPr/>
          </a:p>
        </p:txBody>
      </p:sp>
      <p:sp>
        <p:nvSpPr>
          <p:cNvPr id="203" name="Google Shape;203;p36"/>
          <p:cNvSpPr txBox="1"/>
          <p:nvPr>
            <p:ph idx="1" type="body"/>
          </p:nvPr>
        </p:nvSpPr>
        <p:spPr>
          <a:xfrm>
            <a:off x="380827" y="1406626"/>
            <a:ext cx="8382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"/>
              <a:t>Guess what the answer is.</a:t>
            </a:r>
            <a:endParaRPr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Try a few levels of recursion and see if you spot a pattern</a:t>
            </a:r>
            <a:endParaRPr/>
          </a:p>
          <a:p>
            <a:pPr indent="-514350" lvl="0" marL="51435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"/>
              <a:t>Formally prove that that’s what the answer is.</a:t>
            </a:r>
            <a:endParaRPr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Often using induction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From MT we know T(n) = 2*T(n/2) + n = O(n logn)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How do we show it without the MT?</a:t>
            </a:r>
            <a:endParaRPr/>
          </a:p>
        </p:txBody>
      </p:sp>
      <p:sp>
        <p:nvSpPr>
          <p:cNvPr id="204" name="Google Shape;204;p36"/>
          <p:cNvSpPr txBox="1"/>
          <p:nvPr>
            <p:ph idx="12" type="sldNum"/>
          </p:nvPr>
        </p:nvSpPr>
        <p:spPr>
          <a:xfrm>
            <a:off x="6457950" y="3575447"/>
            <a:ext cx="20574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895512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8925" y="3726850"/>
            <a:ext cx="6365076" cy="1416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1" name="Google Shape;211;p37"/>
          <p:cNvCxnSpPr/>
          <p:nvPr/>
        </p:nvCxnSpPr>
        <p:spPr>
          <a:xfrm>
            <a:off x="4350550" y="969775"/>
            <a:ext cx="1107300" cy="2750400"/>
          </a:xfrm>
          <a:prstGeom prst="straightConnector1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2" name="Google Shape;212;p37"/>
          <p:cNvCxnSpPr/>
          <p:nvPr/>
        </p:nvCxnSpPr>
        <p:spPr>
          <a:xfrm flipH="1">
            <a:off x="2314500" y="4443400"/>
            <a:ext cx="1723500" cy="26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3" name="Google Shape;213;p37"/>
          <p:cNvSpPr txBox="1"/>
          <p:nvPr/>
        </p:nvSpPr>
        <p:spPr>
          <a:xfrm>
            <a:off x="1126925" y="4648800"/>
            <a:ext cx="514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">
                <a:latin typeface="Calibri"/>
                <a:ea typeface="Calibri"/>
                <a:cs typeface="Calibri"/>
                <a:sym typeface="Calibri"/>
              </a:rPr>
              <a:t>umber of levels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7"/>
          <p:cNvSpPr/>
          <p:nvPr/>
        </p:nvSpPr>
        <p:spPr>
          <a:xfrm>
            <a:off x="6850850" y="4345175"/>
            <a:ext cx="1536000" cy="598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900" y="146675"/>
            <a:ext cx="7153852" cy="115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8"/>
          <p:cNvPicPr preferRelativeResize="0"/>
          <p:nvPr/>
        </p:nvPicPr>
        <p:blipFill rotWithShape="1">
          <a:blip r:embed="rId4">
            <a:alphaModFix/>
          </a:blip>
          <a:srcRect b="2799" l="0" r="0" t="0"/>
          <a:stretch/>
        </p:blipFill>
        <p:spPr>
          <a:xfrm>
            <a:off x="643575" y="1094775"/>
            <a:ext cx="7564875" cy="395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9"/>
          <p:cNvSpPr txBox="1"/>
          <p:nvPr>
            <p:ph type="title"/>
          </p:nvPr>
        </p:nvSpPr>
        <p:spPr>
          <a:xfrm>
            <a:off x="1488777" y="1839654"/>
            <a:ext cx="6156900" cy="7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/>
              <a:t>Space Complexity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0"/>
          <p:cNvSpPr txBox="1"/>
          <p:nvPr>
            <p:ph type="title"/>
          </p:nvPr>
        </p:nvSpPr>
        <p:spPr>
          <a:xfrm>
            <a:off x="380827" y="26137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Warm-up</a:t>
            </a:r>
            <a:endParaRPr/>
          </a:p>
        </p:txBody>
      </p:sp>
      <p:sp>
        <p:nvSpPr>
          <p:cNvPr id="231" name="Google Shape;231;p40"/>
          <p:cNvSpPr txBox="1"/>
          <p:nvPr>
            <p:ph idx="1" type="body"/>
          </p:nvPr>
        </p:nvSpPr>
        <p:spPr>
          <a:xfrm>
            <a:off x="380827" y="1406626"/>
            <a:ext cx="8382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/>
              <a:t>How many </a:t>
            </a:r>
            <a:r>
              <a:rPr b="1" lang="en"/>
              <a:t>bits</a:t>
            </a:r>
            <a:r>
              <a:rPr lang="en"/>
              <a:t> do you need to store a number between 1 and n?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Char char="•"/>
            </a:pPr>
            <a:r>
              <a:rPr lang="en">
                <a:solidFill>
                  <a:schemeClr val="accent4"/>
                </a:solidFill>
              </a:rPr>
              <a:t>Answer is log(n), since k bits can represent all numbers between 1 and 2</a:t>
            </a:r>
            <a:r>
              <a:rPr baseline="30000" lang="en">
                <a:solidFill>
                  <a:schemeClr val="accent4"/>
                </a:solidFill>
              </a:rPr>
              <a:t>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/>
              <a:t>How many </a:t>
            </a:r>
            <a:r>
              <a:rPr b="1" lang="en"/>
              <a:t>digits</a:t>
            </a:r>
            <a:r>
              <a:rPr lang="en"/>
              <a:t> do you need to represent that same number?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Char char="•"/>
            </a:pPr>
            <a:r>
              <a:rPr lang="en">
                <a:solidFill>
                  <a:schemeClr val="accent4"/>
                </a:solidFill>
              </a:rPr>
              <a:t>log</a:t>
            </a:r>
            <a:r>
              <a:rPr baseline="-25000" lang="en">
                <a:solidFill>
                  <a:schemeClr val="accent4"/>
                </a:solidFill>
              </a:rPr>
              <a:t>10</a:t>
            </a:r>
            <a:r>
              <a:rPr lang="en">
                <a:solidFill>
                  <a:schemeClr val="accent4"/>
                </a:solidFill>
              </a:rPr>
              <a:t>(n)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/>
              <a:t>What about </a:t>
            </a:r>
            <a:r>
              <a:rPr b="1" lang="en"/>
              <a:t>base-r digits</a:t>
            </a:r>
            <a:r>
              <a:rPr lang="en"/>
              <a:t>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Char char="•"/>
            </a:pPr>
            <a:r>
              <a:rPr lang="en">
                <a:solidFill>
                  <a:schemeClr val="accent4"/>
                </a:solidFill>
              </a:rPr>
              <a:t>log</a:t>
            </a:r>
            <a:r>
              <a:rPr baseline="-25000" lang="en">
                <a:solidFill>
                  <a:schemeClr val="accent4"/>
                </a:solidFill>
              </a:rPr>
              <a:t>r</a:t>
            </a:r>
            <a:r>
              <a:rPr lang="en">
                <a:solidFill>
                  <a:schemeClr val="accent4"/>
                </a:solidFill>
              </a:rPr>
              <a:t>(n)</a:t>
            </a:r>
            <a:endParaRPr/>
          </a:p>
        </p:txBody>
      </p:sp>
      <p:sp>
        <p:nvSpPr>
          <p:cNvPr id="232" name="Google Shape;232;p40"/>
          <p:cNvSpPr txBox="1"/>
          <p:nvPr>
            <p:ph idx="12" type="sldNum"/>
          </p:nvPr>
        </p:nvSpPr>
        <p:spPr>
          <a:xfrm>
            <a:off x="6457950" y="3575447"/>
            <a:ext cx="20574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40"/>
          <p:cNvSpPr txBox="1"/>
          <p:nvPr/>
        </p:nvSpPr>
        <p:spPr>
          <a:xfrm>
            <a:off x="5813331" y="4029618"/>
            <a:ext cx="2702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Keep this in the back of your mind for Week 3!</a:t>
            </a:r>
            <a:endParaRPr sz="1600">
              <a:solidFill>
                <a:srgbClr val="89361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1"/>
          <p:cNvSpPr txBox="1"/>
          <p:nvPr>
            <p:ph type="title"/>
          </p:nvPr>
        </p:nvSpPr>
        <p:spPr>
          <a:xfrm>
            <a:off x="380827" y="26137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Space complexity of an algorithm</a:t>
            </a:r>
            <a:endParaRPr/>
          </a:p>
        </p:txBody>
      </p:sp>
      <p:sp>
        <p:nvSpPr>
          <p:cNvPr id="239" name="Google Shape;239;p41"/>
          <p:cNvSpPr txBox="1"/>
          <p:nvPr>
            <p:ph idx="1" type="body"/>
          </p:nvPr>
        </p:nvSpPr>
        <p:spPr>
          <a:xfrm>
            <a:off x="380827" y="1406626"/>
            <a:ext cx="8382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/>
              <a:t>Definition: the </a:t>
            </a:r>
            <a:r>
              <a:rPr b="1" lang="en"/>
              <a:t>space complexity</a:t>
            </a:r>
            <a:r>
              <a:rPr lang="en"/>
              <a:t> of an algorithm is how much memory the algorithm needs to run, excluding the input and output.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/>
              <a:t>Expressed as a function of input size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/>
              <a:t>Could vary based on language, compiler, etc. 🡪 Big-O notation!</a:t>
            </a:r>
            <a:endParaRPr/>
          </a:p>
        </p:txBody>
      </p:sp>
      <p:sp>
        <p:nvSpPr>
          <p:cNvPr id="240" name="Google Shape;240;p41"/>
          <p:cNvSpPr txBox="1"/>
          <p:nvPr>
            <p:ph idx="12" type="sldNum"/>
          </p:nvPr>
        </p:nvSpPr>
        <p:spPr>
          <a:xfrm>
            <a:off x="6457950" y="3575447"/>
            <a:ext cx="20574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2"/>
          <p:cNvSpPr txBox="1"/>
          <p:nvPr>
            <p:ph type="title"/>
          </p:nvPr>
        </p:nvSpPr>
        <p:spPr>
          <a:xfrm>
            <a:off x="628650" y="205383"/>
            <a:ext cx="78867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Example: Insertion Sort</a:t>
            </a:r>
            <a:endParaRPr/>
          </a:p>
        </p:txBody>
      </p:sp>
      <p:sp>
        <p:nvSpPr>
          <p:cNvPr id="246" name="Google Shape;246;p42"/>
          <p:cNvSpPr txBox="1"/>
          <p:nvPr>
            <p:ph idx="1" type="body"/>
          </p:nvPr>
        </p:nvSpPr>
        <p:spPr>
          <a:xfrm>
            <a:off x="330997" y="3827721"/>
            <a:ext cx="7886700" cy="11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/>
              <a:t>Input: array of size 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/>
              <a:t>All operations are done in-place 🡪 no extra space needed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sz="2400"/>
              <a:t>Space complexity = O(1)</a:t>
            </a:r>
            <a:endParaRPr sz="2400"/>
          </a:p>
        </p:txBody>
      </p:sp>
      <p:sp>
        <p:nvSpPr>
          <p:cNvPr id="247" name="Google Shape;247;p42"/>
          <p:cNvSpPr txBox="1"/>
          <p:nvPr/>
        </p:nvSpPr>
        <p:spPr>
          <a:xfrm>
            <a:off x="3129900" y="1111900"/>
            <a:ext cx="6020700" cy="25551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2060"/>
                </a:solidFill>
                <a:latin typeface="Courier"/>
                <a:ea typeface="Courier"/>
                <a:cs typeface="Courier"/>
                <a:sym typeface="Courier"/>
              </a:rPr>
              <a:t>def</a:t>
            </a:r>
            <a:r>
              <a:rPr lang="en" sz="2000">
                <a:solidFill>
                  <a:srgbClr val="002060"/>
                </a:solidFill>
                <a:latin typeface="Courier"/>
                <a:ea typeface="Courier"/>
                <a:cs typeface="Courier"/>
                <a:sym typeface="Courier"/>
              </a:rPr>
              <a:t> InsertionSort(A):    </a:t>
            </a:r>
            <a:endParaRPr sz="2000">
              <a:solidFill>
                <a:srgbClr val="00206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2060"/>
                </a:solidFill>
                <a:latin typeface="Courier"/>
                <a:ea typeface="Courier"/>
                <a:cs typeface="Courier"/>
                <a:sym typeface="Courier"/>
              </a:rPr>
              <a:t>   </a:t>
            </a:r>
            <a:r>
              <a:rPr b="1" lang="en" sz="2000">
                <a:solidFill>
                  <a:srgbClr val="BC770B"/>
                </a:solidFill>
                <a:latin typeface="Courier"/>
                <a:ea typeface="Courier"/>
                <a:cs typeface="Courier"/>
                <a:sym typeface="Courier"/>
              </a:rPr>
              <a:t>for</a:t>
            </a:r>
            <a:r>
              <a:rPr lang="en" sz="2000">
                <a:solidFill>
                  <a:srgbClr val="BC770B"/>
                </a:solidFill>
                <a:latin typeface="Courier"/>
                <a:ea typeface="Courier"/>
                <a:cs typeface="Courier"/>
                <a:sym typeface="Courier"/>
              </a:rPr>
              <a:t> i in range(1,len(A)):  </a:t>
            </a:r>
            <a:endParaRPr sz="2000">
              <a:solidFill>
                <a:srgbClr val="BC770B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BC770B"/>
                </a:solidFill>
                <a:latin typeface="Courier"/>
                <a:ea typeface="Courier"/>
                <a:cs typeface="Courier"/>
                <a:sym typeface="Courier"/>
              </a:rPr>
              <a:t>      current = A[i]</a:t>
            </a:r>
            <a:endParaRPr sz="2000">
              <a:solidFill>
                <a:srgbClr val="BC770B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2060"/>
                </a:solidFill>
                <a:latin typeface="Courier"/>
                <a:ea typeface="Courier"/>
                <a:cs typeface="Courier"/>
                <a:sym typeface="Courier"/>
              </a:rPr>
              <a:t>      </a:t>
            </a:r>
            <a:r>
              <a:rPr lang="en" sz="2000">
                <a:solidFill>
                  <a:srgbClr val="7030A0"/>
                </a:solidFill>
                <a:latin typeface="Courier"/>
                <a:ea typeface="Courier"/>
                <a:cs typeface="Courier"/>
                <a:sym typeface="Courier"/>
              </a:rPr>
              <a:t>j = i-1</a:t>
            </a:r>
            <a:endParaRPr sz="2000">
              <a:solidFill>
                <a:srgbClr val="7030A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030A0"/>
                </a:solidFill>
                <a:latin typeface="Courier"/>
                <a:ea typeface="Courier"/>
                <a:cs typeface="Courier"/>
                <a:sym typeface="Courier"/>
              </a:rPr>
              <a:t>      </a:t>
            </a:r>
            <a:r>
              <a:rPr b="1" lang="en" sz="2000">
                <a:solidFill>
                  <a:srgbClr val="7030A0"/>
                </a:solidFill>
                <a:latin typeface="Courier"/>
                <a:ea typeface="Courier"/>
                <a:cs typeface="Courier"/>
                <a:sym typeface="Courier"/>
              </a:rPr>
              <a:t>while</a:t>
            </a:r>
            <a:r>
              <a:rPr lang="en" sz="2000">
                <a:solidFill>
                  <a:srgbClr val="7030A0"/>
                </a:solidFill>
                <a:latin typeface="Courier"/>
                <a:ea typeface="Courier"/>
                <a:cs typeface="Courier"/>
                <a:sym typeface="Courier"/>
              </a:rPr>
              <a:t> j &gt;= 0 and A[j] &gt; current:</a:t>
            </a:r>
            <a:endParaRPr sz="2000">
              <a:solidFill>
                <a:srgbClr val="7030A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030A0"/>
                </a:solidFill>
                <a:latin typeface="Courier"/>
                <a:ea typeface="Courier"/>
                <a:cs typeface="Courier"/>
                <a:sym typeface="Courier"/>
              </a:rPr>
              <a:t>         A[j+1] = A[j]</a:t>
            </a:r>
            <a:endParaRPr sz="2000">
              <a:solidFill>
                <a:srgbClr val="7030A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030A0"/>
                </a:solidFill>
                <a:latin typeface="Courier"/>
                <a:ea typeface="Courier"/>
                <a:cs typeface="Courier"/>
                <a:sym typeface="Courier"/>
              </a:rPr>
              <a:t>         j -= 1</a:t>
            </a:r>
            <a:endParaRPr sz="2000">
              <a:solidFill>
                <a:srgbClr val="7030A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030A0"/>
                </a:solidFill>
                <a:latin typeface="Courier"/>
                <a:ea typeface="Courier"/>
                <a:cs typeface="Courier"/>
                <a:sym typeface="Courier"/>
              </a:rPr>
              <a:t>      A[j+1] = current</a:t>
            </a:r>
            <a:endParaRPr sz="2000">
              <a:solidFill>
                <a:srgbClr val="7030A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grpSp>
        <p:nvGrpSpPr>
          <p:cNvPr id="248" name="Google Shape;248;p42"/>
          <p:cNvGrpSpPr/>
          <p:nvPr/>
        </p:nvGrpSpPr>
        <p:grpSpPr>
          <a:xfrm>
            <a:off x="12" y="1859793"/>
            <a:ext cx="3219488" cy="446597"/>
            <a:chOff x="1583251" y="3296092"/>
            <a:chExt cx="3587173" cy="705301"/>
          </a:xfrm>
        </p:grpSpPr>
        <p:sp>
          <p:nvSpPr>
            <p:cNvPr id="249" name="Google Shape;249;p42"/>
            <p:cNvSpPr/>
            <p:nvPr/>
          </p:nvSpPr>
          <p:spPr>
            <a:xfrm>
              <a:off x="2313169" y="3296092"/>
              <a:ext cx="705300" cy="705300"/>
            </a:xfrm>
            <a:prstGeom prst="rect">
              <a:avLst/>
            </a:prstGeom>
            <a:solidFill>
              <a:srgbClr val="C7E4F6"/>
            </a:solidFill>
            <a:ln cap="flat" cmpd="sng" w="508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42"/>
            <p:cNvSpPr/>
            <p:nvPr/>
          </p:nvSpPr>
          <p:spPr>
            <a:xfrm>
              <a:off x="1583251" y="3296093"/>
              <a:ext cx="705300" cy="705300"/>
            </a:xfrm>
            <a:prstGeom prst="rect">
              <a:avLst/>
            </a:prstGeom>
            <a:solidFill>
              <a:srgbClr val="C7E4F6"/>
            </a:solidFill>
            <a:ln cap="flat" cmpd="sng" w="508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42"/>
            <p:cNvSpPr/>
            <p:nvPr/>
          </p:nvSpPr>
          <p:spPr>
            <a:xfrm>
              <a:off x="3012192" y="3296093"/>
              <a:ext cx="705300" cy="705300"/>
            </a:xfrm>
            <a:prstGeom prst="rect">
              <a:avLst/>
            </a:prstGeom>
            <a:solidFill>
              <a:srgbClr val="FFFF00"/>
            </a:solidFill>
            <a:ln cap="flat" cmpd="sng" w="508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42"/>
            <p:cNvSpPr/>
            <p:nvPr/>
          </p:nvSpPr>
          <p:spPr>
            <a:xfrm>
              <a:off x="3738658" y="3296093"/>
              <a:ext cx="705300" cy="705300"/>
            </a:xfrm>
            <a:prstGeom prst="rect">
              <a:avLst/>
            </a:prstGeom>
            <a:solidFill>
              <a:srgbClr val="C7E4F6"/>
            </a:solidFill>
            <a:ln cap="flat" cmpd="sng" w="508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42"/>
            <p:cNvSpPr/>
            <p:nvPr/>
          </p:nvSpPr>
          <p:spPr>
            <a:xfrm>
              <a:off x="4465124" y="3296092"/>
              <a:ext cx="705300" cy="705300"/>
            </a:xfrm>
            <a:prstGeom prst="rect">
              <a:avLst/>
            </a:prstGeom>
            <a:solidFill>
              <a:srgbClr val="C7E4F6"/>
            </a:solidFill>
            <a:ln cap="flat" cmpd="sng" w="508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4" name="Google Shape;254;p42"/>
          <p:cNvGrpSpPr/>
          <p:nvPr/>
        </p:nvGrpSpPr>
        <p:grpSpPr>
          <a:xfrm>
            <a:off x="10604" y="2609500"/>
            <a:ext cx="3219488" cy="446597"/>
            <a:chOff x="1583251" y="3296092"/>
            <a:chExt cx="3587173" cy="705301"/>
          </a:xfrm>
        </p:grpSpPr>
        <p:sp>
          <p:nvSpPr>
            <p:cNvPr id="255" name="Google Shape;255;p42"/>
            <p:cNvSpPr/>
            <p:nvPr/>
          </p:nvSpPr>
          <p:spPr>
            <a:xfrm>
              <a:off x="2313169" y="3296092"/>
              <a:ext cx="705300" cy="705300"/>
            </a:xfrm>
            <a:prstGeom prst="rect">
              <a:avLst/>
            </a:prstGeom>
            <a:solidFill>
              <a:srgbClr val="C7E4F6"/>
            </a:solidFill>
            <a:ln cap="flat" cmpd="sng" w="508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42"/>
            <p:cNvSpPr/>
            <p:nvPr/>
          </p:nvSpPr>
          <p:spPr>
            <a:xfrm>
              <a:off x="1583251" y="3296093"/>
              <a:ext cx="705300" cy="705300"/>
            </a:xfrm>
            <a:prstGeom prst="rect">
              <a:avLst/>
            </a:prstGeom>
            <a:solidFill>
              <a:srgbClr val="FFFF00"/>
            </a:solidFill>
            <a:ln cap="flat" cmpd="sng" w="508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42"/>
            <p:cNvSpPr/>
            <p:nvPr/>
          </p:nvSpPr>
          <p:spPr>
            <a:xfrm>
              <a:off x="3012192" y="3296093"/>
              <a:ext cx="705300" cy="705300"/>
            </a:xfrm>
            <a:prstGeom prst="rect">
              <a:avLst/>
            </a:prstGeom>
            <a:solidFill>
              <a:srgbClr val="C7E4F6"/>
            </a:solidFill>
            <a:ln cap="flat" cmpd="sng" w="508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42"/>
            <p:cNvSpPr/>
            <p:nvPr/>
          </p:nvSpPr>
          <p:spPr>
            <a:xfrm>
              <a:off x="3738658" y="3296093"/>
              <a:ext cx="705300" cy="705300"/>
            </a:xfrm>
            <a:prstGeom prst="rect">
              <a:avLst/>
            </a:prstGeom>
            <a:solidFill>
              <a:srgbClr val="C7E4F6"/>
            </a:solidFill>
            <a:ln cap="flat" cmpd="sng" w="508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42"/>
            <p:cNvSpPr/>
            <p:nvPr/>
          </p:nvSpPr>
          <p:spPr>
            <a:xfrm>
              <a:off x="4465124" y="3296092"/>
              <a:ext cx="705300" cy="705300"/>
            </a:xfrm>
            <a:prstGeom prst="rect">
              <a:avLst/>
            </a:prstGeom>
            <a:solidFill>
              <a:srgbClr val="C7E4F6"/>
            </a:solidFill>
            <a:ln cap="flat" cmpd="sng" w="508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" name="Google Shape;264;p43"/>
          <p:cNvGrpSpPr/>
          <p:nvPr/>
        </p:nvGrpSpPr>
        <p:grpSpPr>
          <a:xfrm>
            <a:off x="1641278" y="3758957"/>
            <a:ext cx="5766748" cy="528975"/>
            <a:chOff x="1573619" y="3296093"/>
            <a:chExt cx="5766748" cy="705300"/>
          </a:xfrm>
        </p:grpSpPr>
        <p:sp>
          <p:nvSpPr>
            <p:cNvPr id="265" name="Google Shape;265;p43"/>
            <p:cNvSpPr/>
            <p:nvPr/>
          </p:nvSpPr>
          <p:spPr>
            <a:xfrm>
              <a:off x="1573619" y="3296093"/>
              <a:ext cx="705300" cy="705300"/>
            </a:xfrm>
            <a:prstGeom prst="rect">
              <a:avLst/>
            </a:prstGeom>
            <a:solidFill>
              <a:srgbClr val="F9D7A2"/>
            </a:solidFill>
            <a:ln cap="flat" cmpd="sng" w="50800">
              <a:solidFill>
                <a:srgbClr val="7D4F0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43"/>
            <p:cNvSpPr/>
            <p:nvPr/>
          </p:nvSpPr>
          <p:spPr>
            <a:xfrm>
              <a:off x="2303538" y="3296093"/>
              <a:ext cx="705300" cy="705300"/>
            </a:xfrm>
            <a:prstGeom prst="rect">
              <a:avLst/>
            </a:prstGeom>
            <a:solidFill>
              <a:srgbClr val="F9D7A2"/>
            </a:solidFill>
            <a:ln cap="flat" cmpd="sng" w="50800">
              <a:solidFill>
                <a:srgbClr val="7D4F0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43"/>
            <p:cNvSpPr/>
            <p:nvPr/>
          </p:nvSpPr>
          <p:spPr>
            <a:xfrm>
              <a:off x="3012192" y="3296093"/>
              <a:ext cx="705300" cy="705300"/>
            </a:xfrm>
            <a:prstGeom prst="rect">
              <a:avLst/>
            </a:prstGeom>
            <a:solidFill>
              <a:srgbClr val="F9D7A2"/>
            </a:solidFill>
            <a:ln cap="flat" cmpd="sng" w="50800">
              <a:solidFill>
                <a:srgbClr val="7D4F0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43"/>
            <p:cNvSpPr/>
            <p:nvPr/>
          </p:nvSpPr>
          <p:spPr>
            <a:xfrm>
              <a:off x="3738658" y="3296093"/>
              <a:ext cx="705300" cy="705300"/>
            </a:xfrm>
            <a:prstGeom prst="rect">
              <a:avLst/>
            </a:prstGeom>
            <a:solidFill>
              <a:srgbClr val="F9D7A2"/>
            </a:solidFill>
            <a:ln cap="flat" cmpd="sng" w="50800">
              <a:solidFill>
                <a:srgbClr val="7D4F0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43"/>
            <p:cNvSpPr/>
            <p:nvPr/>
          </p:nvSpPr>
          <p:spPr>
            <a:xfrm>
              <a:off x="4470028" y="3296093"/>
              <a:ext cx="705300" cy="705300"/>
            </a:xfrm>
            <a:prstGeom prst="rect">
              <a:avLst/>
            </a:prstGeom>
            <a:solidFill>
              <a:srgbClr val="F9D7A2"/>
            </a:solidFill>
            <a:ln cap="flat" cmpd="sng" w="50800">
              <a:solidFill>
                <a:srgbClr val="7D4F0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43"/>
            <p:cNvSpPr/>
            <p:nvPr/>
          </p:nvSpPr>
          <p:spPr>
            <a:xfrm>
              <a:off x="5178682" y="3296093"/>
              <a:ext cx="705300" cy="705300"/>
            </a:xfrm>
            <a:prstGeom prst="rect">
              <a:avLst/>
            </a:prstGeom>
            <a:solidFill>
              <a:srgbClr val="F9D7A2"/>
            </a:solidFill>
            <a:ln cap="flat" cmpd="sng" w="50800">
              <a:solidFill>
                <a:srgbClr val="7D4F0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43"/>
            <p:cNvSpPr/>
            <p:nvPr/>
          </p:nvSpPr>
          <p:spPr>
            <a:xfrm>
              <a:off x="5908601" y="3296093"/>
              <a:ext cx="705300" cy="705300"/>
            </a:xfrm>
            <a:prstGeom prst="rect">
              <a:avLst/>
            </a:prstGeom>
            <a:solidFill>
              <a:srgbClr val="F9D7A2"/>
            </a:solidFill>
            <a:ln cap="flat" cmpd="sng" w="50800">
              <a:solidFill>
                <a:srgbClr val="7D4F0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43"/>
            <p:cNvSpPr/>
            <p:nvPr/>
          </p:nvSpPr>
          <p:spPr>
            <a:xfrm>
              <a:off x="6635067" y="3296093"/>
              <a:ext cx="705300" cy="705300"/>
            </a:xfrm>
            <a:prstGeom prst="rect">
              <a:avLst/>
            </a:prstGeom>
            <a:solidFill>
              <a:srgbClr val="F9D7A2"/>
            </a:solidFill>
            <a:ln cap="flat" cmpd="sng" w="50800">
              <a:solidFill>
                <a:srgbClr val="7D4F0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3" name="Google Shape;273;p43"/>
          <p:cNvSpPr/>
          <p:nvPr/>
        </p:nvSpPr>
        <p:spPr>
          <a:xfrm>
            <a:off x="1641641" y="3758957"/>
            <a:ext cx="705300" cy="528900"/>
          </a:xfrm>
          <a:prstGeom prst="rect">
            <a:avLst/>
          </a:prstGeom>
          <a:solidFill>
            <a:srgbClr val="F9D7A2"/>
          </a:solidFill>
          <a:ln cap="flat" cmpd="sng" w="50800">
            <a:solidFill>
              <a:srgbClr val="7D4F0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74" name="Google Shape;274;p43"/>
          <p:cNvSpPr txBox="1"/>
          <p:nvPr>
            <p:ph type="title"/>
          </p:nvPr>
        </p:nvSpPr>
        <p:spPr>
          <a:xfrm>
            <a:off x="215567" y="167909"/>
            <a:ext cx="7886700" cy="5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/>
              <a:t>Example: Merge sort</a:t>
            </a:r>
            <a:endParaRPr/>
          </a:p>
        </p:txBody>
      </p:sp>
      <p:grpSp>
        <p:nvGrpSpPr>
          <p:cNvPr id="275" name="Google Shape;275;p43"/>
          <p:cNvGrpSpPr/>
          <p:nvPr/>
        </p:nvGrpSpPr>
        <p:grpSpPr>
          <a:xfrm>
            <a:off x="1688675" y="901457"/>
            <a:ext cx="5766748" cy="528975"/>
            <a:chOff x="1573619" y="3296093"/>
            <a:chExt cx="5766748" cy="705300"/>
          </a:xfrm>
        </p:grpSpPr>
        <p:sp>
          <p:nvSpPr>
            <p:cNvPr id="276" name="Google Shape;276;p43"/>
            <p:cNvSpPr/>
            <p:nvPr/>
          </p:nvSpPr>
          <p:spPr>
            <a:xfrm>
              <a:off x="1573619" y="3296093"/>
              <a:ext cx="705300" cy="705300"/>
            </a:xfrm>
            <a:prstGeom prst="rect">
              <a:avLst/>
            </a:prstGeom>
            <a:solidFill>
              <a:srgbClr val="C7E4F6"/>
            </a:solidFill>
            <a:ln cap="flat" cmpd="sng" w="508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43"/>
            <p:cNvSpPr/>
            <p:nvPr/>
          </p:nvSpPr>
          <p:spPr>
            <a:xfrm>
              <a:off x="2303538" y="3296093"/>
              <a:ext cx="705300" cy="705300"/>
            </a:xfrm>
            <a:prstGeom prst="rect">
              <a:avLst/>
            </a:prstGeom>
            <a:solidFill>
              <a:srgbClr val="C7E4F6"/>
            </a:solidFill>
            <a:ln cap="flat" cmpd="sng" w="508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43"/>
            <p:cNvSpPr/>
            <p:nvPr/>
          </p:nvSpPr>
          <p:spPr>
            <a:xfrm>
              <a:off x="3012192" y="3296093"/>
              <a:ext cx="705300" cy="705300"/>
            </a:xfrm>
            <a:prstGeom prst="rect">
              <a:avLst/>
            </a:prstGeom>
            <a:solidFill>
              <a:srgbClr val="C7E4F6"/>
            </a:solidFill>
            <a:ln cap="flat" cmpd="sng" w="508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43"/>
            <p:cNvSpPr/>
            <p:nvPr/>
          </p:nvSpPr>
          <p:spPr>
            <a:xfrm>
              <a:off x="3738658" y="3296093"/>
              <a:ext cx="705300" cy="705300"/>
            </a:xfrm>
            <a:prstGeom prst="rect">
              <a:avLst/>
            </a:prstGeom>
            <a:solidFill>
              <a:srgbClr val="C7E4F6"/>
            </a:solidFill>
            <a:ln cap="flat" cmpd="sng" w="508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43"/>
            <p:cNvSpPr/>
            <p:nvPr/>
          </p:nvSpPr>
          <p:spPr>
            <a:xfrm>
              <a:off x="4470028" y="3296093"/>
              <a:ext cx="705300" cy="705300"/>
            </a:xfrm>
            <a:prstGeom prst="rect">
              <a:avLst/>
            </a:prstGeom>
            <a:solidFill>
              <a:srgbClr val="C7E4F6"/>
            </a:solidFill>
            <a:ln cap="flat" cmpd="sng" w="508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43"/>
            <p:cNvSpPr/>
            <p:nvPr/>
          </p:nvSpPr>
          <p:spPr>
            <a:xfrm>
              <a:off x="5178682" y="3296093"/>
              <a:ext cx="705300" cy="705300"/>
            </a:xfrm>
            <a:prstGeom prst="rect">
              <a:avLst/>
            </a:prstGeom>
            <a:solidFill>
              <a:srgbClr val="C7E4F6"/>
            </a:solidFill>
            <a:ln cap="flat" cmpd="sng" w="508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43"/>
            <p:cNvSpPr/>
            <p:nvPr/>
          </p:nvSpPr>
          <p:spPr>
            <a:xfrm>
              <a:off x="5908601" y="3296093"/>
              <a:ext cx="705300" cy="705300"/>
            </a:xfrm>
            <a:prstGeom prst="rect">
              <a:avLst/>
            </a:prstGeom>
            <a:solidFill>
              <a:srgbClr val="C7E4F6"/>
            </a:solidFill>
            <a:ln cap="flat" cmpd="sng" w="508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43"/>
            <p:cNvSpPr/>
            <p:nvPr/>
          </p:nvSpPr>
          <p:spPr>
            <a:xfrm>
              <a:off x="6635067" y="3296093"/>
              <a:ext cx="705300" cy="705300"/>
            </a:xfrm>
            <a:prstGeom prst="rect">
              <a:avLst/>
            </a:prstGeom>
            <a:solidFill>
              <a:srgbClr val="C7E4F6"/>
            </a:solidFill>
            <a:ln cap="flat" cmpd="sng" w="508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4" name="Google Shape;284;p43"/>
          <p:cNvSpPr/>
          <p:nvPr/>
        </p:nvSpPr>
        <p:spPr>
          <a:xfrm>
            <a:off x="545675" y="1873007"/>
            <a:ext cx="705300" cy="528900"/>
          </a:xfrm>
          <a:prstGeom prst="rect">
            <a:avLst/>
          </a:prstGeom>
          <a:solidFill>
            <a:srgbClr val="C7E4F6"/>
          </a:solidFill>
          <a:ln cap="flat" cmpd="sng" w="508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43"/>
          <p:cNvSpPr/>
          <p:nvPr/>
        </p:nvSpPr>
        <p:spPr>
          <a:xfrm>
            <a:off x="1275594" y="1873007"/>
            <a:ext cx="705300" cy="528900"/>
          </a:xfrm>
          <a:prstGeom prst="rect">
            <a:avLst/>
          </a:prstGeom>
          <a:solidFill>
            <a:srgbClr val="C7E4F6"/>
          </a:solidFill>
          <a:ln cap="flat" cmpd="sng" w="508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43"/>
          <p:cNvSpPr/>
          <p:nvPr/>
        </p:nvSpPr>
        <p:spPr>
          <a:xfrm>
            <a:off x="1984248" y="1873007"/>
            <a:ext cx="705300" cy="528900"/>
          </a:xfrm>
          <a:prstGeom prst="rect">
            <a:avLst/>
          </a:prstGeom>
          <a:solidFill>
            <a:srgbClr val="C7E4F6"/>
          </a:solidFill>
          <a:ln cap="flat" cmpd="sng" w="508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43"/>
          <p:cNvSpPr/>
          <p:nvPr/>
        </p:nvSpPr>
        <p:spPr>
          <a:xfrm>
            <a:off x="2710714" y="1873007"/>
            <a:ext cx="705300" cy="528900"/>
          </a:xfrm>
          <a:prstGeom prst="rect">
            <a:avLst/>
          </a:prstGeom>
          <a:solidFill>
            <a:srgbClr val="C7E4F6"/>
          </a:solidFill>
          <a:ln cap="flat" cmpd="sng" w="508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43"/>
          <p:cNvSpPr/>
          <p:nvPr/>
        </p:nvSpPr>
        <p:spPr>
          <a:xfrm>
            <a:off x="5397884" y="1853957"/>
            <a:ext cx="705300" cy="528900"/>
          </a:xfrm>
          <a:prstGeom prst="rect">
            <a:avLst/>
          </a:prstGeom>
          <a:solidFill>
            <a:srgbClr val="C7E4F6"/>
          </a:solidFill>
          <a:ln cap="flat" cmpd="sng" w="508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43"/>
          <p:cNvSpPr/>
          <p:nvPr/>
        </p:nvSpPr>
        <p:spPr>
          <a:xfrm>
            <a:off x="6106538" y="1853957"/>
            <a:ext cx="705300" cy="528900"/>
          </a:xfrm>
          <a:prstGeom prst="rect">
            <a:avLst/>
          </a:prstGeom>
          <a:solidFill>
            <a:srgbClr val="C7E4F6"/>
          </a:solidFill>
          <a:ln cap="flat" cmpd="sng" w="508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43"/>
          <p:cNvSpPr/>
          <p:nvPr/>
        </p:nvSpPr>
        <p:spPr>
          <a:xfrm>
            <a:off x="6836457" y="1853957"/>
            <a:ext cx="705300" cy="528900"/>
          </a:xfrm>
          <a:prstGeom prst="rect">
            <a:avLst/>
          </a:prstGeom>
          <a:solidFill>
            <a:srgbClr val="C7E4F6"/>
          </a:solidFill>
          <a:ln cap="flat" cmpd="sng" w="508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3"/>
          <p:cNvSpPr/>
          <p:nvPr/>
        </p:nvSpPr>
        <p:spPr>
          <a:xfrm>
            <a:off x="7562923" y="1853957"/>
            <a:ext cx="705300" cy="528900"/>
          </a:xfrm>
          <a:prstGeom prst="rect">
            <a:avLst/>
          </a:prstGeom>
          <a:solidFill>
            <a:srgbClr val="C7E4F6"/>
          </a:solidFill>
          <a:ln cap="flat" cmpd="sng" w="508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43"/>
          <p:cNvSpPr/>
          <p:nvPr/>
        </p:nvSpPr>
        <p:spPr>
          <a:xfrm>
            <a:off x="545675" y="2654057"/>
            <a:ext cx="705300" cy="528900"/>
          </a:xfrm>
          <a:prstGeom prst="rect">
            <a:avLst/>
          </a:prstGeom>
          <a:solidFill>
            <a:srgbClr val="CFE6B3"/>
          </a:solidFill>
          <a:ln cap="flat" cmpd="sng" w="50800">
            <a:solidFill>
              <a:srgbClr val="45622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3"/>
          <p:cNvSpPr/>
          <p:nvPr/>
        </p:nvSpPr>
        <p:spPr>
          <a:xfrm>
            <a:off x="1275594" y="2654057"/>
            <a:ext cx="705300" cy="528900"/>
          </a:xfrm>
          <a:prstGeom prst="rect">
            <a:avLst/>
          </a:prstGeom>
          <a:solidFill>
            <a:srgbClr val="CFE6B3"/>
          </a:solidFill>
          <a:ln cap="flat" cmpd="sng" w="50800">
            <a:solidFill>
              <a:srgbClr val="45622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43"/>
          <p:cNvSpPr/>
          <p:nvPr/>
        </p:nvSpPr>
        <p:spPr>
          <a:xfrm>
            <a:off x="1984248" y="2654057"/>
            <a:ext cx="705300" cy="528900"/>
          </a:xfrm>
          <a:prstGeom prst="rect">
            <a:avLst/>
          </a:prstGeom>
          <a:solidFill>
            <a:srgbClr val="CFE6B3"/>
          </a:solidFill>
          <a:ln cap="flat" cmpd="sng" w="50800">
            <a:solidFill>
              <a:srgbClr val="45622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43"/>
          <p:cNvSpPr/>
          <p:nvPr/>
        </p:nvSpPr>
        <p:spPr>
          <a:xfrm>
            <a:off x="2710714" y="2654057"/>
            <a:ext cx="705300" cy="528900"/>
          </a:xfrm>
          <a:prstGeom prst="rect">
            <a:avLst/>
          </a:prstGeom>
          <a:solidFill>
            <a:srgbClr val="CFE6B3"/>
          </a:solidFill>
          <a:ln cap="flat" cmpd="sng" w="50800">
            <a:solidFill>
              <a:srgbClr val="45622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43"/>
          <p:cNvSpPr/>
          <p:nvPr/>
        </p:nvSpPr>
        <p:spPr>
          <a:xfrm>
            <a:off x="5372484" y="2635007"/>
            <a:ext cx="705300" cy="528900"/>
          </a:xfrm>
          <a:prstGeom prst="rect">
            <a:avLst/>
          </a:prstGeom>
          <a:solidFill>
            <a:srgbClr val="CFE6B3"/>
          </a:solidFill>
          <a:ln cap="flat" cmpd="sng" w="50800">
            <a:solidFill>
              <a:srgbClr val="45622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43"/>
          <p:cNvSpPr/>
          <p:nvPr/>
        </p:nvSpPr>
        <p:spPr>
          <a:xfrm>
            <a:off x="6081138" y="2635007"/>
            <a:ext cx="705300" cy="528900"/>
          </a:xfrm>
          <a:prstGeom prst="rect">
            <a:avLst/>
          </a:prstGeom>
          <a:solidFill>
            <a:srgbClr val="CFE6B3"/>
          </a:solidFill>
          <a:ln cap="flat" cmpd="sng" w="50800">
            <a:solidFill>
              <a:srgbClr val="45622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43"/>
          <p:cNvSpPr/>
          <p:nvPr/>
        </p:nvSpPr>
        <p:spPr>
          <a:xfrm>
            <a:off x="6811057" y="2635007"/>
            <a:ext cx="705300" cy="528900"/>
          </a:xfrm>
          <a:prstGeom prst="rect">
            <a:avLst/>
          </a:prstGeom>
          <a:solidFill>
            <a:srgbClr val="CFE6B3"/>
          </a:solidFill>
          <a:ln cap="flat" cmpd="sng" w="50800">
            <a:solidFill>
              <a:srgbClr val="45622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43"/>
          <p:cNvSpPr/>
          <p:nvPr/>
        </p:nvSpPr>
        <p:spPr>
          <a:xfrm>
            <a:off x="7537523" y="2635007"/>
            <a:ext cx="705300" cy="528900"/>
          </a:xfrm>
          <a:prstGeom prst="rect">
            <a:avLst/>
          </a:prstGeom>
          <a:solidFill>
            <a:srgbClr val="CFE6B3"/>
          </a:solidFill>
          <a:ln cap="flat" cmpd="sng" w="50800">
            <a:solidFill>
              <a:srgbClr val="45622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43"/>
          <p:cNvSpPr/>
          <p:nvPr/>
        </p:nvSpPr>
        <p:spPr>
          <a:xfrm>
            <a:off x="2371197" y="3758957"/>
            <a:ext cx="705300" cy="528900"/>
          </a:xfrm>
          <a:prstGeom prst="rect">
            <a:avLst/>
          </a:prstGeom>
          <a:solidFill>
            <a:srgbClr val="F9D7A2"/>
          </a:solidFill>
          <a:ln cap="flat" cmpd="sng" w="50800">
            <a:solidFill>
              <a:srgbClr val="7D4F0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43"/>
          <p:cNvSpPr/>
          <p:nvPr/>
        </p:nvSpPr>
        <p:spPr>
          <a:xfrm>
            <a:off x="3079851" y="3758957"/>
            <a:ext cx="705300" cy="528900"/>
          </a:xfrm>
          <a:prstGeom prst="rect">
            <a:avLst/>
          </a:prstGeom>
          <a:solidFill>
            <a:srgbClr val="F9D7A2"/>
          </a:solidFill>
          <a:ln cap="flat" cmpd="sng" w="50800">
            <a:solidFill>
              <a:srgbClr val="7D4F0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02" name="Google Shape;302;p43"/>
          <p:cNvSpPr/>
          <p:nvPr/>
        </p:nvSpPr>
        <p:spPr>
          <a:xfrm>
            <a:off x="3806317" y="3758957"/>
            <a:ext cx="705300" cy="528900"/>
          </a:xfrm>
          <a:prstGeom prst="rect">
            <a:avLst/>
          </a:prstGeom>
          <a:solidFill>
            <a:srgbClr val="F9D7A2"/>
          </a:solidFill>
          <a:ln cap="flat" cmpd="sng" w="50800">
            <a:solidFill>
              <a:srgbClr val="7D4F0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03" name="Google Shape;303;p43"/>
          <p:cNvSpPr/>
          <p:nvPr/>
        </p:nvSpPr>
        <p:spPr>
          <a:xfrm>
            <a:off x="4537687" y="3758957"/>
            <a:ext cx="705300" cy="528900"/>
          </a:xfrm>
          <a:prstGeom prst="rect">
            <a:avLst/>
          </a:prstGeom>
          <a:solidFill>
            <a:srgbClr val="F9D7A2"/>
          </a:solidFill>
          <a:ln cap="flat" cmpd="sng" w="50800">
            <a:solidFill>
              <a:srgbClr val="7D4F0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04" name="Google Shape;304;p43"/>
          <p:cNvSpPr/>
          <p:nvPr/>
        </p:nvSpPr>
        <p:spPr>
          <a:xfrm>
            <a:off x="5246341" y="3758957"/>
            <a:ext cx="705300" cy="528900"/>
          </a:xfrm>
          <a:prstGeom prst="rect">
            <a:avLst/>
          </a:prstGeom>
          <a:solidFill>
            <a:srgbClr val="F9D7A2"/>
          </a:solidFill>
          <a:ln cap="flat" cmpd="sng" w="50800">
            <a:solidFill>
              <a:srgbClr val="7D4F0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05" name="Google Shape;305;p43"/>
          <p:cNvSpPr/>
          <p:nvPr/>
        </p:nvSpPr>
        <p:spPr>
          <a:xfrm>
            <a:off x="5976260" y="3758957"/>
            <a:ext cx="705300" cy="528900"/>
          </a:xfrm>
          <a:prstGeom prst="rect">
            <a:avLst/>
          </a:prstGeom>
          <a:solidFill>
            <a:srgbClr val="F9D7A2"/>
          </a:solidFill>
          <a:ln cap="flat" cmpd="sng" w="50800">
            <a:solidFill>
              <a:srgbClr val="7D4F0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06" name="Google Shape;306;p43"/>
          <p:cNvSpPr/>
          <p:nvPr/>
        </p:nvSpPr>
        <p:spPr>
          <a:xfrm>
            <a:off x="6702726" y="3758957"/>
            <a:ext cx="705300" cy="528900"/>
          </a:xfrm>
          <a:prstGeom prst="rect">
            <a:avLst/>
          </a:prstGeom>
          <a:solidFill>
            <a:srgbClr val="F9D7A2"/>
          </a:solidFill>
          <a:ln cap="flat" cmpd="sng" w="50800">
            <a:solidFill>
              <a:srgbClr val="7D4F0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07" name="Google Shape;307;p43"/>
          <p:cNvSpPr/>
          <p:nvPr/>
        </p:nvSpPr>
        <p:spPr>
          <a:xfrm>
            <a:off x="755650" y="3214841"/>
            <a:ext cx="269700" cy="2094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1570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43"/>
          <p:cNvSpPr/>
          <p:nvPr/>
        </p:nvSpPr>
        <p:spPr>
          <a:xfrm>
            <a:off x="5632450" y="3214841"/>
            <a:ext cx="269700" cy="2094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1570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43"/>
          <p:cNvSpPr txBox="1"/>
          <p:nvPr/>
        </p:nvSpPr>
        <p:spPr>
          <a:xfrm>
            <a:off x="158666" y="3850472"/>
            <a:ext cx="138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MERGE!</a:t>
            </a:r>
            <a:endParaRPr sz="18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4"/>
          <p:cNvSpPr txBox="1"/>
          <p:nvPr>
            <p:ph type="title"/>
          </p:nvPr>
        </p:nvSpPr>
        <p:spPr>
          <a:xfrm>
            <a:off x="380827" y="26137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Example: Merge sort</a:t>
            </a:r>
            <a:endParaRPr/>
          </a:p>
        </p:txBody>
      </p:sp>
      <p:sp>
        <p:nvSpPr>
          <p:cNvPr id="315" name="Google Shape;315;p44"/>
          <p:cNvSpPr txBox="1"/>
          <p:nvPr>
            <p:ph idx="1" type="body"/>
          </p:nvPr>
        </p:nvSpPr>
        <p:spPr>
          <a:xfrm>
            <a:off x="380827" y="1406626"/>
            <a:ext cx="8382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1526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/>
              <a:t>Merging two arrays of size k/2 into a new array of size k requires extra space of size k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/>
              <a:t>The top level of merge sort needs space n, so merge sort has space complexity O(n)</a:t>
            </a:r>
            <a:endParaRPr/>
          </a:p>
          <a:p>
            <a:pPr indent="-21716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ct val="100000"/>
              <a:buChar char="•"/>
            </a:pPr>
            <a:r>
              <a:rPr lang="en">
                <a:solidFill>
                  <a:schemeClr val="accent4"/>
                </a:solidFill>
              </a:rPr>
              <a:t>Merge sort has log(n) levels of merges, why is it not n log(n)?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"/>
              <a:t>Can we do better?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</p:txBody>
      </p:sp>
      <p:sp>
        <p:nvSpPr>
          <p:cNvPr id="316" name="Google Shape;316;p44"/>
          <p:cNvSpPr txBox="1"/>
          <p:nvPr>
            <p:ph idx="12" type="sldNum"/>
          </p:nvPr>
        </p:nvSpPr>
        <p:spPr>
          <a:xfrm>
            <a:off x="6457950" y="3575447"/>
            <a:ext cx="20574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5"/>
          <p:cNvSpPr txBox="1"/>
          <p:nvPr>
            <p:ph idx="12" type="sldNum"/>
          </p:nvPr>
        </p:nvSpPr>
        <p:spPr>
          <a:xfrm>
            <a:off x="6457950" y="3575447"/>
            <a:ext cx="20574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2" name="Google Shape;322;p45"/>
          <p:cNvSpPr/>
          <p:nvPr/>
        </p:nvSpPr>
        <p:spPr>
          <a:xfrm>
            <a:off x="1398540" y="1438401"/>
            <a:ext cx="705300" cy="528900"/>
          </a:xfrm>
          <a:prstGeom prst="rect">
            <a:avLst/>
          </a:prstGeom>
          <a:solidFill>
            <a:srgbClr val="F9D7A2"/>
          </a:solidFill>
          <a:ln cap="flat" cmpd="sng" w="50800">
            <a:solidFill>
              <a:srgbClr val="7D4F0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45"/>
          <p:cNvSpPr/>
          <p:nvPr/>
        </p:nvSpPr>
        <p:spPr>
          <a:xfrm>
            <a:off x="2128459" y="1438401"/>
            <a:ext cx="705300" cy="528900"/>
          </a:xfrm>
          <a:prstGeom prst="rect">
            <a:avLst/>
          </a:prstGeom>
          <a:solidFill>
            <a:srgbClr val="F9D7A2"/>
          </a:solidFill>
          <a:ln cap="flat" cmpd="sng" w="50800">
            <a:solidFill>
              <a:srgbClr val="7D4F0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45"/>
          <p:cNvSpPr/>
          <p:nvPr/>
        </p:nvSpPr>
        <p:spPr>
          <a:xfrm>
            <a:off x="2837113" y="1438401"/>
            <a:ext cx="705300" cy="528900"/>
          </a:xfrm>
          <a:prstGeom prst="rect">
            <a:avLst/>
          </a:prstGeom>
          <a:solidFill>
            <a:srgbClr val="F9D7A2"/>
          </a:solidFill>
          <a:ln cap="flat" cmpd="sng" w="50800">
            <a:solidFill>
              <a:srgbClr val="7D4F0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45"/>
          <p:cNvSpPr/>
          <p:nvPr/>
        </p:nvSpPr>
        <p:spPr>
          <a:xfrm>
            <a:off x="3563579" y="1438401"/>
            <a:ext cx="705300" cy="528900"/>
          </a:xfrm>
          <a:prstGeom prst="rect">
            <a:avLst/>
          </a:prstGeom>
          <a:solidFill>
            <a:srgbClr val="F9D7A2"/>
          </a:solidFill>
          <a:ln cap="flat" cmpd="sng" w="50800">
            <a:solidFill>
              <a:srgbClr val="7D4F0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45"/>
          <p:cNvSpPr/>
          <p:nvPr/>
        </p:nvSpPr>
        <p:spPr>
          <a:xfrm>
            <a:off x="4301954" y="1438401"/>
            <a:ext cx="705300" cy="528900"/>
          </a:xfrm>
          <a:prstGeom prst="rect">
            <a:avLst/>
          </a:prstGeom>
          <a:solidFill>
            <a:srgbClr val="CFE6B3"/>
          </a:solidFill>
          <a:ln cap="flat" cmpd="sng" w="50800">
            <a:solidFill>
              <a:srgbClr val="45622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45"/>
          <p:cNvSpPr/>
          <p:nvPr/>
        </p:nvSpPr>
        <p:spPr>
          <a:xfrm>
            <a:off x="5010608" y="1438401"/>
            <a:ext cx="705300" cy="528900"/>
          </a:xfrm>
          <a:prstGeom prst="rect">
            <a:avLst/>
          </a:prstGeom>
          <a:solidFill>
            <a:srgbClr val="CFE6B3"/>
          </a:solidFill>
          <a:ln cap="flat" cmpd="sng" w="50800">
            <a:solidFill>
              <a:srgbClr val="45622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45"/>
          <p:cNvSpPr/>
          <p:nvPr/>
        </p:nvSpPr>
        <p:spPr>
          <a:xfrm>
            <a:off x="5740527" y="1438401"/>
            <a:ext cx="705300" cy="528900"/>
          </a:xfrm>
          <a:prstGeom prst="rect">
            <a:avLst/>
          </a:prstGeom>
          <a:solidFill>
            <a:srgbClr val="CFE6B3"/>
          </a:solidFill>
          <a:ln cap="flat" cmpd="sng" w="50800">
            <a:solidFill>
              <a:srgbClr val="45622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45"/>
          <p:cNvSpPr/>
          <p:nvPr/>
        </p:nvSpPr>
        <p:spPr>
          <a:xfrm>
            <a:off x="6466993" y="1438401"/>
            <a:ext cx="705300" cy="528900"/>
          </a:xfrm>
          <a:prstGeom prst="rect">
            <a:avLst/>
          </a:prstGeom>
          <a:solidFill>
            <a:srgbClr val="CFE6B3"/>
          </a:solidFill>
          <a:ln cap="flat" cmpd="sng" w="50800">
            <a:solidFill>
              <a:srgbClr val="45622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45"/>
          <p:cNvSpPr/>
          <p:nvPr/>
        </p:nvSpPr>
        <p:spPr>
          <a:xfrm>
            <a:off x="1608515" y="1999184"/>
            <a:ext cx="269700" cy="2094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1570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45"/>
          <p:cNvSpPr/>
          <p:nvPr/>
        </p:nvSpPr>
        <p:spPr>
          <a:xfrm>
            <a:off x="4519741" y="1994884"/>
            <a:ext cx="269700" cy="2094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1570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5"/>
          <p:cNvSpPr txBox="1"/>
          <p:nvPr/>
        </p:nvSpPr>
        <p:spPr>
          <a:xfrm>
            <a:off x="576400" y="2683125"/>
            <a:ext cx="8212200" cy="25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left element is smaller, move the left pointer to the right.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right element is smaller, move it to the position of the left element and shift everything in between to the right. Then move both pointers to the right.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requires no extra space 🡪 space complexity is O(1)!</a:t>
            </a:r>
            <a:endParaRPr/>
          </a:p>
        </p:txBody>
      </p:sp>
      <p:sp>
        <p:nvSpPr>
          <p:cNvPr id="333" name="Google Shape;333;p45"/>
          <p:cNvSpPr txBox="1"/>
          <p:nvPr>
            <p:ph type="title"/>
          </p:nvPr>
        </p:nvSpPr>
        <p:spPr>
          <a:xfrm>
            <a:off x="628650" y="205383"/>
            <a:ext cx="78867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In-place merging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6"/>
          <p:cNvSpPr txBox="1"/>
          <p:nvPr>
            <p:ph idx="1" type="body"/>
          </p:nvPr>
        </p:nvSpPr>
        <p:spPr>
          <a:xfrm>
            <a:off x="71400" y="1187675"/>
            <a:ext cx="9001200" cy="3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1526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/>
              <a:t>What happened to time complexity?</a:t>
            </a:r>
            <a:endParaRPr/>
          </a:p>
          <a:p>
            <a:pPr indent="-21716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/>
              <a:t>“Shift everything to the right” is O(n), in the worst case we need to do it O(n) times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/>
              <a:t>This merge takes time O(n</a:t>
            </a:r>
            <a:r>
              <a:rPr baseline="30000" lang="en"/>
              <a:t>2</a:t>
            </a:r>
            <a:r>
              <a:rPr lang="en"/>
              <a:t>)!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">
                <a:solidFill>
                  <a:srgbClr val="FF0000"/>
                </a:solidFill>
              </a:rPr>
              <a:t>Often there is a trade-off between time and space complexity.</a:t>
            </a:r>
            <a:endParaRPr b="1">
              <a:solidFill>
                <a:srgbClr val="FF0000"/>
              </a:solidFill>
            </a:endParaRPr>
          </a:p>
          <a:p>
            <a:pPr indent="-21716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ct val="100000"/>
              <a:buChar char="•"/>
            </a:pPr>
            <a:r>
              <a:rPr lang="en">
                <a:solidFill>
                  <a:schemeClr val="accent4"/>
                </a:solidFill>
              </a:rPr>
              <a:t>In what situations is having a small space complexity more important?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39" name="Google Shape;339;p46"/>
          <p:cNvSpPr txBox="1"/>
          <p:nvPr>
            <p:ph type="title"/>
          </p:nvPr>
        </p:nvSpPr>
        <p:spPr>
          <a:xfrm>
            <a:off x="628650" y="205383"/>
            <a:ext cx="78867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In-place merging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7"/>
          <p:cNvSpPr txBox="1"/>
          <p:nvPr>
            <p:ph idx="1" type="body"/>
          </p:nvPr>
        </p:nvSpPr>
        <p:spPr>
          <a:xfrm>
            <a:off x="628650" y="1223381"/>
            <a:ext cx="7886700" cy="3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/>
              <a:t>Space complexity = amount of extra space needed to run an algorithm, excluding the input and output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/>
              <a:t>Often there is a trade-off between time and space complexity.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/>
              <a:t>Next time: an algorithm that is both in-place and runs in time O(n log(n))! </a:t>
            </a:r>
            <a:endParaRPr/>
          </a:p>
        </p:txBody>
      </p:sp>
      <p:sp>
        <p:nvSpPr>
          <p:cNvPr id="345" name="Google Shape;345;p47"/>
          <p:cNvSpPr txBox="1"/>
          <p:nvPr>
            <p:ph type="title"/>
          </p:nvPr>
        </p:nvSpPr>
        <p:spPr>
          <a:xfrm>
            <a:off x="628650" y="205383"/>
            <a:ext cx="78867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Recap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