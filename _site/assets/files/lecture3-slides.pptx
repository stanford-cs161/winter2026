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  <p:sldMasterId id="2147483708" r:id="rId2"/>
  </p:sldMasterIdLst>
  <p:notesMasterIdLst>
    <p:notesMasterId r:id="rId57"/>
  </p:notesMasterIdLst>
  <p:handoutMasterIdLst>
    <p:handoutMasterId r:id="rId58"/>
  </p:handoutMasterIdLst>
  <p:sldIdLst>
    <p:sldId id="256" r:id="rId3"/>
    <p:sldId id="280" r:id="rId4"/>
    <p:sldId id="354" r:id="rId5"/>
    <p:sldId id="279" r:id="rId6"/>
    <p:sldId id="281" r:id="rId7"/>
    <p:sldId id="302" r:id="rId8"/>
    <p:sldId id="347" r:id="rId9"/>
    <p:sldId id="303" r:id="rId10"/>
    <p:sldId id="319" r:id="rId11"/>
    <p:sldId id="308" r:id="rId12"/>
    <p:sldId id="305" r:id="rId13"/>
    <p:sldId id="353" r:id="rId14"/>
    <p:sldId id="332" r:id="rId15"/>
    <p:sldId id="333" r:id="rId16"/>
    <p:sldId id="278" r:id="rId17"/>
    <p:sldId id="285" r:id="rId18"/>
    <p:sldId id="286" r:id="rId19"/>
    <p:sldId id="317" r:id="rId20"/>
    <p:sldId id="287" r:id="rId21"/>
    <p:sldId id="288" r:id="rId22"/>
    <p:sldId id="323" r:id="rId23"/>
    <p:sldId id="331" r:id="rId24"/>
    <p:sldId id="321" r:id="rId25"/>
    <p:sldId id="293" r:id="rId26"/>
    <p:sldId id="335" r:id="rId27"/>
    <p:sldId id="336" r:id="rId28"/>
    <p:sldId id="338" r:id="rId29"/>
    <p:sldId id="337" r:id="rId30"/>
    <p:sldId id="339" r:id="rId31"/>
    <p:sldId id="340" r:id="rId32"/>
    <p:sldId id="292" r:id="rId33"/>
    <p:sldId id="309" r:id="rId34"/>
    <p:sldId id="316" r:id="rId35"/>
    <p:sldId id="313" r:id="rId36"/>
    <p:sldId id="311" r:id="rId37"/>
    <p:sldId id="314" r:id="rId38"/>
    <p:sldId id="315" r:id="rId39"/>
    <p:sldId id="294" r:id="rId40"/>
    <p:sldId id="325" r:id="rId41"/>
    <p:sldId id="324" r:id="rId42"/>
    <p:sldId id="327" r:id="rId43"/>
    <p:sldId id="328" r:id="rId44"/>
    <p:sldId id="326" r:id="rId45"/>
    <p:sldId id="330" r:id="rId46"/>
    <p:sldId id="341" r:id="rId47"/>
    <p:sldId id="348" r:id="rId48"/>
    <p:sldId id="349" r:id="rId49"/>
    <p:sldId id="350" r:id="rId50"/>
    <p:sldId id="342" r:id="rId51"/>
    <p:sldId id="343" r:id="rId52"/>
    <p:sldId id="345" r:id="rId53"/>
    <p:sldId id="346" r:id="rId54"/>
    <p:sldId id="329" r:id="rId55"/>
    <p:sldId id="318" r:id="rId5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400"/>
    <a:srgbClr val="F0D6FF"/>
    <a:srgbClr val="D6A6FF"/>
    <a:srgbClr val="FF8200"/>
    <a:srgbClr val="005ECE"/>
    <a:srgbClr val="FF8B00"/>
    <a:srgbClr val="FFF6C9"/>
    <a:srgbClr val="FFE4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5643"/>
    <p:restoredTop sz="94664"/>
  </p:normalViewPr>
  <p:slideViewPr>
    <p:cSldViewPr snapToGrid="0" snapToObjects="1">
      <p:cViewPr varScale="1">
        <p:scale>
          <a:sx n="128" d="100"/>
          <a:sy n="128" d="100"/>
        </p:scale>
        <p:origin x="10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46" d="100"/>
          <a:sy n="46" d="100"/>
        </p:scale>
        <p:origin x="2208" y="19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61" Type="http://schemas.openxmlformats.org/officeDocument/2006/relationships/theme" Target="theme/theme1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presProps" Target="pres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D5B9F3-2D21-B144-A225-5DB7FC88CEEC}" type="datetimeFigureOut">
              <a:rPr lang="en-US" smtClean="0"/>
              <a:t>1/18/23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8D5547-E652-B649-82B2-BAF1F5D5F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413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6B16D6-B238-FF4C-8459-96930AAE9864}" type="datetimeFigureOut">
              <a:rPr lang="en-US" smtClean="0"/>
              <a:t>1/18/23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069A8F-2F57-E949-97AA-E3E64E5D01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545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069A8F-2F57-E949-97AA-E3E64E5D016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4993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DFD31-F6F3-2444-B368-89D12BBC7C9A}" type="datetimeFigureOut">
              <a:rPr lang="en-US" smtClean="0"/>
              <a:t>1/18/23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DFD31-F6F3-2444-B368-89D12BBC7C9A}" type="datetimeFigureOut">
              <a:rPr lang="en-US" smtClean="0"/>
              <a:t>1/18/23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DFD31-F6F3-2444-B368-89D12BBC7C9A}" type="datetimeFigureOut">
              <a:rPr lang="en-US" smtClean="0"/>
              <a:t>1/18/23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DFD31-F6F3-2444-B368-89D12BBC7C9A}" type="datetimeFigureOut">
              <a:rPr lang="en-US" smtClean="0"/>
              <a:t>1/18/23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DFD31-F6F3-2444-B368-89D12BBC7C9A}" type="datetimeFigureOut">
              <a:rPr lang="en-US" smtClean="0"/>
              <a:t>1/18/23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DFD31-F6F3-2444-B368-89D12BBC7C9A}" type="datetimeFigureOut">
              <a:rPr lang="en-US" smtClean="0"/>
              <a:t>1/18/23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DFD31-F6F3-2444-B368-89D12BBC7C9A}" type="datetimeFigureOut">
              <a:rPr lang="en-US" smtClean="0"/>
              <a:t>1/18/23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DFD31-F6F3-2444-B368-89D12BBC7C9A}" type="datetimeFigureOut">
              <a:rPr lang="en-US" smtClean="0"/>
              <a:t>1/18/23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DFD31-F6F3-2444-B368-89D12BBC7C9A}" type="datetimeFigureOut">
              <a:rPr lang="en-US" smtClean="0"/>
              <a:t>1/18/23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DFD31-F6F3-2444-B368-89D12BBC7C9A}" type="datetimeFigureOut">
              <a:rPr lang="en-US" smtClean="0"/>
              <a:t>1/18/23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DFD31-F6F3-2444-B368-89D12BBC7C9A}" type="datetimeFigureOut">
              <a:rPr lang="en-US" smtClean="0"/>
              <a:t>1/18/23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DFD31-F6F3-2444-B368-89D12BBC7C9A}" type="datetimeFigureOut">
              <a:rPr lang="en-US" smtClean="0"/>
              <a:t>1/18/23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DFD31-F6F3-2444-B368-89D12BBC7C9A}" type="datetimeFigureOut">
              <a:rPr lang="en-US" smtClean="0"/>
              <a:t>1/18/23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DFD31-F6F3-2444-B368-89D12BBC7C9A}" type="datetimeFigureOut">
              <a:rPr lang="en-US" smtClean="0"/>
              <a:t>1/18/23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DFD31-F6F3-2444-B368-89D12BBC7C9A}" type="datetimeFigureOut">
              <a:rPr lang="en-US" smtClean="0"/>
              <a:t>1/18/23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DFD31-F6F3-2444-B368-89D12BBC7C9A}" type="datetimeFigureOut">
              <a:rPr lang="en-US" smtClean="0"/>
              <a:t>1/18/23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DFD31-F6F3-2444-B368-89D12BBC7C9A}" type="datetimeFigureOut">
              <a:rPr lang="en-US" smtClean="0"/>
              <a:t>1/18/23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DFD31-F6F3-2444-B368-89D12BBC7C9A}" type="datetimeFigureOut">
              <a:rPr lang="en-US" smtClean="0"/>
              <a:t>1/18/23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DFD31-F6F3-2444-B368-89D12BBC7C9A}" type="datetimeFigureOut">
              <a:rPr lang="en-US" smtClean="0"/>
              <a:t>1/18/23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DFD31-F6F3-2444-B368-89D12BBC7C9A}" type="datetimeFigureOut">
              <a:rPr lang="en-US" smtClean="0"/>
              <a:t>1/18/23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DFD31-F6F3-2444-B368-89D12BBC7C9A}" type="datetimeFigureOut">
              <a:rPr lang="en-US" smtClean="0"/>
              <a:t>1/18/23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DFD31-F6F3-2444-B368-89D12BBC7C9A}" type="datetimeFigureOut">
              <a:rPr lang="en-US" smtClean="0"/>
              <a:t>1/18/23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BDFD31-F6F3-2444-B368-89D12BBC7C9A}" type="datetimeFigureOut">
              <a:rPr lang="en-US" smtClean="0"/>
              <a:t>1/18/23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06942F-BF72-B047-B677-10DA8C957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652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BDFD31-F6F3-2444-B368-89D12BBC7C9A}" type="datetimeFigureOut">
              <a:rPr lang="en-US" smtClean="0"/>
              <a:t>1/18/23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06942F-BF72-B047-B677-10DA8C957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57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tif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7" Type="http://schemas.openxmlformats.org/officeDocument/2006/relationships/image" Target="../media/image10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tiff"/><Relationship Id="rId5" Type="http://schemas.openxmlformats.org/officeDocument/2006/relationships/image" Target="../media/image91.png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tif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iff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tiff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image" Target="../media/image111.png"/><Relationship Id="rId7" Type="http://schemas.openxmlformats.org/officeDocument/2006/relationships/image" Target="../media/image20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0.png"/><Relationship Id="rId9" Type="http://schemas.openxmlformats.org/officeDocument/2006/relationships/image" Target="../media/image14.tif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9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16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220.png"/><Relationship Id="rId4" Type="http://schemas.openxmlformats.org/officeDocument/2006/relationships/image" Target="../media/image18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tiff"/><Relationship Id="rId4" Type="http://schemas.openxmlformats.org/officeDocument/2006/relationships/image" Target="../media/image2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tiff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iff"/><Relationship Id="rId2" Type="http://schemas.openxmlformats.org/officeDocument/2006/relationships/image" Target="../media/image17.tif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tif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tiff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tiff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tiff"/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0.png"/><Relationship Id="rId7" Type="http://schemas.openxmlformats.org/officeDocument/2006/relationships/image" Target="../media/image21.tiff"/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380.png"/><Relationship Id="rId4" Type="http://schemas.openxmlformats.org/officeDocument/2006/relationships/image" Target="../media/image37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tiff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tiff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tif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tiff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Recurrence relations and how to solve them!</a:t>
            </a:r>
          </a:p>
        </p:txBody>
      </p:sp>
    </p:spTree>
    <p:extLst>
      <p:ext uri="{BB962C8B-B14F-4D97-AF65-F5344CB8AC3E}">
        <p14:creationId xmlns:p14="http://schemas.microsoft.com/office/powerpoint/2010/main" val="1306256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Announcements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8217176" cy="4351338"/>
          </a:xfrm>
        </p:spPr>
        <p:txBody>
          <a:bodyPr>
            <a:normAutofit/>
          </a:bodyPr>
          <a:lstStyle/>
          <a:p>
            <a:r>
              <a:rPr lang="en-US" dirty="0"/>
              <a:t>Homework 1 is due today by midnight</a:t>
            </a:r>
          </a:p>
          <a:p>
            <a:r>
              <a:rPr lang="en-US" dirty="0"/>
              <a:t>Homework 2 will be released today (still solo)</a:t>
            </a:r>
          </a:p>
          <a:p>
            <a:r>
              <a:rPr lang="en-US" dirty="0"/>
              <a:t>Office hours:</a:t>
            </a:r>
          </a:p>
          <a:p>
            <a:pPr lvl="1"/>
            <a:r>
              <a:rPr lang="en-US" dirty="0"/>
              <a:t>Online:</a:t>
            </a:r>
          </a:p>
          <a:p>
            <a:pPr lvl="2"/>
            <a:r>
              <a:rPr lang="en-US" dirty="0"/>
              <a:t>Click sign up on </a:t>
            </a:r>
            <a:r>
              <a:rPr lang="en-US" dirty="0" err="1"/>
              <a:t>Queuestatus</a:t>
            </a:r>
            <a:endParaRPr lang="en-US" dirty="0"/>
          </a:p>
          <a:p>
            <a:pPr lvl="2"/>
            <a:r>
              <a:rPr lang="en-US" dirty="0"/>
              <a:t>Connect to the Zoom meeting (you’ll go to the waiting room)</a:t>
            </a:r>
          </a:p>
          <a:p>
            <a:pPr lvl="2"/>
            <a:r>
              <a:rPr lang="en-US" dirty="0"/>
              <a:t>The CA will let you into the Zoom room when it’s your turn</a:t>
            </a:r>
          </a:p>
          <a:p>
            <a:pPr lvl="1"/>
            <a:r>
              <a:rPr lang="en-US" dirty="0"/>
              <a:t>In-person:</a:t>
            </a:r>
          </a:p>
          <a:p>
            <a:pPr lvl="2"/>
            <a:r>
              <a:rPr lang="en-US" dirty="0" err="1"/>
              <a:t>Queuestatus</a:t>
            </a:r>
            <a:r>
              <a:rPr lang="en-US" dirty="0"/>
              <a:t> NOT used for in-person OHs (just show up)</a:t>
            </a:r>
          </a:p>
          <a:p>
            <a:pPr lvl="2"/>
            <a:r>
              <a:rPr lang="en-US" dirty="0"/>
              <a:t>Default location: Huang basement (unless the calendar says otherwise)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2692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72695-AA9F-EDD6-0317-A2D28A2BE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EthiCS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241F67-C9DF-B70E-57B7-E125DB4F58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Homework 2 will have </a:t>
            </a:r>
            <a:r>
              <a:rPr lang="en-US" dirty="0" err="1"/>
              <a:t>EthiCS</a:t>
            </a:r>
            <a:r>
              <a:rPr lang="en-US" dirty="0"/>
              <a:t> questions.</a:t>
            </a:r>
          </a:p>
          <a:p>
            <a:r>
              <a:rPr lang="en-US" dirty="0"/>
              <a:t>The first pre-recorded video is available now.</a:t>
            </a:r>
          </a:p>
          <a:p>
            <a:pPr lvl="1"/>
            <a:r>
              <a:rPr lang="en-US" dirty="0">
                <a:solidFill>
                  <a:schemeClr val="accent4"/>
                </a:solidFill>
              </a:rPr>
              <a:t>As a reminder, you are responsible for watching them.</a:t>
            </a:r>
          </a:p>
          <a:p>
            <a:pPr lvl="1"/>
            <a:r>
              <a:rPr lang="en-US" dirty="0">
                <a:solidFill>
                  <a:schemeClr val="accent4"/>
                </a:solidFill>
              </a:rPr>
              <a:t>They are fair game for exams.</a:t>
            </a:r>
          </a:p>
        </p:txBody>
      </p:sp>
    </p:spTree>
    <p:extLst>
      <p:ext uri="{BB962C8B-B14F-4D97-AF65-F5344CB8AC3E}">
        <p14:creationId xmlns:p14="http://schemas.microsoft.com/office/powerpoint/2010/main" val="9461416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0842" y="0"/>
            <a:ext cx="7886700" cy="1325563"/>
          </a:xfrm>
        </p:spPr>
        <p:txBody>
          <a:bodyPr/>
          <a:lstStyle/>
          <a:p>
            <a:r>
              <a:rPr lang="en-US" dirty="0"/>
              <a:t>Last time</a:t>
            </a:r>
            <a:r>
              <a:rPr lang="mr-IN" dirty="0"/>
              <a:t>…</a:t>
            </a:r>
            <a:r>
              <a:rPr lang="en-US" dirty="0"/>
              <a:t>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4683" y="1269033"/>
            <a:ext cx="8294633" cy="539018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Sorting: </a:t>
            </a:r>
            <a:r>
              <a:rPr lang="en-US" dirty="0" err="1"/>
              <a:t>InsertionSort</a:t>
            </a:r>
            <a:r>
              <a:rPr lang="en-US" dirty="0"/>
              <a:t> and </a:t>
            </a:r>
            <a:r>
              <a:rPr lang="en-US" dirty="0" err="1"/>
              <a:t>MergeSort</a:t>
            </a:r>
            <a:endParaRPr lang="en-US" dirty="0">
              <a:solidFill>
                <a:schemeClr val="accent1"/>
              </a:solidFill>
            </a:endParaRPr>
          </a:p>
          <a:p>
            <a:pPr>
              <a:lnSpc>
                <a:spcPct val="100000"/>
              </a:lnSpc>
            </a:pPr>
            <a:r>
              <a:rPr lang="en-US" dirty="0"/>
              <a:t>What does it mean to work and be fast?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solidFill>
                  <a:schemeClr val="accent4"/>
                </a:solidFill>
              </a:rPr>
              <a:t>Worst-Case Analysis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solidFill>
                  <a:schemeClr val="accent4"/>
                </a:solidFill>
              </a:rPr>
              <a:t>Big-Oh Notation</a:t>
            </a: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Analyzing correctness of iterative + recursive </a:t>
            </a:r>
            <a:r>
              <a:rPr lang="en-US" dirty="0" err="1"/>
              <a:t>algs</a:t>
            </a:r>
            <a:endParaRPr lang="en-US" dirty="0"/>
          </a:p>
          <a:p>
            <a:pPr lvl="1">
              <a:lnSpc>
                <a:spcPct val="100000"/>
              </a:lnSpc>
            </a:pPr>
            <a:r>
              <a:rPr lang="en-US" dirty="0">
                <a:solidFill>
                  <a:schemeClr val="accent4"/>
                </a:solidFill>
              </a:rPr>
              <a:t>Induction!</a:t>
            </a:r>
          </a:p>
          <a:p>
            <a:pPr>
              <a:lnSpc>
                <a:spcPct val="100000"/>
              </a:lnSpc>
            </a:pPr>
            <a:r>
              <a:rPr lang="en-US" dirty="0"/>
              <a:t>Analyzing running time of recursive algorithms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solidFill>
                  <a:schemeClr val="accent4"/>
                </a:solidFill>
              </a:rPr>
              <a:t>By drawing out a tree and adding up all the work done.</a:t>
            </a:r>
          </a:p>
        </p:txBody>
      </p:sp>
    </p:spTree>
    <p:extLst>
      <p:ext uri="{BB962C8B-B14F-4D97-AF65-F5344CB8AC3E}">
        <p14:creationId xmlns:p14="http://schemas.microsoft.com/office/powerpoint/2010/main" val="743395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8097907" cy="4351338"/>
          </a:xfrm>
        </p:spPr>
        <p:txBody>
          <a:bodyPr>
            <a:normAutofit/>
          </a:bodyPr>
          <a:lstStyle/>
          <a:p>
            <a:r>
              <a:rPr lang="en-US" sz="3200" dirty="0"/>
              <a:t>Recurrence Relations!</a:t>
            </a:r>
          </a:p>
          <a:p>
            <a:pPr lvl="1"/>
            <a:r>
              <a:rPr lang="en-US" dirty="0">
                <a:solidFill>
                  <a:schemeClr val="accent4"/>
                </a:solidFill>
              </a:rPr>
              <a:t>How do we calculate the runtime of a recursive algorithm?</a:t>
            </a:r>
            <a:endParaRPr lang="en-US" sz="2800" dirty="0"/>
          </a:p>
          <a:p>
            <a:r>
              <a:rPr lang="en-US" sz="3200" dirty="0"/>
              <a:t>The Master Theorem</a:t>
            </a:r>
          </a:p>
          <a:p>
            <a:pPr lvl="1"/>
            <a:r>
              <a:rPr lang="en-US" dirty="0">
                <a:solidFill>
                  <a:schemeClr val="accent4"/>
                </a:solidFill>
              </a:rPr>
              <a:t>A useful theorem so we don’t have to answer this question from scratch each time.</a:t>
            </a:r>
            <a:r>
              <a:rPr lang="en-US" sz="2800" b="1" i="1" dirty="0">
                <a:solidFill>
                  <a:schemeClr val="accent4"/>
                </a:solidFill>
              </a:rPr>
              <a:t> </a:t>
            </a:r>
          </a:p>
          <a:p>
            <a:r>
              <a:rPr lang="en-US" sz="3200" dirty="0"/>
              <a:t>The Substitution Method</a:t>
            </a:r>
          </a:p>
          <a:p>
            <a:pPr lvl="1"/>
            <a:r>
              <a:rPr lang="en-US" dirty="0">
                <a:solidFill>
                  <a:schemeClr val="accent4"/>
                </a:solidFill>
              </a:rPr>
              <a:t>A different way to solve recurrence relations, more generally applicable than the Master Method.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461EEC11-5C0E-A34D-A212-63B8501294A0}"/>
              </a:ext>
            </a:extLst>
          </p:cNvPr>
          <p:cNvSpPr/>
          <p:nvPr/>
        </p:nvSpPr>
        <p:spPr>
          <a:xfrm rot="10033507">
            <a:off x="4723807" y="1559954"/>
            <a:ext cx="1013254" cy="53134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490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442" y="85658"/>
            <a:ext cx="7886700" cy="1325563"/>
          </a:xfrm>
        </p:spPr>
        <p:txBody>
          <a:bodyPr/>
          <a:lstStyle/>
          <a:p>
            <a:r>
              <a:rPr lang="en-US" dirty="0"/>
              <a:t>Running time of </a:t>
            </a:r>
            <a:r>
              <a:rPr lang="en-US" dirty="0" err="1"/>
              <a:t>MergeSort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18661" y="1361593"/>
                <a:ext cx="8547652" cy="3539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charset="0"/>
                  <a:buChar char="•"/>
                </a:pPr>
                <a:r>
                  <a:rPr lang="en-US" sz="3200" dirty="0"/>
                  <a:t>Let T(n) be the running time of </a:t>
                </a:r>
                <a:r>
                  <a:rPr lang="en-US" sz="3200" dirty="0" err="1"/>
                  <a:t>MergeSort</a:t>
                </a:r>
                <a:r>
                  <a:rPr lang="en-US" sz="3200" dirty="0"/>
                  <a:t> on a length n array.</a:t>
                </a:r>
              </a:p>
              <a:p>
                <a:pPr marL="742950" lvl="1" indent="-285750">
                  <a:buFont typeface="Arial" charset="0"/>
                  <a:buChar char="•"/>
                </a:pPr>
                <a:endParaRPr lang="en-US" sz="2800" dirty="0"/>
              </a:p>
              <a:p>
                <a:pPr marL="285750" indent="-285750">
                  <a:buFont typeface="Arial" charset="0"/>
                  <a:buChar char="•"/>
                </a:pPr>
                <a:r>
                  <a:rPr lang="en-US" sz="3200" dirty="0"/>
                  <a:t>We know that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3200" i="1" dirty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i="1" dirty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3200" i="1" dirty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sz="3200" i="1" dirty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3200" i="1" dirty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b="0" i="1" dirty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sz="3200" b="0" i="1" dirty="0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3200" b="0" i="0" dirty="0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3200" b="0" i="1" dirty="0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3200" b="0" i="1" dirty="0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3200" b="0" i="1" dirty="0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US" sz="3200" i="1" dirty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200" dirty="0">
                    <a:solidFill>
                      <a:schemeClr val="accent4"/>
                    </a:solidFill>
                  </a:rPr>
                  <a:t>.</a:t>
                </a:r>
              </a:p>
              <a:p>
                <a:pPr marL="285750" indent="-285750">
                  <a:buFont typeface="Arial" charset="0"/>
                  <a:buChar char="•"/>
                </a:pPr>
                <a:endParaRPr lang="en-US" sz="3200" dirty="0"/>
              </a:p>
              <a:p>
                <a:pPr marL="285750" indent="-285750">
                  <a:buFont typeface="Arial" charset="0"/>
                  <a:buChar char="•"/>
                </a:pPr>
                <a:r>
                  <a:rPr lang="en-US" sz="3200" dirty="0"/>
                  <a:t>We also know that T(n) satisfies:</a:t>
                </a:r>
              </a:p>
              <a:p>
                <a:pPr marL="285750" indent="-285750">
                  <a:buFont typeface="Arial" charset="0"/>
                  <a:buChar char="•"/>
                </a:pPr>
                <a:endParaRPr lang="en-US" sz="36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661" y="1361593"/>
                <a:ext cx="8547652" cy="3539430"/>
              </a:xfrm>
              <a:prstGeom prst="rect">
                <a:avLst/>
              </a:prstGeom>
              <a:blipFill>
                <a:blip r:embed="rId2"/>
                <a:stretch>
                  <a:fillRect l="-1632" t="-2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575853" y="4244704"/>
                <a:ext cx="3468759" cy="2426305"/>
              </a:xfrm>
              <a:prstGeom prst="rect">
                <a:avLst/>
              </a:prstGeom>
              <a:noFill/>
              <a:ln>
                <a:solidFill>
                  <a:schemeClr val="accent6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>
                  <a:lnSpc>
                    <a:spcPts val="2580"/>
                  </a:lnSpc>
                </a:pPr>
                <a:r>
                  <a:rPr lang="en-US" sz="2000" dirty="0">
                    <a:solidFill>
                      <a:schemeClr val="accent4"/>
                    </a:solidFill>
                  </a:rPr>
                  <a:t>MERGESORT</a:t>
                </a:r>
                <a:r>
                  <a:rPr lang="en-US" sz="2000" dirty="0"/>
                  <a:t>(A):</a:t>
                </a:r>
              </a:p>
              <a:p>
                <a:pPr>
                  <a:lnSpc>
                    <a:spcPts val="2580"/>
                  </a:lnSpc>
                </a:pPr>
                <a:r>
                  <a:rPr lang="en-US" sz="2000" dirty="0"/>
                  <a:t>    n = length(A)</a:t>
                </a:r>
              </a:p>
              <a:p>
                <a:pPr>
                  <a:lnSpc>
                    <a:spcPts val="2580"/>
                  </a:lnSpc>
                </a:pPr>
                <a:r>
                  <a:rPr lang="en-US" sz="2000" b="1" dirty="0"/>
                  <a:t>    if</a:t>
                </a:r>
                <a:r>
                  <a:rPr lang="en-US" sz="2000" dirty="0"/>
                  <a:t> 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Cambria Math" charset="0"/>
                        <a:cs typeface="Cambria Math" charset="0"/>
                      </a:rPr>
                      <m:t>≤</m:t>
                    </m:r>
                  </m:oMath>
                </a14:m>
                <a:r>
                  <a:rPr lang="en-US" sz="2000" dirty="0"/>
                  <a:t> 1:</a:t>
                </a:r>
              </a:p>
              <a:p>
                <a:pPr lvl="1">
                  <a:lnSpc>
                    <a:spcPts val="2580"/>
                  </a:lnSpc>
                </a:pPr>
                <a:r>
                  <a:rPr lang="en-US" b="1" dirty="0"/>
                  <a:t>return</a:t>
                </a:r>
                <a:r>
                  <a:rPr lang="en-US" dirty="0"/>
                  <a:t> A</a:t>
                </a:r>
              </a:p>
              <a:p>
                <a:pPr>
                  <a:lnSpc>
                    <a:spcPts val="2580"/>
                  </a:lnSpc>
                </a:pPr>
                <a:r>
                  <a:rPr lang="en-US" sz="2000" dirty="0"/>
                  <a:t>    L = </a:t>
                </a:r>
                <a:r>
                  <a:rPr lang="en-US" sz="2000" dirty="0">
                    <a:solidFill>
                      <a:schemeClr val="accent4"/>
                    </a:solidFill>
                  </a:rPr>
                  <a:t>MERGESORT</a:t>
                </a:r>
                <a:r>
                  <a:rPr lang="en-US" sz="2000" dirty="0"/>
                  <a:t>(A[:n/2])</a:t>
                </a:r>
              </a:p>
              <a:p>
                <a:pPr>
                  <a:lnSpc>
                    <a:spcPts val="2580"/>
                  </a:lnSpc>
                </a:pPr>
                <a:r>
                  <a:rPr lang="en-US" sz="2000" dirty="0"/>
                  <a:t>    R = </a:t>
                </a:r>
                <a:r>
                  <a:rPr lang="en-US" sz="2000" dirty="0">
                    <a:solidFill>
                      <a:schemeClr val="accent4"/>
                    </a:solidFill>
                  </a:rPr>
                  <a:t>MERGESORT</a:t>
                </a:r>
                <a:r>
                  <a:rPr lang="en-US" sz="2000" dirty="0"/>
                  <a:t>(A[n/2:])</a:t>
                </a:r>
              </a:p>
              <a:p>
                <a:pPr>
                  <a:lnSpc>
                    <a:spcPts val="2580"/>
                  </a:lnSpc>
                </a:pPr>
                <a:r>
                  <a:rPr lang="en-US" sz="2000" b="1" dirty="0"/>
                  <a:t>    return</a:t>
                </a:r>
                <a:r>
                  <a:rPr lang="en-US" sz="2000" dirty="0"/>
                  <a:t> </a:t>
                </a:r>
                <a:r>
                  <a:rPr lang="en-US" sz="2000" dirty="0">
                    <a:solidFill>
                      <a:srgbClr val="DE6769"/>
                    </a:solidFill>
                  </a:rPr>
                  <a:t>MERGE</a:t>
                </a:r>
                <a:r>
                  <a:rPr lang="en-US" sz="2000" dirty="0"/>
                  <a:t>(L, R)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5853" y="4244704"/>
                <a:ext cx="3468759" cy="2426305"/>
              </a:xfrm>
              <a:prstGeom prst="rect">
                <a:avLst/>
              </a:prstGeom>
              <a:blipFill>
                <a:blip r:embed="rId3"/>
                <a:stretch>
                  <a:fillRect l="-1818" b="-3627"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68342" y="4414876"/>
                <a:ext cx="5357192" cy="84023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accent4"/>
                          </a:solidFill>
                          <a:latin typeface="Cambria Math" charset="0"/>
                        </a:rPr>
                        <m:t>𝑇</m:t>
                      </m:r>
                      <m:d>
                        <m:dPr>
                          <m:ctrlPr>
                            <a:rPr lang="en-US" sz="32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solidFill>
                                <a:schemeClr val="accent4"/>
                              </a:solidFill>
                              <a:latin typeface="Cambria Math" charset="0"/>
                            </a:rPr>
                            <m:t>𝑛</m:t>
                          </m:r>
                        </m:e>
                      </m:d>
                      <m:r>
                        <a:rPr lang="en-US" sz="32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0" i="1" smtClean="0">
                          <a:solidFill>
                            <a:schemeClr val="accent4"/>
                          </a:solidFill>
                          <a:latin typeface="Cambria Math" charset="0"/>
                        </a:rPr>
                        <m:t>2⋅</m:t>
                      </m:r>
                      <m:r>
                        <a:rPr lang="en-US" sz="3200" b="0" i="1" smtClean="0">
                          <a:solidFill>
                            <a:schemeClr val="accent4"/>
                          </a:solidFill>
                          <a:latin typeface="Cambria Math" charset="0"/>
                        </a:rPr>
                        <m:t>𝑇</m:t>
                      </m:r>
                      <m:d>
                        <m:dPr>
                          <m:ctrlPr>
                            <a:rPr lang="en-US" sz="32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32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200" b="0" i="1" smtClean="0">
                                  <a:solidFill>
                                    <a:schemeClr val="accent4"/>
                                  </a:solidFill>
                                  <a:latin typeface="Cambria Math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3200" b="0" i="1" smtClean="0">
                                  <a:solidFill>
                                    <a:schemeClr val="accent4"/>
                                  </a:solidFill>
                                  <a:latin typeface="Cambria Math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sz="3200" b="0" i="1" smtClean="0">
                          <a:solidFill>
                            <a:schemeClr val="accent4"/>
                          </a:solidFill>
                          <a:latin typeface="Cambria Math" charset="0"/>
                        </a:rPr>
                        <m:t>+</m:t>
                      </m:r>
                      <m:r>
                        <a:rPr lang="en-US" sz="32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32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2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32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accent4"/>
                  </a:solidFill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42" y="4414876"/>
                <a:ext cx="5357192" cy="840230"/>
              </a:xfrm>
              <a:prstGeom prst="rect">
                <a:avLst/>
              </a:prstGeom>
              <a:blipFill>
                <a:blip r:embed="rId4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7259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442" y="85658"/>
            <a:ext cx="7886700" cy="1325563"/>
          </a:xfrm>
        </p:spPr>
        <p:txBody>
          <a:bodyPr/>
          <a:lstStyle/>
          <a:p>
            <a:r>
              <a:rPr lang="en-US" dirty="0"/>
              <a:t>Running time of </a:t>
            </a:r>
            <a:r>
              <a:rPr lang="en-US" dirty="0" err="1"/>
              <a:t>MergeSort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18661" y="1361593"/>
                <a:ext cx="8547652" cy="3539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charset="0"/>
                  <a:buChar char="•"/>
                </a:pPr>
                <a:r>
                  <a:rPr lang="en-US" sz="3200" dirty="0"/>
                  <a:t>Let T(n) be the running time of </a:t>
                </a:r>
                <a:r>
                  <a:rPr lang="en-US" sz="3200" dirty="0" err="1"/>
                  <a:t>MergeSort</a:t>
                </a:r>
                <a:r>
                  <a:rPr lang="en-US" sz="3200" dirty="0"/>
                  <a:t> on a length n array.</a:t>
                </a:r>
                <a:endParaRPr lang="en-US" sz="2800" dirty="0">
                  <a:solidFill>
                    <a:schemeClr val="accent4"/>
                  </a:solidFill>
                </a:endParaRPr>
              </a:p>
              <a:p>
                <a:pPr marL="742950" lvl="1" indent="-285750">
                  <a:buFont typeface="Arial" charset="0"/>
                  <a:buChar char="•"/>
                </a:pPr>
                <a:endParaRPr lang="en-US" sz="2800" dirty="0"/>
              </a:p>
              <a:p>
                <a:pPr marL="285750" indent="-285750">
                  <a:buFont typeface="Arial" charset="0"/>
                  <a:buChar char="•"/>
                </a:pPr>
                <a:r>
                  <a:rPr lang="en-US" sz="3200" dirty="0"/>
                  <a:t>We know that </a:t>
                </a:r>
                <a14:m>
                  <m:oMath xmlns:m="http://schemas.openxmlformats.org/officeDocument/2006/math">
                    <m:r>
                      <a:rPr lang="en-US" sz="3200" i="1" dirty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3200" i="1" dirty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i="1" dirty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3200" i="1" dirty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sz="3200" i="1" dirty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3200" i="1" dirty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i="1" dirty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sz="3200" i="1" dirty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3200" dirty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3200" i="1" dirty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3200" i="1" dirty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3200" i="1" dirty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US" sz="3200" i="1" dirty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200" dirty="0">
                    <a:solidFill>
                      <a:schemeClr val="accent4"/>
                    </a:solidFill>
                  </a:rPr>
                  <a:t>.</a:t>
                </a:r>
              </a:p>
              <a:p>
                <a:pPr marL="285750" indent="-285750">
                  <a:buFont typeface="Arial" charset="0"/>
                  <a:buChar char="•"/>
                </a:pPr>
                <a:endParaRPr lang="en-US" sz="3200" dirty="0"/>
              </a:p>
              <a:p>
                <a:pPr marL="285750" indent="-285750">
                  <a:buFont typeface="Arial" charset="0"/>
                  <a:buChar char="•"/>
                </a:pPr>
                <a:r>
                  <a:rPr lang="en-US" sz="3200" dirty="0"/>
                  <a:t>We also know that T(n) satisfies:</a:t>
                </a:r>
              </a:p>
              <a:p>
                <a:pPr marL="285750" indent="-285750">
                  <a:buFont typeface="Arial" charset="0"/>
                  <a:buChar char="•"/>
                </a:pPr>
                <a:endParaRPr lang="en-US" sz="36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661" y="1361593"/>
                <a:ext cx="8547652" cy="3539430"/>
              </a:xfrm>
              <a:prstGeom prst="rect">
                <a:avLst/>
              </a:prstGeom>
              <a:blipFill>
                <a:blip r:embed="rId2"/>
                <a:stretch>
                  <a:fillRect l="-1632" t="-2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575853" y="4244704"/>
                <a:ext cx="3468759" cy="2426305"/>
              </a:xfrm>
              <a:prstGeom prst="rect">
                <a:avLst/>
              </a:prstGeom>
              <a:noFill/>
              <a:ln>
                <a:solidFill>
                  <a:schemeClr val="accent6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>
                  <a:lnSpc>
                    <a:spcPts val="2580"/>
                  </a:lnSpc>
                </a:pPr>
                <a:r>
                  <a:rPr lang="en-US" sz="2000" dirty="0">
                    <a:solidFill>
                      <a:schemeClr val="accent4"/>
                    </a:solidFill>
                  </a:rPr>
                  <a:t>MERGESORT</a:t>
                </a:r>
                <a:r>
                  <a:rPr lang="en-US" sz="2000" dirty="0"/>
                  <a:t>(A):</a:t>
                </a:r>
              </a:p>
              <a:p>
                <a:pPr>
                  <a:lnSpc>
                    <a:spcPts val="2580"/>
                  </a:lnSpc>
                </a:pPr>
                <a:r>
                  <a:rPr lang="en-US" sz="2000" dirty="0"/>
                  <a:t>    n = length(A)</a:t>
                </a:r>
              </a:p>
              <a:p>
                <a:pPr>
                  <a:lnSpc>
                    <a:spcPts val="2580"/>
                  </a:lnSpc>
                </a:pPr>
                <a:r>
                  <a:rPr lang="en-US" sz="2000" b="1" dirty="0"/>
                  <a:t>    if</a:t>
                </a:r>
                <a:r>
                  <a:rPr lang="en-US" sz="2000" dirty="0"/>
                  <a:t> 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Cambria Math" charset="0"/>
                        <a:cs typeface="Cambria Math" charset="0"/>
                      </a:rPr>
                      <m:t>≤</m:t>
                    </m:r>
                  </m:oMath>
                </a14:m>
                <a:r>
                  <a:rPr lang="en-US" sz="2000" dirty="0"/>
                  <a:t> 1:</a:t>
                </a:r>
              </a:p>
              <a:p>
                <a:pPr lvl="1">
                  <a:lnSpc>
                    <a:spcPts val="2580"/>
                  </a:lnSpc>
                </a:pPr>
                <a:r>
                  <a:rPr lang="en-US" b="1" dirty="0"/>
                  <a:t>return</a:t>
                </a:r>
                <a:r>
                  <a:rPr lang="en-US" dirty="0"/>
                  <a:t> A</a:t>
                </a:r>
              </a:p>
              <a:p>
                <a:pPr>
                  <a:lnSpc>
                    <a:spcPts val="2580"/>
                  </a:lnSpc>
                </a:pPr>
                <a:r>
                  <a:rPr lang="en-US" sz="2000" dirty="0"/>
                  <a:t>    L = </a:t>
                </a:r>
                <a:r>
                  <a:rPr lang="en-US" sz="2000" dirty="0">
                    <a:solidFill>
                      <a:schemeClr val="accent4"/>
                    </a:solidFill>
                  </a:rPr>
                  <a:t>MERGESORT</a:t>
                </a:r>
                <a:r>
                  <a:rPr lang="en-US" sz="2000" dirty="0"/>
                  <a:t>(A[:n/2])</a:t>
                </a:r>
              </a:p>
              <a:p>
                <a:pPr>
                  <a:lnSpc>
                    <a:spcPts val="2580"/>
                  </a:lnSpc>
                </a:pPr>
                <a:r>
                  <a:rPr lang="en-US" sz="2000" dirty="0"/>
                  <a:t>    R = </a:t>
                </a:r>
                <a:r>
                  <a:rPr lang="en-US" sz="2000" dirty="0">
                    <a:solidFill>
                      <a:schemeClr val="accent4"/>
                    </a:solidFill>
                  </a:rPr>
                  <a:t>MERGESORT</a:t>
                </a:r>
                <a:r>
                  <a:rPr lang="en-US" sz="2000" dirty="0"/>
                  <a:t>(A[n/2:])</a:t>
                </a:r>
              </a:p>
              <a:p>
                <a:pPr>
                  <a:lnSpc>
                    <a:spcPts val="2580"/>
                  </a:lnSpc>
                </a:pPr>
                <a:r>
                  <a:rPr lang="en-US" sz="2000" b="1" dirty="0"/>
                  <a:t>    return</a:t>
                </a:r>
                <a:r>
                  <a:rPr lang="en-US" sz="2000" dirty="0"/>
                  <a:t> </a:t>
                </a:r>
                <a:r>
                  <a:rPr lang="en-US" sz="2000" dirty="0">
                    <a:solidFill>
                      <a:srgbClr val="DE6769"/>
                    </a:solidFill>
                  </a:rPr>
                  <a:t>MERGE</a:t>
                </a:r>
                <a:r>
                  <a:rPr lang="en-US" sz="2000" dirty="0"/>
                  <a:t>(L, R)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5853" y="4244704"/>
                <a:ext cx="3468759" cy="2426305"/>
              </a:xfrm>
              <a:prstGeom prst="rect">
                <a:avLst/>
              </a:prstGeom>
              <a:blipFill>
                <a:blip r:embed="rId3"/>
                <a:stretch>
                  <a:fillRect l="-1818" b="-3627"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68342" y="4414876"/>
                <a:ext cx="5357192" cy="84023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accent4"/>
                          </a:solidFill>
                          <a:latin typeface="Cambria Math" charset="0"/>
                        </a:rPr>
                        <m:t>𝑇</m:t>
                      </m:r>
                      <m:d>
                        <m:dPr>
                          <m:ctrlPr>
                            <a:rPr lang="en-US" sz="32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solidFill>
                                <a:schemeClr val="accent4"/>
                              </a:solidFill>
                              <a:latin typeface="Cambria Math" charset="0"/>
                            </a:rPr>
                            <m:t>𝑛</m:t>
                          </m:r>
                        </m:e>
                      </m:d>
                      <m:r>
                        <a:rPr lang="en-US" sz="32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3200" b="0" i="1" smtClean="0">
                          <a:solidFill>
                            <a:schemeClr val="accent4"/>
                          </a:solidFill>
                          <a:latin typeface="Cambria Math" charset="0"/>
                        </a:rPr>
                        <m:t>2⋅</m:t>
                      </m:r>
                      <m:r>
                        <a:rPr lang="en-US" sz="3200" b="0" i="1" smtClean="0">
                          <a:solidFill>
                            <a:schemeClr val="accent4"/>
                          </a:solidFill>
                          <a:latin typeface="Cambria Math" charset="0"/>
                        </a:rPr>
                        <m:t>𝑇</m:t>
                      </m:r>
                      <m:d>
                        <m:dPr>
                          <m:ctrlPr>
                            <a:rPr lang="en-US" sz="32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32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200" b="0" i="1" smtClean="0">
                                  <a:solidFill>
                                    <a:schemeClr val="accent4"/>
                                  </a:solidFill>
                                  <a:latin typeface="Cambria Math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3200" b="0" i="1" smtClean="0">
                                  <a:solidFill>
                                    <a:schemeClr val="accent4"/>
                                  </a:solidFill>
                                  <a:latin typeface="Cambria Math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sz="3200" b="0" i="1" smtClean="0">
                          <a:solidFill>
                            <a:schemeClr val="accent4"/>
                          </a:solidFill>
                          <a:latin typeface="Cambria Math" charset="0"/>
                        </a:rPr>
                        <m:t>+</m:t>
                      </m:r>
                      <m:r>
                        <a:rPr lang="en-US" sz="3200" b="0" i="1" smtClean="0">
                          <a:solidFill>
                            <a:srgbClr val="DE6769"/>
                          </a:solidFill>
                          <a:latin typeface="Cambria Math" panose="02040503050406030204" pitchFamily="18" charset="0"/>
                        </a:rPr>
                        <m:t>11⋅</m:t>
                      </m:r>
                      <m:r>
                        <a:rPr lang="en-US" sz="3200" b="0" i="1" smtClean="0">
                          <a:solidFill>
                            <a:srgbClr val="DE6769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dirty="0">
                  <a:solidFill>
                    <a:schemeClr val="accent4"/>
                  </a:solidFill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42" y="4414876"/>
                <a:ext cx="5357192" cy="840230"/>
              </a:xfrm>
              <a:prstGeom prst="rect">
                <a:avLst/>
              </a:prstGeom>
              <a:blipFill>
                <a:blip r:embed="rId4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D10478E4-5CF3-7049-A376-F12DDB056CD3}"/>
              </a:ext>
            </a:extLst>
          </p:cNvPr>
          <p:cNvSpPr txBox="1"/>
          <p:nvPr/>
        </p:nvSpPr>
        <p:spPr>
          <a:xfrm>
            <a:off x="0" y="5531336"/>
            <a:ext cx="527727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7030A0"/>
                </a:solidFill>
              </a:rPr>
              <a:t>Last time we showed that the time to run MERGE on a problem of size n is O(n).  For concreteness, let’s say that it’s at most 11n operations.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87E7C92-F322-F348-AE13-490109FD44EA}"/>
              </a:ext>
            </a:extLst>
          </p:cNvPr>
          <p:cNvCxnSpPr>
            <a:cxnSpLocks/>
          </p:cNvCxnSpPr>
          <p:nvPr/>
        </p:nvCxnSpPr>
        <p:spPr>
          <a:xfrm flipV="1">
            <a:off x="3966519" y="5115698"/>
            <a:ext cx="131503" cy="345988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78216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Recurrence Relations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14325" y="1690688"/>
                <a:ext cx="8515350" cy="4869137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𝑛</m:t>
                        </m:r>
                      </m:e>
                    </m:d>
                    <m:r>
                      <a:rPr lang="en-US" i="1">
                        <a:solidFill>
                          <a:schemeClr val="accent4"/>
                        </a:solidFill>
                        <a:latin typeface="Cambria Math" charset="0"/>
                      </a:rPr>
                      <m:t>=2⋅</m:t>
                    </m:r>
                    <m:r>
                      <a:rPr lang="en-US" i="1">
                        <a:solidFill>
                          <a:schemeClr val="accent4"/>
                        </a:solidFill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schemeClr val="accent4"/>
                                </a:solidFill>
                                <a:latin typeface="Cambria Math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i="1">
                                <a:solidFill>
                                  <a:schemeClr val="accent4"/>
                                </a:solidFill>
                                <a:latin typeface="Cambria Math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i="1">
                        <a:solidFill>
                          <a:schemeClr val="accent4"/>
                        </a:solidFill>
                        <a:latin typeface="Cambria Math" charset="0"/>
                      </a:rPr>
                      <m:t>+11⋅</m:t>
                    </m:r>
                    <m:r>
                      <a:rPr lang="en-US" i="1">
                        <a:solidFill>
                          <a:schemeClr val="accent4"/>
                        </a:solidFill>
                        <a:latin typeface="Cambria Math" charset="0"/>
                      </a:rPr>
                      <m:t>𝑛</m:t>
                    </m:r>
                    <m:r>
                      <a:rPr lang="en-US" i="1">
                        <a:solidFill>
                          <a:schemeClr val="accent4"/>
                        </a:solidFill>
                        <a:latin typeface="Cambria Math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accent4"/>
                    </a:solidFill>
                  </a:rPr>
                  <a:t> </a:t>
                </a:r>
                <a:r>
                  <a:rPr lang="en-US" dirty="0">
                    <a:solidFill>
                      <a:schemeClr val="tx1"/>
                    </a:solidFill>
                  </a:rPr>
                  <a:t>is a </a:t>
                </a:r>
                <a:r>
                  <a:rPr lang="en-US" b="1" dirty="0">
                    <a:solidFill>
                      <a:schemeClr val="tx1"/>
                    </a:solidFill>
                  </a:rPr>
                  <a:t>recurrence relation.</a:t>
                </a:r>
              </a:p>
              <a:p>
                <a:r>
                  <a:rPr lang="en-US" dirty="0"/>
                  <a:t>It gives us a formula for T(n) in terms of T(less than n)</a:t>
                </a:r>
              </a:p>
              <a:p>
                <a:endParaRPr lang="en-US" dirty="0"/>
              </a:p>
              <a:p>
                <a:r>
                  <a:rPr lang="en-US" dirty="0"/>
                  <a:t>The challenge:</a:t>
                </a:r>
              </a:p>
              <a:p>
                <a:pPr marL="0" indent="0" algn="ctr">
                  <a:buNone/>
                </a:pPr>
                <a:r>
                  <a:rPr lang="en-US" sz="3600" dirty="0">
                    <a:solidFill>
                      <a:schemeClr val="accent4"/>
                    </a:solidFill>
                  </a:rPr>
                  <a:t>Given a recurrence relation for T(n), find a closed form expression for T(n).</a:t>
                </a:r>
              </a:p>
              <a:p>
                <a:pPr marL="0" indent="0" algn="ctr">
                  <a:buNone/>
                </a:pPr>
                <a:endParaRPr lang="en-US" b="1" i="1" dirty="0">
                  <a:solidFill>
                    <a:srgbClr val="005ECE"/>
                  </a:solidFill>
                </a:endParaRPr>
              </a:p>
              <a:p>
                <a:r>
                  <a:rPr lang="en-US" dirty="0"/>
                  <a:t>For example,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4325" y="1690688"/>
                <a:ext cx="8515350" cy="4869137"/>
              </a:xfrm>
              <a:blipFill>
                <a:blip r:embed="rId2"/>
                <a:stretch>
                  <a:fillRect l="-11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05DC572-9883-8B45-B3E3-57D8FF5390EC}"/>
                  </a:ext>
                </a:extLst>
              </p:cNvPr>
              <p:cNvSpPr txBox="1"/>
              <p:nvPr/>
            </p:nvSpPr>
            <p:spPr>
              <a:xfrm>
                <a:off x="6017342" y="0"/>
                <a:ext cx="3126657" cy="14919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1400" u="sng" dirty="0">
                    <a:solidFill>
                      <a:srgbClr val="7030A0"/>
                    </a:solidFill>
                  </a:rPr>
                  <a:t>Note (read after class): </a:t>
                </a:r>
              </a:p>
              <a:p>
                <a:pPr algn="r"/>
                <a14:m>
                  <m:oMath xmlns:m="http://schemas.openxmlformats.org/officeDocument/2006/math">
                    <m:r>
                      <a:rPr lang="en-US" sz="1400" i="1">
                        <a:solidFill>
                          <a:srgbClr val="7030A0"/>
                        </a:solidFill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sz="1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>
                            <a:solidFill>
                              <a:srgbClr val="7030A0"/>
                            </a:solidFill>
                            <a:latin typeface="Cambria Math" charset="0"/>
                          </a:rPr>
                          <m:t>𝑛</m:t>
                        </m:r>
                      </m:e>
                    </m:d>
                    <m:r>
                      <a:rPr lang="en-US" sz="1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1400" i="1">
                        <a:solidFill>
                          <a:srgbClr val="7030A0"/>
                        </a:solidFill>
                        <a:latin typeface="Cambria Math" charset="0"/>
                      </a:rPr>
                      <m:t>2⋅</m:t>
                    </m:r>
                    <m:r>
                      <a:rPr lang="en-US" sz="1400" i="1">
                        <a:solidFill>
                          <a:srgbClr val="7030A0"/>
                        </a:solidFill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sz="1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400" i="1">
                                <a:solidFill>
                                  <a:srgbClr val="7030A0"/>
                                </a:solidFill>
                                <a:latin typeface="Cambria Math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1400" i="1">
                                <a:solidFill>
                                  <a:srgbClr val="7030A0"/>
                                </a:solidFill>
                                <a:latin typeface="Cambria Math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sz="1400" i="1">
                        <a:solidFill>
                          <a:srgbClr val="7030A0"/>
                        </a:solidFill>
                        <a:latin typeface="Cambria Math" charset="0"/>
                      </a:rPr>
                      <m:t>+11⋅</m:t>
                    </m:r>
                    <m:r>
                      <a:rPr lang="en-US" sz="1400" i="1">
                        <a:solidFill>
                          <a:srgbClr val="7030A0"/>
                        </a:solidFill>
                        <a:latin typeface="Cambria Math" charset="0"/>
                      </a:rPr>
                      <m:t>𝑛</m:t>
                    </m:r>
                  </m:oMath>
                </a14:m>
                <a:r>
                  <a:rPr lang="en-US" sz="1400" dirty="0">
                    <a:solidFill>
                      <a:srgbClr val="7030A0"/>
                    </a:solidFill>
                  </a:rPr>
                  <a:t> (with a </a:t>
                </a:r>
                <a14:m>
                  <m:oMath xmlns:m="http://schemas.openxmlformats.org/officeDocument/2006/math">
                    <m:r>
                      <a:rPr lang="en-US" sz="1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sz="1400" dirty="0">
                    <a:solidFill>
                      <a:srgbClr val="7030A0"/>
                    </a:solidFill>
                  </a:rPr>
                  <a:t>) is also a recurrence relation.  A recurrence relation with an “=“ exactly defines a function; a recurrence relation with an inequality only bounds it. 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05DC572-9883-8B45-B3E3-57D8FF5390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7342" y="0"/>
                <a:ext cx="3126657" cy="1491947"/>
              </a:xfrm>
              <a:prstGeom prst="rect">
                <a:avLst/>
              </a:prstGeom>
              <a:blipFill>
                <a:blip r:embed="rId3"/>
                <a:stretch>
                  <a:fillRect t="-847" r="-3239" b="-33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58752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5581" y="220005"/>
            <a:ext cx="7886700" cy="1325563"/>
          </a:xfrm>
        </p:spPr>
        <p:txBody>
          <a:bodyPr/>
          <a:lstStyle/>
          <a:p>
            <a:r>
              <a:rPr lang="en-US" dirty="0"/>
              <a:t>Technicalities I</a:t>
            </a:r>
            <a:br>
              <a:rPr lang="en-US" dirty="0"/>
            </a:br>
            <a:r>
              <a:rPr lang="en-US" sz="3600" dirty="0">
                <a:solidFill>
                  <a:srgbClr val="7030A0"/>
                </a:solidFill>
              </a:rPr>
              <a:t>Base Cases</a:t>
            </a:r>
            <a:endParaRPr lang="en-US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89210" y="1879923"/>
                <a:ext cx="8754790" cy="4351338"/>
              </a:xfrm>
            </p:spPr>
            <p:txBody>
              <a:bodyPr/>
              <a:lstStyle/>
              <a:p>
                <a:r>
                  <a:rPr lang="en-US" dirty="0"/>
                  <a:t>Formally, we should always have </a:t>
                </a:r>
                <a:r>
                  <a:rPr lang="en-US" dirty="0">
                    <a:solidFill>
                      <a:srgbClr val="FF6400"/>
                    </a:solidFill>
                  </a:rPr>
                  <a:t>base cases </a:t>
                </a:r>
                <a:r>
                  <a:rPr lang="en-US" dirty="0"/>
                  <a:t>with recurrence relations.</a:t>
                </a:r>
              </a:p>
              <a:p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𝑛</m:t>
                        </m:r>
                      </m:e>
                    </m:d>
                    <m:r>
                      <a:rPr lang="en-US" i="1">
                        <a:solidFill>
                          <a:schemeClr val="accent4"/>
                        </a:solidFill>
                        <a:latin typeface="Cambria Math" charset="0"/>
                      </a:rPr>
                      <m:t>=2⋅</m:t>
                    </m:r>
                    <m:r>
                      <a:rPr lang="en-US" i="1">
                        <a:solidFill>
                          <a:schemeClr val="accent4"/>
                        </a:solidFill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schemeClr val="accent4"/>
                                </a:solidFill>
                                <a:latin typeface="Cambria Math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i="1">
                                <a:solidFill>
                                  <a:schemeClr val="accent4"/>
                                </a:solidFill>
                                <a:latin typeface="Cambria Math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i="1">
                        <a:solidFill>
                          <a:schemeClr val="accent4"/>
                        </a:solidFill>
                        <a:latin typeface="Cambria Math" charset="0"/>
                      </a:rPr>
                      <m:t>+11⋅</m:t>
                    </m:r>
                    <m:r>
                      <a:rPr lang="en-US" i="1">
                        <a:solidFill>
                          <a:schemeClr val="accent4"/>
                        </a:solidFill>
                        <a:latin typeface="Cambria Math" charset="0"/>
                      </a:rPr>
                      <m:t>𝑛</m:t>
                    </m:r>
                    <m:r>
                      <a:rPr lang="en-US" i="1">
                        <a:solidFill>
                          <a:schemeClr val="accent4"/>
                        </a:solidFill>
                        <a:latin typeface="Cambria Math" charset="0"/>
                      </a:rPr>
                      <m:t> </m:t>
                    </m:r>
                    <m:r>
                      <a:rPr lang="en-US" b="0" i="0" smtClean="0">
                        <a:solidFill>
                          <a:schemeClr val="accent4"/>
                        </a:solidFill>
                        <a:latin typeface="Cambria Math" charset="0"/>
                      </a:rPr>
                      <m:t> </m:t>
                    </m:r>
                  </m:oMath>
                </a14:m>
                <a:r>
                  <a:rPr lang="en-US" dirty="0"/>
                  <a:t>with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FF6400"/>
                        </a:solidFill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solidFill>
                              <a:srgbClr val="FF64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FF6400"/>
                            </a:solidFill>
                            <a:latin typeface="Cambria Math" charset="0"/>
                          </a:rPr>
                          <m:t>1</m:t>
                        </m:r>
                      </m:e>
                    </m:d>
                    <m:r>
                      <a:rPr lang="en-US" i="1">
                        <a:solidFill>
                          <a:srgbClr val="FF6400"/>
                        </a:solidFill>
                        <a:latin typeface="Cambria Math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FF6400"/>
                        </a:solidFill>
                        <a:latin typeface="Cambria Math" charset="0"/>
                      </a:rPr>
                      <m:t>1</m:t>
                    </m:r>
                  </m:oMath>
                </a14:m>
                <a:endParaRPr lang="en-US" dirty="0">
                  <a:solidFill>
                    <a:srgbClr val="FF6400"/>
                  </a:solidFill>
                </a:endParaRPr>
              </a:p>
              <a:p>
                <a:pPr marL="0" indent="0" algn="ctr">
                  <a:buNone/>
                </a:pPr>
                <a:r>
                  <a:rPr lang="en-US" i="1" dirty="0"/>
                  <a:t>is not the same function as</a:t>
                </a:r>
              </a:p>
              <a:p>
                <a:r>
                  <a:rPr lang="en-US" dirty="0">
                    <a:solidFill>
                      <a:schemeClr val="accent4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4"/>
                        </a:solidFill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𝑛</m:t>
                        </m:r>
                      </m:e>
                    </m:d>
                    <m:r>
                      <a:rPr lang="en-US" i="1">
                        <a:solidFill>
                          <a:schemeClr val="accent4"/>
                        </a:solidFill>
                        <a:latin typeface="Cambria Math" charset="0"/>
                      </a:rPr>
                      <m:t>=2⋅</m:t>
                    </m:r>
                    <m:r>
                      <a:rPr lang="en-US" i="1">
                        <a:solidFill>
                          <a:schemeClr val="accent4"/>
                        </a:solidFill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schemeClr val="accent4"/>
                                </a:solidFill>
                                <a:latin typeface="Cambria Math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i="1">
                                <a:solidFill>
                                  <a:schemeClr val="accent4"/>
                                </a:solidFill>
                                <a:latin typeface="Cambria Math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i="1">
                        <a:solidFill>
                          <a:schemeClr val="accent4"/>
                        </a:solidFill>
                        <a:latin typeface="Cambria Math" charset="0"/>
                      </a:rPr>
                      <m:t>+11⋅</m:t>
                    </m:r>
                    <m:r>
                      <a:rPr lang="en-US" i="1">
                        <a:solidFill>
                          <a:schemeClr val="accent4"/>
                        </a:solidFill>
                        <a:latin typeface="Cambria Math" charset="0"/>
                      </a:rPr>
                      <m:t>𝑛</m:t>
                    </m:r>
                    <m:r>
                      <a:rPr lang="en-US" i="1">
                        <a:solidFill>
                          <a:schemeClr val="accent4"/>
                        </a:solidFill>
                        <a:latin typeface="Cambria Math" charset="0"/>
                      </a:rPr>
                      <m:t> </m:t>
                    </m:r>
                    <m:r>
                      <a:rPr lang="en-US">
                        <a:solidFill>
                          <a:schemeClr val="accent4"/>
                        </a:solidFill>
                        <a:latin typeface="Cambria Math" charset="0"/>
                      </a:rPr>
                      <m:t> </m:t>
                    </m:r>
                  </m:oMath>
                </a14:m>
                <a:r>
                  <a:rPr lang="en-US" dirty="0"/>
                  <a:t>with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FF6400"/>
                        </a:solidFill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solidFill>
                              <a:srgbClr val="FF64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FF6400"/>
                            </a:solidFill>
                            <a:latin typeface="Cambria Math" charset="0"/>
                          </a:rPr>
                          <m:t>1</m:t>
                        </m:r>
                      </m:e>
                    </m:d>
                    <m:r>
                      <a:rPr lang="en-US" i="1">
                        <a:solidFill>
                          <a:srgbClr val="FF6400"/>
                        </a:solidFill>
                        <a:latin typeface="Cambria Math" charset="0"/>
                      </a:rPr>
                      <m:t>=1</m:t>
                    </m:r>
                    <m:r>
                      <a:rPr lang="en-US" b="0" i="1" smtClean="0">
                        <a:solidFill>
                          <a:srgbClr val="FF6400"/>
                        </a:solidFill>
                        <a:latin typeface="Cambria Math" charset="0"/>
                      </a:rPr>
                      <m:t>000000000</m:t>
                    </m:r>
                  </m:oMath>
                </a14:m>
                <a:endParaRPr lang="en-US" dirty="0"/>
              </a:p>
              <a:p>
                <a:r>
                  <a:rPr lang="en-US" dirty="0"/>
                  <a:t>However, no matter what T is, </a:t>
                </a:r>
                <a:r>
                  <a:rPr lang="en-US" dirty="0">
                    <a:solidFill>
                      <a:srgbClr val="FF6400"/>
                    </a:solidFill>
                  </a:rPr>
                  <a:t>T(1) = O(1), </a:t>
                </a:r>
                <a:r>
                  <a:rPr lang="en-US" dirty="0"/>
                  <a:t>so sometimes we’ll just omit it.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9210" y="1879923"/>
                <a:ext cx="8754790" cy="4351338"/>
              </a:xfrm>
              <a:blipFill>
                <a:blip r:embed="rId2"/>
                <a:stretch>
                  <a:fillRect l="-1159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55589" y="209404"/>
            <a:ext cx="791965" cy="109632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18488" y="5066034"/>
            <a:ext cx="1914844" cy="179196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53999" y="5308123"/>
            <a:ext cx="2393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rgbClr val="7030A0"/>
                </a:solidFill>
              </a:rPr>
              <a:t>Why does T(1) = O(1)?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0214" y="6317191"/>
            <a:ext cx="2743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7030A0"/>
                </a:solidFill>
              </a:rPr>
              <a:t>Siggi</a:t>
            </a:r>
            <a:r>
              <a:rPr lang="en-US" dirty="0">
                <a:solidFill>
                  <a:srgbClr val="7030A0"/>
                </a:solidFill>
              </a:rPr>
              <a:t> the Studious Stork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61170" y="1002951"/>
            <a:ext cx="18535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Plucky the Pedantic Penguin</a:t>
            </a:r>
          </a:p>
        </p:txBody>
      </p:sp>
    </p:spTree>
    <p:extLst>
      <p:ext uri="{BB962C8B-B14F-4D97-AF65-F5344CB8AC3E}">
        <p14:creationId xmlns:p14="http://schemas.microsoft.com/office/powerpoint/2010/main" val="900580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 your </a:t>
            </a:r>
            <a:r>
              <a:rPr lang="en-US" dirty="0">
                <a:solidFill>
                  <a:srgbClr val="FF6400"/>
                </a:solidFill>
              </a:rPr>
              <a:t>pre-lecture exercise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You played around with these examples (when n is a power of 2):</a:t>
                </a:r>
              </a:p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accent4"/>
                        </a:solidFill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i="1" dirty="0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𝑛</m:t>
                        </m:r>
                      </m:e>
                    </m:d>
                    <m:r>
                      <a:rPr lang="en-US" b="0" i="1" dirty="0" smtClean="0">
                        <a:solidFill>
                          <a:schemeClr val="accent4"/>
                        </a:solidFill>
                        <a:latin typeface="Cambria Math" charset="0"/>
                      </a:rPr>
                      <m:t>=</m:t>
                    </m:r>
                    <m:r>
                      <a:rPr lang="en-US" b="0" i="1" dirty="0" smtClean="0">
                        <a:solidFill>
                          <a:schemeClr val="accent4"/>
                        </a:solidFill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b="0" i="1" dirty="0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dirty="0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dirty="0" smtClean="0">
                                <a:solidFill>
                                  <a:schemeClr val="accent4"/>
                                </a:solidFill>
                                <a:latin typeface="Cambria Math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dirty="0" smtClean="0">
                                <a:solidFill>
                                  <a:schemeClr val="accent4"/>
                                </a:solidFill>
                                <a:latin typeface="Cambria Math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b="0" i="1" dirty="0" smtClean="0">
                        <a:solidFill>
                          <a:schemeClr val="accent4"/>
                        </a:solidFill>
                        <a:latin typeface="Cambria Math" charset="0"/>
                      </a:rPr>
                      <m:t>+</m:t>
                    </m:r>
                    <m:r>
                      <a:rPr lang="en-US" b="0" i="1" dirty="0" smtClean="0">
                        <a:solidFill>
                          <a:schemeClr val="accent4"/>
                        </a:solidFill>
                        <a:latin typeface="Cambria Math" charset="0"/>
                      </a:rPr>
                      <m:t>𝑛</m:t>
                    </m:r>
                    <m:r>
                      <a:rPr lang="en-US" b="0" i="1" dirty="0" smtClean="0">
                        <a:solidFill>
                          <a:schemeClr val="accent4"/>
                        </a:solidFill>
                        <a:latin typeface="Cambria Math" charset="0"/>
                      </a:rPr>
                      <m:t>,                   </m:t>
                    </m:r>
                    <m:r>
                      <a:rPr lang="en-US" b="0" i="1" dirty="0" smtClean="0">
                        <a:solidFill>
                          <a:schemeClr val="accent4"/>
                        </a:solidFill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b="0" i="1" dirty="0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1</m:t>
                        </m:r>
                      </m:e>
                    </m:d>
                    <m:r>
                      <a:rPr lang="en-US" b="0" i="1" dirty="0" smtClean="0">
                        <a:solidFill>
                          <a:schemeClr val="accent4"/>
                        </a:solidFill>
                        <a:latin typeface="Cambria Math" charset="0"/>
                      </a:rPr>
                      <m:t>=1</m:t>
                    </m:r>
                  </m:oMath>
                </a14:m>
                <a:endParaRPr lang="en-US" b="0" dirty="0">
                  <a:solidFill>
                    <a:schemeClr val="accent4"/>
                  </a:solidFill>
                </a:endParaRPr>
              </a:p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=2⋅</m:t>
                    </m:r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+</m:t>
                    </m:r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𝑛</m:t>
                    </m:r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,             </m:t>
                    </m:r>
                    <m:r>
                      <a:rPr lang="en-US" i="1" dirty="0">
                        <a:solidFill>
                          <a:schemeClr val="accent4"/>
                        </a:solidFill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i="1" dirty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1</m:t>
                        </m:r>
                      </m:e>
                    </m:d>
                    <m:r>
                      <a:rPr lang="en-US" i="1" dirty="0">
                        <a:solidFill>
                          <a:schemeClr val="accent4"/>
                        </a:solidFill>
                        <a:latin typeface="Cambria Math" charset="0"/>
                      </a:rPr>
                      <m:t>=1</m:t>
                    </m:r>
                  </m:oMath>
                </a14:m>
                <a:endParaRPr lang="en-US" b="0" dirty="0">
                  <a:solidFill>
                    <a:schemeClr val="accent4"/>
                  </a:solidFill>
                </a:endParaRPr>
              </a:p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4"/>
                        </a:solidFill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𝑛</m:t>
                        </m:r>
                      </m:e>
                    </m:d>
                    <m:r>
                      <a:rPr lang="en-US" i="1">
                        <a:solidFill>
                          <a:schemeClr val="accent4"/>
                        </a:solidFill>
                        <a:latin typeface="Cambria Math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4</m:t>
                    </m:r>
                    <m:r>
                      <a:rPr lang="en-US" i="1">
                        <a:solidFill>
                          <a:schemeClr val="accent4"/>
                        </a:solidFill>
                        <a:latin typeface="Cambria Math" charset="0"/>
                      </a:rPr>
                      <m:t>⋅</m:t>
                    </m:r>
                    <m:r>
                      <a:rPr lang="en-US" i="1">
                        <a:solidFill>
                          <a:schemeClr val="accent4"/>
                        </a:solidFill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schemeClr val="accent4"/>
                                </a:solidFill>
                                <a:latin typeface="Cambria Math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i="1">
                                <a:solidFill>
                                  <a:schemeClr val="accent4"/>
                                </a:solidFill>
                                <a:latin typeface="Cambria Math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i="1">
                        <a:solidFill>
                          <a:schemeClr val="accent4"/>
                        </a:solidFill>
                        <a:latin typeface="Cambria Math" charset="0"/>
                      </a:rPr>
                      <m:t>+</m:t>
                    </m:r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𝑛</m:t>
                    </m:r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,             </m:t>
                    </m:r>
                    <m:r>
                      <a:rPr lang="en-US" i="1" dirty="0">
                        <a:solidFill>
                          <a:schemeClr val="accent4"/>
                        </a:solidFill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i="1" dirty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1</m:t>
                        </m:r>
                      </m:e>
                    </m:d>
                    <m:r>
                      <a:rPr lang="en-US" i="1" dirty="0">
                        <a:solidFill>
                          <a:schemeClr val="accent4"/>
                        </a:solidFill>
                        <a:latin typeface="Cambria Math" charset="0"/>
                      </a:rPr>
                      <m:t>=1</m:t>
                    </m:r>
                  </m:oMath>
                </a14:m>
                <a:endParaRPr lang="en-US" dirty="0">
                  <a:solidFill>
                    <a:schemeClr val="accent4"/>
                  </a:solidFill>
                </a:endParaRPr>
              </a:p>
              <a:p>
                <a:pPr lvl="1"/>
                <a:endParaRPr lang="en-US" dirty="0"/>
              </a:p>
              <a:p>
                <a:pPr marL="0" indent="0">
                  <a:buNone/>
                </a:pPr>
                <a:endParaRPr lang="en-US" b="0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47" t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06471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226" y="32145"/>
            <a:ext cx="7276216" cy="1325563"/>
          </a:xfrm>
        </p:spPr>
        <p:txBody>
          <a:bodyPr/>
          <a:lstStyle/>
          <a:p>
            <a:r>
              <a:rPr lang="en-US" dirty="0"/>
              <a:t>One approach for all of these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1FB73F3-BD29-DE4B-9C10-FE72A4091B24}"/>
              </a:ext>
            </a:extLst>
          </p:cNvPr>
          <p:cNvGrpSpPr/>
          <p:nvPr/>
        </p:nvGrpSpPr>
        <p:grpSpPr>
          <a:xfrm>
            <a:off x="893752" y="1119478"/>
            <a:ext cx="7890643" cy="5509428"/>
            <a:chOff x="893752" y="1119478"/>
            <a:chExt cx="7890643" cy="5509428"/>
          </a:xfrm>
        </p:grpSpPr>
        <p:sp>
          <p:nvSpPr>
            <p:cNvPr id="4" name="Oval 3"/>
            <p:cNvSpPr/>
            <p:nvPr/>
          </p:nvSpPr>
          <p:spPr>
            <a:xfrm>
              <a:off x="5287900" y="1119478"/>
              <a:ext cx="1590671" cy="70614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Size n</a:t>
              </a:r>
            </a:p>
          </p:txBody>
        </p:sp>
        <p:sp>
          <p:nvSpPr>
            <p:cNvPr id="5" name="Oval 4"/>
            <p:cNvSpPr/>
            <p:nvPr/>
          </p:nvSpPr>
          <p:spPr>
            <a:xfrm>
              <a:off x="6277652" y="2041032"/>
              <a:ext cx="1249790" cy="494290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n/2</a:t>
              </a:r>
              <a:endParaRPr lang="en-US" dirty="0"/>
            </a:p>
          </p:txBody>
        </p:sp>
        <p:sp>
          <p:nvSpPr>
            <p:cNvPr id="6" name="Oval 5"/>
            <p:cNvSpPr/>
            <p:nvPr/>
          </p:nvSpPr>
          <p:spPr>
            <a:xfrm>
              <a:off x="4764342" y="2041032"/>
              <a:ext cx="1133899" cy="478086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n/2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7222641" y="2795795"/>
              <a:ext cx="796640" cy="565757"/>
            </a:xfrm>
            <a:prstGeom prst="ellipse">
              <a:avLst/>
            </a:prstGeom>
            <a:solidFill>
              <a:srgbClr val="555B9A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n/4</a:t>
              </a:r>
              <a:endParaRPr lang="en-US" dirty="0"/>
            </a:p>
          </p:txBody>
        </p:sp>
        <p:sp>
          <p:nvSpPr>
            <p:cNvPr id="8" name="Oval 7"/>
            <p:cNvSpPr/>
            <p:nvPr/>
          </p:nvSpPr>
          <p:spPr>
            <a:xfrm>
              <a:off x="7959647" y="5918295"/>
              <a:ext cx="304801" cy="248946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" name="Oval 8"/>
            <p:cNvSpPr/>
            <p:nvPr/>
          </p:nvSpPr>
          <p:spPr>
            <a:xfrm>
              <a:off x="7550942" y="5752259"/>
              <a:ext cx="304801" cy="248946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" name="Oval 9"/>
            <p:cNvSpPr/>
            <p:nvPr/>
          </p:nvSpPr>
          <p:spPr>
            <a:xfrm>
              <a:off x="7163007" y="5959642"/>
              <a:ext cx="304801" cy="248946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" name="Oval 10"/>
            <p:cNvSpPr/>
            <p:nvPr/>
          </p:nvSpPr>
          <p:spPr>
            <a:xfrm>
              <a:off x="6824321" y="5752259"/>
              <a:ext cx="304801" cy="248946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" name="Oval 11"/>
            <p:cNvSpPr/>
            <p:nvPr/>
          </p:nvSpPr>
          <p:spPr>
            <a:xfrm>
              <a:off x="6415616" y="5959642"/>
              <a:ext cx="304801" cy="248946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Oval 12"/>
            <p:cNvSpPr/>
            <p:nvPr/>
          </p:nvSpPr>
          <p:spPr>
            <a:xfrm>
              <a:off x="6009077" y="5774406"/>
              <a:ext cx="304801" cy="248946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Oval 13"/>
            <p:cNvSpPr/>
            <p:nvPr/>
          </p:nvSpPr>
          <p:spPr>
            <a:xfrm>
              <a:off x="5593440" y="5959642"/>
              <a:ext cx="304801" cy="248946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Oval 14"/>
            <p:cNvSpPr/>
            <p:nvPr/>
          </p:nvSpPr>
          <p:spPr>
            <a:xfrm>
              <a:off x="5177803" y="5774406"/>
              <a:ext cx="304801" cy="248946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" name="Oval 15"/>
            <p:cNvSpPr/>
            <p:nvPr/>
          </p:nvSpPr>
          <p:spPr>
            <a:xfrm>
              <a:off x="4764342" y="5918295"/>
              <a:ext cx="304801" cy="248946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" name="Oval 16"/>
            <p:cNvSpPr/>
            <p:nvPr/>
          </p:nvSpPr>
          <p:spPr>
            <a:xfrm>
              <a:off x="4377694" y="5724335"/>
              <a:ext cx="304801" cy="248946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" name="Oval 17"/>
            <p:cNvSpPr/>
            <p:nvPr/>
          </p:nvSpPr>
          <p:spPr>
            <a:xfrm>
              <a:off x="4042176" y="5898873"/>
              <a:ext cx="304801" cy="248946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144719" y="6167241"/>
              <a:ext cx="107555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(Size 1)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957876" y="4782826"/>
              <a:ext cx="51737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mr-IN" sz="4000" dirty="0"/>
                <a:t>…</a:t>
              </a:r>
              <a:endParaRPr lang="en-US" sz="4000" dirty="0"/>
            </a:p>
          </p:txBody>
        </p:sp>
        <p:sp>
          <p:nvSpPr>
            <p:cNvPr id="21" name="Oval 20"/>
            <p:cNvSpPr/>
            <p:nvPr/>
          </p:nvSpPr>
          <p:spPr>
            <a:xfrm>
              <a:off x="6156928" y="2828270"/>
              <a:ext cx="796640" cy="565757"/>
            </a:xfrm>
            <a:prstGeom prst="ellipse">
              <a:avLst/>
            </a:prstGeom>
            <a:solidFill>
              <a:srgbClr val="555B9A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n/4</a:t>
              </a:r>
              <a:endParaRPr lang="en-US" dirty="0"/>
            </a:p>
          </p:txBody>
        </p:sp>
        <p:sp>
          <p:nvSpPr>
            <p:cNvPr id="22" name="Oval 21"/>
            <p:cNvSpPr/>
            <p:nvPr/>
          </p:nvSpPr>
          <p:spPr>
            <a:xfrm>
              <a:off x="5069143" y="2847294"/>
              <a:ext cx="796640" cy="565757"/>
            </a:xfrm>
            <a:prstGeom prst="ellipse">
              <a:avLst/>
            </a:prstGeom>
            <a:solidFill>
              <a:srgbClr val="555B9A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n/4</a:t>
              </a:r>
              <a:endParaRPr lang="en-US" dirty="0"/>
            </a:p>
          </p:txBody>
        </p:sp>
        <p:sp>
          <p:nvSpPr>
            <p:cNvPr id="23" name="Oval 22"/>
            <p:cNvSpPr/>
            <p:nvPr/>
          </p:nvSpPr>
          <p:spPr>
            <a:xfrm>
              <a:off x="4042176" y="2847294"/>
              <a:ext cx="796640" cy="565757"/>
            </a:xfrm>
            <a:prstGeom prst="ellipse">
              <a:avLst/>
            </a:prstGeom>
            <a:solidFill>
              <a:srgbClr val="555B9A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n/4</a:t>
              </a:r>
              <a:endParaRPr lang="en-US" dirty="0"/>
            </a:p>
          </p:txBody>
        </p:sp>
        <p:sp>
          <p:nvSpPr>
            <p:cNvPr id="24" name="Oval 23"/>
            <p:cNvSpPr/>
            <p:nvPr/>
          </p:nvSpPr>
          <p:spPr>
            <a:xfrm>
              <a:off x="7813642" y="4323543"/>
              <a:ext cx="970753" cy="565757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n/2</a:t>
              </a:r>
              <a:r>
                <a:rPr lang="en-US" baseline="30000"/>
                <a:t>t</a:t>
              </a:r>
              <a:endParaRPr lang="en-US" dirty="0"/>
            </a:p>
          </p:txBody>
        </p:sp>
        <p:sp>
          <p:nvSpPr>
            <p:cNvPr id="25" name="Oval 24"/>
            <p:cNvSpPr/>
            <p:nvPr/>
          </p:nvSpPr>
          <p:spPr>
            <a:xfrm>
              <a:off x="6760173" y="4338253"/>
              <a:ext cx="970753" cy="565757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n/2</a:t>
              </a:r>
              <a:r>
                <a:rPr lang="en-US" baseline="30000"/>
                <a:t>t</a:t>
              </a:r>
              <a:endParaRPr lang="en-US" dirty="0"/>
            </a:p>
          </p:txBody>
        </p:sp>
        <p:sp>
          <p:nvSpPr>
            <p:cNvPr id="26" name="Oval 25"/>
            <p:cNvSpPr/>
            <p:nvPr/>
          </p:nvSpPr>
          <p:spPr>
            <a:xfrm>
              <a:off x="5646959" y="4323544"/>
              <a:ext cx="970753" cy="565757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n/2</a:t>
              </a:r>
              <a:r>
                <a:rPr lang="en-US" baseline="30000"/>
                <a:t>t</a:t>
              </a:r>
              <a:endParaRPr lang="en-US" dirty="0"/>
            </a:p>
          </p:txBody>
        </p:sp>
        <p:sp>
          <p:nvSpPr>
            <p:cNvPr id="27" name="Oval 26"/>
            <p:cNvSpPr/>
            <p:nvPr/>
          </p:nvSpPr>
          <p:spPr>
            <a:xfrm>
              <a:off x="4525071" y="4341946"/>
              <a:ext cx="970753" cy="565757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n/2</a:t>
              </a:r>
              <a:r>
                <a:rPr lang="en-US" baseline="30000"/>
                <a:t>t</a:t>
              </a:r>
              <a:endParaRPr lang="en-US" dirty="0"/>
            </a:p>
          </p:txBody>
        </p:sp>
        <p:sp>
          <p:nvSpPr>
            <p:cNvPr id="28" name="Oval 27"/>
            <p:cNvSpPr/>
            <p:nvPr/>
          </p:nvSpPr>
          <p:spPr>
            <a:xfrm>
              <a:off x="3469743" y="4341586"/>
              <a:ext cx="970753" cy="565757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n/2</a:t>
              </a:r>
              <a:r>
                <a:rPr lang="en-US" baseline="30000"/>
                <a:t>t</a:t>
              </a:r>
              <a:endParaRPr lang="en-US" dirty="0"/>
            </a:p>
          </p:txBody>
        </p:sp>
        <p:sp>
          <p:nvSpPr>
            <p:cNvPr id="29" name="Oval 28"/>
            <p:cNvSpPr/>
            <p:nvPr/>
          </p:nvSpPr>
          <p:spPr>
            <a:xfrm>
              <a:off x="2293727" y="4338253"/>
              <a:ext cx="970753" cy="565757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n/2</a:t>
              </a:r>
              <a:r>
                <a:rPr lang="en-US" baseline="30000"/>
                <a:t>t</a:t>
              </a:r>
              <a:endParaRPr lang="en-US" dirty="0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5812099" y="3205816"/>
              <a:ext cx="51737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mr-IN" sz="4000" dirty="0"/>
                <a:t>…</a:t>
              </a:r>
              <a:endParaRPr lang="en-US" sz="4000" dirty="0"/>
            </a:p>
          </p:txBody>
        </p:sp>
        <p:sp>
          <p:nvSpPr>
            <p:cNvPr id="34" name="Oval 33"/>
            <p:cNvSpPr/>
            <p:nvPr/>
          </p:nvSpPr>
          <p:spPr>
            <a:xfrm>
              <a:off x="3675897" y="5738620"/>
              <a:ext cx="304801" cy="248946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" name="Oval 34"/>
            <p:cNvSpPr/>
            <p:nvPr/>
          </p:nvSpPr>
          <p:spPr>
            <a:xfrm>
              <a:off x="3267192" y="5946003"/>
              <a:ext cx="304801" cy="248946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" name="Oval 35"/>
            <p:cNvSpPr/>
            <p:nvPr/>
          </p:nvSpPr>
          <p:spPr>
            <a:xfrm>
              <a:off x="2860653" y="5760767"/>
              <a:ext cx="304801" cy="248946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7" name="Oval 36"/>
            <p:cNvSpPr/>
            <p:nvPr/>
          </p:nvSpPr>
          <p:spPr>
            <a:xfrm>
              <a:off x="2445016" y="5946003"/>
              <a:ext cx="304801" cy="248946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8" name="Oval 37"/>
            <p:cNvSpPr/>
            <p:nvPr/>
          </p:nvSpPr>
          <p:spPr>
            <a:xfrm>
              <a:off x="2029379" y="5760767"/>
              <a:ext cx="304801" cy="248946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" name="Oval 38"/>
            <p:cNvSpPr/>
            <p:nvPr/>
          </p:nvSpPr>
          <p:spPr>
            <a:xfrm>
              <a:off x="1615918" y="5904656"/>
              <a:ext cx="304801" cy="248946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0" name="Oval 39"/>
            <p:cNvSpPr/>
            <p:nvPr/>
          </p:nvSpPr>
          <p:spPr>
            <a:xfrm>
              <a:off x="1229270" y="5710696"/>
              <a:ext cx="304801" cy="248946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1" name="Oval 40"/>
            <p:cNvSpPr/>
            <p:nvPr/>
          </p:nvSpPr>
          <p:spPr>
            <a:xfrm>
              <a:off x="893752" y="5885234"/>
              <a:ext cx="304801" cy="248946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246830" y="1411937"/>
            <a:ext cx="356509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sz="2800" dirty="0">
                <a:solidFill>
                  <a:schemeClr val="accent4"/>
                </a:solidFill>
              </a:rPr>
              <a:t>The “tree” approach from last time.</a:t>
            </a:r>
          </a:p>
          <a:p>
            <a:pPr marL="285750" indent="-285750">
              <a:buFont typeface="Arial" charset="0"/>
              <a:buChar char="•"/>
            </a:pPr>
            <a:endParaRPr lang="en-US" sz="2800" dirty="0">
              <a:solidFill>
                <a:schemeClr val="accent4"/>
              </a:solidFill>
            </a:endParaRPr>
          </a:p>
          <a:p>
            <a:pPr marL="285750" indent="-285750">
              <a:buFont typeface="Arial" charset="0"/>
              <a:buChar char="•"/>
            </a:pPr>
            <a:r>
              <a:rPr lang="en-US" sz="2800" dirty="0">
                <a:solidFill>
                  <a:schemeClr val="accent4"/>
                </a:solidFill>
              </a:rPr>
              <a:t>Add up all the work done at all the sub-problems.</a:t>
            </a:r>
          </a:p>
        </p:txBody>
      </p:sp>
    </p:spTree>
    <p:extLst>
      <p:ext uri="{BB962C8B-B14F-4D97-AF65-F5344CB8AC3E}">
        <p14:creationId xmlns:p14="http://schemas.microsoft.com/office/powerpoint/2010/main" val="1507963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6400"/>
                </a:solidFill>
              </a:rPr>
              <a:t>Pre-lecture exercise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(when n is a power of 2):</a:t>
                </a:r>
              </a:p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accent4"/>
                        </a:solidFill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i="1" dirty="0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𝑛</m:t>
                        </m:r>
                      </m:e>
                    </m:d>
                    <m:r>
                      <a:rPr lang="en-US" b="0" i="1" dirty="0" smtClean="0">
                        <a:solidFill>
                          <a:schemeClr val="accent4"/>
                        </a:solidFill>
                        <a:latin typeface="Cambria Math" charset="0"/>
                      </a:rPr>
                      <m:t>=</m:t>
                    </m:r>
                    <m:r>
                      <a:rPr lang="en-US" b="0" i="1" dirty="0" smtClean="0">
                        <a:solidFill>
                          <a:schemeClr val="accent4"/>
                        </a:solidFill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b="0" i="1" dirty="0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dirty="0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dirty="0" smtClean="0">
                                <a:solidFill>
                                  <a:schemeClr val="accent4"/>
                                </a:solidFill>
                                <a:latin typeface="Cambria Math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dirty="0" smtClean="0">
                                <a:solidFill>
                                  <a:schemeClr val="accent4"/>
                                </a:solidFill>
                                <a:latin typeface="Cambria Math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b="0" i="1" dirty="0" smtClean="0">
                        <a:solidFill>
                          <a:schemeClr val="accent4"/>
                        </a:solidFill>
                        <a:latin typeface="Cambria Math" charset="0"/>
                      </a:rPr>
                      <m:t>+</m:t>
                    </m:r>
                    <m:r>
                      <a:rPr lang="en-US" b="0" i="1" dirty="0" smtClean="0">
                        <a:solidFill>
                          <a:schemeClr val="accent4"/>
                        </a:solidFill>
                        <a:latin typeface="Cambria Math" charset="0"/>
                      </a:rPr>
                      <m:t>𝑛</m:t>
                    </m:r>
                    <m:r>
                      <a:rPr lang="en-US" b="0" i="1" dirty="0" smtClean="0">
                        <a:solidFill>
                          <a:schemeClr val="accent4"/>
                        </a:solidFill>
                        <a:latin typeface="Cambria Math" charset="0"/>
                      </a:rPr>
                      <m:t>,                   </m:t>
                    </m:r>
                    <m:r>
                      <a:rPr lang="en-US" b="0" i="1" dirty="0" smtClean="0">
                        <a:solidFill>
                          <a:schemeClr val="accent4"/>
                        </a:solidFill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b="0" i="1" dirty="0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1</m:t>
                        </m:r>
                      </m:e>
                    </m:d>
                    <m:r>
                      <a:rPr lang="en-US" b="0" i="1" dirty="0" smtClean="0">
                        <a:solidFill>
                          <a:schemeClr val="accent4"/>
                        </a:solidFill>
                        <a:latin typeface="Cambria Math" charset="0"/>
                      </a:rPr>
                      <m:t>=1</m:t>
                    </m:r>
                  </m:oMath>
                </a14:m>
                <a:endParaRPr lang="en-US" b="0" dirty="0">
                  <a:solidFill>
                    <a:schemeClr val="accent4"/>
                  </a:solidFill>
                </a:endParaRPr>
              </a:p>
              <a:p>
                <a:pPr marL="914400" lvl="1" indent="-457200">
                  <a:buFont typeface="+mj-lt"/>
                  <a:buAutoNum type="arabicPeriod"/>
                </a:pPr>
                <a:endParaRPr lang="en-US" b="0" dirty="0">
                  <a:solidFill>
                    <a:schemeClr val="accent4"/>
                  </a:solidFill>
                </a:endParaRPr>
              </a:p>
              <a:p>
                <a:pPr marL="914400" lvl="1" indent="-457200">
                  <a:buFont typeface="+mj-lt"/>
                  <a:buAutoNum type="arabicPeriod"/>
                </a:pPr>
                <a:endParaRPr lang="en-US" b="0" dirty="0">
                  <a:solidFill>
                    <a:schemeClr val="accent4"/>
                  </a:solidFill>
                </a:endParaRPr>
              </a:p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=2⋅</m:t>
                    </m:r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+</m:t>
                    </m:r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𝑛</m:t>
                    </m:r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,             </m:t>
                    </m:r>
                    <m:r>
                      <a:rPr lang="en-US" i="1" dirty="0">
                        <a:solidFill>
                          <a:schemeClr val="accent4"/>
                        </a:solidFill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i="1" dirty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1</m:t>
                        </m:r>
                      </m:e>
                    </m:d>
                    <m:r>
                      <a:rPr lang="en-US" i="1" dirty="0">
                        <a:solidFill>
                          <a:schemeClr val="accent4"/>
                        </a:solidFill>
                        <a:latin typeface="Cambria Math" charset="0"/>
                      </a:rPr>
                      <m:t>=1</m:t>
                    </m:r>
                  </m:oMath>
                </a14:m>
                <a:endParaRPr lang="en-US" dirty="0">
                  <a:solidFill>
                    <a:schemeClr val="accent4"/>
                  </a:solidFill>
                </a:endParaRPr>
              </a:p>
              <a:p>
                <a:pPr marL="914400" lvl="1" indent="-457200">
                  <a:buFont typeface="+mj-lt"/>
                  <a:buAutoNum type="arabicPeriod"/>
                </a:pPr>
                <a:endParaRPr lang="en-US" b="0" dirty="0">
                  <a:solidFill>
                    <a:schemeClr val="accent4"/>
                  </a:solidFill>
                </a:endParaRPr>
              </a:p>
              <a:p>
                <a:pPr marL="914400" lvl="1" indent="-457200">
                  <a:buFont typeface="+mj-lt"/>
                  <a:buAutoNum type="arabicPeriod"/>
                </a:pPr>
                <a:endParaRPr lang="en-US" b="0" dirty="0">
                  <a:solidFill>
                    <a:schemeClr val="accent4"/>
                  </a:solidFill>
                </a:endParaRPr>
              </a:p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4"/>
                        </a:solidFill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𝑛</m:t>
                        </m:r>
                      </m:e>
                    </m:d>
                    <m:r>
                      <a:rPr lang="en-US" i="1">
                        <a:solidFill>
                          <a:schemeClr val="accent4"/>
                        </a:solidFill>
                        <a:latin typeface="Cambria Math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4</m:t>
                    </m:r>
                    <m:r>
                      <a:rPr lang="en-US" i="1">
                        <a:solidFill>
                          <a:schemeClr val="accent4"/>
                        </a:solidFill>
                        <a:latin typeface="Cambria Math" charset="0"/>
                      </a:rPr>
                      <m:t>⋅</m:t>
                    </m:r>
                    <m:r>
                      <a:rPr lang="en-US" i="1">
                        <a:solidFill>
                          <a:schemeClr val="accent4"/>
                        </a:solidFill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schemeClr val="accent4"/>
                                </a:solidFill>
                                <a:latin typeface="Cambria Math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i="1">
                                <a:solidFill>
                                  <a:schemeClr val="accent4"/>
                                </a:solidFill>
                                <a:latin typeface="Cambria Math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i="1">
                        <a:solidFill>
                          <a:schemeClr val="accent4"/>
                        </a:solidFill>
                        <a:latin typeface="Cambria Math" charset="0"/>
                      </a:rPr>
                      <m:t>+</m:t>
                    </m:r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𝑛</m:t>
                    </m:r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,             </m:t>
                    </m:r>
                    <m:r>
                      <a:rPr lang="en-US" i="1" dirty="0">
                        <a:solidFill>
                          <a:schemeClr val="accent4"/>
                        </a:solidFill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i="1" dirty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1</m:t>
                        </m:r>
                      </m:e>
                    </m:d>
                    <m:r>
                      <a:rPr lang="en-US" i="1" dirty="0">
                        <a:solidFill>
                          <a:schemeClr val="accent4"/>
                        </a:solidFill>
                        <a:latin typeface="Cambria Math" charset="0"/>
                      </a:rPr>
                      <m:t>=1</m:t>
                    </m:r>
                  </m:oMath>
                </a14:m>
                <a:endParaRPr lang="en-US" dirty="0">
                  <a:solidFill>
                    <a:schemeClr val="accent4"/>
                  </a:solidFill>
                </a:endParaRPr>
              </a:p>
              <a:p>
                <a:pPr lvl="1"/>
                <a:endParaRPr lang="en-US" dirty="0"/>
              </a:p>
              <a:p>
                <a:pPr marL="0" indent="0">
                  <a:buNone/>
                </a:pPr>
                <a:endParaRPr lang="en-US" b="0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47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36829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452DD-DA36-3F40-A37E-88E1BE74C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05642"/>
            <a:ext cx="8614204" cy="1325563"/>
          </a:xfrm>
        </p:spPr>
        <p:txBody>
          <a:bodyPr/>
          <a:lstStyle/>
          <a:p>
            <a:r>
              <a:rPr lang="en-US" dirty="0"/>
              <a:t>Solutions to pre-lecture exercise (1)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426FE7-9B15-3E4F-9119-3738F5EFDE2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49" y="1825625"/>
                <a:ext cx="5664413" cy="4351338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𝑛</m:t>
                        </m:r>
                      </m:e>
                    </m:d>
                    <m:r>
                      <a:rPr lang="en-US" i="1">
                        <a:solidFill>
                          <a:schemeClr val="accent4"/>
                        </a:solidFill>
                        <a:latin typeface="Cambria Math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schemeClr val="accent4"/>
                                </a:solidFill>
                                <a:latin typeface="Cambria Math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i="1">
                                <a:solidFill>
                                  <a:schemeClr val="accent4"/>
                                </a:solidFill>
                                <a:latin typeface="Cambria Math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i="1">
                        <a:solidFill>
                          <a:schemeClr val="accent4"/>
                        </a:solidFill>
                        <a:latin typeface="Cambria Math" charset="0"/>
                      </a:rPr>
                      <m:t>+</m:t>
                    </m:r>
                    <m:r>
                      <a:rPr lang="en-US" i="1">
                        <a:solidFill>
                          <a:schemeClr val="accent4"/>
                        </a:solidFill>
                        <a:latin typeface="Cambria Math" charset="0"/>
                      </a:rPr>
                      <m:t>𝑛</m:t>
                    </m:r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i="1">
                        <a:solidFill>
                          <a:schemeClr val="accent4"/>
                        </a:solidFill>
                        <a:latin typeface="Cambria Math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1.</m:t>
                    </m:r>
                  </m:oMath>
                </a14:m>
                <a:endParaRPr lang="en-US" dirty="0"/>
              </a:p>
              <a:p>
                <a:r>
                  <a:rPr lang="en-US" dirty="0"/>
                  <a:t>Adding up over all layers: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</m:den>
                          </m:f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=2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−1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So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DE676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DE6769"/>
                            </a:solidFill>
                            <a:latin typeface="Cambria Math" charset="0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solidFill>
                              <a:srgbClr val="DE6769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rgbClr val="DE6769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DE6769"/>
                            </a:solidFill>
                            <a:latin typeface="Cambria Math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solidFill>
                          <a:srgbClr val="DE6769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DE6769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DE6769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DE6769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solidFill>
                          <a:srgbClr val="DE6769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426FE7-9B15-3E4F-9119-3738F5EFDE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825625"/>
                <a:ext cx="5664413" cy="4351338"/>
              </a:xfrm>
              <a:blipFill>
                <a:blip r:embed="rId2"/>
                <a:stretch>
                  <a:fillRect l="-1786" b="-128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val 5">
            <a:extLst>
              <a:ext uri="{FF2B5EF4-FFF2-40B4-BE49-F238E27FC236}">
                <a16:creationId xmlns:a16="http://schemas.microsoft.com/office/drawing/2014/main" id="{5BDFCDE6-CEC6-5240-AD49-73F33852CE01}"/>
              </a:ext>
            </a:extLst>
          </p:cNvPr>
          <p:cNvSpPr/>
          <p:nvPr/>
        </p:nvSpPr>
        <p:spPr>
          <a:xfrm>
            <a:off x="6001096" y="2165109"/>
            <a:ext cx="1590671" cy="70614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Size n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A183177-F24D-3840-B6F4-355421AD56DC}"/>
              </a:ext>
            </a:extLst>
          </p:cNvPr>
          <p:cNvSpPr/>
          <p:nvPr/>
        </p:nvSpPr>
        <p:spPr>
          <a:xfrm>
            <a:off x="6171536" y="3080328"/>
            <a:ext cx="1249790" cy="494290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n/2</a:t>
            </a:r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FD3BA1F-42A1-0C42-97ED-4A88ACFFAFF2}"/>
              </a:ext>
            </a:extLst>
          </p:cNvPr>
          <p:cNvSpPr/>
          <p:nvPr/>
        </p:nvSpPr>
        <p:spPr>
          <a:xfrm>
            <a:off x="6644028" y="6201357"/>
            <a:ext cx="304801" cy="248946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37EC3EC-21E0-D04B-B131-AF3A27B082FD}"/>
              </a:ext>
            </a:extLst>
          </p:cNvPr>
          <p:cNvSpPr txBox="1"/>
          <p:nvPr/>
        </p:nvSpPr>
        <p:spPr>
          <a:xfrm>
            <a:off x="5873278" y="6325830"/>
            <a:ext cx="855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(Size 1)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C9D32FF-3097-1142-8ACE-38A5FB52E54E}"/>
              </a:ext>
            </a:extLst>
          </p:cNvPr>
          <p:cNvSpPr txBox="1"/>
          <p:nvPr/>
        </p:nvSpPr>
        <p:spPr>
          <a:xfrm>
            <a:off x="6537742" y="5483008"/>
            <a:ext cx="51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r-IN" sz="4000" dirty="0"/>
              <a:t>…</a:t>
            </a:r>
            <a:endParaRPr lang="en-US" sz="4000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0B2C300-9337-1840-A14E-5CC004457218}"/>
              </a:ext>
            </a:extLst>
          </p:cNvPr>
          <p:cNvSpPr/>
          <p:nvPr/>
        </p:nvSpPr>
        <p:spPr>
          <a:xfrm>
            <a:off x="6380121" y="3813662"/>
            <a:ext cx="796640" cy="565757"/>
          </a:xfrm>
          <a:prstGeom prst="ellipse">
            <a:avLst/>
          </a:prstGeom>
          <a:solidFill>
            <a:srgbClr val="555B9A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n/4</a:t>
            </a:r>
            <a:endParaRPr lang="en-US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66D6A26-0682-A941-A8FA-13DBD4B05125}"/>
              </a:ext>
            </a:extLst>
          </p:cNvPr>
          <p:cNvSpPr/>
          <p:nvPr/>
        </p:nvSpPr>
        <p:spPr>
          <a:xfrm>
            <a:off x="6311054" y="5036729"/>
            <a:ext cx="970753" cy="565757"/>
          </a:xfrm>
          <a:prstGeom prst="ellipse">
            <a:avLst/>
          </a:prstGeom>
          <a:solidFill>
            <a:schemeClr val="accent5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n/2</a:t>
            </a:r>
            <a:r>
              <a:rPr lang="en-US" baseline="30000"/>
              <a:t>t</a:t>
            </a:r>
            <a:endParaRPr 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427BEF4-6122-524F-84C2-12834D70D35B}"/>
              </a:ext>
            </a:extLst>
          </p:cNvPr>
          <p:cNvSpPr txBox="1"/>
          <p:nvPr/>
        </p:nvSpPr>
        <p:spPr>
          <a:xfrm>
            <a:off x="6519753" y="4244458"/>
            <a:ext cx="51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r-IN" sz="4000" dirty="0"/>
              <a:t>…</a:t>
            </a:r>
            <a:endParaRPr lang="en-US" sz="40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47508E8-DA32-524C-A590-084E13D0C26D}"/>
              </a:ext>
            </a:extLst>
          </p:cNvPr>
          <p:cNvSpPr txBox="1"/>
          <p:nvPr/>
        </p:nvSpPr>
        <p:spPr>
          <a:xfrm>
            <a:off x="7976134" y="2273154"/>
            <a:ext cx="3193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n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4E59209-652E-D444-ACCB-FC60DBEB43AE}"/>
              </a:ext>
            </a:extLst>
          </p:cNvPr>
          <p:cNvSpPr txBox="1"/>
          <p:nvPr/>
        </p:nvSpPr>
        <p:spPr>
          <a:xfrm>
            <a:off x="7434774" y="1518778"/>
            <a:ext cx="14969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Contribution at this layer: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E789C5C-C72E-634B-8EE5-30AB9DE6BA88}"/>
              </a:ext>
            </a:extLst>
          </p:cNvPr>
          <p:cNvSpPr txBox="1"/>
          <p:nvPr/>
        </p:nvSpPr>
        <p:spPr>
          <a:xfrm>
            <a:off x="7861519" y="3074477"/>
            <a:ext cx="5485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n/2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0B197AD-9CCE-DD4C-B65E-BCD7ED3BFD92}"/>
              </a:ext>
            </a:extLst>
          </p:cNvPr>
          <p:cNvSpPr txBox="1"/>
          <p:nvPr/>
        </p:nvSpPr>
        <p:spPr>
          <a:xfrm>
            <a:off x="7844278" y="3832922"/>
            <a:ext cx="5485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n/4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51E5091-BB41-CB43-B3C1-AB45635ED1D0}"/>
              </a:ext>
            </a:extLst>
          </p:cNvPr>
          <p:cNvSpPr txBox="1"/>
          <p:nvPr/>
        </p:nvSpPr>
        <p:spPr>
          <a:xfrm>
            <a:off x="7861519" y="5181873"/>
            <a:ext cx="6062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n/2</a:t>
            </a:r>
            <a:r>
              <a:rPr lang="en-US" sz="2000" baseline="30000" dirty="0"/>
              <a:t>t</a:t>
            </a:r>
            <a:endParaRPr lang="en-US" sz="20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E7F6CFB-2E31-6143-B72F-3DEFE74784ED}"/>
              </a:ext>
            </a:extLst>
          </p:cNvPr>
          <p:cNvSpPr txBox="1"/>
          <p:nvPr/>
        </p:nvSpPr>
        <p:spPr>
          <a:xfrm>
            <a:off x="7976134" y="6051218"/>
            <a:ext cx="8020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182402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2" grpId="0" animBg="1"/>
      <p:bldP spid="21" grpId="0"/>
      <p:bldP spid="22" grpId="0"/>
      <p:bldP spid="23" grpId="0" animBg="1"/>
      <p:bldP spid="27" grpId="0" animBg="1"/>
      <p:bldP spid="32" grpId="0"/>
      <p:bldP spid="41" grpId="0"/>
      <p:bldP spid="42" grpId="0"/>
      <p:bldP spid="43" grpId="0"/>
      <p:bldP spid="44" grpId="0"/>
      <p:bldP spid="45" grpId="0"/>
      <p:bldP spid="4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452DD-DA36-3F40-A37E-88E1BE74C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750" y="-69467"/>
            <a:ext cx="8614204" cy="1325563"/>
          </a:xfrm>
        </p:spPr>
        <p:txBody>
          <a:bodyPr/>
          <a:lstStyle/>
          <a:p>
            <a:r>
              <a:rPr lang="en-US" dirty="0"/>
              <a:t>Solutions to pre-lecture exercise (2)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426FE7-9B15-3E4F-9119-3738F5EFDE2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4567" y="1127962"/>
                <a:ext cx="5664413" cy="4351338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𝑛</m:t>
                        </m:r>
                      </m:e>
                    </m:d>
                    <m:r>
                      <a:rPr lang="en-US" i="1">
                        <a:solidFill>
                          <a:schemeClr val="accent4"/>
                        </a:solidFill>
                        <a:latin typeface="Cambria Math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i="1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schemeClr val="accent4"/>
                                </a:solidFill>
                                <a:latin typeface="Cambria Math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i="1">
                                <a:solidFill>
                                  <a:schemeClr val="accent4"/>
                                </a:solidFill>
                                <a:latin typeface="Cambria Math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i="1">
                        <a:solidFill>
                          <a:schemeClr val="accent4"/>
                        </a:solidFill>
                        <a:latin typeface="Cambria Math" charset="0"/>
                      </a:rPr>
                      <m:t>+</m:t>
                    </m:r>
                    <m:r>
                      <a:rPr lang="en-US" i="1">
                        <a:solidFill>
                          <a:schemeClr val="accent4"/>
                        </a:solidFill>
                        <a:latin typeface="Cambria Math" charset="0"/>
                      </a:rPr>
                      <m:t>𝑛</m:t>
                    </m:r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i="1">
                        <a:solidFill>
                          <a:schemeClr val="accent4"/>
                        </a:solidFill>
                        <a:latin typeface="Cambria Math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1.</m:t>
                    </m:r>
                  </m:oMath>
                </a14:m>
                <a:endParaRPr lang="en-US" dirty="0"/>
              </a:p>
              <a:p>
                <a:r>
                  <a:rPr lang="en-US" dirty="0"/>
                  <a:t>Adding up over all layers:</a:t>
                </a:r>
              </a:p>
              <a:p>
                <a:endParaRPr lang="en-US" sz="7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func>
                                <m:func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d>
                                </m:e>
                              </m:func>
                            </m:sup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                  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endParaRPr lang="en-US" dirty="0"/>
              </a:p>
              <a:p>
                <a:r>
                  <a:rPr lang="en-US" dirty="0">
                    <a:solidFill>
                      <a:srgbClr val="DE6769"/>
                    </a:solidFill>
                  </a:rPr>
                  <a:t>So</a:t>
                </a:r>
                <a:r>
                  <a:rPr lang="en-US" i="1" dirty="0">
                    <a:solidFill>
                      <a:srgbClr val="DE6769"/>
                    </a:solidFill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DE676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DE6769"/>
                            </a:solidFill>
                            <a:latin typeface="Cambria Math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DE6769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rgbClr val="DE6769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DE6769"/>
                            </a:solidFill>
                            <a:latin typeface="Cambria Math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solidFill>
                          <a:srgbClr val="DE6769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DE6769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DE6769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solidFill>
                                  <a:srgbClr val="DE676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rgbClr val="DE6769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rgbClr val="DE6769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dirty="0">
                  <a:solidFill>
                    <a:srgbClr val="DE6769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426FE7-9B15-3E4F-9119-3738F5EFDE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4567" y="1127962"/>
                <a:ext cx="5664413" cy="4351338"/>
              </a:xfrm>
              <a:blipFill>
                <a:blip r:embed="rId2"/>
                <a:stretch>
                  <a:fillRect l="-19507" t="-1749" b="-64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40">
            <a:extLst>
              <a:ext uri="{FF2B5EF4-FFF2-40B4-BE49-F238E27FC236}">
                <a16:creationId xmlns:a16="http://schemas.microsoft.com/office/drawing/2014/main" id="{D47508E8-DA32-524C-A590-084E13D0C26D}"/>
              </a:ext>
            </a:extLst>
          </p:cNvPr>
          <p:cNvSpPr txBox="1"/>
          <p:nvPr/>
        </p:nvSpPr>
        <p:spPr>
          <a:xfrm>
            <a:off x="7976134" y="2273154"/>
            <a:ext cx="3193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n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4E59209-652E-D444-ACCB-FC60DBEB43AE}"/>
              </a:ext>
            </a:extLst>
          </p:cNvPr>
          <p:cNvSpPr txBox="1"/>
          <p:nvPr/>
        </p:nvSpPr>
        <p:spPr>
          <a:xfrm>
            <a:off x="7434774" y="1518778"/>
            <a:ext cx="14969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Contribution at this layer: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E789C5C-C72E-634B-8EE5-30AB9DE6BA88}"/>
              </a:ext>
            </a:extLst>
          </p:cNvPr>
          <p:cNvSpPr txBox="1"/>
          <p:nvPr/>
        </p:nvSpPr>
        <p:spPr>
          <a:xfrm>
            <a:off x="7935661" y="3062120"/>
            <a:ext cx="4491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2n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0B197AD-9CCE-DD4C-B65E-BCD7ED3BFD92}"/>
              </a:ext>
            </a:extLst>
          </p:cNvPr>
          <p:cNvSpPr txBox="1"/>
          <p:nvPr/>
        </p:nvSpPr>
        <p:spPr>
          <a:xfrm>
            <a:off x="7918420" y="3907064"/>
            <a:ext cx="4491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4n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51E5091-BB41-CB43-B3C1-AB45635ED1D0}"/>
              </a:ext>
            </a:extLst>
          </p:cNvPr>
          <p:cNvSpPr txBox="1"/>
          <p:nvPr/>
        </p:nvSpPr>
        <p:spPr>
          <a:xfrm>
            <a:off x="7898590" y="5181873"/>
            <a:ext cx="5068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2</a:t>
            </a:r>
            <a:r>
              <a:rPr lang="en-US" sz="2000" baseline="30000" dirty="0"/>
              <a:t>t</a:t>
            </a:r>
            <a:r>
              <a:rPr lang="en-US" sz="2000" dirty="0"/>
              <a:t>n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E7F6CFB-2E31-6143-B72F-3DEFE74784ED}"/>
              </a:ext>
            </a:extLst>
          </p:cNvPr>
          <p:cNvSpPr txBox="1"/>
          <p:nvPr/>
        </p:nvSpPr>
        <p:spPr>
          <a:xfrm>
            <a:off x="7976134" y="6051218"/>
            <a:ext cx="8020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n</a:t>
            </a:r>
            <a:r>
              <a:rPr lang="en-US" sz="2000" baseline="30000" dirty="0"/>
              <a:t>2</a:t>
            </a:r>
            <a:endParaRPr lang="en-US" sz="20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95F1BC1-B48D-AE49-AF08-51972C662403}"/>
              </a:ext>
            </a:extLst>
          </p:cNvPr>
          <p:cNvGrpSpPr/>
          <p:nvPr/>
        </p:nvGrpSpPr>
        <p:grpSpPr>
          <a:xfrm>
            <a:off x="-815546" y="2165109"/>
            <a:ext cx="8731028" cy="4621837"/>
            <a:chOff x="-815546" y="2165109"/>
            <a:chExt cx="8731028" cy="4621837"/>
          </a:xfrm>
        </p:grpSpPr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43406384-5CE8-A34B-9256-2A7BDF5DD7A8}"/>
                </a:ext>
              </a:extLst>
            </p:cNvPr>
            <p:cNvSpPr/>
            <p:nvPr/>
          </p:nvSpPr>
          <p:spPr>
            <a:xfrm>
              <a:off x="5237788" y="2830804"/>
              <a:ext cx="2588588" cy="890868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4x</a:t>
              </a:r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F1301F7F-E8BE-C04D-AFE8-FC74EC9E2640}"/>
                </a:ext>
              </a:extLst>
            </p:cNvPr>
            <p:cNvSpPr/>
            <p:nvPr/>
          </p:nvSpPr>
          <p:spPr>
            <a:xfrm>
              <a:off x="-815546" y="5778371"/>
              <a:ext cx="8731028" cy="1008575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n</a:t>
              </a:r>
              <a:r>
                <a:rPr lang="en-US" baseline="30000" dirty="0">
                  <a:solidFill>
                    <a:schemeClr val="tx1"/>
                  </a:solidFill>
                </a:rPr>
                <a:t>2</a:t>
              </a:r>
              <a:r>
                <a:rPr lang="en-US" dirty="0">
                  <a:solidFill>
                    <a:schemeClr val="tx1"/>
                  </a:solidFill>
                </a:rPr>
                <a:t> x</a:t>
              </a:r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901710D9-9316-8D4C-B9E0-17DDF334A3BC}"/>
                </a:ext>
              </a:extLst>
            </p:cNvPr>
            <p:cNvSpPr/>
            <p:nvPr/>
          </p:nvSpPr>
          <p:spPr>
            <a:xfrm>
              <a:off x="1362103" y="4843784"/>
              <a:ext cx="6344246" cy="1008575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  <a:r>
                <a:rPr lang="en-US" baseline="30000" dirty="0">
                  <a:solidFill>
                    <a:schemeClr val="tx1"/>
                  </a:solidFill>
                </a:rPr>
                <a:t>t</a:t>
              </a:r>
              <a:r>
                <a:rPr lang="en-US" dirty="0">
                  <a:solidFill>
                    <a:schemeClr val="tx1"/>
                  </a:solidFill>
                </a:rPr>
                <a:t> x</a:t>
              </a:r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EAC1AF0E-FBB1-D44F-B9BC-EBD22B66B2D7}"/>
                </a:ext>
              </a:extLst>
            </p:cNvPr>
            <p:cNvSpPr/>
            <p:nvPr/>
          </p:nvSpPr>
          <p:spPr>
            <a:xfrm>
              <a:off x="4309882" y="3743531"/>
              <a:ext cx="3481282" cy="890868"/>
            </a:xfrm>
            <a:prstGeom prst="ellipse">
              <a:avLst/>
            </a:prstGeom>
            <a:solidFill>
              <a:srgbClr val="F0D6FF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16x</a:t>
              </a:r>
            </a:p>
          </p:txBody>
        </p: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434BDE4F-1BD9-0049-96A2-B467125BC241}"/>
                </a:ext>
              </a:extLst>
            </p:cNvPr>
            <p:cNvGrpSpPr/>
            <p:nvPr/>
          </p:nvGrpSpPr>
          <p:grpSpPr>
            <a:xfrm>
              <a:off x="3788440" y="2165109"/>
              <a:ext cx="3839220" cy="4516856"/>
              <a:chOff x="3752547" y="2165109"/>
              <a:chExt cx="3839220" cy="4516856"/>
            </a:xfrm>
          </p:grpSpPr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ACFCC76D-DE00-B04B-BDAD-82F5D076C4E9}"/>
                  </a:ext>
                </a:extLst>
              </p:cNvPr>
              <p:cNvSpPr/>
              <p:nvPr/>
            </p:nvSpPr>
            <p:spPr>
              <a:xfrm>
                <a:off x="6001096" y="2165109"/>
                <a:ext cx="1590671" cy="706147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Size n</a:t>
                </a:r>
              </a:p>
            </p:txBody>
          </p: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B1BAA867-90A6-4F44-AFA2-6A6A7AA5B803}"/>
                  </a:ext>
                </a:extLst>
              </p:cNvPr>
              <p:cNvSpPr/>
              <p:nvPr/>
            </p:nvSpPr>
            <p:spPr>
              <a:xfrm>
                <a:off x="3752547" y="6151430"/>
                <a:ext cx="304801" cy="248946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32E2CA73-64D0-704D-B9B5-2D836B7000B8}"/>
                  </a:ext>
                </a:extLst>
              </p:cNvPr>
              <p:cNvSpPr txBox="1"/>
              <p:nvPr/>
            </p:nvSpPr>
            <p:spPr>
              <a:xfrm>
                <a:off x="3846019" y="6312633"/>
                <a:ext cx="8559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(Size 1)</a:t>
                </a:r>
              </a:p>
            </p:txBody>
          </p: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3AF9E737-706E-0A44-B2D8-EB876197867F}"/>
                  </a:ext>
                </a:extLst>
              </p:cNvPr>
              <p:cNvSpPr txBox="1"/>
              <p:nvPr/>
            </p:nvSpPr>
            <p:spPr>
              <a:xfrm>
                <a:off x="6747532" y="5348070"/>
                <a:ext cx="517375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mr-IN" sz="4000" dirty="0"/>
                  <a:t>…</a:t>
                </a:r>
                <a:endParaRPr lang="en-US" sz="4000" dirty="0"/>
              </a:p>
            </p:txBody>
          </p:sp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008A537D-3AB8-1D44-A02A-9EB72010934E}"/>
                  </a:ext>
                </a:extLst>
              </p:cNvPr>
              <p:cNvSpPr/>
              <p:nvPr/>
            </p:nvSpPr>
            <p:spPr>
              <a:xfrm>
                <a:off x="6233087" y="3888077"/>
                <a:ext cx="796640" cy="565757"/>
              </a:xfrm>
              <a:prstGeom prst="ellipse">
                <a:avLst/>
              </a:prstGeom>
              <a:solidFill>
                <a:srgbClr val="555B9A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n/4</a:t>
                </a:r>
              </a:p>
            </p:txBody>
          </p:sp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31F3B85D-E69B-0640-8461-7783AD52B38B}"/>
                  </a:ext>
                </a:extLst>
              </p:cNvPr>
              <p:cNvSpPr/>
              <p:nvPr/>
            </p:nvSpPr>
            <p:spPr>
              <a:xfrm>
                <a:off x="4714886" y="5065192"/>
                <a:ext cx="970753" cy="565757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n/2</a:t>
                </a:r>
                <a:r>
                  <a:rPr lang="en-US" baseline="30000"/>
                  <a:t>t</a:t>
                </a:r>
                <a:endParaRPr lang="en-US" dirty="0"/>
              </a:p>
            </p:txBody>
          </p:sp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C3AA073B-AB75-DC4B-9532-3F738D0C0FD5}"/>
                  </a:ext>
                </a:extLst>
              </p:cNvPr>
              <p:cNvSpPr txBox="1"/>
              <p:nvPr/>
            </p:nvSpPr>
            <p:spPr>
              <a:xfrm>
                <a:off x="6742123" y="4309276"/>
                <a:ext cx="517375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mr-IN" sz="4000" dirty="0"/>
                  <a:t>…</a:t>
                </a:r>
                <a:endParaRPr lang="en-US" sz="4000" dirty="0"/>
              </a:p>
            </p:txBody>
          </p:sp>
        </p:grp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4A15BF35-E3FB-9B4E-8DF2-2F6100ED92B0}"/>
                </a:ext>
              </a:extLst>
            </p:cNvPr>
            <p:cNvSpPr/>
            <p:nvPr/>
          </p:nvSpPr>
          <p:spPr>
            <a:xfrm>
              <a:off x="6686364" y="3016190"/>
              <a:ext cx="777298" cy="494290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n/2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31801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2" grpId="0"/>
      <p:bldP spid="43" grpId="0"/>
      <p:bldP spid="44" grpId="0"/>
      <p:bldP spid="45" grpId="0"/>
      <p:bldP spid="4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083" y="184594"/>
            <a:ext cx="8567815" cy="650028"/>
          </a:xfrm>
        </p:spPr>
        <p:txBody>
          <a:bodyPr>
            <a:normAutofit fontScale="90000"/>
          </a:bodyPr>
          <a:lstStyle/>
          <a:p>
            <a:r>
              <a:rPr lang="en-US" dirty="0"/>
              <a:t>More examples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09666" y="1159636"/>
                <a:ext cx="8634334" cy="558593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Needlessly recursive integer multiplication</a:t>
                </a:r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dirty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) = 4</m:t>
                    </m:r>
                    <m:r>
                      <a:rPr lang="en-US" i="1" dirty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dirty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/2)+ </m:t>
                    </m:r>
                    <m:r>
                      <a:rPr lang="en-US" i="1" dirty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chemeClr val="accent4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( </m:t>
                    </m:r>
                    <m:r>
                      <a:rPr lang="en-US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baseline="30000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2 </m:t>
                    </m:r>
                    <m:r>
                      <a:rPr lang="en-US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rgbClr val="7030A0"/>
                  </a:solidFill>
                </a:endParaRPr>
              </a:p>
              <a:p>
                <a:endParaRPr lang="en-US" dirty="0"/>
              </a:p>
              <a:p>
                <a:r>
                  <a:rPr lang="en-US" dirty="0"/>
                  <a:t>Karatsuba integer multiplication        </a:t>
                </a:r>
                <a:endParaRPr lang="en-US" dirty="0">
                  <a:solidFill>
                    <a:schemeClr val="accent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dirty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) = 3</m:t>
                    </m:r>
                    <m:r>
                      <a:rPr lang="en-US" i="1" dirty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dirty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/2) + </m:t>
                    </m:r>
                    <m:r>
                      <a:rPr lang="en-US" i="1" dirty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chemeClr val="accent4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( </m:t>
                    </m:r>
                    <m:sSup>
                      <m:sSupPr>
                        <m:ctrlPr>
                          <a:rPr lang="en-US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func>
                          <m:funcPr>
                            <m:ctrlPr>
                              <a:rPr lang="en-US" b="0" i="1" dirty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b="0" i="1" dirty="0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dirty="0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b="0" i="1" dirty="0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d>
                              <m:dPr>
                                <m:ctrlPr>
                                  <a:rPr lang="en-US" b="0" i="1" dirty="0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dirty="0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d>
                          </m:e>
                        </m:func>
                      </m:sup>
                    </m:sSup>
                    <m:r>
                      <a:rPr lang="en-US" b="0" i="1" baseline="30000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1.6</m:t>
                        </m:r>
                      </m:sup>
                    </m:sSup>
                    <m:r>
                      <a:rPr lang="en-US" i="1" baseline="30000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rgbClr val="7030A0"/>
                  </a:solidFill>
                </a:endParaRPr>
              </a:p>
              <a:p>
                <a:endParaRPr lang="en-US" dirty="0"/>
              </a:p>
              <a:p>
                <a:r>
                  <a:rPr lang="en-US" dirty="0" err="1"/>
                  <a:t>MergeSort</a:t>
                </a:r>
                <a:r>
                  <a:rPr lang="en-US" dirty="0"/>
                  <a:t>                                              </a:t>
                </a:r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  <a:sym typeface="Wingdings"/>
                      </a:rPr>
                      <m:t>𝑇</m:t>
                    </m:r>
                    <m:r>
                      <a:rPr lang="en-US" i="1" dirty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  <a:sym typeface="Wingdings"/>
                      </a:rPr>
                      <m:t>(</m:t>
                    </m:r>
                    <m:r>
                      <a:rPr lang="en-US" i="1" dirty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  <a:sym typeface="Wingdings"/>
                      </a:rPr>
                      <m:t>𝑛</m:t>
                    </m:r>
                    <m:r>
                      <a:rPr lang="en-US" i="1" dirty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  <a:sym typeface="Wingdings"/>
                      </a:rPr>
                      <m:t>) = 2</m:t>
                    </m:r>
                    <m:r>
                      <a:rPr lang="en-US" i="1" dirty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  <a:sym typeface="Wingdings"/>
                      </a:rPr>
                      <m:t>𝑇</m:t>
                    </m:r>
                    <m:r>
                      <a:rPr lang="en-US" i="1" dirty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  <a:sym typeface="Wingdings"/>
                      </a:rPr>
                      <m:t>(</m:t>
                    </m:r>
                    <m:r>
                      <a:rPr lang="en-US" i="1" dirty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  <a:sym typeface="Wingdings"/>
                      </a:rPr>
                      <m:t>𝑛</m:t>
                    </m:r>
                    <m:r>
                      <a:rPr lang="en-US" i="1" dirty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  <a:sym typeface="Wingdings"/>
                      </a:rPr>
                      <m:t>/2) + </m:t>
                    </m:r>
                    <m:r>
                      <a:rPr lang="en-US" i="1" dirty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  <a:sym typeface="Wingdings"/>
                      </a:rPr>
                      <m:t>𝑂</m:t>
                    </m:r>
                    <m:r>
                      <a:rPr lang="en-US" i="1" dirty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  <a:sym typeface="Wingdings"/>
                      </a:rPr>
                      <m:t>(</m:t>
                    </m:r>
                    <m:r>
                      <a:rPr lang="en-US" i="1" dirty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  <a:sym typeface="Wingdings"/>
                      </a:rPr>
                      <m:t>𝑛</m:t>
                    </m:r>
                    <m:r>
                      <a:rPr lang="en-US" i="1" dirty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  <a:sym typeface="Wingdings"/>
                      </a:rPr>
                      <m:t>)</m:t>
                    </m:r>
                  </m:oMath>
                </a14:m>
                <a:endParaRPr lang="en-US" dirty="0">
                  <a:solidFill>
                    <a:schemeClr val="accent4"/>
                  </a:solidFill>
                  <a:sym typeface="Wingdings"/>
                </a:endParaRPr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sym typeface="Wingdings"/>
                      </a:rPr>
                      <m:t>𝑇</m:t>
                    </m:r>
                    <m:r>
                      <a:rPr lang="en-US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sym typeface="Wingdings"/>
                      </a:rPr>
                      <m:t>(</m:t>
                    </m:r>
                    <m:r>
                      <a:rPr lang="en-US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sym typeface="Wingdings"/>
                      </a:rPr>
                      <m:t>𝑛</m:t>
                    </m:r>
                    <m:r>
                      <a:rPr lang="en-US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sym typeface="Wingdings"/>
                      </a:rPr>
                      <m:t>) = </m:t>
                    </m:r>
                    <m:r>
                      <a:rPr lang="en-US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sym typeface="Wingdings"/>
                      </a:rPr>
                      <m:t>𝑂</m:t>
                    </m:r>
                    <m:r>
                      <a:rPr lang="en-US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sym typeface="Wingdings"/>
                      </a:rPr>
                      <m:t>( </m:t>
                    </m:r>
                    <m:r>
                      <a:rPr lang="en-US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sym typeface="Wingdings"/>
                      </a:rPr>
                      <m:t>𝑛</m:t>
                    </m:r>
                    <m:func>
                      <m:funcPr>
                        <m:ctrlPr>
                          <a:rPr lang="en-US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sym typeface="Wingdings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i="0" dirty="0" err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sym typeface="Wingdings"/>
                          </a:rPr>
                          <m:t>log</m:t>
                        </m:r>
                      </m:fName>
                      <m:e>
                        <m:r>
                          <a:rPr lang="en-US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sym typeface="Wingdings"/>
                          </a:rPr>
                          <m:t>(</m:t>
                        </m:r>
                        <m:r>
                          <a:rPr lang="en-US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sym typeface="Wingdings"/>
                          </a:rPr>
                          <m:t>𝑛</m:t>
                        </m:r>
                        <m:r>
                          <a:rPr lang="en-US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sym typeface="Wingdings"/>
                          </a:rPr>
                          <m:t>)</m:t>
                        </m:r>
                      </m:e>
                    </m:func>
                    <m:r>
                      <a:rPr lang="en-US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sym typeface="Wingdings"/>
                      </a:rPr>
                      <m:t> )</m:t>
                    </m:r>
                  </m:oMath>
                </a14:m>
                <a:endParaRPr lang="en-US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9666" y="1159636"/>
                <a:ext cx="8634334" cy="5585938"/>
              </a:xfrm>
              <a:blipFill>
                <a:blip r:embed="rId2"/>
                <a:stretch>
                  <a:fillRect l="-1324" t="-24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4826833" y="790303"/>
            <a:ext cx="4077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T(n) = time to solve a problem </a:t>
            </a:r>
            <a:r>
              <a:rPr lang="en-US">
                <a:solidFill>
                  <a:schemeClr val="accent4"/>
                </a:solidFill>
              </a:rPr>
              <a:t>of size 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12508" y="6160799"/>
            <a:ext cx="46314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6400"/>
                </a:solidFill>
              </a:rPr>
              <a:t>What’s the pattern?!?!?!?!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16560" y="1971117"/>
            <a:ext cx="16948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8200"/>
                </a:solidFill>
              </a:rPr>
              <a:t>This is similar to T</a:t>
            </a:r>
            <a:r>
              <a:rPr lang="en-US" baseline="-25000" dirty="0">
                <a:solidFill>
                  <a:srgbClr val="FF8200"/>
                </a:solidFill>
              </a:rPr>
              <a:t>2</a:t>
            </a:r>
            <a:r>
              <a:rPr lang="en-US" dirty="0">
                <a:solidFill>
                  <a:srgbClr val="FF8200"/>
                </a:solidFill>
              </a:rPr>
              <a:t> from the pre-lecture exercise.</a:t>
            </a:r>
          </a:p>
        </p:txBody>
      </p:sp>
      <p:cxnSp>
        <p:nvCxnSpPr>
          <p:cNvPr id="9" name="Straight Arrow Connector 8"/>
          <p:cNvCxnSpPr>
            <a:cxnSpLocks/>
            <a:stCxn id="5" idx="1"/>
          </p:cNvCxnSpPr>
          <p:nvPr/>
        </p:nvCxnSpPr>
        <p:spPr>
          <a:xfrm flipH="1" flipV="1">
            <a:off x="5068957" y="1971117"/>
            <a:ext cx="1847603" cy="461665"/>
          </a:xfrm>
          <a:prstGeom prst="straightConnector1">
            <a:avLst/>
          </a:prstGeom>
          <a:ln w="28575">
            <a:solidFill>
              <a:srgbClr val="FF82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8468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master theorem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4767809" cy="4351338"/>
          </a:xfrm>
        </p:spPr>
        <p:txBody>
          <a:bodyPr/>
          <a:lstStyle/>
          <a:p>
            <a:r>
              <a:rPr lang="en-US" dirty="0"/>
              <a:t>A</a:t>
            </a:r>
            <a:r>
              <a:rPr lang="en-US" b="1" dirty="0">
                <a:solidFill>
                  <a:srgbClr val="FF6400"/>
                </a:solidFill>
              </a:rPr>
              <a:t> </a:t>
            </a:r>
            <a:r>
              <a:rPr lang="en-US" dirty="0"/>
              <a:t>formula for many recurrence relations.</a:t>
            </a:r>
          </a:p>
          <a:p>
            <a:pPr lvl="1"/>
            <a:r>
              <a:rPr lang="en-US" dirty="0">
                <a:solidFill>
                  <a:schemeClr val="accent4"/>
                </a:solidFill>
              </a:rPr>
              <a:t>We’ll see an example next lecture where it won’t work.</a:t>
            </a:r>
          </a:p>
          <a:p>
            <a:pPr lvl="1"/>
            <a:endParaRPr lang="en-US" dirty="0">
              <a:solidFill>
                <a:schemeClr val="accent4"/>
              </a:solidFill>
            </a:endParaRPr>
          </a:p>
          <a:p>
            <a:r>
              <a:rPr lang="en-US" dirty="0"/>
              <a:t>Proof: “Generalized” tree method.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66578" y="3044019"/>
            <a:ext cx="2610787" cy="31329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70426" y="6176963"/>
            <a:ext cx="18069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Jedi master Yoda</a:t>
            </a:r>
          </a:p>
        </p:txBody>
      </p:sp>
      <p:sp>
        <p:nvSpPr>
          <p:cNvPr id="7" name="Oval 6"/>
          <p:cNvSpPr/>
          <p:nvPr/>
        </p:nvSpPr>
        <p:spPr>
          <a:xfrm>
            <a:off x="4770783" y="1177809"/>
            <a:ext cx="4073413" cy="2069658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accent2">
                    <a:lumMod val="50000"/>
                  </a:schemeClr>
                </a:solidFill>
                <a:latin typeface="Athelas" charset="0"/>
                <a:ea typeface="Athelas" charset="0"/>
                <a:cs typeface="Athelas" charset="0"/>
              </a:rPr>
              <a:t>A useful  formula it is.</a:t>
            </a:r>
          </a:p>
          <a:p>
            <a:pPr algn="ctr"/>
            <a:r>
              <a:rPr lang="en-US" sz="2400" dirty="0">
                <a:solidFill>
                  <a:schemeClr val="accent2">
                    <a:lumMod val="50000"/>
                  </a:schemeClr>
                </a:solidFill>
                <a:latin typeface="Athelas" charset="0"/>
                <a:ea typeface="Athelas" charset="0"/>
                <a:cs typeface="Athelas" charset="0"/>
              </a:rPr>
              <a:t>Know why it works you should.</a:t>
            </a:r>
          </a:p>
        </p:txBody>
      </p:sp>
    </p:spTree>
    <p:extLst>
      <p:ext uri="{BB962C8B-B14F-4D97-AF65-F5344CB8AC3E}">
        <p14:creationId xmlns:p14="http://schemas.microsoft.com/office/powerpoint/2010/main" val="239601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55302"/>
            <a:ext cx="7886700" cy="1325563"/>
          </a:xfrm>
        </p:spPr>
        <p:txBody>
          <a:bodyPr/>
          <a:lstStyle/>
          <a:p>
            <a:r>
              <a:rPr lang="en-US" dirty="0"/>
              <a:t>The master 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440996"/>
                <a:ext cx="8515350" cy="4351338"/>
              </a:xfrm>
            </p:spPr>
            <p:txBody>
              <a:bodyPr/>
              <a:lstStyle/>
              <a:p>
                <a:r>
                  <a:rPr lang="en-US" b="0" dirty="0"/>
                  <a:t>Suppose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≥1,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&gt;1,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and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b="0" dirty="0"/>
                  <a:t> are constants (independent of n).</a:t>
                </a:r>
              </a:p>
              <a:p>
                <a:r>
                  <a:rPr lang="en-US" b="0" dirty="0"/>
                  <a:t>Suppose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charset="0"/>
                      </a:rPr>
                      <m:t>=</m:t>
                    </m:r>
                    <m:r>
                      <a:rPr lang="en-US" b="0" i="1" smtClean="0">
                        <a:latin typeface="Cambria Math" charset="0"/>
                      </a:rPr>
                      <m:t>𝑎</m:t>
                    </m:r>
                    <m:r>
                      <a:rPr lang="en-US" b="0" i="1" smtClean="0">
                        <a:latin typeface="Cambria Math" charset="0"/>
                      </a:rPr>
                      <m:t>⋅</m:t>
                    </m:r>
                    <m:r>
                      <a:rPr lang="en-US" b="0" i="1" smtClean="0"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charset="0"/>
                              </a:rPr>
                              <m:t>𝑏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charset="0"/>
                      </a:rPr>
                      <m:t>+</m:t>
                    </m:r>
                    <m:r>
                      <a:rPr lang="en-US" b="0" i="1" smtClean="0">
                        <a:latin typeface="Cambria Math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charset="0"/>
                              </a:rPr>
                              <m:t>𝑑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b="0" dirty="0"/>
                  <a:t>.  Then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440996"/>
                <a:ext cx="8515350" cy="4351338"/>
              </a:xfrm>
              <a:blipFill>
                <a:blip r:embed="rId2"/>
                <a:stretch>
                  <a:fillRect l="-1341" t="-2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75477" y="4855773"/>
            <a:ext cx="1668523" cy="2002227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4930861" y="5034382"/>
            <a:ext cx="2873497" cy="141009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accent2">
                    <a:lumMod val="50000"/>
                  </a:schemeClr>
                </a:solidFill>
                <a:latin typeface="Athelas" charset="0"/>
                <a:ea typeface="Athelas" charset="0"/>
                <a:cs typeface="Athelas" charset="0"/>
              </a:rPr>
              <a:t>Many symbols those are</a:t>
            </a:r>
            <a:r>
              <a:rPr lang="mr-IN" sz="2400" dirty="0">
                <a:solidFill>
                  <a:schemeClr val="accent2">
                    <a:lumMod val="50000"/>
                  </a:schemeClr>
                </a:solidFill>
                <a:latin typeface="Athelas" charset="0"/>
                <a:ea typeface="Athelas" charset="0"/>
                <a:cs typeface="Athelas" charset="0"/>
              </a:rPr>
              <a:t>…</a:t>
            </a:r>
            <a:r>
              <a:rPr lang="en-US" sz="2400" dirty="0">
                <a:solidFill>
                  <a:schemeClr val="accent2">
                    <a:lumMod val="50000"/>
                  </a:schemeClr>
                </a:solidFill>
                <a:latin typeface="Athelas" charset="0"/>
                <a:ea typeface="Athelas" charset="0"/>
                <a:cs typeface="Athelas" charset="0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3656" y="4976726"/>
            <a:ext cx="465720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Three parameters:</a:t>
            </a:r>
          </a:p>
          <a:p>
            <a:r>
              <a:rPr lang="en-US" sz="2000" dirty="0">
                <a:solidFill>
                  <a:srgbClr val="00B050"/>
                </a:solidFill>
              </a:rPr>
              <a:t>a : number of </a:t>
            </a:r>
            <a:r>
              <a:rPr lang="en-US" sz="2000" dirty="0" err="1">
                <a:solidFill>
                  <a:srgbClr val="00B050"/>
                </a:solidFill>
              </a:rPr>
              <a:t>subproblems</a:t>
            </a:r>
            <a:endParaRPr lang="en-US" sz="2000" dirty="0">
              <a:solidFill>
                <a:srgbClr val="00B050"/>
              </a:solidFill>
            </a:endParaRPr>
          </a:p>
          <a:p>
            <a:r>
              <a:rPr lang="en-US" sz="2000" dirty="0">
                <a:solidFill>
                  <a:schemeClr val="accent4"/>
                </a:solidFill>
              </a:rPr>
              <a:t>b : factor by which input size shrinks</a:t>
            </a:r>
          </a:p>
          <a:p>
            <a:r>
              <a:rPr lang="en-US" sz="2000" dirty="0">
                <a:solidFill>
                  <a:srgbClr val="FF6400"/>
                </a:solidFill>
              </a:rPr>
              <a:t>d : need to do </a:t>
            </a:r>
            <a:r>
              <a:rPr lang="en-US" sz="2000" dirty="0" err="1">
                <a:solidFill>
                  <a:srgbClr val="FF6400"/>
                </a:solidFill>
              </a:rPr>
              <a:t>n</a:t>
            </a:r>
            <a:r>
              <a:rPr lang="en-US" sz="2000" baseline="30000" dirty="0" err="1">
                <a:solidFill>
                  <a:srgbClr val="FF6400"/>
                </a:solidFill>
              </a:rPr>
              <a:t>d</a:t>
            </a:r>
            <a:r>
              <a:rPr lang="en-US" sz="2000" dirty="0">
                <a:solidFill>
                  <a:srgbClr val="FF6400"/>
                </a:solidFill>
              </a:rPr>
              <a:t> work to create all the </a:t>
            </a:r>
            <a:r>
              <a:rPr lang="en-US" sz="2000" dirty="0" err="1">
                <a:solidFill>
                  <a:srgbClr val="FF6400"/>
                </a:solidFill>
              </a:rPr>
              <a:t>subproblems</a:t>
            </a:r>
            <a:r>
              <a:rPr lang="en-US" sz="2000" dirty="0">
                <a:solidFill>
                  <a:srgbClr val="FF6400"/>
                </a:solidFill>
              </a:rPr>
              <a:t> and combine their solutions</a:t>
            </a:r>
            <a:r>
              <a:rPr lang="en-US" sz="2000" dirty="0">
                <a:solidFill>
                  <a:srgbClr val="7030A0"/>
                </a:solidFill>
              </a:rPr>
              <a:t>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215050" y="95980"/>
                <a:ext cx="2908792" cy="1058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accent4"/>
                    </a:solidFill>
                  </a:rPr>
                  <a:t>We can also take n/b to mean either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US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charset="0"/>
                              </a:rPr>
                              <m:t>𝑏</m:t>
                            </m:r>
                          </m:den>
                        </m:f>
                      </m:e>
                    </m:d>
                  </m:oMath>
                </a14:m>
                <a:r>
                  <a:rPr lang="en-US" dirty="0">
                    <a:solidFill>
                      <a:schemeClr val="accent4"/>
                    </a:solidFill>
                  </a:rPr>
                  <a:t> or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US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charset="0"/>
                              </a:rPr>
                              <m:t>𝑏</m:t>
                            </m:r>
                          </m:den>
                        </m:f>
                      </m:e>
                    </m:d>
                  </m:oMath>
                </a14:m>
                <a:r>
                  <a:rPr lang="en-US" dirty="0">
                    <a:solidFill>
                      <a:schemeClr val="accent4"/>
                    </a:solidFill>
                  </a:rPr>
                  <a:t> and the theorem is still true. 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5050" y="95980"/>
                <a:ext cx="2908792" cy="1058816"/>
              </a:xfrm>
              <a:prstGeom prst="rect">
                <a:avLst/>
              </a:prstGeom>
              <a:blipFill>
                <a:blip r:embed="rId4"/>
                <a:stretch>
                  <a:fillRect t="-2381"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87EF708-EB82-D349-B52B-A00866A96418}"/>
                  </a:ext>
                </a:extLst>
              </p:cNvPr>
              <p:cNvSpPr txBox="1"/>
              <p:nvPr/>
            </p:nvSpPr>
            <p:spPr>
              <a:xfrm>
                <a:off x="1105750" y="2870476"/>
                <a:ext cx="6458627" cy="221977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sty m:val="p"/>
                                </m:rPr>
                                <a:rPr lang="en-US" sz="3200" b="0" i="0" smtClean="0">
                                  <a:latin typeface="Cambria Math" panose="02040503050406030204" pitchFamily="18" charset="0"/>
                                </a:rPr>
                                <m:t>O</m:t>
                              </m:r>
                              <m:d>
                                <m:dPr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sup>
                                  </m:sSup>
                                  <m:func>
                                    <m:funcPr>
                                      <m:ctrlP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3200" b="0" i="0" smtClean="0"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sz="3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3200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</m:d>
                                    </m:e>
                                  </m:func>
                                </m:e>
                              </m:d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         </m:t>
                              </m:r>
                              <m:r>
                                <m:rPr>
                                  <m:sty m:val="p"/>
                                </m:rPr>
                                <a:rPr lang="en-US" sz="3200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p>
                              </m:sSup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sz="3200" b="0" i="0" smtClean="0">
                                  <a:latin typeface="Cambria Math" panose="02040503050406030204" pitchFamily="18" charset="0"/>
                                </a:rPr>
                                <m:t>O</m:t>
                              </m:r>
                              <m:d>
                                <m:dPr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                      </m:t>
                              </m:r>
                              <m:r>
                                <m:rPr>
                                  <m:sty m:val="p"/>
                                </m:rPr>
                                <a:rPr lang="en-US" sz="3200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sSup>
                                <m:sSupPr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p>
                              </m:sSup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sz="3200" b="0" i="0" smtClean="0">
                                  <a:latin typeface="Cambria Math" panose="02040503050406030204" pitchFamily="18" charset="0"/>
                                </a:rPr>
                                <m:t>O</m:t>
                              </m:r>
                              <m:d>
                                <m:dPr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func>
                                        <m:funcPr>
                                          <m:ctrlPr>
                                            <a:rPr lang="en-US" sz="3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sSub>
                                            <m:sSubPr>
                                              <m:ctrlPr>
                                                <a:rPr lang="en-US" sz="32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3200" b="0" i="0" smtClean="0">
                                                  <a:latin typeface="Cambria Math" panose="02040503050406030204" pitchFamily="18" charset="0"/>
                                                </a:rPr>
                                                <m:t>log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32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𝑏</m:t>
                                              </m:r>
                                            </m:sub>
                                          </m:sSub>
                                        </m:fName>
                                        <m:e>
                                          <m:d>
                                            <m:dPr>
                                              <m:ctrlPr>
                                                <a:rPr lang="en-US" sz="32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32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</m:d>
                                        </m:e>
                                      </m:func>
                                    </m:sup>
                                  </m:sSup>
                                </m:e>
                              </m:d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3200" b="0" i="0" smtClean="0">
                                  <a:latin typeface="Cambria Math" panose="02040503050406030204" pitchFamily="18" charset="0"/>
                                </a:rPr>
                                <m:t>           </m:t>
                              </m:r>
                              <m:r>
                                <m:rPr>
                                  <m:sty m:val="p"/>
                                </m:rPr>
                                <a:rPr lang="en-US" sz="3200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sSup>
                                <m:sSupPr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p>
                              </m:sSup>
                            </m:e>
                          </m:eqArr>
                        </m:e>
                      </m:d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87EF708-EB82-D349-B52B-A00866A964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5750" y="2870476"/>
                <a:ext cx="6458627" cy="2219775"/>
              </a:xfrm>
              <a:prstGeom prst="rect">
                <a:avLst/>
              </a:prstGeom>
              <a:blipFill>
                <a:blip r:embed="rId5"/>
                <a:stretch>
                  <a:fillRect l="-7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960FC07C-A831-A943-5F6F-61511B87EAE9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75477" y="1587125"/>
            <a:ext cx="1914844" cy="179196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5D5C71E-0F45-6571-B464-D35C1D380950}"/>
                  </a:ext>
                </a:extLst>
              </p:cNvPr>
              <p:cNvSpPr txBox="1"/>
              <p:nvPr/>
            </p:nvSpPr>
            <p:spPr>
              <a:xfrm>
                <a:off x="7557199" y="3379091"/>
                <a:ext cx="1668523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0" dirty="0">
                    <a:solidFill>
                      <a:srgbClr val="7030A0"/>
                    </a:solidFill>
                  </a:rPr>
                  <a:t>Show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dirty="0">
                    <a:solidFill>
                      <a:srgbClr val="7030A0"/>
                    </a:solidFill>
                  </a:rPr>
                  <a:t> versions after lecture.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5D5C71E-0F45-6571-B464-D35C1D3809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7199" y="3379091"/>
                <a:ext cx="1668523" cy="923330"/>
              </a:xfrm>
              <a:prstGeom prst="rect">
                <a:avLst/>
              </a:prstGeom>
              <a:blipFill>
                <a:blip r:embed="rId7"/>
                <a:stretch>
                  <a:fillRect t="-1351" b="-108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4463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0720" y="238100"/>
            <a:ext cx="7886700" cy="1325563"/>
          </a:xfrm>
        </p:spPr>
        <p:txBody>
          <a:bodyPr/>
          <a:lstStyle/>
          <a:p>
            <a:r>
              <a:rPr lang="en-US" dirty="0"/>
              <a:t>Technicalities II</a:t>
            </a:r>
            <a:br>
              <a:rPr lang="en-US" dirty="0"/>
            </a:br>
            <a:r>
              <a:rPr lang="en-US" sz="3200" dirty="0">
                <a:solidFill>
                  <a:srgbClr val="7030A0"/>
                </a:solidFill>
              </a:rPr>
              <a:t>Integer division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48" y="1563663"/>
            <a:ext cx="8181720" cy="5294337"/>
          </a:xfrm>
        </p:spPr>
        <p:txBody>
          <a:bodyPr>
            <a:normAutofit/>
          </a:bodyPr>
          <a:lstStyle/>
          <a:p>
            <a:r>
              <a:rPr lang="en-US" dirty="0"/>
              <a:t>If n is odd, I can’t break it up into two problems of size n/2.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However (see CLRS, Section 4.6.2 for details), one can show that the Master theorem works fine if you pretend that what you have is: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From now on we’ll mostly </a:t>
            </a:r>
            <a:r>
              <a:rPr lang="en-US" b="1" dirty="0"/>
              <a:t>ignore floors and ceilings </a:t>
            </a:r>
            <a:r>
              <a:rPr lang="en-US" dirty="0"/>
              <a:t>in recurrence relations.  </a:t>
            </a:r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1922812" y="2475490"/>
                <a:ext cx="5298374" cy="82747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chemeClr val="accent4"/>
                          </a:solidFill>
                          <a:latin typeface="Cambria Math" charset="0"/>
                        </a:rPr>
                        <m:t>𝑇</m:t>
                      </m:r>
                      <m:d>
                        <m:dPr>
                          <m:ctrlPr>
                            <a:rPr lang="en-US" sz="28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chemeClr val="accent4"/>
                              </a:solidFill>
                              <a:latin typeface="Cambria Math" charset="0"/>
                            </a:rPr>
                            <m:t>𝑛</m:t>
                          </m:r>
                        </m:e>
                      </m:d>
                      <m:r>
                        <a:rPr lang="en-US" sz="2800" i="1">
                          <a:solidFill>
                            <a:schemeClr val="accent4"/>
                          </a:solidFill>
                          <a:latin typeface="Cambria Math" charset="0"/>
                        </a:rPr>
                        <m:t>=</m:t>
                      </m:r>
                      <m:r>
                        <a:rPr lang="en-US" sz="2800" i="1">
                          <a:solidFill>
                            <a:schemeClr val="accent4"/>
                          </a:solidFill>
                          <a:latin typeface="Cambria Math" charset="0"/>
                        </a:rPr>
                        <m:t>𝑇</m:t>
                      </m:r>
                      <m:d>
                        <m:dPr>
                          <m:ctrlPr>
                            <a:rPr lang="en-US" sz="28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⌊"/>
                              <m:endChr m:val="⌋"/>
                              <m:ctrlPr>
                                <a:rPr lang="en-US" sz="280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800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b="0" i="1" smtClean="0">
                                      <a:solidFill>
                                        <a:schemeClr val="accent4"/>
                                      </a:solidFill>
                                      <a:latin typeface="Cambria Math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en-US" sz="2800" b="0" i="1" smtClean="0">
                                      <a:solidFill>
                                        <a:schemeClr val="accent4"/>
                                      </a:solidFill>
                                      <a:latin typeface="Cambria Math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d>
                      <m:r>
                        <a:rPr lang="en-US" sz="2800" i="1">
                          <a:solidFill>
                            <a:schemeClr val="accent4"/>
                          </a:solidFill>
                          <a:latin typeface="Cambria Math" charset="0"/>
                        </a:rPr>
                        <m:t>+</m:t>
                      </m:r>
                      <m:r>
                        <a:rPr lang="en-US" sz="2800" b="0" i="1" smtClean="0">
                          <a:solidFill>
                            <a:schemeClr val="accent4"/>
                          </a:solidFill>
                          <a:latin typeface="Cambria Math" charset="0"/>
                        </a:rPr>
                        <m:t>𝑇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⌈"/>
                              <m:endChr m:val="⌉"/>
                              <m:ctrlPr>
                                <a:rPr lang="en-US" sz="28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800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b="0" i="1" smtClean="0">
                                      <a:solidFill>
                                        <a:schemeClr val="accent4"/>
                                      </a:solidFill>
                                      <a:latin typeface="Cambria Math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en-US" sz="2800" b="0" i="1" smtClean="0">
                                      <a:solidFill>
                                        <a:schemeClr val="accent4"/>
                                      </a:solidFill>
                                      <a:latin typeface="Cambria Math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d>
                      <m:r>
                        <a:rPr lang="en-US" sz="2800" b="0" i="1" smtClean="0">
                          <a:solidFill>
                            <a:schemeClr val="accent4"/>
                          </a:solidFill>
                          <a:latin typeface="Cambria Math" charset="0"/>
                        </a:rPr>
                        <m:t>+</m:t>
                      </m:r>
                      <m:r>
                        <a:rPr lang="en-US" sz="2800" b="0" i="1" smtClean="0">
                          <a:solidFill>
                            <a:schemeClr val="accent4"/>
                          </a:solidFill>
                          <a:latin typeface="Cambria Math" charset="0"/>
                        </a:rPr>
                        <m:t>𝑂</m:t>
                      </m:r>
                      <m:r>
                        <a:rPr lang="en-US" sz="2800" b="0" i="1" smtClean="0">
                          <a:solidFill>
                            <a:schemeClr val="accent4"/>
                          </a:solidFill>
                          <a:latin typeface="Cambria Math" charset="0"/>
                        </a:rPr>
                        <m:t>(</m:t>
                      </m:r>
                      <m:r>
                        <a:rPr lang="en-US" sz="2800" b="0" i="1" smtClean="0">
                          <a:solidFill>
                            <a:schemeClr val="accent4"/>
                          </a:solidFill>
                          <a:latin typeface="Cambria Math" charset="0"/>
                        </a:rPr>
                        <m:t>𝑛</m:t>
                      </m:r>
                      <m:r>
                        <a:rPr lang="en-US" sz="2800" b="0" i="1" smtClean="0">
                          <a:solidFill>
                            <a:schemeClr val="accent4"/>
                          </a:solidFill>
                          <a:latin typeface="Cambria Math" charset="0"/>
                        </a:rPr>
                        <m:t>)</m:t>
                      </m:r>
                    </m:oMath>
                  </m:oMathPara>
                </a14:m>
                <a:endParaRPr lang="en-US" sz="2800" dirty="0">
                  <a:solidFill>
                    <a:schemeClr val="accent4"/>
                  </a:solidFill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2812" y="2475490"/>
                <a:ext cx="5298374" cy="827471"/>
              </a:xfrm>
              <a:prstGeom prst="rect">
                <a:avLst/>
              </a:prstGeom>
              <a:blipFill>
                <a:blip r:embed="rId2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2552695" y="4666745"/>
                <a:ext cx="4038605" cy="82747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chemeClr val="accent4"/>
                          </a:solidFill>
                          <a:latin typeface="Cambria Math" charset="0"/>
                        </a:rPr>
                        <m:t>𝑇</m:t>
                      </m:r>
                      <m:d>
                        <m:dPr>
                          <m:ctrlPr>
                            <a:rPr lang="en-US" sz="28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chemeClr val="accent4"/>
                              </a:solidFill>
                              <a:latin typeface="Cambria Math" charset="0"/>
                            </a:rPr>
                            <m:t>𝑛</m:t>
                          </m:r>
                        </m:e>
                      </m:d>
                      <m:r>
                        <a:rPr lang="en-US" sz="2800" i="1">
                          <a:solidFill>
                            <a:schemeClr val="accent4"/>
                          </a:solidFill>
                          <a:latin typeface="Cambria Math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chemeClr val="accent4"/>
                          </a:solidFill>
                          <a:latin typeface="Cambria Math" charset="0"/>
                        </a:rPr>
                        <m:t>2⋅</m:t>
                      </m:r>
                      <m:r>
                        <a:rPr lang="en-US" sz="2800" b="0" i="1" smtClean="0">
                          <a:solidFill>
                            <a:schemeClr val="accent4"/>
                          </a:solidFill>
                          <a:latin typeface="Cambria Math" charset="0"/>
                        </a:rPr>
                        <m:t>𝑇</m:t>
                      </m:r>
                      <m:d>
                        <m:dPr>
                          <m:ctrlPr>
                            <a:rPr lang="en-US" sz="28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8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b="0" i="1" smtClean="0">
                                  <a:solidFill>
                                    <a:schemeClr val="accent4"/>
                                  </a:solidFill>
                                  <a:latin typeface="Cambria Math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2800" b="0" i="1" smtClean="0">
                                  <a:solidFill>
                                    <a:schemeClr val="accent4"/>
                                  </a:solidFill>
                                  <a:latin typeface="Cambria Math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sz="2800" b="0" i="1" smtClean="0">
                          <a:solidFill>
                            <a:schemeClr val="accent4"/>
                          </a:solidFill>
                          <a:latin typeface="Cambria Math" charset="0"/>
                        </a:rPr>
                        <m:t>+ </m:t>
                      </m:r>
                      <m:r>
                        <a:rPr lang="en-US" sz="2800" i="1">
                          <a:solidFill>
                            <a:schemeClr val="accent4"/>
                          </a:solidFill>
                          <a:latin typeface="Cambria Math" charset="0"/>
                        </a:rPr>
                        <m:t>𝑂</m:t>
                      </m:r>
                      <m:r>
                        <a:rPr lang="en-US" sz="2800" i="1">
                          <a:solidFill>
                            <a:schemeClr val="accent4"/>
                          </a:solidFill>
                          <a:latin typeface="Cambria Math" charset="0"/>
                        </a:rPr>
                        <m:t>(</m:t>
                      </m:r>
                      <m:r>
                        <a:rPr lang="en-US" sz="2800" i="1">
                          <a:solidFill>
                            <a:schemeClr val="accent4"/>
                          </a:solidFill>
                          <a:latin typeface="Cambria Math" charset="0"/>
                        </a:rPr>
                        <m:t>𝑛</m:t>
                      </m:r>
                      <m:r>
                        <a:rPr lang="en-US" sz="2800" i="1">
                          <a:solidFill>
                            <a:schemeClr val="accent4"/>
                          </a:solidFill>
                          <a:latin typeface="Cambria Math" charset="0"/>
                        </a:rPr>
                        <m:t>)</m:t>
                      </m:r>
                    </m:oMath>
                  </m:oMathPara>
                </a14:m>
                <a:endParaRPr lang="en-US" sz="2800" dirty="0">
                  <a:solidFill>
                    <a:schemeClr val="accent4"/>
                  </a:solidFill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2695" y="4666745"/>
                <a:ext cx="4038605" cy="827471"/>
              </a:xfrm>
              <a:prstGeom prst="rect">
                <a:avLst/>
              </a:prstGeom>
              <a:blipFill>
                <a:blip r:embed="rId3"/>
                <a:stretch>
                  <a:fillRect b="-74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36637" y="221554"/>
            <a:ext cx="957422" cy="13253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23919" y="900786"/>
            <a:ext cx="18535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Plucky the Pedantic Penguin</a:t>
            </a:r>
          </a:p>
        </p:txBody>
      </p:sp>
    </p:spTree>
    <p:extLst>
      <p:ext uri="{BB962C8B-B14F-4D97-AF65-F5344CB8AC3E}">
        <p14:creationId xmlns:p14="http://schemas.microsoft.com/office/powerpoint/2010/main" val="302477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3896" y="230190"/>
            <a:ext cx="2894038" cy="1106073"/>
          </a:xfrm>
        </p:spPr>
        <p:txBody>
          <a:bodyPr>
            <a:normAutofit fontScale="90000"/>
          </a:bodyPr>
          <a:lstStyle/>
          <a:p>
            <a:r>
              <a:rPr lang="en-US" dirty="0"/>
              <a:t>Examples</a:t>
            </a:r>
            <a:br>
              <a:rPr lang="en-US" dirty="0"/>
            </a:br>
            <a:endParaRPr lang="en-US" sz="31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22379" y="2034655"/>
                <a:ext cx="4632898" cy="4813003"/>
              </a:xfrm>
            </p:spPr>
            <p:txBody>
              <a:bodyPr>
                <a:noAutofit/>
              </a:bodyPr>
              <a:lstStyle/>
              <a:p>
                <a:r>
                  <a:rPr lang="en-US" sz="2400" dirty="0"/>
                  <a:t>Needlessly recursive integer </a:t>
                </a:r>
                <a:r>
                  <a:rPr lang="en-US" sz="2400" dirty="0" err="1"/>
                  <a:t>mult</a:t>
                </a:r>
                <a:r>
                  <a:rPr lang="en-US" sz="2400" dirty="0"/>
                  <a:t>.</a:t>
                </a:r>
              </a:p>
              <a:p>
                <a:pPr lvl="1"/>
                <a:r>
                  <a:rPr lang="en-US" sz="2000" dirty="0">
                    <a:solidFill>
                      <a:schemeClr val="accent4"/>
                    </a:solidFill>
                  </a:rPr>
                  <a:t>T(n) = 4 T(n/2) + O(n)</a:t>
                </a:r>
              </a:p>
              <a:p>
                <a:pPr lvl="1"/>
                <a:r>
                  <a:rPr lang="en-US" sz="2000" dirty="0">
                    <a:solidFill>
                      <a:srgbClr val="7030A0"/>
                    </a:solidFill>
                  </a:rPr>
                  <a:t>T(n) = O( n</a:t>
                </a:r>
                <a:r>
                  <a:rPr lang="en-US" sz="2000" baseline="30000" dirty="0">
                    <a:solidFill>
                      <a:srgbClr val="7030A0"/>
                    </a:solidFill>
                  </a:rPr>
                  <a:t>2 </a:t>
                </a:r>
                <a:r>
                  <a:rPr lang="en-US" sz="2000" dirty="0">
                    <a:solidFill>
                      <a:srgbClr val="7030A0"/>
                    </a:solidFill>
                  </a:rPr>
                  <a:t>)</a:t>
                </a:r>
                <a:endParaRPr lang="en-US" sz="2400" dirty="0"/>
              </a:p>
              <a:p>
                <a:r>
                  <a:rPr lang="en-US" sz="2400" dirty="0"/>
                  <a:t>Karatsuba integer multiplication        </a:t>
                </a:r>
                <a:endParaRPr lang="en-US" sz="2400" dirty="0">
                  <a:solidFill>
                    <a:schemeClr val="accent1"/>
                  </a:solidFill>
                </a:endParaRPr>
              </a:p>
              <a:p>
                <a:pPr lvl="1"/>
                <a:r>
                  <a:rPr lang="en-US" sz="2000" dirty="0">
                    <a:solidFill>
                      <a:schemeClr val="accent4"/>
                    </a:solidFill>
                  </a:rPr>
                  <a:t>T(n) = 3 T(n/2) + O(n)</a:t>
                </a:r>
              </a:p>
              <a:p>
                <a:pPr lvl="1"/>
                <a:r>
                  <a:rPr lang="en-US" sz="2000" dirty="0">
                    <a:solidFill>
                      <a:srgbClr val="7030A0"/>
                    </a:solidFill>
                  </a:rPr>
                  <a:t>T(n) = O( n</a:t>
                </a:r>
                <a:r>
                  <a:rPr lang="en-US" sz="2000" baseline="30000" dirty="0">
                    <a:solidFill>
                      <a:srgbClr val="7030A0"/>
                    </a:solidFill>
                  </a:rPr>
                  <a:t>log_2(3)</a:t>
                </a:r>
                <a:r>
                  <a:rPr lang="en-US" sz="2000" dirty="0">
                    <a:solidFill>
                      <a:srgbClr val="7030A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7030A0"/>
                        </a:solidFill>
                        <a:latin typeface="Cambria Math" charset="0"/>
                      </a:rPr>
                      <m:t>≈</m:t>
                    </m:r>
                  </m:oMath>
                </a14:m>
                <a:r>
                  <a:rPr lang="en-US" sz="2000" dirty="0">
                    <a:solidFill>
                      <a:srgbClr val="7030A0"/>
                    </a:solidFill>
                  </a:rPr>
                  <a:t> n</a:t>
                </a:r>
                <a:r>
                  <a:rPr lang="en-US" sz="2000" baseline="30000" dirty="0">
                    <a:solidFill>
                      <a:srgbClr val="7030A0"/>
                    </a:solidFill>
                  </a:rPr>
                  <a:t>1.6 </a:t>
                </a:r>
                <a:r>
                  <a:rPr lang="en-US" sz="2000" dirty="0">
                    <a:solidFill>
                      <a:srgbClr val="7030A0"/>
                    </a:solidFill>
                  </a:rPr>
                  <a:t>)</a:t>
                </a:r>
                <a:endParaRPr lang="en-US" sz="2400" dirty="0"/>
              </a:p>
              <a:p>
                <a:r>
                  <a:rPr lang="en-US" sz="2400" dirty="0" err="1"/>
                  <a:t>MergeSort</a:t>
                </a:r>
                <a:r>
                  <a:rPr lang="en-US" sz="2400" dirty="0"/>
                  <a:t>                                              </a:t>
                </a:r>
              </a:p>
              <a:p>
                <a:pPr lvl="1"/>
                <a:r>
                  <a:rPr lang="en-US" sz="2000" dirty="0">
                    <a:solidFill>
                      <a:schemeClr val="accent4"/>
                    </a:solidFill>
                    <a:sym typeface="Wingdings"/>
                  </a:rPr>
                  <a:t>T(n) = 2T(n/2) + O(n)</a:t>
                </a:r>
              </a:p>
              <a:p>
                <a:pPr lvl="1"/>
                <a:r>
                  <a:rPr lang="en-US" sz="2000" dirty="0">
                    <a:solidFill>
                      <a:srgbClr val="7030A0"/>
                    </a:solidFill>
                    <a:sym typeface="Wingdings"/>
                  </a:rPr>
                  <a:t>T(n) = O( </a:t>
                </a:r>
                <a:r>
                  <a:rPr lang="en-US" sz="2000" dirty="0" err="1">
                    <a:solidFill>
                      <a:srgbClr val="7030A0"/>
                    </a:solidFill>
                    <a:sym typeface="Wingdings"/>
                  </a:rPr>
                  <a:t>nlog</a:t>
                </a:r>
                <a:r>
                  <a:rPr lang="en-US" sz="2000" dirty="0">
                    <a:solidFill>
                      <a:srgbClr val="7030A0"/>
                    </a:solidFill>
                    <a:sym typeface="Wingdings"/>
                  </a:rPr>
                  <a:t>(n) )</a:t>
                </a:r>
              </a:p>
              <a:p>
                <a:r>
                  <a:rPr lang="en-US" sz="2400" dirty="0">
                    <a:sym typeface="Wingdings"/>
                  </a:rPr>
                  <a:t>That other one</a:t>
                </a:r>
              </a:p>
              <a:p>
                <a:pPr lvl="1"/>
                <a:r>
                  <a:rPr lang="en-US" sz="2000" dirty="0">
                    <a:solidFill>
                      <a:schemeClr val="accent4"/>
                    </a:solidFill>
                    <a:sym typeface="Wingdings"/>
                  </a:rPr>
                  <a:t>T(n) = T(n/2) + O(n)</a:t>
                </a:r>
              </a:p>
              <a:p>
                <a:pPr lvl="1"/>
                <a:r>
                  <a:rPr lang="en-US" sz="2000" dirty="0">
                    <a:solidFill>
                      <a:srgbClr val="7030A0"/>
                    </a:solidFill>
                    <a:sym typeface="Wingdings"/>
                  </a:rPr>
                  <a:t>T(n) = O(n)</a:t>
                </a:r>
                <a:endParaRPr lang="en-US" sz="2000" dirty="0">
                  <a:solidFill>
                    <a:srgbClr val="7030A0"/>
                  </a:solidFill>
                </a:endParaRP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2379" y="2034655"/>
                <a:ext cx="4632898" cy="4813003"/>
              </a:xfrm>
              <a:blipFill rotWithShape="0">
                <a:blip r:embed="rId2"/>
                <a:stretch>
                  <a:fillRect l="-1842" t="-1774" r="-80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3936589" y="120337"/>
                <a:ext cx="3012268" cy="55297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charset="0"/>
                          </a:rPr>
                          <m:t>𝑛</m:t>
                        </m:r>
                      </m:e>
                    </m:d>
                    <m:r>
                      <a:rPr lang="en-US" sz="2000" b="0" i="1" smtClean="0">
                        <a:latin typeface="Cambria Math" charset="0"/>
                      </a:rPr>
                      <m:t>=</m:t>
                    </m:r>
                    <m:r>
                      <a:rPr lang="en-US" sz="2000" b="0" i="1" smtClean="0">
                        <a:latin typeface="Cambria Math" charset="0"/>
                      </a:rPr>
                      <m:t>𝑎</m:t>
                    </m:r>
                    <m:r>
                      <a:rPr lang="en-US" sz="2000" b="0" i="1" smtClean="0">
                        <a:latin typeface="Cambria Math" charset="0"/>
                      </a:rPr>
                      <m:t>⋅</m:t>
                    </m:r>
                    <m:r>
                      <a:rPr lang="en-US" sz="2000" b="0" i="1" smtClean="0"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2000" b="0" i="1" smtClean="0">
                                <a:latin typeface="Cambria Math" charset="0"/>
                              </a:rPr>
                              <m:t>𝑏</m:t>
                            </m:r>
                          </m:den>
                        </m:f>
                      </m:e>
                    </m:d>
                    <m:r>
                      <a:rPr lang="en-US" sz="2000" b="0" i="1" smtClean="0">
                        <a:latin typeface="Cambria Math" charset="0"/>
                      </a:rPr>
                      <m:t>+</m:t>
                    </m:r>
                    <m:r>
                      <a:rPr lang="en-US" sz="2000" b="0" i="1" smtClean="0">
                        <a:latin typeface="Cambria Math" charset="0"/>
                      </a:rPr>
                      <m:t>𝑂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charset="0"/>
                              </a:rPr>
                              <m:t>𝑑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000" b="0" dirty="0"/>
                  <a:t>.</a:t>
                </a: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6589" y="120337"/>
                <a:ext cx="3012268" cy="552972"/>
              </a:xfrm>
              <a:prstGeom prst="rect">
                <a:avLst/>
              </a:prstGeom>
              <a:blipFill rotWithShape="0">
                <a:blip r:embed="rId4"/>
                <a:stretch>
                  <a:fillRect r="-1619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5231882" y="2232275"/>
            <a:ext cx="7794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a = 4</a:t>
            </a:r>
          </a:p>
          <a:p>
            <a:r>
              <a:rPr lang="en-US" dirty="0">
                <a:solidFill>
                  <a:schemeClr val="accent1"/>
                </a:solidFill>
              </a:rPr>
              <a:t>b = 2</a:t>
            </a:r>
          </a:p>
          <a:p>
            <a:r>
              <a:rPr lang="en-US" dirty="0">
                <a:solidFill>
                  <a:schemeClr val="accent1"/>
                </a:solidFill>
              </a:rPr>
              <a:t>d =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91516" y="3373107"/>
            <a:ext cx="7794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a = 3</a:t>
            </a:r>
          </a:p>
          <a:p>
            <a:r>
              <a:rPr lang="en-US" dirty="0">
                <a:solidFill>
                  <a:schemeClr val="accent1"/>
                </a:solidFill>
              </a:rPr>
              <a:t>b = 2</a:t>
            </a:r>
          </a:p>
          <a:p>
            <a:r>
              <a:rPr lang="en-US" dirty="0">
                <a:solidFill>
                  <a:schemeClr val="accent1"/>
                </a:solidFill>
              </a:rPr>
              <a:t>d =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1273" y="4504777"/>
            <a:ext cx="7794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a = 2</a:t>
            </a:r>
          </a:p>
          <a:p>
            <a:r>
              <a:rPr lang="en-US" dirty="0">
                <a:solidFill>
                  <a:schemeClr val="accent1"/>
                </a:solidFill>
              </a:rPr>
              <a:t>b = 2</a:t>
            </a:r>
          </a:p>
          <a:p>
            <a:r>
              <a:rPr lang="en-US" dirty="0">
                <a:solidFill>
                  <a:schemeClr val="accent1"/>
                </a:solidFill>
              </a:rPr>
              <a:t>d =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69515" y="3634717"/>
            <a:ext cx="817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 &gt; </a:t>
            </a:r>
            <a:r>
              <a:rPr lang="en-US" sz="2000" dirty="0" err="1"/>
              <a:t>b</a:t>
            </a:r>
            <a:r>
              <a:rPr lang="en-US" sz="2000" baseline="30000" dirty="0" err="1"/>
              <a:t>d</a:t>
            </a:r>
            <a:endParaRPr lang="en-US" sz="2000" dirty="0"/>
          </a:p>
        </p:txBody>
      </p:sp>
      <p:sp>
        <p:nvSpPr>
          <p:cNvPr id="11" name="TextBox 10"/>
          <p:cNvSpPr txBox="1"/>
          <p:nvPr/>
        </p:nvSpPr>
        <p:spPr>
          <a:xfrm>
            <a:off x="6202567" y="2424635"/>
            <a:ext cx="817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 &gt; </a:t>
            </a:r>
            <a:r>
              <a:rPr lang="en-US" sz="2000" dirty="0" err="1"/>
              <a:t>b</a:t>
            </a:r>
            <a:r>
              <a:rPr lang="en-US" sz="2000" baseline="30000" dirty="0" err="1"/>
              <a:t>d</a:t>
            </a:r>
            <a:endParaRPr lang="en-US" sz="2000" dirty="0"/>
          </a:p>
        </p:txBody>
      </p:sp>
      <p:sp>
        <p:nvSpPr>
          <p:cNvPr id="12" name="TextBox 11"/>
          <p:cNvSpPr txBox="1"/>
          <p:nvPr/>
        </p:nvSpPr>
        <p:spPr>
          <a:xfrm>
            <a:off x="6306164" y="4766387"/>
            <a:ext cx="817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 = </a:t>
            </a:r>
            <a:r>
              <a:rPr lang="en-US" sz="2000" dirty="0" err="1"/>
              <a:t>b</a:t>
            </a:r>
            <a:r>
              <a:rPr lang="en-US" sz="2000" baseline="30000" dirty="0" err="1"/>
              <a:t>d</a:t>
            </a:r>
            <a:endParaRPr lang="en-US" sz="2000" dirty="0"/>
          </a:p>
        </p:txBody>
      </p:sp>
      <p:sp>
        <p:nvSpPr>
          <p:cNvPr id="15" name="TextBox 14"/>
          <p:cNvSpPr txBox="1"/>
          <p:nvPr/>
        </p:nvSpPr>
        <p:spPr>
          <a:xfrm>
            <a:off x="7539074" y="2031715"/>
            <a:ext cx="119921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>
                <a:solidFill>
                  <a:schemeClr val="accent1"/>
                </a:solidFill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98708" y="3173052"/>
            <a:ext cx="119921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>
                <a:solidFill>
                  <a:schemeClr val="accent1"/>
                </a:solidFill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8464" y="4195119"/>
            <a:ext cx="119921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>
                <a:solidFill>
                  <a:schemeClr val="accent1"/>
                </a:solidFill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24647" y="5670967"/>
            <a:ext cx="7794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a = 1</a:t>
            </a:r>
          </a:p>
          <a:p>
            <a:r>
              <a:rPr lang="en-US" dirty="0">
                <a:solidFill>
                  <a:schemeClr val="accent1"/>
                </a:solidFill>
              </a:rPr>
              <a:t>b = 2</a:t>
            </a:r>
          </a:p>
          <a:p>
            <a:r>
              <a:rPr lang="en-US" dirty="0">
                <a:solidFill>
                  <a:schemeClr val="accent1"/>
                </a:solidFill>
              </a:rPr>
              <a:t>d =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9538" y="5932577"/>
            <a:ext cx="817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 &lt; </a:t>
            </a:r>
            <a:r>
              <a:rPr lang="en-US" sz="2000" dirty="0" err="1"/>
              <a:t>b</a:t>
            </a:r>
            <a:r>
              <a:rPr lang="en-US" sz="2000" baseline="30000" dirty="0" err="1"/>
              <a:t>d</a:t>
            </a:r>
            <a:endParaRPr lang="en-US" sz="2000" dirty="0"/>
          </a:p>
        </p:txBody>
      </p:sp>
      <p:sp>
        <p:nvSpPr>
          <p:cNvPr id="20" name="TextBox 19"/>
          <p:cNvSpPr txBox="1"/>
          <p:nvPr/>
        </p:nvSpPr>
        <p:spPr>
          <a:xfrm>
            <a:off x="7631838" y="5361309"/>
            <a:ext cx="119921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>
                <a:solidFill>
                  <a:schemeClr val="accent1"/>
                </a:solidFill>
              </a:rPr>
              <a:t>✓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-318052" y="3155605"/>
            <a:ext cx="9919252" cy="0"/>
          </a:xfrm>
          <a:prstGeom prst="line">
            <a:avLst/>
          </a:prstGeom>
          <a:ln>
            <a:solidFill>
              <a:srgbClr val="FF82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-543339" y="4296437"/>
            <a:ext cx="9919252" cy="0"/>
          </a:xfrm>
          <a:prstGeom prst="line">
            <a:avLst/>
          </a:prstGeom>
          <a:ln>
            <a:solidFill>
              <a:srgbClr val="FF82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-440669" y="5416442"/>
            <a:ext cx="9919252" cy="0"/>
          </a:xfrm>
          <a:prstGeom prst="line">
            <a:avLst/>
          </a:prstGeom>
          <a:ln>
            <a:solidFill>
              <a:srgbClr val="FF82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3D95367-EE3D-544D-8956-AAB00F0A7A11}"/>
                  </a:ext>
                </a:extLst>
              </p:cNvPr>
              <p:cNvSpPr txBox="1"/>
              <p:nvPr/>
            </p:nvSpPr>
            <p:spPr>
              <a:xfrm>
                <a:off x="4783122" y="690755"/>
                <a:ext cx="3656770" cy="12485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O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sup>
                                  </m:sSup>
                                  <m:func>
                                    <m:func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</m:d>
                                    </m:e>
                                  </m:func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       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p>
                              </m:sSup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O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                    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p>
                              </m:sSup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O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func>
                                        <m:func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b="0" i="0" smtClean="0">
                                                  <a:latin typeface="Cambria Math" panose="02040503050406030204" pitchFamily="18" charset="0"/>
                                                </a:rPr>
                                                <m:t>log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𝑏</m:t>
                                              </m:r>
                                            </m:sub>
                                          </m:sSub>
                                        </m:fName>
                                        <m:e>
                                          <m:d>
                                            <m:d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</m:d>
                                        </m:e>
                                      </m:func>
                                    </m:sup>
                                  </m:sSup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         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p>
                              </m:sSup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3D95367-EE3D-544D-8956-AAB00F0A7A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3122" y="690755"/>
                <a:ext cx="3656770" cy="1248547"/>
              </a:xfrm>
              <a:prstGeom prst="rect">
                <a:avLst/>
              </a:prstGeom>
              <a:blipFill>
                <a:blip r:embed="rId5"/>
                <a:stretch>
                  <a:fillRect l="-10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7230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5" grpId="0"/>
      <p:bldP spid="17" grpId="0"/>
      <p:bldP spid="18" grpId="0"/>
      <p:bldP spid="16" grpId="0"/>
      <p:bldP spid="19" grpId="0"/>
      <p:bldP spid="2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Proof of the master 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We’ll do the same recursion tree thing we did for </a:t>
                </a:r>
                <a:r>
                  <a:rPr lang="en-US" dirty="0" err="1"/>
                  <a:t>MergeSort</a:t>
                </a:r>
                <a:r>
                  <a:rPr lang="en-US" dirty="0"/>
                  <a:t>, but be more careful.</a:t>
                </a:r>
              </a:p>
              <a:p>
                <a:r>
                  <a:rPr lang="en-US" dirty="0"/>
                  <a:t>Suppose that</a:t>
                </a:r>
                <a:r>
                  <a:rPr lang="en-US" dirty="0">
                    <a:solidFill>
                      <a:schemeClr val="accent5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i="1">
                        <a:solidFill>
                          <a:schemeClr val="accent4"/>
                        </a:solidFill>
                        <a:latin typeface="Cambria Math" charset="0"/>
                      </a:rPr>
                      <m:t>𝑎</m:t>
                    </m:r>
                    <m:r>
                      <a:rPr lang="en-US" i="1">
                        <a:solidFill>
                          <a:schemeClr val="accent4"/>
                        </a:solidFill>
                        <a:latin typeface="Cambria Math" charset="0"/>
                      </a:rPr>
                      <m:t>⋅</m:t>
                    </m:r>
                    <m:r>
                      <a:rPr lang="en-US" i="1">
                        <a:solidFill>
                          <a:schemeClr val="accent4"/>
                        </a:solidFill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schemeClr val="accent4"/>
                                </a:solidFill>
                                <a:latin typeface="Cambria Math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i="1">
                                <a:solidFill>
                                  <a:schemeClr val="accent4"/>
                                </a:solidFill>
                                <a:latin typeface="Cambria Math" charset="0"/>
                              </a:rPr>
                              <m:t>𝑏</m:t>
                            </m:r>
                          </m:den>
                        </m:f>
                      </m:e>
                    </m:d>
                    <m:r>
                      <a:rPr lang="en-US" i="1">
                        <a:solidFill>
                          <a:schemeClr val="accent4"/>
                        </a:solidFill>
                        <a:latin typeface="Cambria Math" charset="0"/>
                      </a:rPr>
                      <m:t>+</m:t>
                    </m:r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𝑐</m:t>
                    </m:r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⋅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accent4"/>
                    </a:solidFill>
                  </a:rPr>
                  <a:t>.</a:t>
                </a:r>
              </a:p>
              <a:p>
                <a:endParaRPr lang="en-US" dirty="0">
                  <a:solidFill>
                    <a:schemeClr val="accent4"/>
                  </a:solidFill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47" t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232887" y="6042026"/>
            <a:ext cx="19914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Plucky the</a:t>
            </a:r>
          </a:p>
          <a:p>
            <a:r>
              <a:rPr lang="en-US" dirty="0">
                <a:solidFill>
                  <a:srgbClr val="7030A0"/>
                </a:solidFill>
              </a:rPr>
              <a:t>Pedantic Penguin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2887" y="4104246"/>
            <a:ext cx="1491438" cy="19377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489060" y="3592852"/>
            <a:ext cx="53396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Hang on!  The hypothesis of the Master Theorem </a:t>
            </a:r>
            <a:r>
              <a:rPr lang="en-US">
                <a:solidFill>
                  <a:srgbClr val="7030A0"/>
                </a:solidFill>
              </a:rPr>
              <a:t>was that </a:t>
            </a:r>
            <a:r>
              <a:rPr lang="en-US" dirty="0">
                <a:solidFill>
                  <a:srgbClr val="7030A0"/>
                </a:solidFill>
              </a:rPr>
              <a:t>the extra work at each level was O(</a:t>
            </a:r>
            <a:r>
              <a:rPr lang="en-US" dirty="0" err="1">
                <a:solidFill>
                  <a:srgbClr val="7030A0"/>
                </a:solidFill>
              </a:rPr>
              <a:t>n</a:t>
            </a:r>
            <a:r>
              <a:rPr lang="en-US" baseline="30000" dirty="0" err="1">
                <a:solidFill>
                  <a:srgbClr val="7030A0"/>
                </a:solidFill>
              </a:rPr>
              <a:t>d</a:t>
            </a:r>
            <a:r>
              <a:rPr lang="en-US" dirty="0">
                <a:solidFill>
                  <a:srgbClr val="7030A0"/>
                </a:solidFill>
              </a:rPr>
              <a:t>), but we’re writing </a:t>
            </a:r>
            <a:r>
              <a:rPr lang="en-US" dirty="0" err="1">
                <a:solidFill>
                  <a:srgbClr val="7030A0"/>
                </a:solidFill>
              </a:rPr>
              <a:t>cn</a:t>
            </a:r>
            <a:r>
              <a:rPr lang="en-US" baseline="30000" dirty="0" err="1">
                <a:solidFill>
                  <a:srgbClr val="7030A0"/>
                </a:solidFill>
              </a:rPr>
              <a:t>d</a:t>
            </a:r>
            <a:r>
              <a:rPr lang="en-US" dirty="0">
                <a:solidFill>
                  <a:srgbClr val="7030A0"/>
                </a:solidFill>
              </a:rPr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063464" y="4631997"/>
                <a:ext cx="4844651" cy="16148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dirty="0">
                    <a:solidFill>
                      <a:srgbClr val="FF6400"/>
                    </a:solidFill>
                  </a:rPr>
                  <a:t>That’s true </a:t>
                </a:r>
                <a:r>
                  <a:rPr lang="mr-IN" dirty="0">
                    <a:solidFill>
                      <a:srgbClr val="FF6400"/>
                    </a:solidFill>
                  </a:rPr>
                  <a:t>…</a:t>
                </a:r>
                <a:r>
                  <a:rPr lang="en-US" dirty="0">
                    <a:solidFill>
                      <a:srgbClr val="FF6400"/>
                    </a:solidFill>
                  </a:rPr>
                  <a:t> the hypothesis should be that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6400"/>
                        </a:solidFill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solidFill>
                              <a:srgbClr val="FF64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FF6400"/>
                            </a:solidFill>
                            <a:latin typeface="Cambria Math" charset="0"/>
                          </a:rPr>
                          <m:t>𝑛</m:t>
                        </m:r>
                      </m:e>
                    </m:d>
                    <m:r>
                      <a:rPr lang="en-US" i="1">
                        <a:solidFill>
                          <a:srgbClr val="FF6400"/>
                        </a:solidFill>
                        <a:latin typeface="Cambria Math" charset="0"/>
                      </a:rPr>
                      <m:t>=</m:t>
                    </m:r>
                    <m:r>
                      <a:rPr lang="en-US" i="1">
                        <a:solidFill>
                          <a:srgbClr val="FF6400"/>
                        </a:solidFill>
                        <a:latin typeface="Cambria Math" charset="0"/>
                      </a:rPr>
                      <m:t>𝑎</m:t>
                    </m:r>
                    <m:r>
                      <a:rPr lang="en-US" i="1">
                        <a:solidFill>
                          <a:srgbClr val="FF6400"/>
                        </a:solidFill>
                        <a:latin typeface="Cambria Math" charset="0"/>
                      </a:rPr>
                      <m:t>⋅</m:t>
                    </m:r>
                    <m:r>
                      <a:rPr lang="en-US" i="1">
                        <a:solidFill>
                          <a:srgbClr val="FF6400"/>
                        </a:solidFill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solidFill>
                              <a:srgbClr val="FF64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solidFill>
                                  <a:srgbClr val="FF64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srgbClr val="FF6400"/>
                                </a:solidFill>
                                <a:latin typeface="Cambria Math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i="1">
                                <a:solidFill>
                                  <a:srgbClr val="FF6400"/>
                                </a:solidFill>
                                <a:latin typeface="Cambria Math" charset="0"/>
                              </a:rPr>
                              <m:t>𝑏</m:t>
                            </m:r>
                          </m:den>
                        </m:f>
                      </m:e>
                    </m:d>
                    <m:r>
                      <a:rPr lang="en-US" i="1">
                        <a:solidFill>
                          <a:srgbClr val="FF6400"/>
                        </a:solidFill>
                        <a:latin typeface="Cambria Math" charset="0"/>
                      </a:rPr>
                      <m:t>+</m:t>
                    </m:r>
                    <m:r>
                      <a:rPr lang="en-US" i="1">
                        <a:solidFill>
                          <a:srgbClr val="FF6400"/>
                        </a:solidFill>
                        <a:latin typeface="Cambria Math" charset="0"/>
                      </a:rPr>
                      <m:t>𝑂</m:t>
                    </m:r>
                    <m:d>
                      <m:dPr>
                        <m:ctrlPr>
                          <a:rPr lang="en-US" i="1">
                            <a:solidFill>
                              <a:srgbClr val="FF64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solidFill>
                                  <a:srgbClr val="FF64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solidFill>
                                  <a:srgbClr val="FF6400"/>
                                </a:solidFill>
                                <a:latin typeface="Cambria Math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i="1">
                                <a:solidFill>
                                  <a:srgbClr val="FF6400"/>
                                </a:solidFill>
                                <a:latin typeface="Cambria Math" charset="0"/>
                              </a:rPr>
                              <m:t>𝑑</m:t>
                            </m:r>
                          </m:sup>
                        </m:sSup>
                      </m:e>
                    </m:d>
                    <m:r>
                      <a:rPr lang="en-US">
                        <a:solidFill>
                          <a:srgbClr val="FF6400"/>
                        </a:solidFill>
                        <a:latin typeface="Cambria Math" charset="0"/>
                      </a:rPr>
                      <m:t>. </m:t>
                    </m:r>
                    <m:r>
                      <a:rPr lang="en-US" b="0" i="0" smtClean="0">
                        <a:solidFill>
                          <a:srgbClr val="FF64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rgbClr val="FF6400"/>
                    </a:solidFill>
                  </a:rPr>
                  <a:t>  For simplicity, today we are essentially assuming that n</a:t>
                </a:r>
                <a:r>
                  <a:rPr lang="en-US" baseline="-25000" dirty="0">
                    <a:solidFill>
                      <a:srgbClr val="FF6400"/>
                    </a:solidFill>
                  </a:rPr>
                  <a:t>0</a:t>
                </a:r>
                <a:r>
                  <a:rPr lang="en-US" dirty="0">
                    <a:solidFill>
                      <a:srgbClr val="FF6400"/>
                    </a:solidFill>
                  </a:rPr>
                  <a:t> = 1 in the definition of big-Oh. It’s a good exercise to verify why that assumption is without loss of generality. </a:t>
                </a: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3464" y="4631997"/>
                <a:ext cx="4844651" cy="1614866"/>
              </a:xfrm>
              <a:prstGeom prst="rect">
                <a:avLst/>
              </a:prstGeom>
              <a:blipFill>
                <a:blip r:embed="rId4"/>
                <a:stretch>
                  <a:fillRect t="-1550" r="-2094" b="-4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08115" y="4528396"/>
            <a:ext cx="2034463" cy="193522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75505" y="6292778"/>
            <a:ext cx="2567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6400"/>
                </a:solidFill>
              </a:rPr>
              <a:t>Siggi</a:t>
            </a:r>
            <a:r>
              <a:rPr lang="en-US" dirty="0">
                <a:solidFill>
                  <a:srgbClr val="FF6400"/>
                </a:solidFill>
              </a:rPr>
              <a:t> the Studious Stork</a:t>
            </a:r>
          </a:p>
        </p:txBody>
      </p:sp>
    </p:spTree>
    <p:extLst>
      <p:ext uri="{BB962C8B-B14F-4D97-AF65-F5344CB8AC3E}">
        <p14:creationId xmlns:p14="http://schemas.microsoft.com/office/powerpoint/2010/main" val="222922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/>
      <p:bldP spid="10" grpId="0"/>
      <p:bldP spid="14" grpId="0"/>
      <p:bldP spid="1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076" y="14498"/>
            <a:ext cx="3273694" cy="700703"/>
          </a:xfrm>
        </p:spPr>
        <p:txBody>
          <a:bodyPr>
            <a:normAutofit fontScale="90000"/>
          </a:bodyPr>
          <a:lstStyle/>
          <a:p>
            <a:r>
              <a:rPr lang="en-US" dirty="0"/>
              <a:t>Recursion tree</a:t>
            </a:r>
          </a:p>
        </p:txBody>
      </p:sp>
      <p:sp>
        <p:nvSpPr>
          <p:cNvPr id="5" name="Oval 4"/>
          <p:cNvSpPr/>
          <p:nvPr/>
        </p:nvSpPr>
        <p:spPr>
          <a:xfrm>
            <a:off x="1207194" y="1276378"/>
            <a:ext cx="1590671" cy="70614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Size n</a:t>
            </a:r>
          </a:p>
        </p:txBody>
      </p:sp>
      <p:sp>
        <p:nvSpPr>
          <p:cNvPr id="8" name="Oval 7"/>
          <p:cNvSpPr/>
          <p:nvPr/>
        </p:nvSpPr>
        <p:spPr>
          <a:xfrm>
            <a:off x="2932488" y="2292538"/>
            <a:ext cx="1249790" cy="494290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n/b</a:t>
            </a:r>
          </a:p>
        </p:txBody>
      </p:sp>
      <p:sp>
        <p:nvSpPr>
          <p:cNvPr id="9" name="Oval 8"/>
          <p:cNvSpPr/>
          <p:nvPr/>
        </p:nvSpPr>
        <p:spPr>
          <a:xfrm>
            <a:off x="1495647" y="2287526"/>
            <a:ext cx="1133899" cy="478086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n/b</a:t>
            </a:r>
          </a:p>
        </p:txBody>
      </p:sp>
      <p:sp>
        <p:nvSpPr>
          <p:cNvPr id="17" name="Oval 16"/>
          <p:cNvSpPr/>
          <p:nvPr/>
        </p:nvSpPr>
        <p:spPr>
          <a:xfrm>
            <a:off x="3878941" y="6075195"/>
            <a:ext cx="304801" cy="248946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18" name="Oval 17"/>
          <p:cNvSpPr/>
          <p:nvPr/>
        </p:nvSpPr>
        <p:spPr>
          <a:xfrm>
            <a:off x="3470236" y="5909159"/>
            <a:ext cx="304801" cy="248946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19" name="Oval 18"/>
          <p:cNvSpPr/>
          <p:nvPr/>
        </p:nvSpPr>
        <p:spPr>
          <a:xfrm>
            <a:off x="3082301" y="6116542"/>
            <a:ext cx="304801" cy="248946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0" name="Oval 19"/>
          <p:cNvSpPr/>
          <p:nvPr/>
        </p:nvSpPr>
        <p:spPr>
          <a:xfrm>
            <a:off x="2743615" y="5909159"/>
            <a:ext cx="304801" cy="248946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1" name="Oval 20"/>
          <p:cNvSpPr/>
          <p:nvPr/>
        </p:nvSpPr>
        <p:spPr>
          <a:xfrm>
            <a:off x="2334910" y="6116542"/>
            <a:ext cx="304801" cy="248946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2" name="Oval 21"/>
          <p:cNvSpPr/>
          <p:nvPr/>
        </p:nvSpPr>
        <p:spPr>
          <a:xfrm>
            <a:off x="1928371" y="5931306"/>
            <a:ext cx="304801" cy="248946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3" name="Oval 22"/>
          <p:cNvSpPr/>
          <p:nvPr/>
        </p:nvSpPr>
        <p:spPr>
          <a:xfrm>
            <a:off x="1512734" y="6116542"/>
            <a:ext cx="304801" cy="248946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4" name="Oval 23"/>
          <p:cNvSpPr/>
          <p:nvPr/>
        </p:nvSpPr>
        <p:spPr>
          <a:xfrm>
            <a:off x="1097097" y="5931306"/>
            <a:ext cx="304801" cy="248946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5" name="Oval 24"/>
          <p:cNvSpPr/>
          <p:nvPr/>
        </p:nvSpPr>
        <p:spPr>
          <a:xfrm>
            <a:off x="683636" y="6075195"/>
            <a:ext cx="304801" cy="248946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6" name="Oval 25"/>
          <p:cNvSpPr/>
          <p:nvPr/>
        </p:nvSpPr>
        <p:spPr>
          <a:xfrm>
            <a:off x="296988" y="5881235"/>
            <a:ext cx="304801" cy="248946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8" name="Oval 27"/>
          <p:cNvSpPr/>
          <p:nvPr/>
        </p:nvSpPr>
        <p:spPr>
          <a:xfrm>
            <a:off x="-38530" y="6055773"/>
            <a:ext cx="304801" cy="248946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64013" y="6324141"/>
            <a:ext cx="10755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(Size 1)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77170" y="4939726"/>
            <a:ext cx="51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r-IN" sz="4000" dirty="0"/>
              <a:t>…</a:t>
            </a:r>
            <a:endParaRPr lang="en-US" sz="4000" dirty="0"/>
          </a:p>
        </p:txBody>
      </p:sp>
      <p:sp>
        <p:nvSpPr>
          <p:cNvPr id="35" name="Oval 34"/>
          <p:cNvSpPr/>
          <p:nvPr/>
        </p:nvSpPr>
        <p:spPr>
          <a:xfrm>
            <a:off x="1963489" y="3110452"/>
            <a:ext cx="998684" cy="565757"/>
          </a:xfrm>
          <a:prstGeom prst="ellipse">
            <a:avLst/>
          </a:prstGeom>
          <a:solidFill>
            <a:srgbClr val="555B9A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n/b</a:t>
            </a:r>
            <a:r>
              <a:rPr lang="en-US" baseline="30000"/>
              <a:t>2</a:t>
            </a:r>
            <a:endParaRPr lang="en-US" dirty="0"/>
          </a:p>
        </p:txBody>
      </p:sp>
      <p:sp>
        <p:nvSpPr>
          <p:cNvPr id="39" name="Oval 38"/>
          <p:cNvSpPr/>
          <p:nvPr/>
        </p:nvSpPr>
        <p:spPr>
          <a:xfrm>
            <a:off x="3463891" y="4477941"/>
            <a:ext cx="970753" cy="565757"/>
          </a:xfrm>
          <a:prstGeom prst="ellipse">
            <a:avLst/>
          </a:prstGeom>
          <a:solidFill>
            <a:schemeClr val="accent5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n/</a:t>
            </a:r>
            <a:r>
              <a:rPr lang="en-US" dirty="0" err="1"/>
              <a:t>b</a:t>
            </a:r>
            <a:r>
              <a:rPr lang="en-US" baseline="30000" dirty="0" err="1"/>
              <a:t>t</a:t>
            </a:r>
            <a:endParaRPr lang="en-US" dirty="0"/>
          </a:p>
        </p:txBody>
      </p:sp>
      <p:sp>
        <p:nvSpPr>
          <p:cNvPr id="38" name="Oval 37"/>
          <p:cNvSpPr/>
          <p:nvPr/>
        </p:nvSpPr>
        <p:spPr>
          <a:xfrm>
            <a:off x="2679467" y="4495153"/>
            <a:ext cx="970753" cy="565757"/>
          </a:xfrm>
          <a:prstGeom prst="ellipse">
            <a:avLst/>
          </a:prstGeom>
          <a:solidFill>
            <a:schemeClr val="accent5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n/</a:t>
            </a:r>
            <a:r>
              <a:rPr lang="en-US" dirty="0" err="1"/>
              <a:t>b</a:t>
            </a:r>
            <a:r>
              <a:rPr lang="en-US" baseline="30000" dirty="0" err="1"/>
              <a:t>t</a:t>
            </a:r>
            <a:endParaRPr lang="en-US" dirty="0"/>
          </a:p>
        </p:txBody>
      </p:sp>
      <p:sp>
        <p:nvSpPr>
          <p:cNvPr id="40" name="Oval 39"/>
          <p:cNvSpPr/>
          <p:nvPr/>
        </p:nvSpPr>
        <p:spPr>
          <a:xfrm>
            <a:off x="1961745" y="4495153"/>
            <a:ext cx="970753" cy="565757"/>
          </a:xfrm>
          <a:prstGeom prst="ellipse">
            <a:avLst/>
          </a:prstGeom>
          <a:solidFill>
            <a:schemeClr val="accent5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n/</a:t>
            </a:r>
            <a:r>
              <a:rPr lang="en-US" dirty="0" err="1"/>
              <a:t>b</a:t>
            </a:r>
            <a:r>
              <a:rPr lang="en-US" baseline="30000" dirty="0" err="1"/>
              <a:t>t</a:t>
            </a:r>
            <a:endParaRPr lang="en-US" dirty="0"/>
          </a:p>
        </p:txBody>
      </p:sp>
      <p:sp>
        <p:nvSpPr>
          <p:cNvPr id="41" name="Oval 40"/>
          <p:cNvSpPr/>
          <p:nvPr/>
        </p:nvSpPr>
        <p:spPr>
          <a:xfrm>
            <a:off x="1234438" y="4497132"/>
            <a:ext cx="970753" cy="565757"/>
          </a:xfrm>
          <a:prstGeom prst="ellipse">
            <a:avLst/>
          </a:prstGeom>
          <a:solidFill>
            <a:schemeClr val="accent5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n/</a:t>
            </a:r>
            <a:r>
              <a:rPr lang="en-US" dirty="0" err="1"/>
              <a:t>b</a:t>
            </a:r>
            <a:r>
              <a:rPr lang="en-US" baseline="30000" dirty="0" err="1"/>
              <a:t>t</a:t>
            </a:r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459001" y="4516087"/>
            <a:ext cx="970753" cy="565757"/>
          </a:xfrm>
          <a:prstGeom prst="ellipse">
            <a:avLst/>
          </a:prstGeom>
          <a:solidFill>
            <a:schemeClr val="accent5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n/</a:t>
            </a:r>
            <a:r>
              <a:rPr lang="en-US" dirty="0" err="1"/>
              <a:t>b</a:t>
            </a:r>
            <a:r>
              <a:rPr lang="en-US" baseline="30000" dirty="0" err="1"/>
              <a:t>t</a:t>
            </a:r>
            <a:endParaRPr lang="en-US" dirty="0"/>
          </a:p>
        </p:txBody>
      </p:sp>
      <p:sp>
        <p:nvSpPr>
          <p:cNvPr id="43" name="Oval 42"/>
          <p:cNvSpPr/>
          <p:nvPr/>
        </p:nvSpPr>
        <p:spPr>
          <a:xfrm>
            <a:off x="-246154" y="4543416"/>
            <a:ext cx="970753" cy="565757"/>
          </a:xfrm>
          <a:prstGeom prst="ellipse">
            <a:avLst/>
          </a:prstGeom>
          <a:solidFill>
            <a:schemeClr val="accent5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n/</a:t>
            </a:r>
            <a:r>
              <a:rPr lang="en-US" dirty="0" err="1"/>
              <a:t>b</a:t>
            </a:r>
            <a:r>
              <a:rPr lang="en-US" baseline="30000" dirty="0" err="1"/>
              <a:t>t</a:t>
            </a:r>
            <a:endParaRPr 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1731393" y="3362716"/>
            <a:ext cx="51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r-IN" sz="4000" dirty="0"/>
              <a:t>…</a:t>
            </a:r>
            <a:endParaRPr lang="en-US" sz="4000" dirty="0"/>
          </a:p>
        </p:txBody>
      </p:sp>
      <p:sp>
        <p:nvSpPr>
          <p:cNvPr id="48" name="TextBox 47"/>
          <p:cNvSpPr txBox="1"/>
          <p:nvPr/>
        </p:nvSpPr>
        <p:spPr>
          <a:xfrm>
            <a:off x="4398388" y="907046"/>
            <a:ext cx="7199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Level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91261" y="252119"/>
            <a:ext cx="14951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Amount of work </a:t>
            </a:r>
            <a:r>
              <a:rPr lang="en-US" dirty="0">
                <a:solidFill>
                  <a:sysClr val="windowText" lastClr="000000"/>
                </a:solidFill>
              </a:rPr>
              <a:t>at this </a:t>
            </a:r>
            <a:r>
              <a:rPr lang="en-US">
                <a:solidFill>
                  <a:sysClr val="windowText" lastClr="000000"/>
                </a:solidFill>
              </a:rPr>
              <a:t>level 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cxnSp>
        <p:nvCxnSpPr>
          <p:cNvPr id="53" name="Straight Connector 52"/>
          <p:cNvCxnSpPr/>
          <p:nvPr/>
        </p:nvCxnSpPr>
        <p:spPr>
          <a:xfrm>
            <a:off x="3834671" y="1307156"/>
            <a:ext cx="590567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>
            <a:off x="6603251" y="778912"/>
            <a:ext cx="0" cy="6079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4773374" y="1461788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285365" y="660825"/>
            <a:ext cx="10690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# </a:t>
            </a:r>
          </a:p>
          <a:p>
            <a:pPr algn="ctr"/>
            <a:r>
              <a:rPr lang="en-US" dirty="0"/>
              <a:t>problems</a:t>
            </a:r>
          </a:p>
        </p:txBody>
      </p:sp>
      <p:cxnSp>
        <p:nvCxnSpPr>
          <p:cNvPr id="59" name="Straight Connector 58"/>
          <p:cNvCxnSpPr/>
          <p:nvPr/>
        </p:nvCxnSpPr>
        <p:spPr>
          <a:xfrm>
            <a:off x="5297232" y="843244"/>
            <a:ext cx="0" cy="6079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4773374" y="2246651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767254" y="2978345"/>
            <a:ext cx="3897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764860" y="4581994"/>
            <a:ext cx="3897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196857" y="5893926"/>
            <a:ext cx="12519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log</a:t>
            </a:r>
            <a:r>
              <a:rPr lang="en-US" sz="2800" baseline="-25000" dirty="0" err="1"/>
              <a:t>b</a:t>
            </a:r>
            <a:r>
              <a:rPr lang="en-US" sz="2800" dirty="0"/>
              <a:t>(n)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/>
              <p:cNvSpPr txBox="1"/>
              <p:nvPr/>
            </p:nvSpPr>
            <p:spPr>
              <a:xfrm>
                <a:off x="5300820" y="1476660"/>
                <a:ext cx="1243391" cy="50783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/>
                  <a:t>1</a:t>
                </a:r>
              </a:p>
              <a:p>
                <a:pPr algn="ctr"/>
                <a:endParaRPr lang="en-US" sz="2000" dirty="0"/>
              </a:p>
              <a:p>
                <a:pPr algn="ctr"/>
                <a:r>
                  <a:rPr lang="en-US" sz="2800" dirty="0"/>
                  <a:t>a</a:t>
                </a:r>
              </a:p>
              <a:p>
                <a:pPr algn="ctr"/>
                <a:endParaRPr lang="en-US" sz="2000" dirty="0"/>
              </a:p>
              <a:p>
                <a:pPr algn="ctr"/>
                <a:r>
                  <a:rPr lang="en-US" sz="2800" dirty="0"/>
                  <a:t>a</a:t>
                </a:r>
                <a:r>
                  <a:rPr lang="en-US" sz="2800" baseline="30000" dirty="0"/>
                  <a:t>2</a:t>
                </a:r>
                <a:endParaRPr lang="en-US" sz="2800" dirty="0"/>
              </a:p>
              <a:p>
                <a:pPr algn="ctr"/>
                <a:endParaRPr lang="en-US" sz="2800" dirty="0"/>
              </a:p>
              <a:p>
                <a:pPr algn="ctr"/>
                <a:endParaRPr lang="en-US" sz="2800" dirty="0"/>
              </a:p>
              <a:p>
                <a:pPr algn="ctr"/>
                <a:endParaRPr lang="en-US" sz="2400" dirty="0"/>
              </a:p>
              <a:p>
                <a:pPr algn="ctr"/>
                <a:r>
                  <a:rPr lang="en-US" sz="2800" dirty="0"/>
                  <a:t>a</a:t>
                </a:r>
                <a:r>
                  <a:rPr lang="en-US" sz="2800" baseline="30000" dirty="0"/>
                  <a:t>t</a:t>
                </a:r>
              </a:p>
              <a:p>
                <a:pPr algn="ctr"/>
                <a:endParaRPr lang="en-US" sz="2800" baseline="30000" dirty="0"/>
              </a:p>
              <a:p>
                <a:pPr algn="ctr"/>
                <a:endParaRPr lang="en-US" sz="4000" baseline="30000" dirty="0"/>
              </a:p>
              <a:p>
                <a:pPr algn="ctr"/>
                <a:endParaRPr lang="en-US" sz="2800" baseline="300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dirty="0" smtClean="0">
                              <a:latin typeface="Cambria Math" charset="0"/>
                            </a:rPr>
                            <m:t>𝑎</m:t>
                          </m:r>
                        </m:e>
                        <m:sup>
                          <m:func>
                            <m:funcPr>
                              <m:ctrlP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28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 b="0" i="0" dirty="0" smtClean="0">
                                      <a:latin typeface="Cambria Math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2800" b="0" i="1" dirty="0" smtClean="0">
                                      <a:latin typeface="Cambria Math" charset="0"/>
                                    </a:rPr>
                                    <m:t>𝑏</m:t>
                                  </m:r>
                                </m:sub>
                              </m:sSub>
                            </m:fName>
                            <m:e>
                              <m:d>
                                <m:dPr>
                                  <m:ctrlPr>
                                    <a:rPr lang="en-US" sz="28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0" i="1" dirty="0" smtClean="0">
                                      <a:latin typeface="Cambria Math" charset="0"/>
                                    </a:rPr>
                                    <m:t>𝑛</m:t>
                                  </m:r>
                                </m:e>
                              </m:d>
                            </m:e>
                          </m:func>
                        </m:sup>
                      </m:sSup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4" name="TextBox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0820" y="1476660"/>
                <a:ext cx="1243391" cy="5078313"/>
              </a:xfrm>
              <a:prstGeom prst="rect">
                <a:avLst/>
              </a:prstGeom>
              <a:blipFill rotWithShape="0">
                <a:blip r:embed="rId2"/>
                <a:stretch>
                  <a:fillRect t="-10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TextBox 64"/>
          <p:cNvSpPr txBox="1"/>
          <p:nvPr/>
        </p:nvSpPr>
        <p:spPr>
          <a:xfrm>
            <a:off x="6671494" y="409953"/>
            <a:ext cx="10160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Size of each</a:t>
            </a:r>
          </a:p>
          <a:p>
            <a:pPr algn="ctr"/>
            <a:r>
              <a:rPr lang="en-US" dirty="0"/>
              <a:t>problem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790293" y="1465604"/>
            <a:ext cx="927177" cy="50577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n</a:t>
            </a:r>
          </a:p>
          <a:p>
            <a:endParaRPr lang="en-US" sz="1600" dirty="0"/>
          </a:p>
          <a:p>
            <a:r>
              <a:rPr lang="en-US" sz="2800" dirty="0"/>
              <a:t>n/b</a:t>
            </a:r>
          </a:p>
          <a:p>
            <a:endParaRPr lang="en-US" sz="2000" dirty="0"/>
          </a:p>
          <a:p>
            <a:r>
              <a:rPr lang="en-US" sz="2800" dirty="0"/>
              <a:t>n/b</a:t>
            </a:r>
            <a:r>
              <a:rPr lang="en-US" sz="2800" baseline="30000" dirty="0"/>
              <a:t>2</a:t>
            </a:r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400" dirty="0"/>
          </a:p>
          <a:p>
            <a:r>
              <a:rPr lang="en-US" sz="2800" dirty="0"/>
              <a:t>n/</a:t>
            </a:r>
            <a:r>
              <a:rPr lang="en-US" sz="2800" dirty="0" err="1"/>
              <a:t>b</a:t>
            </a:r>
            <a:r>
              <a:rPr lang="en-US" sz="2800" baseline="30000" dirty="0" err="1"/>
              <a:t>t</a:t>
            </a:r>
            <a:endParaRPr lang="en-US" sz="2800" baseline="30000" dirty="0"/>
          </a:p>
          <a:p>
            <a:endParaRPr lang="en-US" sz="2800" baseline="30000" dirty="0"/>
          </a:p>
          <a:p>
            <a:endParaRPr lang="en-US" sz="2800" baseline="30000" dirty="0"/>
          </a:p>
          <a:p>
            <a:endParaRPr lang="en-US" sz="4800" baseline="30000" dirty="0"/>
          </a:p>
          <a:p>
            <a:r>
              <a:rPr lang="en-US" sz="2800" dirty="0"/>
              <a:t>1</a:t>
            </a:r>
          </a:p>
        </p:txBody>
      </p:sp>
      <p:cxnSp>
        <p:nvCxnSpPr>
          <p:cNvPr id="68" name="Straight Connector 67"/>
          <p:cNvCxnSpPr/>
          <p:nvPr/>
        </p:nvCxnSpPr>
        <p:spPr>
          <a:xfrm>
            <a:off x="7780444" y="778912"/>
            <a:ext cx="0" cy="6079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4613292" y="5034635"/>
            <a:ext cx="51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r-IN" sz="4000" dirty="0"/>
              <a:t>…</a:t>
            </a:r>
            <a:endParaRPr lang="en-US" sz="4000" dirty="0"/>
          </a:p>
        </p:txBody>
      </p:sp>
      <p:sp>
        <p:nvSpPr>
          <p:cNvPr id="50" name="Oval 49"/>
          <p:cNvSpPr/>
          <p:nvPr/>
        </p:nvSpPr>
        <p:spPr>
          <a:xfrm>
            <a:off x="-31617" y="2287526"/>
            <a:ext cx="1133899" cy="478086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n/b</a:t>
            </a:r>
          </a:p>
        </p:txBody>
      </p:sp>
      <p:sp>
        <p:nvSpPr>
          <p:cNvPr id="51" name="Oval 50"/>
          <p:cNvSpPr/>
          <p:nvPr/>
        </p:nvSpPr>
        <p:spPr>
          <a:xfrm>
            <a:off x="1336226" y="2901633"/>
            <a:ext cx="998684" cy="565757"/>
          </a:xfrm>
          <a:prstGeom prst="ellipse">
            <a:avLst/>
          </a:prstGeom>
          <a:solidFill>
            <a:srgbClr val="555B9A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n/b</a:t>
            </a:r>
            <a:r>
              <a:rPr lang="en-US" baseline="30000"/>
              <a:t>2</a:t>
            </a:r>
            <a:endParaRPr lang="en-US" dirty="0"/>
          </a:p>
        </p:txBody>
      </p:sp>
      <p:sp>
        <p:nvSpPr>
          <p:cNvPr id="52" name="Oval 51"/>
          <p:cNvSpPr/>
          <p:nvPr/>
        </p:nvSpPr>
        <p:spPr>
          <a:xfrm>
            <a:off x="645347" y="3202357"/>
            <a:ext cx="998684" cy="565757"/>
          </a:xfrm>
          <a:prstGeom prst="ellipse">
            <a:avLst/>
          </a:prstGeom>
          <a:solidFill>
            <a:srgbClr val="555B9A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n/b</a:t>
            </a:r>
            <a:r>
              <a:rPr lang="en-US" baseline="30000"/>
              <a:t>2</a:t>
            </a:r>
            <a:endParaRPr lang="en-US" dirty="0"/>
          </a:p>
        </p:txBody>
      </p:sp>
      <p:sp>
        <p:nvSpPr>
          <p:cNvPr id="54" name="Oval 53"/>
          <p:cNvSpPr/>
          <p:nvPr/>
        </p:nvSpPr>
        <p:spPr>
          <a:xfrm>
            <a:off x="2743615" y="2901633"/>
            <a:ext cx="998684" cy="565757"/>
          </a:xfrm>
          <a:prstGeom prst="ellipse">
            <a:avLst/>
          </a:prstGeom>
          <a:solidFill>
            <a:srgbClr val="555B9A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n/b</a:t>
            </a:r>
            <a:r>
              <a:rPr lang="en-US" baseline="30000" dirty="0"/>
              <a:t>2</a:t>
            </a:r>
            <a:endParaRPr lang="en-US" dirty="0"/>
          </a:p>
        </p:txBody>
      </p:sp>
      <p:sp>
        <p:nvSpPr>
          <p:cNvPr id="58" name="Oval 57"/>
          <p:cNvSpPr/>
          <p:nvPr/>
        </p:nvSpPr>
        <p:spPr>
          <a:xfrm>
            <a:off x="3345140" y="3159935"/>
            <a:ext cx="998684" cy="565757"/>
          </a:xfrm>
          <a:prstGeom prst="ellipse">
            <a:avLst/>
          </a:prstGeom>
          <a:solidFill>
            <a:srgbClr val="555B9A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n/b</a:t>
            </a:r>
            <a:r>
              <a:rPr lang="en-US" baseline="30000"/>
              <a:t>2</a:t>
            </a:r>
            <a:endParaRPr lang="en-US" dirty="0"/>
          </a:p>
        </p:txBody>
      </p:sp>
      <p:sp>
        <p:nvSpPr>
          <p:cNvPr id="66" name="Oval 65"/>
          <p:cNvSpPr/>
          <p:nvPr/>
        </p:nvSpPr>
        <p:spPr>
          <a:xfrm>
            <a:off x="165439" y="2827573"/>
            <a:ext cx="998684" cy="565757"/>
          </a:xfrm>
          <a:prstGeom prst="ellipse">
            <a:avLst/>
          </a:prstGeom>
          <a:solidFill>
            <a:srgbClr val="555B9A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n/b</a:t>
            </a:r>
            <a:r>
              <a:rPr lang="en-US" baseline="30000"/>
              <a:t>2</a:t>
            </a:r>
            <a:endParaRPr lang="en-US" dirty="0"/>
          </a:p>
        </p:txBody>
      </p:sp>
      <p:sp>
        <p:nvSpPr>
          <p:cNvPr id="70" name="Oval 69"/>
          <p:cNvSpPr/>
          <p:nvPr/>
        </p:nvSpPr>
        <p:spPr>
          <a:xfrm>
            <a:off x="-253331" y="3220788"/>
            <a:ext cx="998684" cy="565757"/>
          </a:xfrm>
          <a:prstGeom prst="ellipse">
            <a:avLst/>
          </a:prstGeom>
          <a:solidFill>
            <a:srgbClr val="555B9A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n/b</a:t>
            </a:r>
            <a:r>
              <a:rPr lang="en-US" baseline="30000"/>
              <a:t>2</a:t>
            </a:r>
            <a:endParaRPr lang="en-US" dirty="0"/>
          </a:p>
        </p:txBody>
      </p:sp>
      <p:cxnSp>
        <p:nvCxnSpPr>
          <p:cNvPr id="72" name="Straight Connector 71"/>
          <p:cNvCxnSpPr/>
          <p:nvPr/>
        </p:nvCxnSpPr>
        <p:spPr>
          <a:xfrm>
            <a:off x="3844482" y="2014334"/>
            <a:ext cx="590567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/>
          <p:nvPr/>
        </p:nvCxnSpPr>
        <p:spPr>
          <a:xfrm>
            <a:off x="3983829" y="2853231"/>
            <a:ext cx="590567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/>
          <p:nvPr/>
        </p:nvCxnSpPr>
        <p:spPr>
          <a:xfrm>
            <a:off x="3844482" y="3700341"/>
            <a:ext cx="590567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/>
          <p:cNvCxnSpPr/>
          <p:nvPr/>
        </p:nvCxnSpPr>
        <p:spPr>
          <a:xfrm>
            <a:off x="3878941" y="4446751"/>
            <a:ext cx="590567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/>
          <p:nvPr/>
        </p:nvCxnSpPr>
        <p:spPr>
          <a:xfrm>
            <a:off x="4031341" y="5293669"/>
            <a:ext cx="590567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>
            <a:off x="4031340" y="5742521"/>
            <a:ext cx="590567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3463891" y="49448"/>
                <a:ext cx="2673874" cy="5666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accent4"/>
                          </a:solidFill>
                          <a:latin typeface="Cambria Math" charset="0"/>
                        </a:rPr>
                        <m:t>𝑇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charset="0"/>
                            </a:rPr>
                            <m:t>𝑛</m:t>
                          </m:r>
                        </m:e>
                      </m:d>
                      <m:r>
                        <a:rPr lang="en-US" i="1">
                          <a:solidFill>
                            <a:schemeClr val="accent4"/>
                          </a:solidFill>
                          <a:latin typeface="Cambria Math" charset="0"/>
                        </a:rPr>
                        <m:t>=</m:t>
                      </m:r>
                      <m:r>
                        <a:rPr lang="en-US" i="1">
                          <a:solidFill>
                            <a:schemeClr val="accent4"/>
                          </a:solidFill>
                          <a:latin typeface="Cambria Math" charset="0"/>
                        </a:rPr>
                        <m:t>𝑎</m:t>
                      </m:r>
                      <m:r>
                        <a:rPr lang="en-US" i="1">
                          <a:solidFill>
                            <a:schemeClr val="accent4"/>
                          </a:solidFill>
                          <a:latin typeface="Cambria Math" charset="0"/>
                        </a:rPr>
                        <m:t>⋅</m:t>
                      </m:r>
                      <m:r>
                        <a:rPr lang="en-US" i="1">
                          <a:solidFill>
                            <a:schemeClr val="accent4"/>
                          </a:solidFill>
                          <a:latin typeface="Cambria Math" charset="0"/>
                        </a:rPr>
                        <m:t>𝑇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charset="0"/>
                                </a:rPr>
                                <m:t>𝑏</m:t>
                              </m:r>
                            </m:den>
                          </m:f>
                        </m:e>
                      </m:d>
                      <m:r>
                        <a:rPr lang="en-US" i="1">
                          <a:solidFill>
                            <a:schemeClr val="accent4"/>
                          </a:solidFill>
                          <a:latin typeface="Cambria Math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accent4"/>
                          </a:solidFill>
                          <a:latin typeface="Cambria Math" charset="0"/>
                        </a:rPr>
                        <m:t>𝑐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charset="0"/>
                            </a:rPr>
                            <m:t>⋅</m:t>
                          </m:r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charset="0"/>
                            </a:rPr>
                            <m:t>𝑛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charset="0"/>
                            </a:rPr>
                            <m:t>𝑑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accent4"/>
                  </a:solidFill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3891" y="49448"/>
                <a:ext cx="2673874" cy="566694"/>
              </a:xfrm>
              <a:prstGeom prst="rect">
                <a:avLst/>
              </a:prstGeom>
              <a:blipFill>
                <a:blip r:embed="rId3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2733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8" grpId="0" animBg="1"/>
      <p:bldP spid="32" grpId="0"/>
      <p:bldP spid="34" grpId="0"/>
      <p:bldP spid="35" grpId="0" animBg="1"/>
      <p:bldP spid="39" grpId="0" animBg="1"/>
      <p:bldP spid="38" grpId="0" animBg="1"/>
      <p:bldP spid="40" grpId="0" animBg="1"/>
      <p:bldP spid="41" grpId="0" animBg="1"/>
      <p:bldP spid="42" grpId="0" animBg="1"/>
      <p:bldP spid="43" grpId="0" animBg="1"/>
      <p:bldP spid="45" grpId="0"/>
      <p:bldP spid="56" grpId="0"/>
      <p:bldP spid="60" grpId="0" build="p"/>
      <p:bldP spid="61" grpId="0"/>
      <p:bldP spid="62" grpId="0"/>
      <p:bldP spid="63" grpId="0"/>
      <p:bldP spid="64" grpId="0" uiExpand="1" build="p"/>
      <p:bldP spid="67" grpId="0" uiExpand="1" build="p"/>
      <p:bldP spid="73" grpId="0"/>
      <p:bldP spid="50" grpId="0" animBg="1"/>
      <p:bldP spid="51" grpId="0" animBg="1"/>
      <p:bldP spid="52" grpId="0" animBg="1"/>
      <p:bldP spid="54" grpId="0" animBg="1"/>
      <p:bldP spid="58" grpId="0" animBg="1"/>
      <p:bldP spid="66" grpId="0" animBg="1"/>
      <p:bldP spid="7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076" y="14498"/>
            <a:ext cx="3273694" cy="700703"/>
          </a:xfrm>
        </p:spPr>
        <p:txBody>
          <a:bodyPr>
            <a:normAutofit fontScale="90000"/>
          </a:bodyPr>
          <a:lstStyle/>
          <a:p>
            <a:r>
              <a:rPr lang="en-US" dirty="0"/>
              <a:t>Recursion tree</a:t>
            </a:r>
          </a:p>
        </p:txBody>
      </p:sp>
      <p:sp>
        <p:nvSpPr>
          <p:cNvPr id="5" name="Oval 4"/>
          <p:cNvSpPr/>
          <p:nvPr/>
        </p:nvSpPr>
        <p:spPr>
          <a:xfrm>
            <a:off x="1207194" y="1276378"/>
            <a:ext cx="1590671" cy="70614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Size n</a:t>
            </a:r>
          </a:p>
        </p:txBody>
      </p:sp>
      <p:sp>
        <p:nvSpPr>
          <p:cNvPr id="8" name="Oval 7"/>
          <p:cNvSpPr/>
          <p:nvPr/>
        </p:nvSpPr>
        <p:spPr>
          <a:xfrm>
            <a:off x="2932488" y="2292538"/>
            <a:ext cx="1249790" cy="494290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n/b</a:t>
            </a:r>
          </a:p>
        </p:txBody>
      </p:sp>
      <p:sp>
        <p:nvSpPr>
          <p:cNvPr id="9" name="Oval 8"/>
          <p:cNvSpPr/>
          <p:nvPr/>
        </p:nvSpPr>
        <p:spPr>
          <a:xfrm>
            <a:off x="1495647" y="2287526"/>
            <a:ext cx="1133899" cy="478086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n/b</a:t>
            </a:r>
          </a:p>
        </p:txBody>
      </p:sp>
      <p:sp>
        <p:nvSpPr>
          <p:cNvPr id="17" name="Oval 16"/>
          <p:cNvSpPr/>
          <p:nvPr/>
        </p:nvSpPr>
        <p:spPr>
          <a:xfrm>
            <a:off x="3878941" y="6075195"/>
            <a:ext cx="304801" cy="248946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18" name="Oval 17"/>
          <p:cNvSpPr/>
          <p:nvPr/>
        </p:nvSpPr>
        <p:spPr>
          <a:xfrm>
            <a:off x="3470236" y="5909159"/>
            <a:ext cx="304801" cy="248946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19" name="Oval 18"/>
          <p:cNvSpPr/>
          <p:nvPr/>
        </p:nvSpPr>
        <p:spPr>
          <a:xfrm>
            <a:off x="3082301" y="6116542"/>
            <a:ext cx="304801" cy="248946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0" name="Oval 19"/>
          <p:cNvSpPr/>
          <p:nvPr/>
        </p:nvSpPr>
        <p:spPr>
          <a:xfrm>
            <a:off x="2743615" y="5909159"/>
            <a:ext cx="304801" cy="248946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1" name="Oval 20"/>
          <p:cNvSpPr/>
          <p:nvPr/>
        </p:nvSpPr>
        <p:spPr>
          <a:xfrm>
            <a:off x="2334910" y="6116542"/>
            <a:ext cx="304801" cy="248946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2" name="Oval 21"/>
          <p:cNvSpPr/>
          <p:nvPr/>
        </p:nvSpPr>
        <p:spPr>
          <a:xfrm>
            <a:off x="1928371" y="5931306"/>
            <a:ext cx="304801" cy="248946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3" name="Oval 22"/>
          <p:cNvSpPr/>
          <p:nvPr/>
        </p:nvSpPr>
        <p:spPr>
          <a:xfrm>
            <a:off x="1512734" y="6116542"/>
            <a:ext cx="304801" cy="248946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4" name="Oval 23"/>
          <p:cNvSpPr/>
          <p:nvPr/>
        </p:nvSpPr>
        <p:spPr>
          <a:xfrm>
            <a:off x="1097097" y="5931306"/>
            <a:ext cx="304801" cy="248946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5" name="Oval 24"/>
          <p:cNvSpPr/>
          <p:nvPr/>
        </p:nvSpPr>
        <p:spPr>
          <a:xfrm>
            <a:off x="683636" y="6075195"/>
            <a:ext cx="304801" cy="248946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6" name="Oval 25"/>
          <p:cNvSpPr/>
          <p:nvPr/>
        </p:nvSpPr>
        <p:spPr>
          <a:xfrm>
            <a:off x="296988" y="5881235"/>
            <a:ext cx="304801" cy="248946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8" name="Oval 27"/>
          <p:cNvSpPr/>
          <p:nvPr/>
        </p:nvSpPr>
        <p:spPr>
          <a:xfrm>
            <a:off x="-38530" y="6055773"/>
            <a:ext cx="304801" cy="248946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64013" y="6324141"/>
            <a:ext cx="10755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(Size 1)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77170" y="4939726"/>
            <a:ext cx="51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r-IN" sz="4000" dirty="0"/>
              <a:t>…</a:t>
            </a:r>
            <a:endParaRPr lang="en-US" sz="4000" dirty="0"/>
          </a:p>
        </p:txBody>
      </p:sp>
      <p:sp>
        <p:nvSpPr>
          <p:cNvPr id="35" name="Oval 34"/>
          <p:cNvSpPr/>
          <p:nvPr/>
        </p:nvSpPr>
        <p:spPr>
          <a:xfrm>
            <a:off x="1963489" y="3110452"/>
            <a:ext cx="998684" cy="565757"/>
          </a:xfrm>
          <a:prstGeom prst="ellipse">
            <a:avLst/>
          </a:prstGeom>
          <a:solidFill>
            <a:srgbClr val="555B9A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n/b</a:t>
            </a:r>
            <a:r>
              <a:rPr lang="en-US" baseline="30000"/>
              <a:t>2</a:t>
            </a:r>
            <a:endParaRPr lang="en-US" dirty="0"/>
          </a:p>
        </p:txBody>
      </p:sp>
      <p:sp>
        <p:nvSpPr>
          <p:cNvPr id="39" name="Oval 38"/>
          <p:cNvSpPr/>
          <p:nvPr/>
        </p:nvSpPr>
        <p:spPr>
          <a:xfrm>
            <a:off x="3463891" y="4477941"/>
            <a:ext cx="970753" cy="565757"/>
          </a:xfrm>
          <a:prstGeom prst="ellipse">
            <a:avLst/>
          </a:prstGeom>
          <a:solidFill>
            <a:schemeClr val="accent5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n/</a:t>
            </a:r>
            <a:r>
              <a:rPr lang="en-US" dirty="0" err="1"/>
              <a:t>b</a:t>
            </a:r>
            <a:r>
              <a:rPr lang="en-US" baseline="30000" dirty="0" err="1"/>
              <a:t>t</a:t>
            </a:r>
            <a:endParaRPr lang="en-US" dirty="0"/>
          </a:p>
        </p:txBody>
      </p:sp>
      <p:sp>
        <p:nvSpPr>
          <p:cNvPr id="38" name="Oval 37"/>
          <p:cNvSpPr/>
          <p:nvPr/>
        </p:nvSpPr>
        <p:spPr>
          <a:xfrm>
            <a:off x="2679467" y="4495153"/>
            <a:ext cx="970753" cy="565757"/>
          </a:xfrm>
          <a:prstGeom prst="ellipse">
            <a:avLst/>
          </a:prstGeom>
          <a:solidFill>
            <a:schemeClr val="accent5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n/</a:t>
            </a:r>
            <a:r>
              <a:rPr lang="en-US" dirty="0" err="1"/>
              <a:t>b</a:t>
            </a:r>
            <a:r>
              <a:rPr lang="en-US" baseline="30000" dirty="0" err="1"/>
              <a:t>t</a:t>
            </a:r>
            <a:endParaRPr lang="en-US" dirty="0"/>
          </a:p>
        </p:txBody>
      </p:sp>
      <p:sp>
        <p:nvSpPr>
          <p:cNvPr id="40" name="Oval 39"/>
          <p:cNvSpPr/>
          <p:nvPr/>
        </p:nvSpPr>
        <p:spPr>
          <a:xfrm>
            <a:off x="1961745" y="4495153"/>
            <a:ext cx="970753" cy="565757"/>
          </a:xfrm>
          <a:prstGeom prst="ellipse">
            <a:avLst/>
          </a:prstGeom>
          <a:solidFill>
            <a:schemeClr val="accent5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n/</a:t>
            </a:r>
            <a:r>
              <a:rPr lang="en-US" dirty="0" err="1"/>
              <a:t>b</a:t>
            </a:r>
            <a:r>
              <a:rPr lang="en-US" baseline="30000" dirty="0" err="1"/>
              <a:t>t</a:t>
            </a:r>
            <a:endParaRPr lang="en-US" dirty="0"/>
          </a:p>
        </p:txBody>
      </p:sp>
      <p:sp>
        <p:nvSpPr>
          <p:cNvPr id="41" name="Oval 40"/>
          <p:cNvSpPr/>
          <p:nvPr/>
        </p:nvSpPr>
        <p:spPr>
          <a:xfrm>
            <a:off x="1234438" y="4497132"/>
            <a:ext cx="970753" cy="565757"/>
          </a:xfrm>
          <a:prstGeom prst="ellipse">
            <a:avLst/>
          </a:prstGeom>
          <a:solidFill>
            <a:schemeClr val="accent5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n/</a:t>
            </a:r>
            <a:r>
              <a:rPr lang="en-US" dirty="0" err="1"/>
              <a:t>b</a:t>
            </a:r>
            <a:r>
              <a:rPr lang="en-US" baseline="30000" dirty="0" err="1"/>
              <a:t>t</a:t>
            </a:r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459001" y="4516087"/>
            <a:ext cx="970753" cy="565757"/>
          </a:xfrm>
          <a:prstGeom prst="ellipse">
            <a:avLst/>
          </a:prstGeom>
          <a:solidFill>
            <a:schemeClr val="accent5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n/</a:t>
            </a:r>
            <a:r>
              <a:rPr lang="en-US" dirty="0" err="1"/>
              <a:t>b</a:t>
            </a:r>
            <a:r>
              <a:rPr lang="en-US" baseline="30000" dirty="0" err="1"/>
              <a:t>t</a:t>
            </a:r>
            <a:endParaRPr lang="en-US" dirty="0"/>
          </a:p>
        </p:txBody>
      </p:sp>
      <p:sp>
        <p:nvSpPr>
          <p:cNvPr id="43" name="Oval 42"/>
          <p:cNvSpPr/>
          <p:nvPr/>
        </p:nvSpPr>
        <p:spPr>
          <a:xfrm>
            <a:off x="-246154" y="4543416"/>
            <a:ext cx="970753" cy="565757"/>
          </a:xfrm>
          <a:prstGeom prst="ellipse">
            <a:avLst/>
          </a:prstGeom>
          <a:solidFill>
            <a:schemeClr val="accent5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n/</a:t>
            </a:r>
            <a:r>
              <a:rPr lang="en-US" dirty="0" err="1"/>
              <a:t>b</a:t>
            </a:r>
            <a:r>
              <a:rPr lang="en-US" baseline="30000" dirty="0" err="1"/>
              <a:t>t</a:t>
            </a:r>
            <a:endParaRPr 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1731393" y="3362716"/>
            <a:ext cx="51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r-IN" sz="4000" dirty="0"/>
              <a:t>…</a:t>
            </a:r>
            <a:endParaRPr lang="en-US" sz="4000" dirty="0"/>
          </a:p>
        </p:txBody>
      </p:sp>
      <p:sp>
        <p:nvSpPr>
          <p:cNvPr id="48" name="TextBox 47"/>
          <p:cNvSpPr txBox="1"/>
          <p:nvPr/>
        </p:nvSpPr>
        <p:spPr>
          <a:xfrm>
            <a:off x="4398388" y="907046"/>
            <a:ext cx="7199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Level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91261" y="252119"/>
            <a:ext cx="14951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Amount of work </a:t>
            </a:r>
            <a:r>
              <a:rPr lang="en-US" dirty="0">
                <a:solidFill>
                  <a:sysClr val="windowText" lastClr="000000"/>
                </a:solidFill>
              </a:rPr>
              <a:t>at this </a:t>
            </a:r>
            <a:r>
              <a:rPr lang="en-US">
                <a:solidFill>
                  <a:sysClr val="windowText" lastClr="000000"/>
                </a:solidFill>
              </a:rPr>
              <a:t>level 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cxnSp>
        <p:nvCxnSpPr>
          <p:cNvPr id="53" name="Straight Connector 52"/>
          <p:cNvCxnSpPr/>
          <p:nvPr/>
        </p:nvCxnSpPr>
        <p:spPr>
          <a:xfrm>
            <a:off x="3834671" y="1307156"/>
            <a:ext cx="590567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>
            <a:off x="6603251" y="778912"/>
            <a:ext cx="0" cy="6079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4773374" y="1461788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285365" y="660825"/>
            <a:ext cx="10690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# </a:t>
            </a:r>
          </a:p>
          <a:p>
            <a:pPr algn="ctr"/>
            <a:r>
              <a:rPr lang="en-US" dirty="0"/>
              <a:t>problems</a:t>
            </a:r>
          </a:p>
        </p:txBody>
      </p:sp>
      <p:cxnSp>
        <p:nvCxnSpPr>
          <p:cNvPr id="59" name="Straight Connector 58"/>
          <p:cNvCxnSpPr/>
          <p:nvPr/>
        </p:nvCxnSpPr>
        <p:spPr>
          <a:xfrm>
            <a:off x="5297232" y="843244"/>
            <a:ext cx="0" cy="6079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4773374" y="2246651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767254" y="2978345"/>
            <a:ext cx="3897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764860" y="4581994"/>
            <a:ext cx="3897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196857" y="5893926"/>
            <a:ext cx="12519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log</a:t>
            </a:r>
            <a:r>
              <a:rPr lang="en-US" sz="2800" baseline="-25000" dirty="0" err="1"/>
              <a:t>b</a:t>
            </a:r>
            <a:r>
              <a:rPr lang="en-US" sz="2800" dirty="0"/>
              <a:t>(n)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/>
              <p:cNvSpPr txBox="1"/>
              <p:nvPr/>
            </p:nvSpPr>
            <p:spPr>
              <a:xfrm>
                <a:off x="5300820" y="1476660"/>
                <a:ext cx="1243391" cy="50783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/>
                  <a:t>1</a:t>
                </a:r>
              </a:p>
              <a:p>
                <a:pPr algn="ctr"/>
                <a:endParaRPr lang="en-US" sz="2000" dirty="0"/>
              </a:p>
              <a:p>
                <a:pPr algn="ctr"/>
                <a:r>
                  <a:rPr lang="en-US" sz="2800" dirty="0"/>
                  <a:t>a</a:t>
                </a:r>
              </a:p>
              <a:p>
                <a:pPr algn="ctr"/>
                <a:endParaRPr lang="en-US" sz="2000" dirty="0"/>
              </a:p>
              <a:p>
                <a:pPr algn="ctr"/>
                <a:r>
                  <a:rPr lang="en-US" sz="2800" dirty="0"/>
                  <a:t>a</a:t>
                </a:r>
                <a:r>
                  <a:rPr lang="en-US" sz="2800" baseline="30000" dirty="0"/>
                  <a:t>2</a:t>
                </a:r>
                <a:endParaRPr lang="en-US" sz="2800" dirty="0"/>
              </a:p>
              <a:p>
                <a:pPr algn="ctr"/>
                <a:endParaRPr lang="en-US" sz="2800" dirty="0"/>
              </a:p>
              <a:p>
                <a:pPr algn="ctr"/>
                <a:endParaRPr lang="en-US" sz="2800" dirty="0"/>
              </a:p>
              <a:p>
                <a:pPr algn="ctr"/>
                <a:endParaRPr lang="en-US" sz="2400" dirty="0"/>
              </a:p>
              <a:p>
                <a:pPr algn="ctr"/>
                <a:r>
                  <a:rPr lang="en-US" sz="2800" dirty="0"/>
                  <a:t>a</a:t>
                </a:r>
                <a:r>
                  <a:rPr lang="en-US" sz="2800" baseline="30000" dirty="0"/>
                  <a:t>t</a:t>
                </a:r>
              </a:p>
              <a:p>
                <a:pPr algn="ctr"/>
                <a:endParaRPr lang="en-US" sz="2800" baseline="30000" dirty="0"/>
              </a:p>
              <a:p>
                <a:pPr algn="ctr"/>
                <a:endParaRPr lang="en-US" sz="4000" baseline="30000" dirty="0"/>
              </a:p>
              <a:p>
                <a:pPr algn="ctr"/>
                <a:endParaRPr lang="en-US" sz="2800" baseline="300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dirty="0" smtClean="0">
                              <a:latin typeface="Cambria Math" charset="0"/>
                            </a:rPr>
                            <m:t>𝑎</m:t>
                          </m:r>
                        </m:e>
                        <m:sup>
                          <m:func>
                            <m:funcPr>
                              <m:ctrlP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28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 b="0" i="0" dirty="0" smtClean="0">
                                      <a:latin typeface="Cambria Math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2800" b="0" i="1" dirty="0" smtClean="0">
                                      <a:latin typeface="Cambria Math" charset="0"/>
                                    </a:rPr>
                                    <m:t>𝑏</m:t>
                                  </m:r>
                                </m:sub>
                              </m:sSub>
                            </m:fName>
                            <m:e>
                              <m:d>
                                <m:dPr>
                                  <m:ctrlPr>
                                    <a:rPr lang="en-US" sz="28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0" i="1" dirty="0" smtClean="0">
                                      <a:latin typeface="Cambria Math" charset="0"/>
                                    </a:rPr>
                                    <m:t>𝑛</m:t>
                                  </m:r>
                                </m:e>
                              </m:d>
                            </m:e>
                          </m:func>
                        </m:sup>
                      </m:sSup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4" name="TextBox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0820" y="1476660"/>
                <a:ext cx="1243391" cy="5078313"/>
              </a:xfrm>
              <a:prstGeom prst="rect">
                <a:avLst/>
              </a:prstGeom>
              <a:blipFill rotWithShape="0">
                <a:blip r:embed="rId2"/>
                <a:stretch>
                  <a:fillRect t="-10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TextBox 64"/>
          <p:cNvSpPr txBox="1"/>
          <p:nvPr/>
        </p:nvSpPr>
        <p:spPr>
          <a:xfrm>
            <a:off x="6671494" y="409953"/>
            <a:ext cx="10160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Size of each</a:t>
            </a:r>
          </a:p>
          <a:p>
            <a:pPr algn="ctr"/>
            <a:r>
              <a:rPr lang="en-US" dirty="0"/>
              <a:t>problem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790293" y="1465604"/>
            <a:ext cx="927177" cy="50577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n</a:t>
            </a:r>
          </a:p>
          <a:p>
            <a:endParaRPr lang="en-US" sz="1600" dirty="0"/>
          </a:p>
          <a:p>
            <a:r>
              <a:rPr lang="en-US" sz="2800" dirty="0"/>
              <a:t>n/b</a:t>
            </a:r>
          </a:p>
          <a:p>
            <a:endParaRPr lang="en-US" sz="2000" dirty="0"/>
          </a:p>
          <a:p>
            <a:r>
              <a:rPr lang="en-US" sz="2800" dirty="0"/>
              <a:t>n/b</a:t>
            </a:r>
            <a:r>
              <a:rPr lang="en-US" sz="2800" baseline="30000" dirty="0"/>
              <a:t>2</a:t>
            </a:r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400" dirty="0"/>
          </a:p>
          <a:p>
            <a:r>
              <a:rPr lang="en-US" sz="2800" dirty="0"/>
              <a:t>n/</a:t>
            </a:r>
            <a:r>
              <a:rPr lang="en-US" sz="2800" dirty="0" err="1"/>
              <a:t>b</a:t>
            </a:r>
            <a:r>
              <a:rPr lang="en-US" sz="2800" baseline="30000" dirty="0" err="1"/>
              <a:t>t</a:t>
            </a:r>
            <a:endParaRPr lang="en-US" sz="2800" baseline="30000" dirty="0"/>
          </a:p>
          <a:p>
            <a:endParaRPr lang="en-US" sz="2800" baseline="30000" dirty="0"/>
          </a:p>
          <a:p>
            <a:endParaRPr lang="en-US" sz="2800" baseline="30000" dirty="0"/>
          </a:p>
          <a:p>
            <a:endParaRPr lang="en-US" sz="4800" baseline="30000" dirty="0"/>
          </a:p>
          <a:p>
            <a:r>
              <a:rPr lang="en-US" sz="2800" dirty="0"/>
              <a:t>1</a:t>
            </a:r>
          </a:p>
        </p:txBody>
      </p:sp>
      <p:cxnSp>
        <p:nvCxnSpPr>
          <p:cNvPr id="68" name="Straight Connector 67"/>
          <p:cNvCxnSpPr/>
          <p:nvPr/>
        </p:nvCxnSpPr>
        <p:spPr>
          <a:xfrm>
            <a:off x="7780444" y="778912"/>
            <a:ext cx="0" cy="6079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4613292" y="5034635"/>
            <a:ext cx="51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r-IN" sz="4000" dirty="0"/>
              <a:t>…</a:t>
            </a:r>
            <a:endParaRPr lang="en-US" sz="4000" dirty="0"/>
          </a:p>
        </p:txBody>
      </p:sp>
      <p:sp>
        <p:nvSpPr>
          <p:cNvPr id="50" name="Oval 49"/>
          <p:cNvSpPr/>
          <p:nvPr/>
        </p:nvSpPr>
        <p:spPr>
          <a:xfrm>
            <a:off x="-31617" y="2287526"/>
            <a:ext cx="1133899" cy="478086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n/b</a:t>
            </a:r>
          </a:p>
        </p:txBody>
      </p:sp>
      <p:sp>
        <p:nvSpPr>
          <p:cNvPr id="51" name="Oval 50"/>
          <p:cNvSpPr/>
          <p:nvPr/>
        </p:nvSpPr>
        <p:spPr>
          <a:xfrm>
            <a:off x="1336226" y="2901633"/>
            <a:ext cx="998684" cy="565757"/>
          </a:xfrm>
          <a:prstGeom prst="ellipse">
            <a:avLst/>
          </a:prstGeom>
          <a:solidFill>
            <a:srgbClr val="555B9A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n/b</a:t>
            </a:r>
            <a:r>
              <a:rPr lang="en-US" baseline="30000"/>
              <a:t>2</a:t>
            </a:r>
            <a:endParaRPr lang="en-US" dirty="0"/>
          </a:p>
        </p:txBody>
      </p:sp>
      <p:sp>
        <p:nvSpPr>
          <p:cNvPr id="52" name="Oval 51"/>
          <p:cNvSpPr/>
          <p:nvPr/>
        </p:nvSpPr>
        <p:spPr>
          <a:xfrm>
            <a:off x="645347" y="3202357"/>
            <a:ext cx="998684" cy="565757"/>
          </a:xfrm>
          <a:prstGeom prst="ellipse">
            <a:avLst/>
          </a:prstGeom>
          <a:solidFill>
            <a:srgbClr val="555B9A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n/b</a:t>
            </a:r>
            <a:r>
              <a:rPr lang="en-US" baseline="30000"/>
              <a:t>2</a:t>
            </a:r>
            <a:endParaRPr lang="en-US" dirty="0"/>
          </a:p>
        </p:txBody>
      </p:sp>
      <p:sp>
        <p:nvSpPr>
          <p:cNvPr id="54" name="Oval 53"/>
          <p:cNvSpPr/>
          <p:nvPr/>
        </p:nvSpPr>
        <p:spPr>
          <a:xfrm>
            <a:off x="2743615" y="2901633"/>
            <a:ext cx="998684" cy="565757"/>
          </a:xfrm>
          <a:prstGeom prst="ellipse">
            <a:avLst/>
          </a:prstGeom>
          <a:solidFill>
            <a:srgbClr val="555B9A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n/b</a:t>
            </a:r>
            <a:r>
              <a:rPr lang="en-US" baseline="30000" dirty="0"/>
              <a:t>2</a:t>
            </a:r>
            <a:endParaRPr lang="en-US" dirty="0"/>
          </a:p>
        </p:txBody>
      </p:sp>
      <p:sp>
        <p:nvSpPr>
          <p:cNvPr id="58" name="Oval 57"/>
          <p:cNvSpPr/>
          <p:nvPr/>
        </p:nvSpPr>
        <p:spPr>
          <a:xfrm>
            <a:off x="3345140" y="3159935"/>
            <a:ext cx="998684" cy="565757"/>
          </a:xfrm>
          <a:prstGeom prst="ellipse">
            <a:avLst/>
          </a:prstGeom>
          <a:solidFill>
            <a:srgbClr val="555B9A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n/b</a:t>
            </a:r>
            <a:r>
              <a:rPr lang="en-US" baseline="30000"/>
              <a:t>2</a:t>
            </a:r>
            <a:endParaRPr lang="en-US" dirty="0"/>
          </a:p>
        </p:txBody>
      </p:sp>
      <p:sp>
        <p:nvSpPr>
          <p:cNvPr id="66" name="Oval 65"/>
          <p:cNvSpPr/>
          <p:nvPr/>
        </p:nvSpPr>
        <p:spPr>
          <a:xfrm>
            <a:off x="165439" y="2827573"/>
            <a:ext cx="998684" cy="565757"/>
          </a:xfrm>
          <a:prstGeom prst="ellipse">
            <a:avLst/>
          </a:prstGeom>
          <a:solidFill>
            <a:srgbClr val="555B9A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n/b</a:t>
            </a:r>
            <a:r>
              <a:rPr lang="en-US" baseline="30000"/>
              <a:t>2</a:t>
            </a:r>
            <a:endParaRPr lang="en-US" dirty="0"/>
          </a:p>
        </p:txBody>
      </p:sp>
      <p:sp>
        <p:nvSpPr>
          <p:cNvPr id="70" name="Oval 69"/>
          <p:cNvSpPr/>
          <p:nvPr/>
        </p:nvSpPr>
        <p:spPr>
          <a:xfrm>
            <a:off x="-253331" y="3220788"/>
            <a:ext cx="998684" cy="565757"/>
          </a:xfrm>
          <a:prstGeom prst="ellipse">
            <a:avLst/>
          </a:prstGeom>
          <a:solidFill>
            <a:srgbClr val="555B9A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n/b</a:t>
            </a:r>
            <a:r>
              <a:rPr lang="en-US" baseline="30000"/>
              <a:t>2</a:t>
            </a:r>
            <a:endParaRPr lang="en-US" dirty="0"/>
          </a:p>
        </p:txBody>
      </p:sp>
      <p:cxnSp>
        <p:nvCxnSpPr>
          <p:cNvPr id="72" name="Straight Connector 71"/>
          <p:cNvCxnSpPr/>
          <p:nvPr/>
        </p:nvCxnSpPr>
        <p:spPr>
          <a:xfrm>
            <a:off x="3844482" y="2014334"/>
            <a:ext cx="590567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/>
          <p:nvPr/>
        </p:nvCxnSpPr>
        <p:spPr>
          <a:xfrm>
            <a:off x="3983829" y="2853231"/>
            <a:ext cx="590567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/>
          <p:nvPr/>
        </p:nvCxnSpPr>
        <p:spPr>
          <a:xfrm>
            <a:off x="3844482" y="3700341"/>
            <a:ext cx="590567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/>
          <p:cNvCxnSpPr/>
          <p:nvPr/>
        </p:nvCxnSpPr>
        <p:spPr>
          <a:xfrm>
            <a:off x="3878941" y="4446751"/>
            <a:ext cx="590567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/>
          <p:nvPr/>
        </p:nvCxnSpPr>
        <p:spPr>
          <a:xfrm>
            <a:off x="4031341" y="5293669"/>
            <a:ext cx="590567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>
            <a:off x="4031340" y="5742521"/>
            <a:ext cx="590567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3463891" y="49448"/>
                <a:ext cx="2673874" cy="5666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𝑇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𝑛</m:t>
                          </m:r>
                        </m:e>
                      </m:d>
                      <m:r>
                        <a:rPr lang="en-US" i="1">
                          <a:solidFill>
                            <a:schemeClr val="tx1"/>
                          </a:solidFill>
                          <a:latin typeface="Cambria Math" charset="0"/>
                        </a:rPr>
                        <m:t>=</m:t>
                      </m:r>
                      <m:r>
                        <a:rPr lang="en-US" i="1">
                          <a:solidFill>
                            <a:schemeClr val="accent4"/>
                          </a:solidFill>
                          <a:latin typeface="Cambria Math" charset="0"/>
                        </a:rPr>
                        <m:t>𝑎</m:t>
                      </m:r>
                      <m:r>
                        <a:rPr lang="en-US" i="1">
                          <a:solidFill>
                            <a:schemeClr val="accent4"/>
                          </a:solidFill>
                          <a:latin typeface="Cambria Math" charset="0"/>
                        </a:rPr>
                        <m:t>⋅</m:t>
                      </m:r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𝑇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charset="0"/>
                                </a:rPr>
                                <m:t>𝑏</m:t>
                              </m:r>
                            </m:den>
                          </m:f>
                        </m:e>
                      </m:d>
                      <m:r>
                        <a:rPr lang="en-US" i="1">
                          <a:solidFill>
                            <a:schemeClr val="accent4"/>
                          </a:solidFill>
                          <a:latin typeface="Cambria Math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𝑐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accent5"/>
                              </a:solidFill>
                              <a:latin typeface="Cambria Math" charset="0"/>
                            </a:rPr>
                            <m:t>⋅</m:t>
                          </m:r>
                          <m:r>
                            <a:rPr lang="en-US" b="0" i="1" smtClean="0">
                              <a:solidFill>
                                <a:schemeClr val="accent5"/>
                              </a:solidFill>
                              <a:latin typeface="Cambria Math" charset="0"/>
                            </a:rPr>
                            <m:t>𝑛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accent5"/>
                              </a:solidFill>
                              <a:latin typeface="Cambria Math" charset="0"/>
                            </a:rPr>
                            <m:t>𝑑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accent4"/>
                  </a:solidFill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3891" y="49448"/>
                <a:ext cx="2673874" cy="566694"/>
              </a:xfrm>
              <a:prstGeom prst="rect">
                <a:avLst/>
              </a:prstGeom>
              <a:blipFill>
                <a:blip r:embed="rId3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843419" y="1379379"/>
                <a:ext cx="123601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latin typeface="Cambria Math" charset="0"/>
                        </a:rPr>
                        <m:t>𝑐</m:t>
                      </m:r>
                      <m:r>
                        <a:rPr lang="en-US" sz="2800" b="0" i="1" dirty="0" smtClean="0">
                          <a:latin typeface="Cambria Math" charset="0"/>
                        </a:rPr>
                        <m:t>⋅</m:t>
                      </m:r>
                      <m:r>
                        <a:rPr lang="en-US" sz="2800" i="1" dirty="0" smtClean="0">
                          <a:solidFill>
                            <a:schemeClr val="accent5"/>
                          </a:solidFill>
                          <a:latin typeface="Cambria Math" charset="0"/>
                        </a:rPr>
                        <m:t>𝑛</m:t>
                      </m:r>
                      <m:r>
                        <a:rPr lang="en-US" sz="2800" i="1" baseline="30000" dirty="0" err="1" smtClean="0">
                          <a:solidFill>
                            <a:schemeClr val="accent5"/>
                          </a:solidFill>
                          <a:latin typeface="Cambria Math" charset="0"/>
                        </a:rPr>
                        <m:t>𝑑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3419" y="1379379"/>
                <a:ext cx="1236016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/>
              <p:cNvSpPr txBox="1"/>
              <p:nvPr/>
            </p:nvSpPr>
            <p:spPr>
              <a:xfrm>
                <a:off x="7754502" y="2905427"/>
                <a:ext cx="1396040" cy="6865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solidFill>
                                <a:schemeClr val="accent4"/>
                              </a:solidFill>
                              <a:latin typeface="Cambria Math" charset="0"/>
                            </a:rPr>
                            <m:t>𝑎</m:t>
                          </m:r>
                        </m:e>
                        <m:sup>
                          <m:r>
                            <a:rPr lang="en-US" sz="2000" b="0" i="1" smtClean="0">
                              <a:solidFill>
                                <a:schemeClr val="accent4"/>
                              </a:solidFill>
                              <a:latin typeface="Cambria Math" charset="0"/>
                            </a:rPr>
                            <m:t>2</m:t>
                          </m:r>
                        </m:sup>
                      </m:sSup>
                      <m:r>
                        <a:rPr lang="en-US" sz="2000" b="0" i="1" smtClean="0">
                          <a:latin typeface="Cambria Math" charset="0"/>
                        </a:rPr>
                        <m:t>𝑐</m:t>
                      </m:r>
                      <m:r>
                        <a:rPr lang="en-US" sz="2000" b="0" i="1" smtClean="0">
                          <a:latin typeface="Cambria Math" charset="0"/>
                        </a:rPr>
                        <m:t> </m:t>
                      </m:r>
                      <m:sSup>
                        <m:sSupPr>
                          <m:ctrlPr>
                            <a:rPr lang="en-US" sz="20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0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0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0" i="1" smtClean="0">
                                      <a:solidFill>
                                        <a:schemeClr val="accent1"/>
                                      </a:solidFill>
                                      <a:latin typeface="Cambria Math" charset="0"/>
                                    </a:rPr>
                                    <m:t>𝑛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sz="20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charset="0"/>
                                        </a:rPr>
                                        <m:t>𝑏</m:t>
                                      </m:r>
                                    </m:e>
                                    <m:sup>
                                      <m:r>
                                        <a:rPr lang="en-US" sz="20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2000" b="0" i="1" smtClean="0">
                              <a:solidFill>
                                <a:schemeClr val="accent5"/>
                              </a:solidFill>
                              <a:latin typeface="Cambria Math" charset="0"/>
                            </a:rPr>
                            <m:t>𝑑</m:t>
                          </m:r>
                        </m:sup>
                      </m:sSup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4502" y="2905427"/>
                <a:ext cx="1396040" cy="686598"/>
              </a:xfrm>
              <a:prstGeom prst="rect">
                <a:avLst/>
              </a:prstGeom>
              <a:blipFill>
                <a:blip r:embed="rId5"/>
                <a:stretch>
                  <a:fillRect b="-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/>
              <p:cNvSpPr txBox="1"/>
              <p:nvPr/>
            </p:nvSpPr>
            <p:spPr>
              <a:xfrm>
                <a:off x="7754502" y="2015229"/>
                <a:ext cx="1396040" cy="6865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4"/>
                          </a:solidFill>
                          <a:latin typeface="Cambria Math" charset="0"/>
                        </a:rPr>
                        <m:t>𝑎</m:t>
                      </m:r>
                      <m:r>
                        <a:rPr lang="en-US" sz="2000" b="0" i="1" smtClean="0">
                          <a:latin typeface="Cambria Math" charset="0"/>
                        </a:rPr>
                        <m:t>𝑐</m:t>
                      </m:r>
                      <m:r>
                        <a:rPr lang="en-US" sz="2000" b="0" i="1" smtClean="0">
                          <a:latin typeface="Cambria Math" charset="0"/>
                        </a:rPr>
                        <m:t> </m:t>
                      </m:r>
                      <m:sSup>
                        <m:sSupPr>
                          <m:ctrlPr>
                            <a:rPr lang="en-US" sz="20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0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0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0" i="1" smtClean="0">
                                      <a:solidFill>
                                        <a:schemeClr val="accent1"/>
                                      </a:solidFill>
                                      <a:latin typeface="Cambria Math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en-US" sz="2000" b="0" i="1" smtClean="0">
                                      <a:solidFill>
                                        <a:schemeClr val="accent1"/>
                                      </a:solidFill>
                                      <a:latin typeface="Cambria Math" charset="0"/>
                                    </a:rPr>
                                    <m:t>𝑏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2000" b="0" i="1" smtClean="0">
                              <a:solidFill>
                                <a:schemeClr val="accent5"/>
                              </a:solidFill>
                              <a:latin typeface="Cambria Math" charset="0"/>
                            </a:rPr>
                            <m:t>𝑑</m:t>
                          </m:r>
                        </m:sup>
                      </m:sSup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5" name="TextBox 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4502" y="2015229"/>
                <a:ext cx="1396040" cy="686598"/>
              </a:xfrm>
              <a:prstGeom prst="rect">
                <a:avLst/>
              </a:prstGeom>
              <a:blipFill>
                <a:blip r:embed="rId6"/>
                <a:stretch>
                  <a:fillRect b="-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/>
              <p:cNvSpPr txBox="1"/>
              <p:nvPr/>
            </p:nvSpPr>
            <p:spPr>
              <a:xfrm>
                <a:off x="7797415" y="4494078"/>
                <a:ext cx="1396040" cy="6865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solidFill>
                                <a:schemeClr val="accent4"/>
                              </a:solidFill>
                              <a:latin typeface="Cambria Math" charset="0"/>
                            </a:rPr>
                            <m:t>𝑎</m:t>
                          </m:r>
                        </m:e>
                        <m:sup>
                          <m:r>
                            <a:rPr lang="en-US" sz="2000" b="0" i="1" smtClean="0">
                              <a:solidFill>
                                <a:schemeClr val="accent4"/>
                              </a:solidFill>
                              <a:latin typeface="Cambria Math" charset="0"/>
                            </a:rPr>
                            <m:t>𝑡</m:t>
                          </m:r>
                        </m:sup>
                      </m:sSup>
                      <m:r>
                        <a:rPr lang="en-US" sz="2000" b="0" i="1" smtClean="0">
                          <a:latin typeface="Cambria Math" charset="0"/>
                        </a:rPr>
                        <m:t>𝑐</m:t>
                      </m:r>
                      <m:r>
                        <a:rPr lang="en-US" sz="2000" b="0" i="1" smtClean="0">
                          <a:latin typeface="Cambria Math" charset="0"/>
                        </a:rPr>
                        <m:t> 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0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0" i="1" smtClean="0">
                                      <a:solidFill>
                                        <a:schemeClr val="accent1"/>
                                      </a:solidFill>
                                      <a:latin typeface="Cambria Math" charset="0"/>
                                    </a:rPr>
                                    <m:t>𝑛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sz="20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charset="0"/>
                                        </a:rPr>
                                        <m:t>𝑏</m:t>
                                      </m:r>
                                    </m:e>
                                    <m:sup>
                                      <m:r>
                                        <a:rPr lang="en-US" sz="20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charset="0"/>
                                        </a:rPr>
                                        <m:t>𝑡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2000" b="0" i="1" smtClean="0">
                              <a:latin typeface="Cambria Math" charset="0"/>
                            </a:rPr>
                            <m:t>𝑑</m:t>
                          </m:r>
                        </m:sup>
                      </m:sSup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6" name="TextBox 8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7415" y="4494078"/>
                <a:ext cx="1396040" cy="686598"/>
              </a:xfrm>
              <a:prstGeom prst="rect">
                <a:avLst/>
              </a:prstGeom>
              <a:blipFill>
                <a:blip r:embed="rId7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/>
              <p:cNvSpPr txBox="1"/>
              <p:nvPr/>
            </p:nvSpPr>
            <p:spPr>
              <a:xfrm>
                <a:off x="7747960" y="5781986"/>
                <a:ext cx="1396040" cy="4210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 dirty="0">
                              <a:latin typeface="Cambria Math" charset="0"/>
                            </a:rPr>
                            <m:t>𝑎</m:t>
                          </m:r>
                        </m:e>
                        <m:sup>
                          <m:func>
                            <m:func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000" dirty="0">
                                      <a:latin typeface="Cambria Math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2000" i="1" dirty="0">
                                      <a:latin typeface="Cambria Math" charset="0"/>
                                    </a:rPr>
                                    <m:t>𝑏</m:t>
                                  </m:r>
                                </m:sub>
                              </m:sSub>
                            </m:fName>
                            <m:e>
                              <m:d>
                                <m:dPr>
                                  <m:ctrlP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 dirty="0">
                                      <a:latin typeface="Cambria Math" charset="0"/>
                                    </a:rPr>
                                    <m:t>𝑛</m:t>
                                  </m:r>
                                </m:e>
                              </m:d>
                            </m:e>
                          </m:func>
                        </m:sup>
                      </m:sSup>
                      <m:r>
                        <a:rPr lang="en-US" sz="1600" b="0" i="1" smtClean="0">
                          <a:latin typeface="Cambria Math" charset="0"/>
                        </a:rPr>
                        <m:t>𝑐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7" name="TextBox 8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7960" y="5781986"/>
                <a:ext cx="1396040" cy="42101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9" name="Picture 68">
            <a:extLst>
              <a:ext uri="{FF2B5EF4-FFF2-40B4-BE49-F238E27FC236}">
                <a16:creationId xmlns:a16="http://schemas.microsoft.com/office/drawing/2014/main" id="{C35618C9-1EB4-FC40-AC80-AA218C79ECAB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0264" y="633612"/>
            <a:ext cx="1547393" cy="499101"/>
          </a:xfrm>
          <a:prstGeom prst="rect">
            <a:avLst/>
          </a:prstGeom>
        </p:spPr>
      </p:pic>
      <p:sp>
        <p:nvSpPr>
          <p:cNvPr id="71" name="TextBox 70">
            <a:extLst>
              <a:ext uri="{FF2B5EF4-FFF2-40B4-BE49-F238E27FC236}">
                <a16:creationId xmlns:a16="http://schemas.microsoft.com/office/drawing/2014/main" id="{BB5BDD65-4846-BE4D-BEAD-638DD2930294}"/>
              </a:ext>
            </a:extLst>
          </p:cNvPr>
          <p:cNvSpPr txBox="1"/>
          <p:nvPr/>
        </p:nvSpPr>
        <p:spPr>
          <a:xfrm>
            <a:off x="1670508" y="491903"/>
            <a:ext cx="44945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1"/>
                </a:solidFill>
              </a:rPr>
              <a:t>Help me fill this in!   How much work at each level?</a:t>
            </a:r>
          </a:p>
          <a:p>
            <a:r>
              <a:rPr lang="en-US" sz="1600" dirty="0">
                <a:solidFill>
                  <a:schemeClr val="accent1"/>
                </a:solidFill>
              </a:rPr>
              <a:t>1 minutes: think        How much work total?</a:t>
            </a:r>
          </a:p>
          <a:p>
            <a:r>
              <a:rPr lang="en-US" sz="1600" dirty="0">
                <a:solidFill>
                  <a:schemeClr val="accent1"/>
                </a:solidFill>
              </a:rPr>
              <a:t>1 minute: share (wait)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AA3945-04AF-CC4C-99EB-441F0A421BDD}"/>
              </a:ext>
            </a:extLst>
          </p:cNvPr>
          <p:cNvSpPr txBox="1"/>
          <p:nvPr/>
        </p:nvSpPr>
        <p:spPr>
          <a:xfrm>
            <a:off x="7339269" y="6213543"/>
            <a:ext cx="1744281" cy="646331"/>
          </a:xfrm>
          <a:prstGeom prst="rect">
            <a:avLst/>
          </a:prstGeom>
          <a:solidFill>
            <a:schemeClr val="bg1"/>
          </a:solidFill>
          <a:ln>
            <a:solidFill>
              <a:srgbClr val="DE6769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DE6769"/>
                </a:solidFill>
              </a:rPr>
              <a:t>(Let’s pretend that the base case is T(1) = c for convenience).</a:t>
            </a:r>
          </a:p>
        </p:txBody>
      </p:sp>
    </p:spTree>
    <p:extLst>
      <p:ext uri="{BB962C8B-B14F-4D97-AF65-F5344CB8AC3E}">
        <p14:creationId xmlns:p14="http://schemas.microsoft.com/office/powerpoint/2010/main" val="730261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1" grpId="0"/>
      <p:bldP spid="85" grpId="0"/>
      <p:bldP spid="86" grpId="0"/>
      <p:bldP spid="87" grpId="0"/>
      <p:bldP spid="7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076" y="14498"/>
            <a:ext cx="3273694" cy="700703"/>
          </a:xfrm>
        </p:spPr>
        <p:txBody>
          <a:bodyPr>
            <a:normAutofit fontScale="90000"/>
          </a:bodyPr>
          <a:lstStyle/>
          <a:p>
            <a:r>
              <a:rPr lang="en-US" dirty="0"/>
              <a:t>Recursion tree</a:t>
            </a:r>
          </a:p>
        </p:txBody>
      </p:sp>
      <p:sp>
        <p:nvSpPr>
          <p:cNvPr id="5" name="Oval 4"/>
          <p:cNvSpPr/>
          <p:nvPr/>
        </p:nvSpPr>
        <p:spPr>
          <a:xfrm>
            <a:off x="1207194" y="1276378"/>
            <a:ext cx="1590671" cy="70614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Size n</a:t>
            </a:r>
          </a:p>
        </p:txBody>
      </p:sp>
      <p:sp>
        <p:nvSpPr>
          <p:cNvPr id="8" name="Oval 7"/>
          <p:cNvSpPr/>
          <p:nvPr/>
        </p:nvSpPr>
        <p:spPr>
          <a:xfrm>
            <a:off x="2932488" y="2292538"/>
            <a:ext cx="1249790" cy="494290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n/b</a:t>
            </a:r>
          </a:p>
        </p:txBody>
      </p:sp>
      <p:sp>
        <p:nvSpPr>
          <p:cNvPr id="9" name="Oval 8"/>
          <p:cNvSpPr/>
          <p:nvPr/>
        </p:nvSpPr>
        <p:spPr>
          <a:xfrm>
            <a:off x="1495647" y="2287526"/>
            <a:ext cx="1133899" cy="478086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n/b</a:t>
            </a:r>
          </a:p>
        </p:txBody>
      </p:sp>
      <p:sp>
        <p:nvSpPr>
          <p:cNvPr id="17" name="Oval 16"/>
          <p:cNvSpPr/>
          <p:nvPr/>
        </p:nvSpPr>
        <p:spPr>
          <a:xfrm>
            <a:off x="3878941" y="6075195"/>
            <a:ext cx="304801" cy="248946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18" name="Oval 17"/>
          <p:cNvSpPr/>
          <p:nvPr/>
        </p:nvSpPr>
        <p:spPr>
          <a:xfrm>
            <a:off x="3470236" y="5909159"/>
            <a:ext cx="304801" cy="248946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19" name="Oval 18"/>
          <p:cNvSpPr/>
          <p:nvPr/>
        </p:nvSpPr>
        <p:spPr>
          <a:xfrm>
            <a:off x="3082301" y="6116542"/>
            <a:ext cx="304801" cy="248946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0" name="Oval 19"/>
          <p:cNvSpPr/>
          <p:nvPr/>
        </p:nvSpPr>
        <p:spPr>
          <a:xfrm>
            <a:off x="2743615" y="5909159"/>
            <a:ext cx="304801" cy="248946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1" name="Oval 20"/>
          <p:cNvSpPr/>
          <p:nvPr/>
        </p:nvSpPr>
        <p:spPr>
          <a:xfrm>
            <a:off x="2334910" y="6116542"/>
            <a:ext cx="304801" cy="248946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2" name="Oval 21"/>
          <p:cNvSpPr/>
          <p:nvPr/>
        </p:nvSpPr>
        <p:spPr>
          <a:xfrm>
            <a:off x="1928371" y="5931306"/>
            <a:ext cx="304801" cy="248946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3" name="Oval 22"/>
          <p:cNvSpPr/>
          <p:nvPr/>
        </p:nvSpPr>
        <p:spPr>
          <a:xfrm>
            <a:off x="1512734" y="6116542"/>
            <a:ext cx="304801" cy="248946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4" name="Oval 23"/>
          <p:cNvSpPr/>
          <p:nvPr/>
        </p:nvSpPr>
        <p:spPr>
          <a:xfrm>
            <a:off x="1097097" y="5931306"/>
            <a:ext cx="304801" cy="248946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5" name="Oval 24"/>
          <p:cNvSpPr/>
          <p:nvPr/>
        </p:nvSpPr>
        <p:spPr>
          <a:xfrm>
            <a:off x="683636" y="6075195"/>
            <a:ext cx="304801" cy="248946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6" name="Oval 25"/>
          <p:cNvSpPr/>
          <p:nvPr/>
        </p:nvSpPr>
        <p:spPr>
          <a:xfrm>
            <a:off x="296988" y="5881235"/>
            <a:ext cx="304801" cy="248946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8" name="Oval 27"/>
          <p:cNvSpPr/>
          <p:nvPr/>
        </p:nvSpPr>
        <p:spPr>
          <a:xfrm>
            <a:off x="-38530" y="6055773"/>
            <a:ext cx="304801" cy="248946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64013" y="6324141"/>
            <a:ext cx="10755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(Size 1)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77170" y="4939726"/>
            <a:ext cx="51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r-IN" sz="4000" dirty="0"/>
              <a:t>…</a:t>
            </a:r>
            <a:endParaRPr lang="en-US" sz="4000" dirty="0"/>
          </a:p>
        </p:txBody>
      </p:sp>
      <p:sp>
        <p:nvSpPr>
          <p:cNvPr id="35" name="Oval 34"/>
          <p:cNvSpPr/>
          <p:nvPr/>
        </p:nvSpPr>
        <p:spPr>
          <a:xfrm>
            <a:off x="1963489" y="3110452"/>
            <a:ext cx="998684" cy="565757"/>
          </a:xfrm>
          <a:prstGeom prst="ellipse">
            <a:avLst/>
          </a:prstGeom>
          <a:solidFill>
            <a:srgbClr val="555B9A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n/b</a:t>
            </a:r>
            <a:r>
              <a:rPr lang="en-US" baseline="30000"/>
              <a:t>2</a:t>
            </a:r>
            <a:endParaRPr lang="en-US" dirty="0"/>
          </a:p>
        </p:txBody>
      </p:sp>
      <p:sp>
        <p:nvSpPr>
          <p:cNvPr id="39" name="Oval 38"/>
          <p:cNvSpPr/>
          <p:nvPr/>
        </p:nvSpPr>
        <p:spPr>
          <a:xfrm>
            <a:off x="3463891" y="4477941"/>
            <a:ext cx="970753" cy="565757"/>
          </a:xfrm>
          <a:prstGeom prst="ellipse">
            <a:avLst/>
          </a:prstGeom>
          <a:solidFill>
            <a:schemeClr val="accent5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n/</a:t>
            </a:r>
            <a:r>
              <a:rPr lang="en-US" dirty="0" err="1"/>
              <a:t>b</a:t>
            </a:r>
            <a:r>
              <a:rPr lang="en-US" baseline="30000" dirty="0" err="1"/>
              <a:t>t</a:t>
            </a:r>
            <a:endParaRPr lang="en-US" dirty="0"/>
          </a:p>
        </p:txBody>
      </p:sp>
      <p:sp>
        <p:nvSpPr>
          <p:cNvPr id="38" name="Oval 37"/>
          <p:cNvSpPr/>
          <p:nvPr/>
        </p:nvSpPr>
        <p:spPr>
          <a:xfrm>
            <a:off x="2679467" y="4495153"/>
            <a:ext cx="970753" cy="565757"/>
          </a:xfrm>
          <a:prstGeom prst="ellipse">
            <a:avLst/>
          </a:prstGeom>
          <a:solidFill>
            <a:schemeClr val="accent5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n/</a:t>
            </a:r>
            <a:r>
              <a:rPr lang="en-US" dirty="0" err="1"/>
              <a:t>b</a:t>
            </a:r>
            <a:r>
              <a:rPr lang="en-US" baseline="30000" dirty="0" err="1"/>
              <a:t>t</a:t>
            </a:r>
            <a:endParaRPr lang="en-US" dirty="0"/>
          </a:p>
        </p:txBody>
      </p:sp>
      <p:sp>
        <p:nvSpPr>
          <p:cNvPr id="40" name="Oval 39"/>
          <p:cNvSpPr/>
          <p:nvPr/>
        </p:nvSpPr>
        <p:spPr>
          <a:xfrm>
            <a:off x="1961745" y="4495153"/>
            <a:ext cx="970753" cy="565757"/>
          </a:xfrm>
          <a:prstGeom prst="ellipse">
            <a:avLst/>
          </a:prstGeom>
          <a:solidFill>
            <a:schemeClr val="accent5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n/</a:t>
            </a:r>
            <a:r>
              <a:rPr lang="en-US" dirty="0" err="1"/>
              <a:t>b</a:t>
            </a:r>
            <a:r>
              <a:rPr lang="en-US" baseline="30000" dirty="0" err="1"/>
              <a:t>t</a:t>
            </a:r>
            <a:endParaRPr lang="en-US" dirty="0"/>
          </a:p>
        </p:txBody>
      </p:sp>
      <p:sp>
        <p:nvSpPr>
          <p:cNvPr id="41" name="Oval 40"/>
          <p:cNvSpPr/>
          <p:nvPr/>
        </p:nvSpPr>
        <p:spPr>
          <a:xfrm>
            <a:off x="1234438" y="4497132"/>
            <a:ext cx="970753" cy="565757"/>
          </a:xfrm>
          <a:prstGeom prst="ellipse">
            <a:avLst/>
          </a:prstGeom>
          <a:solidFill>
            <a:schemeClr val="accent5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n/</a:t>
            </a:r>
            <a:r>
              <a:rPr lang="en-US" dirty="0" err="1"/>
              <a:t>b</a:t>
            </a:r>
            <a:r>
              <a:rPr lang="en-US" baseline="30000" dirty="0" err="1"/>
              <a:t>t</a:t>
            </a:r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459001" y="4516087"/>
            <a:ext cx="970753" cy="565757"/>
          </a:xfrm>
          <a:prstGeom prst="ellipse">
            <a:avLst/>
          </a:prstGeom>
          <a:solidFill>
            <a:schemeClr val="accent5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n/</a:t>
            </a:r>
            <a:r>
              <a:rPr lang="en-US" dirty="0" err="1"/>
              <a:t>b</a:t>
            </a:r>
            <a:r>
              <a:rPr lang="en-US" baseline="30000" dirty="0" err="1"/>
              <a:t>t</a:t>
            </a:r>
            <a:endParaRPr lang="en-US" dirty="0"/>
          </a:p>
        </p:txBody>
      </p:sp>
      <p:sp>
        <p:nvSpPr>
          <p:cNvPr id="43" name="Oval 42"/>
          <p:cNvSpPr/>
          <p:nvPr/>
        </p:nvSpPr>
        <p:spPr>
          <a:xfrm>
            <a:off x="-246154" y="4543416"/>
            <a:ext cx="970753" cy="565757"/>
          </a:xfrm>
          <a:prstGeom prst="ellipse">
            <a:avLst/>
          </a:prstGeom>
          <a:solidFill>
            <a:schemeClr val="accent5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n/</a:t>
            </a:r>
            <a:r>
              <a:rPr lang="en-US" dirty="0" err="1"/>
              <a:t>b</a:t>
            </a:r>
            <a:r>
              <a:rPr lang="en-US" baseline="30000" dirty="0" err="1"/>
              <a:t>t</a:t>
            </a:r>
            <a:endParaRPr 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1731393" y="3362716"/>
            <a:ext cx="51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r-IN" sz="4000" dirty="0"/>
              <a:t>…</a:t>
            </a:r>
            <a:endParaRPr lang="en-US" sz="4000" dirty="0"/>
          </a:p>
        </p:txBody>
      </p:sp>
      <p:sp>
        <p:nvSpPr>
          <p:cNvPr id="48" name="TextBox 47"/>
          <p:cNvSpPr txBox="1"/>
          <p:nvPr/>
        </p:nvSpPr>
        <p:spPr>
          <a:xfrm>
            <a:off x="4398388" y="907046"/>
            <a:ext cx="7199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Level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91261" y="252119"/>
            <a:ext cx="14951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Amount of work </a:t>
            </a:r>
            <a:r>
              <a:rPr lang="en-US" dirty="0">
                <a:solidFill>
                  <a:sysClr val="windowText" lastClr="000000"/>
                </a:solidFill>
              </a:rPr>
              <a:t>at this </a:t>
            </a:r>
            <a:r>
              <a:rPr lang="en-US">
                <a:solidFill>
                  <a:sysClr val="windowText" lastClr="000000"/>
                </a:solidFill>
              </a:rPr>
              <a:t>level 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cxnSp>
        <p:nvCxnSpPr>
          <p:cNvPr id="53" name="Straight Connector 52"/>
          <p:cNvCxnSpPr/>
          <p:nvPr/>
        </p:nvCxnSpPr>
        <p:spPr>
          <a:xfrm>
            <a:off x="3834671" y="1307156"/>
            <a:ext cx="590567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>
            <a:off x="6603251" y="778912"/>
            <a:ext cx="0" cy="6079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4773374" y="1461788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285365" y="660825"/>
            <a:ext cx="10690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# </a:t>
            </a:r>
          </a:p>
          <a:p>
            <a:pPr algn="ctr"/>
            <a:r>
              <a:rPr lang="en-US" dirty="0"/>
              <a:t>problems</a:t>
            </a:r>
          </a:p>
        </p:txBody>
      </p:sp>
      <p:cxnSp>
        <p:nvCxnSpPr>
          <p:cNvPr id="59" name="Straight Connector 58"/>
          <p:cNvCxnSpPr/>
          <p:nvPr/>
        </p:nvCxnSpPr>
        <p:spPr>
          <a:xfrm>
            <a:off x="5297232" y="843244"/>
            <a:ext cx="0" cy="6079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4773374" y="2246651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767254" y="2978345"/>
            <a:ext cx="3897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764860" y="4581994"/>
            <a:ext cx="3897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196857" y="5893926"/>
            <a:ext cx="12519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log</a:t>
            </a:r>
            <a:r>
              <a:rPr lang="en-US" sz="2800" baseline="-25000" dirty="0" err="1"/>
              <a:t>b</a:t>
            </a:r>
            <a:r>
              <a:rPr lang="en-US" sz="2800" dirty="0"/>
              <a:t>(n)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/>
              <p:cNvSpPr txBox="1"/>
              <p:nvPr/>
            </p:nvSpPr>
            <p:spPr>
              <a:xfrm>
                <a:off x="5300820" y="1476660"/>
                <a:ext cx="1243391" cy="50783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/>
                  <a:t>1</a:t>
                </a:r>
              </a:p>
              <a:p>
                <a:pPr algn="ctr"/>
                <a:endParaRPr lang="en-US" sz="2000" dirty="0"/>
              </a:p>
              <a:p>
                <a:pPr algn="ctr"/>
                <a:r>
                  <a:rPr lang="en-US" sz="2800" dirty="0"/>
                  <a:t>a</a:t>
                </a:r>
              </a:p>
              <a:p>
                <a:pPr algn="ctr"/>
                <a:endParaRPr lang="en-US" sz="2000" dirty="0"/>
              </a:p>
              <a:p>
                <a:pPr algn="ctr"/>
                <a:r>
                  <a:rPr lang="en-US" sz="2800" dirty="0"/>
                  <a:t>a</a:t>
                </a:r>
                <a:r>
                  <a:rPr lang="en-US" sz="2800" baseline="30000" dirty="0"/>
                  <a:t>2</a:t>
                </a:r>
                <a:endParaRPr lang="en-US" sz="2800" dirty="0"/>
              </a:p>
              <a:p>
                <a:pPr algn="ctr"/>
                <a:endParaRPr lang="en-US" sz="2800" dirty="0"/>
              </a:p>
              <a:p>
                <a:pPr algn="ctr"/>
                <a:endParaRPr lang="en-US" sz="2800" dirty="0"/>
              </a:p>
              <a:p>
                <a:pPr algn="ctr"/>
                <a:endParaRPr lang="en-US" sz="2400" dirty="0"/>
              </a:p>
              <a:p>
                <a:pPr algn="ctr"/>
                <a:r>
                  <a:rPr lang="en-US" sz="2800" dirty="0"/>
                  <a:t>a</a:t>
                </a:r>
                <a:r>
                  <a:rPr lang="en-US" sz="2800" baseline="30000" dirty="0"/>
                  <a:t>t</a:t>
                </a:r>
              </a:p>
              <a:p>
                <a:pPr algn="ctr"/>
                <a:endParaRPr lang="en-US" sz="2800" baseline="30000" dirty="0"/>
              </a:p>
              <a:p>
                <a:pPr algn="ctr"/>
                <a:endParaRPr lang="en-US" sz="4000" baseline="30000" dirty="0"/>
              </a:p>
              <a:p>
                <a:pPr algn="ctr"/>
                <a:endParaRPr lang="en-US" sz="2800" baseline="300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dirty="0" smtClean="0">
                              <a:latin typeface="Cambria Math" charset="0"/>
                            </a:rPr>
                            <m:t>𝑎</m:t>
                          </m:r>
                        </m:e>
                        <m:sup>
                          <m:func>
                            <m:funcPr>
                              <m:ctrlP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28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 b="0" i="0" dirty="0" smtClean="0">
                                      <a:latin typeface="Cambria Math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2800" b="0" i="1" dirty="0" smtClean="0">
                                      <a:latin typeface="Cambria Math" charset="0"/>
                                    </a:rPr>
                                    <m:t>𝑏</m:t>
                                  </m:r>
                                </m:sub>
                              </m:sSub>
                            </m:fName>
                            <m:e>
                              <m:d>
                                <m:dPr>
                                  <m:ctrlPr>
                                    <a:rPr lang="en-US" sz="28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0" i="1" dirty="0" smtClean="0">
                                      <a:latin typeface="Cambria Math" charset="0"/>
                                    </a:rPr>
                                    <m:t>𝑛</m:t>
                                  </m:r>
                                </m:e>
                              </m:d>
                            </m:e>
                          </m:func>
                        </m:sup>
                      </m:sSup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4" name="TextBox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0820" y="1476660"/>
                <a:ext cx="1243391" cy="5078313"/>
              </a:xfrm>
              <a:prstGeom prst="rect">
                <a:avLst/>
              </a:prstGeom>
              <a:blipFill rotWithShape="0">
                <a:blip r:embed="rId2"/>
                <a:stretch>
                  <a:fillRect t="-10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TextBox 64"/>
          <p:cNvSpPr txBox="1"/>
          <p:nvPr/>
        </p:nvSpPr>
        <p:spPr>
          <a:xfrm>
            <a:off x="6671494" y="409953"/>
            <a:ext cx="10160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Size of each</a:t>
            </a:r>
          </a:p>
          <a:p>
            <a:pPr algn="ctr"/>
            <a:r>
              <a:rPr lang="en-US" dirty="0"/>
              <a:t>problem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790293" y="1465604"/>
            <a:ext cx="927177" cy="50577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n</a:t>
            </a:r>
          </a:p>
          <a:p>
            <a:endParaRPr lang="en-US" sz="1600" dirty="0"/>
          </a:p>
          <a:p>
            <a:r>
              <a:rPr lang="en-US" sz="2800" dirty="0"/>
              <a:t>n/b</a:t>
            </a:r>
          </a:p>
          <a:p>
            <a:endParaRPr lang="en-US" sz="2000" dirty="0"/>
          </a:p>
          <a:p>
            <a:r>
              <a:rPr lang="en-US" sz="2800" dirty="0"/>
              <a:t>n/b</a:t>
            </a:r>
            <a:r>
              <a:rPr lang="en-US" sz="2800" baseline="30000" dirty="0"/>
              <a:t>2</a:t>
            </a:r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400" dirty="0"/>
          </a:p>
          <a:p>
            <a:r>
              <a:rPr lang="en-US" sz="2800" dirty="0"/>
              <a:t>n/</a:t>
            </a:r>
            <a:r>
              <a:rPr lang="en-US" sz="2800" dirty="0" err="1"/>
              <a:t>b</a:t>
            </a:r>
            <a:r>
              <a:rPr lang="en-US" sz="2800" baseline="30000" dirty="0" err="1"/>
              <a:t>t</a:t>
            </a:r>
            <a:endParaRPr lang="en-US" sz="2800" baseline="30000" dirty="0"/>
          </a:p>
          <a:p>
            <a:endParaRPr lang="en-US" sz="2800" baseline="30000" dirty="0"/>
          </a:p>
          <a:p>
            <a:endParaRPr lang="en-US" sz="2800" baseline="30000" dirty="0"/>
          </a:p>
          <a:p>
            <a:endParaRPr lang="en-US" sz="4800" baseline="30000" dirty="0"/>
          </a:p>
          <a:p>
            <a:r>
              <a:rPr lang="en-US" sz="2800" dirty="0"/>
              <a:t>1</a:t>
            </a:r>
          </a:p>
        </p:txBody>
      </p:sp>
      <p:cxnSp>
        <p:nvCxnSpPr>
          <p:cNvPr id="68" name="Straight Connector 67"/>
          <p:cNvCxnSpPr/>
          <p:nvPr/>
        </p:nvCxnSpPr>
        <p:spPr>
          <a:xfrm>
            <a:off x="7780444" y="778912"/>
            <a:ext cx="0" cy="6079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4613292" y="5034635"/>
            <a:ext cx="51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r-IN" sz="4000" dirty="0"/>
              <a:t>…</a:t>
            </a:r>
            <a:endParaRPr lang="en-US" sz="4000" dirty="0"/>
          </a:p>
        </p:txBody>
      </p:sp>
      <p:sp>
        <p:nvSpPr>
          <p:cNvPr id="50" name="Oval 49"/>
          <p:cNvSpPr/>
          <p:nvPr/>
        </p:nvSpPr>
        <p:spPr>
          <a:xfrm>
            <a:off x="-31617" y="2287526"/>
            <a:ext cx="1133899" cy="478086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n/b</a:t>
            </a:r>
          </a:p>
        </p:txBody>
      </p:sp>
      <p:sp>
        <p:nvSpPr>
          <p:cNvPr id="51" name="Oval 50"/>
          <p:cNvSpPr/>
          <p:nvPr/>
        </p:nvSpPr>
        <p:spPr>
          <a:xfrm>
            <a:off x="1336226" y="2901633"/>
            <a:ext cx="998684" cy="565757"/>
          </a:xfrm>
          <a:prstGeom prst="ellipse">
            <a:avLst/>
          </a:prstGeom>
          <a:solidFill>
            <a:srgbClr val="555B9A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n/b</a:t>
            </a:r>
            <a:r>
              <a:rPr lang="en-US" baseline="30000"/>
              <a:t>2</a:t>
            </a:r>
            <a:endParaRPr lang="en-US" dirty="0"/>
          </a:p>
        </p:txBody>
      </p:sp>
      <p:sp>
        <p:nvSpPr>
          <p:cNvPr id="52" name="Oval 51"/>
          <p:cNvSpPr/>
          <p:nvPr/>
        </p:nvSpPr>
        <p:spPr>
          <a:xfrm>
            <a:off x="645347" y="3202357"/>
            <a:ext cx="998684" cy="565757"/>
          </a:xfrm>
          <a:prstGeom prst="ellipse">
            <a:avLst/>
          </a:prstGeom>
          <a:solidFill>
            <a:srgbClr val="555B9A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n/b</a:t>
            </a:r>
            <a:r>
              <a:rPr lang="en-US" baseline="30000"/>
              <a:t>2</a:t>
            </a:r>
            <a:endParaRPr lang="en-US" dirty="0"/>
          </a:p>
        </p:txBody>
      </p:sp>
      <p:sp>
        <p:nvSpPr>
          <p:cNvPr id="54" name="Oval 53"/>
          <p:cNvSpPr/>
          <p:nvPr/>
        </p:nvSpPr>
        <p:spPr>
          <a:xfrm>
            <a:off x="2743615" y="2901633"/>
            <a:ext cx="998684" cy="565757"/>
          </a:xfrm>
          <a:prstGeom prst="ellipse">
            <a:avLst/>
          </a:prstGeom>
          <a:solidFill>
            <a:srgbClr val="555B9A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n/b</a:t>
            </a:r>
            <a:r>
              <a:rPr lang="en-US" baseline="30000" dirty="0"/>
              <a:t>2</a:t>
            </a:r>
            <a:endParaRPr lang="en-US" dirty="0"/>
          </a:p>
        </p:txBody>
      </p:sp>
      <p:sp>
        <p:nvSpPr>
          <p:cNvPr id="58" name="Oval 57"/>
          <p:cNvSpPr/>
          <p:nvPr/>
        </p:nvSpPr>
        <p:spPr>
          <a:xfrm>
            <a:off x="3345140" y="3159935"/>
            <a:ext cx="998684" cy="565757"/>
          </a:xfrm>
          <a:prstGeom prst="ellipse">
            <a:avLst/>
          </a:prstGeom>
          <a:solidFill>
            <a:srgbClr val="555B9A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n/b</a:t>
            </a:r>
            <a:r>
              <a:rPr lang="en-US" baseline="30000"/>
              <a:t>2</a:t>
            </a:r>
            <a:endParaRPr lang="en-US" dirty="0"/>
          </a:p>
        </p:txBody>
      </p:sp>
      <p:sp>
        <p:nvSpPr>
          <p:cNvPr id="66" name="Oval 65"/>
          <p:cNvSpPr/>
          <p:nvPr/>
        </p:nvSpPr>
        <p:spPr>
          <a:xfrm>
            <a:off x="165439" y="2827573"/>
            <a:ext cx="998684" cy="565757"/>
          </a:xfrm>
          <a:prstGeom prst="ellipse">
            <a:avLst/>
          </a:prstGeom>
          <a:solidFill>
            <a:srgbClr val="555B9A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n/b</a:t>
            </a:r>
            <a:r>
              <a:rPr lang="en-US" baseline="30000"/>
              <a:t>2</a:t>
            </a:r>
            <a:endParaRPr lang="en-US" dirty="0"/>
          </a:p>
        </p:txBody>
      </p:sp>
      <p:sp>
        <p:nvSpPr>
          <p:cNvPr id="70" name="Oval 69"/>
          <p:cNvSpPr/>
          <p:nvPr/>
        </p:nvSpPr>
        <p:spPr>
          <a:xfrm>
            <a:off x="-253331" y="3220788"/>
            <a:ext cx="998684" cy="565757"/>
          </a:xfrm>
          <a:prstGeom prst="ellipse">
            <a:avLst/>
          </a:prstGeom>
          <a:solidFill>
            <a:srgbClr val="555B9A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n/b</a:t>
            </a:r>
            <a:r>
              <a:rPr lang="en-US" baseline="30000"/>
              <a:t>2</a:t>
            </a:r>
            <a:endParaRPr lang="en-US" dirty="0"/>
          </a:p>
        </p:txBody>
      </p:sp>
      <p:cxnSp>
        <p:nvCxnSpPr>
          <p:cNvPr id="72" name="Straight Connector 71"/>
          <p:cNvCxnSpPr/>
          <p:nvPr/>
        </p:nvCxnSpPr>
        <p:spPr>
          <a:xfrm>
            <a:off x="3844482" y="2014334"/>
            <a:ext cx="590567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/>
          <p:nvPr/>
        </p:nvCxnSpPr>
        <p:spPr>
          <a:xfrm>
            <a:off x="3983829" y="2853231"/>
            <a:ext cx="590567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/>
          <p:nvPr/>
        </p:nvCxnSpPr>
        <p:spPr>
          <a:xfrm>
            <a:off x="3844482" y="3700341"/>
            <a:ext cx="590567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/>
          <p:cNvCxnSpPr/>
          <p:nvPr/>
        </p:nvCxnSpPr>
        <p:spPr>
          <a:xfrm>
            <a:off x="3878941" y="4446751"/>
            <a:ext cx="590567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/>
          <p:nvPr/>
        </p:nvCxnSpPr>
        <p:spPr>
          <a:xfrm>
            <a:off x="4031341" y="5293669"/>
            <a:ext cx="590567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>
            <a:off x="4031340" y="5742521"/>
            <a:ext cx="590567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3463891" y="49448"/>
                <a:ext cx="2673874" cy="5666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accent1"/>
                          </a:solidFill>
                          <a:latin typeface="Cambria Math" charset="0"/>
                        </a:rPr>
                        <m:t>𝑇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charset="0"/>
                            </a:rPr>
                            <m:t>𝑛</m:t>
                          </m:r>
                        </m:e>
                      </m:d>
                      <m:r>
                        <a:rPr lang="en-US" i="1">
                          <a:solidFill>
                            <a:schemeClr val="accent1"/>
                          </a:solidFill>
                          <a:latin typeface="Cambria Math" charset="0"/>
                        </a:rPr>
                        <m:t>=</m:t>
                      </m:r>
                      <m:r>
                        <a:rPr lang="en-US" i="1">
                          <a:solidFill>
                            <a:schemeClr val="accent1"/>
                          </a:solidFill>
                          <a:latin typeface="Cambria Math" charset="0"/>
                        </a:rPr>
                        <m:t>𝑎</m:t>
                      </m:r>
                      <m:r>
                        <a:rPr lang="en-US" i="1">
                          <a:solidFill>
                            <a:schemeClr val="accent1"/>
                          </a:solidFill>
                          <a:latin typeface="Cambria Math" charset="0"/>
                        </a:rPr>
                        <m:t>⋅</m:t>
                      </m:r>
                      <m:r>
                        <a:rPr lang="en-US" i="1">
                          <a:solidFill>
                            <a:schemeClr val="accent1"/>
                          </a:solidFill>
                          <a:latin typeface="Cambria Math" charset="0"/>
                        </a:rPr>
                        <m:t>𝑇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charset="0"/>
                                </a:rPr>
                                <m:t>𝑏</m:t>
                              </m:r>
                            </m:den>
                          </m:f>
                        </m:e>
                      </m:d>
                      <m:r>
                        <a:rPr lang="en-US" i="1">
                          <a:solidFill>
                            <a:schemeClr val="accent1"/>
                          </a:solidFill>
                          <a:latin typeface="Cambria Math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charset="0"/>
                        </a:rPr>
                        <m:t>𝑐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charset="0"/>
                            </a:rPr>
                            <m:t>⋅</m:t>
                          </m:r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charset="0"/>
                            </a:rPr>
                            <m:t>𝑛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charset="0"/>
                            </a:rPr>
                            <m:t>𝑑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3891" y="49448"/>
                <a:ext cx="2673874" cy="56669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843419" y="1379379"/>
                <a:ext cx="123601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latin typeface="Cambria Math" charset="0"/>
                        </a:rPr>
                        <m:t>𝑐</m:t>
                      </m:r>
                      <m:r>
                        <a:rPr lang="en-US" sz="2800" b="0" i="1" dirty="0" smtClean="0">
                          <a:latin typeface="Cambria Math" charset="0"/>
                        </a:rPr>
                        <m:t>⋅</m:t>
                      </m:r>
                      <m:r>
                        <a:rPr lang="en-US" sz="2800" i="1" dirty="0" smtClean="0">
                          <a:latin typeface="Cambria Math" charset="0"/>
                        </a:rPr>
                        <m:t>𝑛</m:t>
                      </m:r>
                      <m:r>
                        <a:rPr lang="en-US" sz="2800" i="1" baseline="30000" dirty="0" err="1" smtClean="0">
                          <a:latin typeface="Cambria Math" charset="0"/>
                        </a:rPr>
                        <m:t>𝑑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3419" y="1379379"/>
                <a:ext cx="1236016" cy="52322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/>
              <p:cNvSpPr txBox="1"/>
              <p:nvPr/>
            </p:nvSpPr>
            <p:spPr>
              <a:xfrm>
                <a:off x="7754502" y="2905427"/>
                <a:ext cx="1396040" cy="6865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charset="0"/>
                            </a:rPr>
                            <m:t>𝑎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charset="0"/>
                            </a:rPr>
                            <m:t>2</m:t>
                          </m:r>
                        </m:sup>
                      </m:sSup>
                      <m:r>
                        <a:rPr lang="en-US" sz="2000" b="0" i="1" smtClean="0">
                          <a:latin typeface="Cambria Math" charset="0"/>
                        </a:rPr>
                        <m:t>𝑐</m:t>
                      </m:r>
                      <m:r>
                        <a:rPr lang="en-US" sz="2000" b="0" i="1" smtClean="0">
                          <a:latin typeface="Cambria Math" charset="0"/>
                        </a:rPr>
                        <m:t> 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0" i="1" smtClean="0">
                                      <a:latin typeface="Cambria Math" charset="0"/>
                                    </a:rPr>
                                    <m:t>𝑛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b="0" i="1" smtClean="0">
                                          <a:latin typeface="Cambria Math" charset="0"/>
                                        </a:rPr>
                                        <m:t>𝑏</m:t>
                                      </m:r>
                                    </m:e>
                                    <m:sup>
                                      <m:r>
                                        <a:rPr lang="en-US" sz="2000" b="0" i="1" smtClean="0">
                                          <a:latin typeface="Cambria Math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2000" b="0" i="1" smtClean="0">
                              <a:latin typeface="Cambria Math" charset="0"/>
                            </a:rPr>
                            <m:t>𝑑</m:t>
                          </m:r>
                        </m:sup>
                      </m:sSup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4502" y="2905427"/>
                <a:ext cx="1396040" cy="686598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/>
              <p:cNvSpPr txBox="1"/>
              <p:nvPr/>
            </p:nvSpPr>
            <p:spPr>
              <a:xfrm>
                <a:off x="7754502" y="2015229"/>
                <a:ext cx="1396040" cy="6865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charset="0"/>
                        </a:rPr>
                        <m:t>𝑎𝑐</m:t>
                      </m:r>
                      <m:r>
                        <a:rPr lang="en-US" sz="2000" b="0" i="1" smtClean="0">
                          <a:latin typeface="Cambria Math" charset="0"/>
                        </a:rPr>
                        <m:t> 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0" i="1" smtClean="0">
                                      <a:latin typeface="Cambria Math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en-US" sz="2000" b="0" i="1" smtClean="0">
                                      <a:latin typeface="Cambria Math" charset="0"/>
                                    </a:rPr>
                                    <m:t>𝑏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2000" b="0" i="1" smtClean="0">
                              <a:latin typeface="Cambria Math" charset="0"/>
                            </a:rPr>
                            <m:t>𝑑</m:t>
                          </m:r>
                        </m:sup>
                      </m:sSup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5" name="TextBox 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4502" y="2015229"/>
                <a:ext cx="1396040" cy="686598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/>
              <p:cNvSpPr txBox="1"/>
              <p:nvPr/>
            </p:nvSpPr>
            <p:spPr>
              <a:xfrm>
                <a:off x="7797415" y="4494078"/>
                <a:ext cx="1396040" cy="6865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charset="0"/>
                            </a:rPr>
                            <m:t>𝑎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charset="0"/>
                            </a:rPr>
                            <m:t>𝑡</m:t>
                          </m:r>
                        </m:sup>
                      </m:sSup>
                      <m:r>
                        <a:rPr lang="en-US" sz="2000" b="0" i="1" smtClean="0">
                          <a:latin typeface="Cambria Math" charset="0"/>
                        </a:rPr>
                        <m:t>𝑐</m:t>
                      </m:r>
                      <m:r>
                        <a:rPr lang="en-US" sz="2000" b="0" i="1" smtClean="0">
                          <a:latin typeface="Cambria Math" charset="0"/>
                        </a:rPr>
                        <m:t> 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0" i="1" smtClean="0">
                                      <a:latin typeface="Cambria Math" charset="0"/>
                                    </a:rPr>
                                    <m:t>𝑛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b="0" i="1" smtClean="0">
                                          <a:latin typeface="Cambria Math" charset="0"/>
                                        </a:rPr>
                                        <m:t>𝑏</m:t>
                                      </m:r>
                                    </m:e>
                                    <m:sup>
                                      <m:r>
                                        <a:rPr lang="en-US" sz="2000" b="0" i="1" smtClean="0">
                                          <a:latin typeface="Cambria Math" charset="0"/>
                                        </a:rPr>
                                        <m:t>𝑡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2000" b="0" i="1" smtClean="0">
                              <a:latin typeface="Cambria Math" charset="0"/>
                            </a:rPr>
                            <m:t>𝑑</m:t>
                          </m:r>
                        </m:sup>
                      </m:sSup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6" name="TextBox 8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7415" y="4494078"/>
                <a:ext cx="1396040" cy="686598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/>
              <p:cNvSpPr txBox="1"/>
              <p:nvPr/>
            </p:nvSpPr>
            <p:spPr>
              <a:xfrm>
                <a:off x="7763407" y="5795201"/>
                <a:ext cx="1396040" cy="4210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 dirty="0">
                              <a:latin typeface="Cambria Math" charset="0"/>
                            </a:rPr>
                            <m:t>𝑎</m:t>
                          </m:r>
                        </m:e>
                        <m:sup>
                          <m:func>
                            <m:func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000" dirty="0">
                                      <a:latin typeface="Cambria Math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2000" i="1" dirty="0">
                                      <a:latin typeface="Cambria Math" charset="0"/>
                                    </a:rPr>
                                    <m:t>𝑏</m:t>
                                  </m:r>
                                </m:sub>
                              </m:sSub>
                            </m:fName>
                            <m:e>
                              <m:d>
                                <m:dPr>
                                  <m:ctrlP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 dirty="0">
                                      <a:latin typeface="Cambria Math" charset="0"/>
                                    </a:rPr>
                                    <m:t>𝑛</m:t>
                                  </m:r>
                                </m:e>
                              </m:d>
                            </m:e>
                          </m:func>
                        </m:sup>
                      </m:sSup>
                      <m:r>
                        <a:rPr lang="en-US" sz="1600" b="0" i="1" smtClean="0">
                          <a:latin typeface="Cambria Math" charset="0"/>
                        </a:rPr>
                        <m:t>𝑐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7" name="TextBox 8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3407" y="5795201"/>
                <a:ext cx="1396040" cy="42101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Rounded Rectangle 68"/>
              <p:cNvSpPr/>
              <p:nvPr/>
            </p:nvSpPr>
            <p:spPr>
              <a:xfrm>
                <a:off x="761631" y="2614561"/>
                <a:ext cx="7982338" cy="2727423"/>
              </a:xfrm>
              <a:prstGeom prst="round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38100">
                <a:solidFill>
                  <a:schemeClr val="accent4">
                    <a:lumMod val="50000"/>
                  </a:schemeClr>
                </a:solidFill>
              </a:ln>
              <a:effectLst>
                <a:outerShdw blurRad="50800" dist="762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dirty="0">
                    <a:solidFill>
                      <a:schemeClr val="tx1"/>
                    </a:solidFill>
                  </a:rPr>
                  <a:t>Total work is at most:</a:t>
                </a:r>
              </a:p>
              <a:p>
                <a:pPr algn="ctr"/>
                <a:endParaRPr lang="en-US" sz="3200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𝑐</m:t>
                      </m:r>
                      <m:r>
                        <a:rPr lang="en-US" sz="3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⋅</m:t>
                      </m:r>
                      <m:sSup>
                        <m:sSupPr>
                          <m:ctrlP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𝑛</m:t>
                          </m:r>
                        </m:e>
                        <m:sup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𝑑</m:t>
                          </m:r>
                        </m:sup>
                      </m:sSup>
                      <m:r>
                        <a:rPr lang="en-US" sz="3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⋅</m:t>
                      </m:r>
                      <m:nary>
                        <m:naryPr>
                          <m:chr m:val="∑"/>
                          <m:ctrlPr>
                            <a:rPr lang="is-IS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𝑡</m:t>
                          </m:r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=0</m:t>
                          </m:r>
                        </m:sub>
                        <m:sup>
                          <m:func>
                            <m:funcPr>
                              <m:ctrlPr>
                                <a:rPr lang="en-US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3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32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3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sup>
                        <m:e>
                          <m:sSup>
                            <m:sSupPr>
                              <m:ctrlPr>
                                <a:rPr lang="mr-IN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mr-IN" sz="3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mr-IN" sz="3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3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charset="0"/>
                                        </a:rPr>
                                        <m:t>𝑎</m:t>
                                      </m:r>
                                    </m:num>
                                    <m:den>
                                      <m:sSup>
                                        <m:sSupPr>
                                          <m:ctrlPr>
                                            <a:rPr lang="mr-IN" sz="32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32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charset="0"/>
                                            </a:rPr>
                                            <m:t>𝑏</m:t>
                                          </m:r>
                                        </m:e>
                                        <m:sup>
                                          <m:r>
                                            <a:rPr lang="en-US" sz="32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charset="0"/>
                                            </a:rPr>
                                            <m:t>𝑑</m:t>
                                          </m:r>
                                        </m:sup>
                                      </m:sSup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sz="32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𝑡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9" name="Rounded Rectangle 6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631" y="2614561"/>
                <a:ext cx="7982338" cy="2727423"/>
              </a:xfrm>
              <a:prstGeom prst="roundRect">
                <a:avLst/>
              </a:prstGeom>
              <a:blipFill>
                <a:blip r:embed="rId9"/>
                <a:stretch>
                  <a:fillRect/>
                </a:stretch>
              </a:blipFill>
              <a:ln w="38100">
                <a:solidFill>
                  <a:schemeClr val="accent4">
                    <a:lumMod val="50000"/>
                  </a:schemeClr>
                </a:solidFill>
              </a:ln>
              <a:effectLst>
                <a:outerShdw blurRad="50800" dist="76200" dir="8100000" algn="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" name="TextBox 70">
            <a:extLst>
              <a:ext uri="{FF2B5EF4-FFF2-40B4-BE49-F238E27FC236}">
                <a16:creationId xmlns:a16="http://schemas.microsoft.com/office/drawing/2014/main" id="{35890982-51AE-8C4B-AF91-8CF05712A05A}"/>
              </a:ext>
            </a:extLst>
          </p:cNvPr>
          <p:cNvSpPr txBox="1"/>
          <p:nvPr/>
        </p:nvSpPr>
        <p:spPr>
          <a:xfrm>
            <a:off x="7370105" y="6160655"/>
            <a:ext cx="1709330" cy="646331"/>
          </a:xfrm>
          <a:prstGeom prst="rect">
            <a:avLst/>
          </a:prstGeom>
          <a:solidFill>
            <a:schemeClr val="bg1"/>
          </a:solidFill>
          <a:ln>
            <a:solidFill>
              <a:srgbClr val="DE6769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DE6769"/>
                </a:solidFill>
              </a:rPr>
              <a:t>(Let’s pretend that the base case </a:t>
            </a:r>
            <a:r>
              <a:rPr lang="en-US" sz="1200" dirty="0" err="1">
                <a:solidFill>
                  <a:srgbClr val="DE6769"/>
                </a:solidFill>
              </a:rPr>
              <a:t>isT</a:t>
            </a:r>
            <a:r>
              <a:rPr lang="en-US" sz="1200" dirty="0">
                <a:solidFill>
                  <a:srgbClr val="DE6769"/>
                </a:solidFill>
              </a:rPr>
              <a:t>(1) = c for convenience).</a:t>
            </a:r>
          </a:p>
        </p:txBody>
      </p:sp>
    </p:spTree>
    <p:extLst>
      <p:ext uri="{BB962C8B-B14F-4D97-AF65-F5344CB8AC3E}">
        <p14:creationId xmlns:p14="http://schemas.microsoft.com/office/powerpoint/2010/main" val="11590656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 let’s check all the cases </a:t>
            </a:r>
            <a:endParaRPr lang="en-US" sz="3200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0A1346E-3FE1-FF42-A13A-DC2F292049FF}"/>
                  </a:ext>
                </a:extLst>
              </p:cNvPr>
              <p:cNvSpPr txBox="1"/>
              <p:nvPr/>
            </p:nvSpPr>
            <p:spPr>
              <a:xfrm>
                <a:off x="969639" y="1690689"/>
                <a:ext cx="6458627" cy="221977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sty m:val="p"/>
                                </m:rPr>
                                <a:rPr lang="en-US" sz="3200" b="0" i="0" smtClean="0">
                                  <a:latin typeface="Cambria Math" panose="02040503050406030204" pitchFamily="18" charset="0"/>
                                </a:rPr>
                                <m:t>O</m:t>
                              </m:r>
                              <m:d>
                                <m:dPr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sup>
                                  </m:sSup>
                                  <m:func>
                                    <m:funcPr>
                                      <m:ctrlP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3200" b="0" i="0" smtClean="0"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sz="3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3200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</m:d>
                                    </m:e>
                                  </m:func>
                                </m:e>
                              </m:d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         </m:t>
                              </m:r>
                              <m:r>
                                <m:rPr>
                                  <m:sty m:val="p"/>
                                </m:rPr>
                                <a:rPr lang="en-US" sz="3200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p>
                              </m:sSup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sz="3200" b="0" i="0" smtClean="0">
                                  <a:latin typeface="Cambria Math" panose="02040503050406030204" pitchFamily="18" charset="0"/>
                                </a:rPr>
                                <m:t>O</m:t>
                              </m:r>
                              <m:d>
                                <m:dPr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                      </m:t>
                              </m:r>
                              <m:r>
                                <m:rPr>
                                  <m:sty m:val="p"/>
                                </m:rPr>
                                <a:rPr lang="en-US" sz="3200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sSup>
                                <m:sSupPr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p>
                              </m:sSup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sz="3200" b="0" i="0" smtClean="0">
                                  <a:latin typeface="Cambria Math" panose="02040503050406030204" pitchFamily="18" charset="0"/>
                                </a:rPr>
                                <m:t>O</m:t>
                              </m:r>
                              <m:d>
                                <m:dPr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func>
                                        <m:funcPr>
                                          <m:ctrlPr>
                                            <a:rPr lang="en-US" sz="3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sSub>
                                            <m:sSubPr>
                                              <m:ctrlPr>
                                                <a:rPr lang="en-US" sz="32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3200" b="0" i="0" smtClean="0">
                                                  <a:latin typeface="Cambria Math" panose="02040503050406030204" pitchFamily="18" charset="0"/>
                                                </a:rPr>
                                                <m:t>log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32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𝑏</m:t>
                                              </m:r>
                                            </m:sub>
                                          </m:sSub>
                                        </m:fName>
                                        <m:e>
                                          <m:d>
                                            <m:dPr>
                                              <m:ctrlPr>
                                                <a:rPr lang="en-US" sz="32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32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</m:d>
                                        </m:e>
                                      </m:func>
                                    </m:sup>
                                  </m:sSup>
                                </m:e>
                              </m:d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3200" b="0" i="0" smtClean="0">
                                  <a:latin typeface="Cambria Math" panose="02040503050406030204" pitchFamily="18" charset="0"/>
                                </a:rPr>
                                <m:t>           </m:t>
                              </m:r>
                              <m:r>
                                <m:rPr>
                                  <m:sty m:val="p"/>
                                </m:rPr>
                                <a:rPr lang="en-US" sz="3200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sSup>
                                <m:sSupPr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p>
                              </m:sSup>
                            </m:e>
                          </m:eqArr>
                        </m:e>
                      </m:d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0A1346E-3FE1-FF42-A13A-DC2F292049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639" y="1690689"/>
                <a:ext cx="6458627" cy="2219775"/>
              </a:xfrm>
              <a:prstGeom prst="rect">
                <a:avLst/>
              </a:prstGeom>
              <a:blipFill>
                <a:blip r:embed="rId3"/>
                <a:stretch>
                  <a:fillRect l="-7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08919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1596300-7A9A-404B-BA47-FEBB64551C4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Case 1: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1596300-7A9A-404B-BA47-FEBB64551C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32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49F0DF-72BA-D041-8F14-A45675EA02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smtClean="0">
                        <a:latin typeface="Cambria Math" charset="0"/>
                      </a:rPr>
                      <m:t>𝑐</m:t>
                    </m:r>
                    <m:r>
                      <a:rPr lang="en-US" i="1" smtClean="0">
                        <a:latin typeface="Cambria Math" charset="0"/>
                      </a:rPr>
                      <m:t>⋅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charset="0"/>
                          </a:rPr>
                          <m:t>𝑛</m:t>
                        </m:r>
                      </m:e>
                      <m:sup>
                        <m:r>
                          <a:rPr lang="en-US" i="1">
                            <a:latin typeface="Cambria Math" charset="0"/>
                          </a:rPr>
                          <m:t>𝑑</m:t>
                        </m:r>
                      </m:sup>
                    </m:sSup>
                    <m:r>
                      <a:rPr lang="en-US" i="1">
                        <a:latin typeface="Cambria Math" charset="0"/>
                      </a:rPr>
                      <m:t>⋅</m:t>
                    </m:r>
                    <m:nary>
                      <m:naryPr>
                        <m:chr m:val="∑"/>
                        <m:ctrlPr>
                          <a:rPr lang="is-I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charset="0"/>
                          </a:rPr>
                          <m:t>𝑡</m:t>
                        </m:r>
                        <m:r>
                          <a:rPr lang="en-US" i="1">
                            <a:latin typeface="Cambria Math" charset="0"/>
                          </a:rPr>
                          <m:t>=0</m:t>
                        </m:r>
                      </m:sub>
                      <m:sup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b>
                            </m:sSub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sup>
                      <m:e>
                        <m:sSup>
                          <m:sSupPr>
                            <m:ctrlPr>
                              <a:rPr lang="mr-I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mr-IN" i="1" smtClean="0">
                                    <a:solidFill>
                                      <a:srgbClr val="DE6769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mr-IN" i="1">
                                        <a:solidFill>
                                          <a:srgbClr val="DE6769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solidFill>
                                          <a:srgbClr val="DE6769"/>
                                        </a:solidFill>
                                        <a:latin typeface="Cambria Math" charset="0"/>
                                      </a:rPr>
                                      <m:t>𝑎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mr-IN" i="1">
                                            <a:solidFill>
                                              <a:srgbClr val="DE6769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DE6769"/>
                                            </a:solidFill>
                                            <a:latin typeface="Cambria Math" charset="0"/>
                                          </a:rPr>
                                          <m:t>𝑏</m:t>
                                        </m:r>
                                      </m:e>
                                      <m:sup>
                                        <m:r>
                                          <a:rPr lang="en-US" i="1">
                                            <a:solidFill>
                                              <a:srgbClr val="DE6769"/>
                                            </a:solidFill>
                                            <a:latin typeface="Cambria Math" charset="0"/>
                                          </a:rPr>
                                          <m:t>𝑑</m:t>
                                        </m:r>
                                      </m:sup>
                                    </m:sSup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charset="0"/>
                              </a:rPr>
                              <m:t>𝑡</m:t>
                            </m:r>
                          </m:sup>
                        </m:sSup>
                      </m:e>
                    </m:nary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         =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</a:rPr>
                      <m:t>𝑐</m:t>
                    </m:r>
                    <m:r>
                      <a:rPr lang="en-US" i="1">
                        <a:latin typeface="Cambria Math" charset="0"/>
                      </a:rPr>
                      <m:t>⋅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charset="0"/>
                          </a:rPr>
                          <m:t>𝑛</m:t>
                        </m:r>
                      </m:e>
                      <m:sup>
                        <m:r>
                          <a:rPr lang="en-US" i="1">
                            <a:latin typeface="Cambria Math" charset="0"/>
                          </a:rPr>
                          <m:t>𝑑</m:t>
                        </m:r>
                      </m:sup>
                    </m:sSup>
                    <m:r>
                      <a:rPr lang="en-US" i="1">
                        <a:latin typeface="Cambria Math" charset="0"/>
                      </a:rPr>
                      <m:t>⋅</m:t>
                    </m:r>
                    <m:nary>
                      <m:naryPr>
                        <m:chr m:val="∑"/>
                        <m:ctrlPr>
                          <a:rPr lang="is-I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charset="0"/>
                          </a:rPr>
                          <m:t>𝑡</m:t>
                        </m:r>
                        <m:r>
                          <a:rPr lang="en-US" i="1">
                            <a:latin typeface="Cambria Math" charset="0"/>
                          </a:rPr>
                          <m:t>=0</m:t>
                        </m:r>
                      </m:sub>
                      <m:sup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b>
                            </m:sSub>
                          </m:fNam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sup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nary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         =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</a:rPr>
                      <m:t>𝑐</m:t>
                    </m:r>
                    <m:r>
                      <a:rPr lang="en-US" i="1">
                        <a:latin typeface="Cambria Math" charset="0"/>
                      </a:rPr>
                      <m:t>⋅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charset="0"/>
                          </a:rPr>
                          <m:t>𝑛</m:t>
                        </m:r>
                      </m:e>
                      <m:sup>
                        <m:r>
                          <a:rPr lang="en-US" i="1">
                            <a:latin typeface="Cambria Math" charset="0"/>
                          </a:rPr>
                          <m:t>𝑑</m:t>
                        </m:r>
                      </m:sup>
                    </m:sSup>
                    <m:r>
                      <a:rPr lang="en-US" i="1">
                        <a:latin typeface="Cambria Math" charset="0"/>
                      </a:rPr>
                      <m:t>⋅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en-US" dirty="0"/>
                  <a:t>            =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</a:rPr>
                      <m:t>𝑐</m:t>
                    </m:r>
                    <m:r>
                      <a:rPr lang="en-US" i="1">
                        <a:latin typeface="Cambria Math" charset="0"/>
                      </a:rPr>
                      <m:t>⋅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charset="0"/>
                          </a:rPr>
                          <m:t>𝑛</m:t>
                        </m:r>
                      </m:e>
                      <m:sup>
                        <m:r>
                          <a:rPr lang="en-US" i="1">
                            <a:latin typeface="Cambria Math" charset="0"/>
                          </a:rPr>
                          <m:t>𝑑</m:t>
                        </m:r>
                      </m:sup>
                    </m:sSup>
                    <m:r>
                      <a:rPr lang="en-US" i="1">
                        <a:latin typeface="Cambria Math" charset="0"/>
                      </a:rPr>
                      <m:t>⋅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⁡(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⁡(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</m:oMath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en-US" dirty="0"/>
                  <a:t>            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e>
                        </m:func>
                      </m:e>
                    </m:d>
                  </m:oMath>
                </a14:m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49F0DF-72BA-D041-8F14-A45675EA02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447" t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2217887-F269-D642-A4D9-CCF76F1DD92A}"/>
                  </a:ext>
                </a:extLst>
              </p:cNvPr>
              <p:cNvSpPr txBox="1"/>
              <p:nvPr/>
            </p:nvSpPr>
            <p:spPr>
              <a:xfrm>
                <a:off x="5269791" y="135924"/>
                <a:ext cx="3656770" cy="12485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O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sup>
                                  </m:sSup>
                                  <m:func>
                                    <m:func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</m:d>
                                    </m:e>
                                  </m:func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       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p>
                              </m:sSup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O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                    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p>
                              </m:sSup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O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func>
                                        <m:func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b="0" i="0" smtClean="0">
                                                  <a:latin typeface="Cambria Math" panose="02040503050406030204" pitchFamily="18" charset="0"/>
                                                </a:rPr>
                                                <m:t>log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𝑏</m:t>
                                              </m:r>
                                            </m:sub>
                                          </m:sSub>
                                        </m:fName>
                                        <m:e>
                                          <m:d>
                                            <m:d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</m:d>
                                        </m:e>
                                      </m:func>
                                    </m:sup>
                                  </m:sSup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         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p>
                              </m:sSup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2217887-F269-D642-A4D9-CCF76F1DD9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9791" y="135924"/>
                <a:ext cx="3656770" cy="1248547"/>
              </a:xfrm>
              <a:prstGeom prst="rect">
                <a:avLst/>
              </a:prstGeom>
              <a:blipFill>
                <a:blip r:embed="rId4"/>
                <a:stretch>
                  <a:fillRect l="-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EFE2EA56-C2DA-0C47-93A3-25B862B48DAB}"/>
              </a:ext>
            </a:extLst>
          </p:cNvPr>
          <p:cNvSpPr txBox="1"/>
          <p:nvPr/>
        </p:nvSpPr>
        <p:spPr>
          <a:xfrm>
            <a:off x="6591964" y="2211860"/>
            <a:ext cx="2446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DE6769"/>
                </a:solidFill>
              </a:rPr>
              <a:t>Equal to 1!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CECCB14-849E-7E47-B5E8-5A81C2A8F237}"/>
              </a:ext>
            </a:extLst>
          </p:cNvPr>
          <p:cNvCxnSpPr>
            <a:cxnSpLocks/>
            <a:stCxn id="5" idx="1"/>
          </p:cNvCxnSpPr>
          <p:nvPr/>
        </p:nvCxnSpPr>
        <p:spPr>
          <a:xfrm flipH="1" flipV="1">
            <a:off x="5140411" y="2298357"/>
            <a:ext cx="1451553" cy="98169"/>
          </a:xfrm>
          <a:prstGeom prst="straightConnector1">
            <a:avLst/>
          </a:prstGeom>
          <a:ln>
            <a:solidFill>
              <a:srgbClr val="DE676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646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1596300-7A9A-404B-BA47-FEBB64551C4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Case 2: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1596300-7A9A-404B-BA47-FEBB64551C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32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49F0DF-72BA-D041-8F14-A45675EA02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i="1" smtClean="0">
                        <a:latin typeface="Cambria Math" charset="0"/>
                      </a:rPr>
                      <m:t>𝑐</m:t>
                    </m:r>
                    <m:r>
                      <a:rPr lang="en-US" i="1" smtClean="0">
                        <a:latin typeface="Cambria Math" charset="0"/>
                      </a:rPr>
                      <m:t>⋅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charset="0"/>
                          </a:rPr>
                          <m:t>𝑛</m:t>
                        </m:r>
                      </m:e>
                      <m:sup>
                        <m:r>
                          <a:rPr lang="en-US" i="1">
                            <a:latin typeface="Cambria Math" charset="0"/>
                          </a:rPr>
                          <m:t>𝑑</m:t>
                        </m:r>
                      </m:sup>
                    </m:sSup>
                    <m:r>
                      <a:rPr lang="en-US" i="1">
                        <a:latin typeface="Cambria Math" charset="0"/>
                      </a:rPr>
                      <m:t>⋅</m:t>
                    </m:r>
                    <m:nary>
                      <m:naryPr>
                        <m:chr m:val="∑"/>
                        <m:ctrlPr>
                          <a:rPr lang="is-I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charset="0"/>
                          </a:rPr>
                          <m:t>𝑡</m:t>
                        </m:r>
                        <m:r>
                          <a:rPr lang="en-US" i="1">
                            <a:latin typeface="Cambria Math" charset="0"/>
                          </a:rPr>
                          <m:t>=0</m:t>
                        </m:r>
                      </m:sub>
                      <m:sup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b>
                            </m:sSub>
                          </m:fNam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sup>
                      <m:e>
                        <m:sSup>
                          <m:sSupPr>
                            <m:ctrlPr>
                              <a:rPr lang="mr-I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mr-IN" i="1" smtClean="0">
                                    <a:solidFill>
                                      <a:srgbClr val="DE6769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mr-IN" i="1">
                                        <a:solidFill>
                                          <a:srgbClr val="DE6769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solidFill>
                                          <a:srgbClr val="DE6769"/>
                                        </a:solidFill>
                                        <a:latin typeface="Cambria Math" charset="0"/>
                                      </a:rPr>
                                      <m:t>𝑎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mr-IN" i="1">
                                            <a:solidFill>
                                              <a:srgbClr val="DE6769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DE6769"/>
                                            </a:solidFill>
                                            <a:latin typeface="Cambria Math" charset="0"/>
                                          </a:rPr>
                                          <m:t>𝑏</m:t>
                                        </m:r>
                                      </m:e>
                                      <m:sup>
                                        <m:r>
                                          <a:rPr lang="en-US" i="1">
                                            <a:solidFill>
                                              <a:srgbClr val="DE6769"/>
                                            </a:solidFill>
                                            <a:latin typeface="Cambria Math" charset="0"/>
                                          </a:rPr>
                                          <m:t>𝑑</m:t>
                                        </m:r>
                                      </m:sup>
                                    </m:sSup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charset="0"/>
                              </a:rPr>
                              <m:t>𝑡</m:t>
                            </m:r>
                          </m:sup>
                        </m:sSup>
                      </m:e>
                    </m:nary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         </a:t>
                </a:r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49F0DF-72BA-D041-8F14-A45675EA02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447" t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693595A6-A47F-0540-907D-068091D960F7}"/>
              </a:ext>
            </a:extLst>
          </p:cNvPr>
          <p:cNvSpPr txBox="1"/>
          <p:nvPr/>
        </p:nvSpPr>
        <p:spPr>
          <a:xfrm>
            <a:off x="6591964" y="2211860"/>
            <a:ext cx="2446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DE6769"/>
                </a:solidFill>
              </a:rPr>
              <a:t>Less than 1!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AE8B83D-FDC5-9043-B1E6-B6C54FC24FBF}"/>
              </a:ext>
            </a:extLst>
          </p:cNvPr>
          <p:cNvCxnSpPr>
            <a:stCxn id="5" idx="1"/>
          </p:cNvCxnSpPr>
          <p:nvPr/>
        </p:nvCxnSpPr>
        <p:spPr>
          <a:xfrm flipH="1" flipV="1">
            <a:off x="5269791" y="2347783"/>
            <a:ext cx="1322173" cy="48743"/>
          </a:xfrm>
          <a:prstGeom prst="straightConnector1">
            <a:avLst/>
          </a:prstGeom>
          <a:ln>
            <a:solidFill>
              <a:srgbClr val="DE676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8740CDE-9C8F-C744-9017-BC352326BC05}"/>
                  </a:ext>
                </a:extLst>
              </p:cNvPr>
              <p:cNvSpPr txBox="1"/>
              <p:nvPr/>
            </p:nvSpPr>
            <p:spPr>
              <a:xfrm>
                <a:off x="5269791" y="135924"/>
                <a:ext cx="3656770" cy="12485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O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sup>
                                  </m:sSup>
                                  <m:func>
                                    <m:func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</m:d>
                                    </m:e>
                                  </m:func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       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p>
                              </m:sSup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O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                    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p>
                              </m:sSup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O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func>
                                        <m:func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b="0" i="0" smtClean="0">
                                                  <a:latin typeface="Cambria Math" panose="02040503050406030204" pitchFamily="18" charset="0"/>
                                                </a:rPr>
                                                <m:t>log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𝑏</m:t>
                                              </m:r>
                                            </m:sub>
                                          </m:sSub>
                                        </m:fName>
                                        <m:e>
                                          <m:d>
                                            <m:d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</m:d>
                                        </m:e>
                                      </m:func>
                                    </m:sup>
                                  </m:sSup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         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p>
                              </m:sSup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8740CDE-9C8F-C744-9017-BC352326BC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9791" y="135924"/>
                <a:ext cx="3656770" cy="1248547"/>
              </a:xfrm>
              <a:prstGeom prst="rect">
                <a:avLst/>
              </a:prstGeom>
              <a:blipFill>
                <a:blip r:embed="rId4"/>
                <a:stretch>
                  <a:fillRect l="-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0708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10980-2AD5-514C-ACA6-1ABD01C87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Aside: Geometric sums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31E151-AA96-FD46-A783-38DE8A73D2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7373" y="1690689"/>
                <a:ext cx="8725415" cy="5032375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What is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p>
                          <m:sSupPr>
                            <m:ctrlPr>
                              <a:rPr lang="en-US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dirty="0"/>
                  <a:t>?</a:t>
                </a:r>
              </a:p>
              <a:p>
                <a:r>
                  <a:rPr lang="en-US" dirty="0"/>
                  <a:t>You may remember that 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p>
                          <m:sSupPr>
                            <m:ctrlPr>
                              <a:rPr lang="en-US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e>
                    </m:nary>
                    <m:r>
                      <a:rPr lang="en-US" i="1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p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</m:oMath>
                </a14:m>
                <a:r>
                  <a:rPr lang="en-US" dirty="0"/>
                  <a:t> for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r>
                  <a:rPr lang="en-US" dirty="0"/>
                  <a:t>Morally: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+⋯+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31E151-AA96-FD46-A783-38DE8A73D2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7373" y="1690689"/>
                <a:ext cx="8725415" cy="5032375"/>
              </a:xfrm>
              <a:blipFill>
                <a:blip r:embed="rId2"/>
                <a:stretch>
                  <a:fillRect l="-1310" t="-138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07E69DE-D077-5345-A609-380183F93C97}"/>
                  </a:ext>
                </a:extLst>
              </p:cNvPr>
              <p:cNvSpPr txBox="1"/>
              <p:nvPr/>
            </p:nvSpPr>
            <p:spPr>
              <a:xfrm>
                <a:off x="5684108" y="4909279"/>
                <a:ext cx="317568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DE6769"/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DE6769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rgbClr val="DE6769"/>
                        </a:solidFill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en-US" dirty="0">
                    <a:solidFill>
                      <a:srgbClr val="DE6769"/>
                    </a:solidFill>
                  </a:rPr>
                  <a:t>, this term dominates.</a:t>
                </a:r>
              </a:p>
              <a:p>
                <a:pPr algn="ctr"/>
                <a:endParaRPr lang="en-US" dirty="0">
                  <a:solidFill>
                    <a:srgbClr val="DE6769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07E69DE-D077-5345-A609-380183F93C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4108" y="4909279"/>
                <a:ext cx="3175687" cy="646331"/>
              </a:xfrm>
              <a:prstGeom prst="rect">
                <a:avLst/>
              </a:prstGeom>
              <a:blipFill>
                <a:blip r:embed="rId3"/>
                <a:stretch>
                  <a:fillRect t="-39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6E142AD-D9F1-0D41-BD57-6CEDA17A0011}"/>
                  </a:ext>
                </a:extLst>
              </p:cNvPr>
              <p:cNvSpPr txBox="1"/>
              <p:nvPr/>
            </p:nvSpPr>
            <p:spPr>
              <a:xfrm>
                <a:off x="-24715" y="4873798"/>
                <a:ext cx="339810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DE6769"/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rgbClr val="DE6769"/>
                        </a:solidFill>
                        <a:latin typeface="Cambria Math" panose="02040503050406030204" pitchFamily="18" charset="0"/>
                      </a:rPr>
                      <m:t>0&lt;</m:t>
                    </m:r>
                    <m:r>
                      <a:rPr lang="en-US" i="1">
                        <a:solidFill>
                          <a:srgbClr val="DE6769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rgbClr val="DE6769"/>
                        </a:solidFill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en-US" dirty="0">
                    <a:solidFill>
                      <a:srgbClr val="DE6769"/>
                    </a:solidFill>
                  </a:rPr>
                  <a:t>, this term dominates.</a:t>
                </a:r>
              </a:p>
              <a:p>
                <a:pPr algn="ctr"/>
                <a:endParaRPr lang="en-US" dirty="0">
                  <a:solidFill>
                    <a:srgbClr val="DE6769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6E142AD-D9F1-0D41-BD57-6CEDA17A00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4715" y="4873798"/>
                <a:ext cx="3398108" cy="646331"/>
              </a:xfrm>
              <a:prstGeom prst="rect">
                <a:avLst/>
              </a:prstGeom>
              <a:blipFill>
                <a:blip r:embed="rId4"/>
                <a:stretch>
                  <a:fillRect l="-1119" t="-5882" r="-11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9A918C2-D1FC-6C43-8EE3-026E293EAE23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1674339" y="4262266"/>
            <a:ext cx="747583" cy="611532"/>
          </a:xfrm>
          <a:prstGeom prst="straightConnector1">
            <a:avLst/>
          </a:prstGeom>
          <a:ln>
            <a:solidFill>
              <a:srgbClr val="DE676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EE56594-A6A1-6649-A8D5-A70A97159239}"/>
              </a:ext>
            </a:extLst>
          </p:cNvPr>
          <p:cNvCxnSpPr>
            <a:cxnSpLocks/>
            <a:stCxn id="7" idx="0"/>
          </p:cNvCxnSpPr>
          <p:nvPr/>
        </p:nvCxnSpPr>
        <p:spPr>
          <a:xfrm flipH="1" flipV="1">
            <a:off x="6499656" y="4297747"/>
            <a:ext cx="772296" cy="611532"/>
          </a:xfrm>
          <a:prstGeom prst="straightConnector1">
            <a:avLst/>
          </a:prstGeom>
          <a:ln>
            <a:solidFill>
              <a:srgbClr val="DE676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11141049-4947-7449-9990-E25ACAAF9453}"/>
                  </a:ext>
                </a:extLst>
              </p:cNvPr>
              <p:cNvSpPr/>
              <p:nvPr/>
            </p:nvSpPr>
            <p:spPr>
              <a:xfrm>
                <a:off x="-200028" y="5335463"/>
                <a:ext cx="4572000" cy="925253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1≤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solidFill>
                                    <a:schemeClr val="bg2">
                                      <a:lumMod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chemeClr val="bg2">
                                      <a:lumMod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solidFill>
                                    <a:schemeClr val="bg2">
                                      <a:lumMod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chemeClr val="bg2">
                                      <a:lumMod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i="1">
                                  <a:solidFill>
                                    <a:schemeClr val="bg2">
                                      <a:lumMod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  <m:r>
                            <a:rPr lang="en-US" b="0" i="1" smtClean="0"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r>
                        <a:rPr lang="en-US" i="1">
                          <a:solidFill>
                            <a:schemeClr val="bg2">
                              <a:lumMod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i="1"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chemeClr val="bg2">
                      <a:lumMod val="25000"/>
                    </a:schemeClr>
                  </a:solidFill>
                </a:endParaRPr>
              </a:p>
              <a:p>
                <a:pPr algn="ctr"/>
                <a:r>
                  <a:rPr lang="en-US" dirty="0">
                    <a:solidFill>
                      <a:schemeClr val="bg2">
                        <a:lumMod val="25000"/>
                      </a:schemeClr>
                    </a:solidFill>
                  </a:rPr>
                  <a:t>(Aka,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solidFill>
                          <a:schemeClr val="bg2">
                            <a:lumMod val="25000"/>
                          </a:schemeClr>
                        </a:solidFill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i="1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dirty="0">
                    <a:solidFill>
                      <a:schemeClr val="bg2">
                        <a:lumMod val="25000"/>
                      </a:schemeClr>
                    </a:solidFill>
                  </a:rPr>
                  <a:t> if x is constant and N is growing).</a:t>
                </a: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11141049-4947-7449-9990-E25ACAAF94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00028" y="5335463"/>
                <a:ext cx="4572000" cy="925253"/>
              </a:xfrm>
              <a:prstGeom prst="rect">
                <a:avLst/>
              </a:prstGeom>
              <a:blipFill>
                <a:blip r:embed="rId5"/>
                <a:stretch>
                  <a:fillRect b="-95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7ECDC9EE-9CBA-BF4D-ADFE-9FF3EAE43187}"/>
                  </a:ext>
                </a:extLst>
              </p:cNvPr>
              <p:cNvSpPr/>
              <p:nvPr/>
            </p:nvSpPr>
            <p:spPr>
              <a:xfrm>
                <a:off x="4670080" y="5463276"/>
                <a:ext cx="4572000" cy="925253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i="1"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p>
                      <m:r>
                        <a:rPr lang="en-US" i="1">
                          <a:solidFill>
                            <a:schemeClr val="bg2">
                              <a:lumMod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solidFill>
                                    <a:schemeClr val="bg2">
                                      <a:lumMod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chemeClr val="bg2">
                                      <a:lumMod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solidFill>
                                    <a:schemeClr val="bg2">
                                      <a:lumMod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chemeClr val="bg2">
                                      <a:lumMod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i="1">
                                  <a:solidFill>
                                    <a:schemeClr val="bg2">
                                      <a:lumMod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  <m:r>
                            <a:rPr lang="en-US" i="1"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i="1"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r>
                        <a:rPr lang="en-US" i="1">
                          <a:solidFill>
                            <a:schemeClr val="bg2">
                              <a:lumMod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US" i="1"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i="1"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p>
                      <m:r>
                        <a:rPr lang="en-US" i="1">
                          <a:solidFill>
                            <a:schemeClr val="bg2">
                              <a:lumMod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solidFill>
                                    <a:schemeClr val="bg2">
                                      <a:lumMod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solidFill>
                                    <a:schemeClr val="bg2">
                                      <a:lumMod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num>
                            <m:den>
                              <m:r>
                                <a:rPr lang="en-US" i="1">
                                  <a:solidFill>
                                    <a:schemeClr val="bg2">
                                      <a:lumMod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solidFill>
                                    <a:schemeClr val="bg2">
                                      <a:lumMod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dirty="0">
                  <a:solidFill>
                    <a:schemeClr val="bg2">
                      <a:lumMod val="25000"/>
                    </a:schemeClr>
                  </a:solidFill>
                </a:endParaRPr>
              </a:p>
              <a:p>
                <a:pPr algn="ctr"/>
                <a:r>
                  <a:rPr lang="en-US" dirty="0">
                    <a:solidFill>
                      <a:schemeClr val="bg2">
                        <a:lumMod val="25000"/>
                      </a:schemeClr>
                    </a:solidFill>
                  </a:rPr>
                  <a:t>(Aka,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solidFill>
                          <a:schemeClr val="bg2">
                            <a:lumMod val="25000"/>
                          </a:schemeClr>
                        </a:solidFill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i="1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i="1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>
                    <a:solidFill>
                      <a:schemeClr val="bg2">
                        <a:lumMod val="25000"/>
                      </a:schemeClr>
                    </a:solidFill>
                  </a:rPr>
                  <a:t> if x is constant and N is growing).</a:t>
                </a: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7ECDC9EE-9CBA-BF4D-ADFE-9FF3EAE431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0080" y="5463276"/>
                <a:ext cx="4572000" cy="925253"/>
              </a:xfrm>
              <a:prstGeom prst="rect">
                <a:avLst/>
              </a:prstGeom>
              <a:blipFill>
                <a:blip r:embed="rId6"/>
                <a:stretch>
                  <a:fillRect b="-94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CF9E1DA-4DFD-1049-B61A-11469C2D68B0}"/>
                  </a:ext>
                </a:extLst>
              </p:cNvPr>
              <p:cNvSpPr txBox="1"/>
              <p:nvPr/>
            </p:nvSpPr>
            <p:spPr>
              <a:xfrm>
                <a:off x="3569943" y="4909279"/>
                <a:ext cx="1706391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DE6769"/>
                    </a:solidFill>
                  </a:rPr>
                  <a:t>(If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DE6769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rgbClr val="DE6769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>
                    <a:solidFill>
                      <a:srgbClr val="DE6769"/>
                    </a:solidFill>
                  </a:rPr>
                  <a:t>, all terms the same)</a:t>
                </a:r>
              </a:p>
              <a:p>
                <a:pPr algn="ctr"/>
                <a:endParaRPr lang="en-US" dirty="0">
                  <a:solidFill>
                    <a:srgbClr val="DE6769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CF9E1DA-4DFD-1049-B61A-11469C2D68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9943" y="4909279"/>
                <a:ext cx="1706391" cy="923330"/>
              </a:xfrm>
              <a:prstGeom prst="rect">
                <a:avLst/>
              </a:prstGeom>
              <a:blipFill>
                <a:blip r:embed="rId7"/>
                <a:stretch>
                  <a:fillRect l="-3704" t="-2703" r="-29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3606783"/>
      </p:ext>
    </p:extLst>
  </p:cSld>
  <p:clrMapOvr>
    <a:masterClrMapping/>
  </p:clrMapOvr>
  <p:transition spd="slow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/>
      <p:bldP spid="8" grpId="0"/>
      <p:bldP spid="15" grpId="0"/>
      <p:bldP spid="16" grpId="0"/>
      <p:bldP spid="20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1596300-7A9A-404B-BA47-FEBB64551C4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Case 2: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1596300-7A9A-404B-BA47-FEBB64551C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32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49F0DF-72BA-D041-8F14-A45675EA02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i="1" smtClean="0">
                        <a:latin typeface="Cambria Math" charset="0"/>
                      </a:rPr>
                      <m:t>𝑐</m:t>
                    </m:r>
                    <m:r>
                      <a:rPr lang="en-US" i="1" smtClean="0">
                        <a:latin typeface="Cambria Math" charset="0"/>
                      </a:rPr>
                      <m:t>⋅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charset="0"/>
                          </a:rPr>
                          <m:t>𝑛</m:t>
                        </m:r>
                      </m:e>
                      <m:sup>
                        <m:r>
                          <a:rPr lang="en-US" i="1">
                            <a:latin typeface="Cambria Math" charset="0"/>
                          </a:rPr>
                          <m:t>𝑑</m:t>
                        </m:r>
                      </m:sup>
                    </m:sSup>
                    <m:r>
                      <a:rPr lang="en-US" i="1">
                        <a:latin typeface="Cambria Math" charset="0"/>
                      </a:rPr>
                      <m:t>⋅</m:t>
                    </m:r>
                    <m:nary>
                      <m:naryPr>
                        <m:chr m:val="∑"/>
                        <m:ctrlPr>
                          <a:rPr lang="is-I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charset="0"/>
                          </a:rPr>
                          <m:t>𝑡</m:t>
                        </m:r>
                        <m:r>
                          <a:rPr lang="en-US" i="1">
                            <a:latin typeface="Cambria Math" charset="0"/>
                          </a:rPr>
                          <m:t>=0</m:t>
                        </m:r>
                      </m:sub>
                      <m:sup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b>
                            </m:sSub>
                          </m:fNam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sup>
                      <m:e>
                        <m:sSup>
                          <m:sSupPr>
                            <m:ctrlPr>
                              <a:rPr lang="mr-I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mr-IN" i="1" smtClean="0">
                                    <a:solidFill>
                                      <a:srgbClr val="DE6769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mr-IN" i="1">
                                        <a:solidFill>
                                          <a:srgbClr val="DE6769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solidFill>
                                          <a:srgbClr val="DE6769"/>
                                        </a:solidFill>
                                        <a:latin typeface="Cambria Math" charset="0"/>
                                      </a:rPr>
                                      <m:t>𝑎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mr-IN" i="1">
                                            <a:solidFill>
                                              <a:srgbClr val="DE6769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DE6769"/>
                                            </a:solidFill>
                                            <a:latin typeface="Cambria Math" charset="0"/>
                                          </a:rPr>
                                          <m:t>𝑏</m:t>
                                        </m:r>
                                      </m:e>
                                      <m:sup>
                                        <m:r>
                                          <a:rPr lang="en-US" i="1">
                                            <a:solidFill>
                                              <a:srgbClr val="DE6769"/>
                                            </a:solidFill>
                                            <a:latin typeface="Cambria Math" charset="0"/>
                                          </a:rPr>
                                          <m:t>𝑑</m:t>
                                        </m:r>
                                      </m:sup>
                                    </m:sSup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charset="0"/>
                              </a:rPr>
                              <m:t>𝑡</m:t>
                            </m:r>
                          </m:sup>
                        </m:sSup>
                      </m:e>
                    </m:nary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           =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</a:rPr>
                      <m:t>𝑐</m:t>
                    </m:r>
                    <m:r>
                      <a:rPr lang="en-US" i="1">
                        <a:latin typeface="Cambria Math" charset="0"/>
                      </a:rPr>
                      <m:t>⋅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charset="0"/>
                          </a:rPr>
                          <m:t>𝑛</m:t>
                        </m:r>
                      </m:e>
                      <m:sup>
                        <m:r>
                          <a:rPr lang="en-US" i="1">
                            <a:latin typeface="Cambria Math" charset="0"/>
                          </a:rPr>
                          <m:t>𝑑</m:t>
                        </m:r>
                      </m:sup>
                    </m:sSup>
                    <m:r>
                      <a:rPr lang="en-US" i="1">
                        <a:latin typeface="Cambria Math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some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constant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en-US" dirty="0"/>
                  <a:t>              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</m:e>
                    </m:d>
                  </m:oMath>
                </a14:m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49F0DF-72BA-D041-8F14-A45675EA02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447" t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693595A6-A47F-0540-907D-068091D960F7}"/>
              </a:ext>
            </a:extLst>
          </p:cNvPr>
          <p:cNvSpPr txBox="1"/>
          <p:nvPr/>
        </p:nvSpPr>
        <p:spPr>
          <a:xfrm>
            <a:off x="6808573" y="2137720"/>
            <a:ext cx="2446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DE6769"/>
                </a:solidFill>
              </a:rPr>
              <a:t>Less than 1!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AE8B83D-FDC5-9043-B1E6-B6C54FC24FBF}"/>
              </a:ext>
            </a:extLst>
          </p:cNvPr>
          <p:cNvCxnSpPr>
            <a:stCxn id="5" idx="1"/>
          </p:cNvCxnSpPr>
          <p:nvPr/>
        </p:nvCxnSpPr>
        <p:spPr>
          <a:xfrm flipH="1" flipV="1">
            <a:off x="5486400" y="2273643"/>
            <a:ext cx="1322173" cy="48743"/>
          </a:xfrm>
          <a:prstGeom prst="straightConnector1">
            <a:avLst/>
          </a:prstGeom>
          <a:ln>
            <a:solidFill>
              <a:srgbClr val="DE676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8740CDE-9C8F-C744-9017-BC352326BC05}"/>
                  </a:ext>
                </a:extLst>
              </p:cNvPr>
              <p:cNvSpPr txBox="1"/>
              <p:nvPr/>
            </p:nvSpPr>
            <p:spPr>
              <a:xfrm>
                <a:off x="5269791" y="135924"/>
                <a:ext cx="3656770" cy="12485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O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sup>
                                  </m:sSup>
                                  <m:func>
                                    <m:func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</m:d>
                                    </m:e>
                                  </m:func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       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p>
                              </m:sSup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O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                    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p>
                              </m:sSup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O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func>
                                        <m:func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b="0" i="0" smtClean="0">
                                                  <a:latin typeface="Cambria Math" panose="02040503050406030204" pitchFamily="18" charset="0"/>
                                                </a:rPr>
                                                <m:t>log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𝑏</m:t>
                                              </m:r>
                                            </m:sub>
                                          </m:sSub>
                                        </m:fName>
                                        <m:e>
                                          <m:d>
                                            <m:d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</m:d>
                                        </m:e>
                                      </m:func>
                                    </m:sup>
                                  </m:sSup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         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p>
                              </m:sSup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8740CDE-9C8F-C744-9017-BC352326BC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9791" y="135924"/>
                <a:ext cx="3656770" cy="1248547"/>
              </a:xfrm>
              <a:prstGeom prst="rect">
                <a:avLst/>
              </a:prstGeom>
              <a:blipFill>
                <a:blip r:embed="rId4"/>
                <a:stretch>
                  <a:fillRect l="-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559849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1596300-7A9A-404B-BA47-FEBB64551C4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Case 3: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1596300-7A9A-404B-BA47-FEBB64551C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32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49F0DF-72BA-D041-8F14-A45675EA02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i="1" smtClean="0">
                        <a:latin typeface="Cambria Math" charset="0"/>
                      </a:rPr>
                      <m:t>𝑐</m:t>
                    </m:r>
                    <m:r>
                      <a:rPr lang="en-US" i="1" smtClean="0">
                        <a:latin typeface="Cambria Math" charset="0"/>
                      </a:rPr>
                      <m:t>⋅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charset="0"/>
                          </a:rPr>
                          <m:t>𝑛</m:t>
                        </m:r>
                      </m:e>
                      <m:sup>
                        <m:r>
                          <a:rPr lang="en-US" i="1">
                            <a:latin typeface="Cambria Math" charset="0"/>
                          </a:rPr>
                          <m:t>𝑑</m:t>
                        </m:r>
                      </m:sup>
                    </m:sSup>
                    <m:r>
                      <a:rPr lang="en-US" i="1">
                        <a:latin typeface="Cambria Math" charset="0"/>
                      </a:rPr>
                      <m:t>⋅</m:t>
                    </m:r>
                    <m:nary>
                      <m:naryPr>
                        <m:chr m:val="∑"/>
                        <m:ctrlPr>
                          <a:rPr lang="is-I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charset="0"/>
                          </a:rPr>
                          <m:t>𝑡</m:t>
                        </m:r>
                        <m:r>
                          <a:rPr lang="en-US" i="1">
                            <a:latin typeface="Cambria Math" charset="0"/>
                          </a:rPr>
                          <m:t>=0</m:t>
                        </m:r>
                      </m:sub>
                      <m:sup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b>
                            </m:sSub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sup>
                      <m:e>
                        <m:sSup>
                          <m:sSupPr>
                            <m:ctrlPr>
                              <a:rPr lang="mr-I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mr-IN" i="1" smtClean="0">
                                    <a:solidFill>
                                      <a:srgbClr val="DE6769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mr-IN" i="1">
                                        <a:solidFill>
                                          <a:srgbClr val="DE6769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solidFill>
                                          <a:srgbClr val="DE6769"/>
                                        </a:solidFill>
                                        <a:latin typeface="Cambria Math" charset="0"/>
                                      </a:rPr>
                                      <m:t>𝑎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mr-IN" i="1">
                                            <a:solidFill>
                                              <a:srgbClr val="DE6769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DE6769"/>
                                            </a:solidFill>
                                            <a:latin typeface="Cambria Math" charset="0"/>
                                          </a:rPr>
                                          <m:t>𝑏</m:t>
                                        </m:r>
                                      </m:e>
                                      <m:sup>
                                        <m:r>
                                          <a:rPr lang="en-US" i="1">
                                            <a:solidFill>
                                              <a:srgbClr val="DE6769"/>
                                            </a:solidFill>
                                            <a:latin typeface="Cambria Math" charset="0"/>
                                          </a:rPr>
                                          <m:t>𝑑</m:t>
                                        </m:r>
                                      </m:sup>
                                    </m:sSup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charset="0"/>
                              </a:rPr>
                              <m:t>𝑡</m:t>
                            </m:r>
                          </m:sup>
                        </m:sSup>
                      </m:e>
                    </m:nary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                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sup>
                                    </m:sSup>
                                  </m:den>
                                </m:f>
                              </m:e>
                            </m:d>
                          </m:e>
                          <m:sup>
                            <m:func>
                              <m:func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</m:fNam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func>
                          </m:sup>
                        </m:sSup>
                      </m:e>
                    </m:d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b="0" dirty="0"/>
                  <a:t>                    =</a:t>
                </a:r>
                <a14:m>
                  <m:oMath xmlns:m="http://schemas.openxmlformats.org/officeDocument/2006/math">
                    <m:r>
                      <a:rPr lang="en-US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func>
                              <m:func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</m:fNam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func>
                          </m:sup>
                        </m:sSup>
                      </m:e>
                    </m:d>
                  </m:oMath>
                </a14:m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49F0DF-72BA-D041-8F14-A45675EA02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447" t="-128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693595A6-A47F-0540-907D-068091D960F7}"/>
              </a:ext>
            </a:extLst>
          </p:cNvPr>
          <p:cNvSpPr txBox="1"/>
          <p:nvPr/>
        </p:nvSpPr>
        <p:spPr>
          <a:xfrm>
            <a:off x="6697362" y="2071099"/>
            <a:ext cx="2446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DE6769"/>
                </a:solidFill>
              </a:rPr>
              <a:t>Larger than 1!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AE8B83D-FDC5-9043-B1E6-B6C54FC24FBF}"/>
              </a:ext>
            </a:extLst>
          </p:cNvPr>
          <p:cNvCxnSpPr>
            <a:stCxn id="5" idx="1"/>
          </p:cNvCxnSpPr>
          <p:nvPr/>
        </p:nvCxnSpPr>
        <p:spPr>
          <a:xfrm flipH="1" flipV="1">
            <a:off x="5375189" y="2207022"/>
            <a:ext cx="1322173" cy="48743"/>
          </a:xfrm>
          <a:prstGeom prst="straightConnector1">
            <a:avLst/>
          </a:prstGeom>
          <a:ln>
            <a:solidFill>
              <a:srgbClr val="DE676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8740CDE-9C8F-C744-9017-BC352326BC05}"/>
                  </a:ext>
                </a:extLst>
              </p:cNvPr>
              <p:cNvSpPr txBox="1"/>
              <p:nvPr/>
            </p:nvSpPr>
            <p:spPr>
              <a:xfrm>
                <a:off x="5269791" y="135924"/>
                <a:ext cx="3656770" cy="12485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O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sup>
                                  </m:sSup>
                                  <m:func>
                                    <m:func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</m:d>
                                    </m:e>
                                  </m:func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       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p>
                              </m:sSup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O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                    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p>
                              </m:sSup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O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func>
                                        <m:func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b="0" i="0" smtClean="0">
                                                  <a:latin typeface="Cambria Math" panose="02040503050406030204" pitchFamily="18" charset="0"/>
                                                </a:rPr>
                                                <m:t>log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𝑏</m:t>
                                              </m:r>
                                            </m:sub>
                                          </m:sSub>
                                        </m:fName>
                                        <m:e>
                                          <m:d>
                                            <m:d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</m:d>
                                        </m:e>
                                      </m:func>
                                    </m:sup>
                                  </m:sSup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         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p>
                              </m:sSup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8740CDE-9C8F-C744-9017-BC352326BC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9791" y="135924"/>
                <a:ext cx="3656770" cy="1248547"/>
              </a:xfrm>
              <a:prstGeom prst="rect">
                <a:avLst/>
              </a:prstGeom>
              <a:blipFill>
                <a:blip r:embed="rId4"/>
                <a:stretch>
                  <a:fillRect l="-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CE1CED94-6CC4-A844-8FC7-7C02F19452BF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36024" y="3819072"/>
            <a:ext cx="1590537" cy="15340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F2851A5-EC6B-6E47-AB4C-D9732D309F71}"/>
              </a:ext>
            </a:extLst>
          </p:cNvPr>
          <p:cNvSpPr txBox="1"/>
          <p:nvPr/>
        </p:nvSpPr>
        <p:spPr>
          <a:xfrm>
            <a:off x="6853017" y="3235789"/>
            <a:ext cx="22909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Convince yourself that this step is legit!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6BDD766-51A9-8E49-B593-4481E56BC005}"/>
              </a:ext>
            </a:extLst>
          </p:cNvPr>
          <p:cNvCxnSpPr>
            <a:cxnSpLocks/>
            <a:stCxn id="6" idx="1"/>
          </p:cNvCxnSpPr>
          <p:nvPr/>
        </p:nvCxnSpPr>
        <p:spPr>
          <a:xfrm flipH="1" flipV="1">
            <a:off x="5269793" y="2820841"/>
            <a:ext cx="1583224" cy="738114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EFCE2FE-D8A8-0147-814B-3AA46567F8B5}"/>
              </a:ext>
            </a:extLst>
          </p:cNvPr>
          <p:cNvSpPr txBox="1"/>
          <p:nvPr/>
        </p:nvSpPr>
        <p:spPr>
          <a:xfrm>
            <a:off x="3302279" y="4482678"/>
            <a:ext cx="34692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DE6769"/>
                </a:solidFill>
              </a:rPr>
              <a:t>We’ll do this step on the board!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FC21BD0-9A21-D44E-9BA6-1C789196930B}"/>
              </a:ext>
            </a:extLst>
          </p:cNvPr>
          <p:cNvCxnSpPr>
            <a:cxnSpLocks/>
          </p:cNvCxnSpPr>
          <p:nvPr/>
        </p:nvCxnSpPr>
        <p:spPr>
          <a:xfrm flipH="1" flipV="1">
            <a:off x="4275439" y="3768811"/>
            <a:ext cx="761452" cy="654908"/>
          </a:xfrm>
          <a:prstGeom prst="straightConnector1">
            <a:avLst/>
          </a:prstGeom>
          <a:ln>
            <a:solidFill>
              <a:srgbClr val="DE676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0655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  <p:bldP spid="1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 let’s check all the cases </a:t>
            </a:r>
            <a:endParaRPr lang="en-US" sz="3200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0A1346E-3FE1-FF42-A13A-DC2F292049FF}"/>
                  </a:ext>
                </a:extLst>
              </p:cNvPr>
              <p:cNvSpPr txBox="1"/>
              <p:nvPr/>
            </p:nvSpPr>
            <p:spPr>
              <a:xfrm>
                <a:off x="969639" y="1690689"/>
                <a:ext cx="6458627" cy="221977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sty m:val="p"/>
                                </m:rPr>
                                <a:rPr lang="en-US" sz="3200" b="0" i="0" smtClean="0">
                                  <a:latin typeface="Cambria Math" panose="02040503050406030204" pitchFamily="18" charset="0"/>
                                </a:rPr>
                                <m:t>O</m:t>
                              </m:r>
                              <m:d>
                                <m:dPr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sup>
                                  </m:sSup>
                                  <m:func>
                                    <m:funcPr>
                                      <m:ctrlP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3200" b="0" i="0" smtClean="0"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sz="3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3200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</m:d>
                                    </m:e>
                                  </m:func>
                                </m:e>
                              </m:d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         </m:t>
                              </m:r>
                              <m:r>
                                <m:rPr>
                                  <m:sty m:val="p"/>
                                </m:rPr>
                                <a:rPr lang="en-US" sz="3200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p>
                              </m:sSup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sz="3200" b="0" i="0" smtClean="0">
                                  <a:latin typeface="Cambria Math" panose="02040503050406030204" pitchFamily="18" charset="0"/>
                                </a:rPr>
                                <m:t>O</m:t>
                              </m:r>
                              <m:d>
                                <m:dPr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                      </m:t>
                              </m:r>
                              <m:r>
                                <m:rPr>
                                  <m:sty m:val="p"/>
                                </m:rPr>
                                <a:rPr lang="en-US" sz="3200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sSup>
                                <m:sSupPr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p>
                              </m:sSup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sz="3200" b="0" i="0" smtClean="0">
                                  <a:latin typeface="Cambria Math" panose="02040503050406030204" pitchFamily="18" charset="0"/>
                                </a:rPr>
                                <m:t>O</m:t>
                              </m:r>
                              <m:d>
                                <m:dPr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func>
                                        <m:funcPr>
                                          <m:ctrlPr>
                                            <a:rPr lang="en-US" sz="3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sSub>
                                            <m:sSubPr>
                                              <m:ctrlPr>
                                                <a:rPr lang="en-US" sz="32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3200" b="0" i="0" smtClean="0">
                                                  <a:latin typeface="Cambria Math" panose="02040503050406030204" pitchFamily="18" charset="0"/>
                                                </a:rPr>
                                                <m:t>log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32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𝑏</m:t>
                                              </m:r>
                                            </m:sub>
                                          </m:sSub>
                                        </m:fName>
                                        <m:e>
                                          <m:d>
                                            <m:dPr>
                                              <m:ctrlPr>
                                                <a:rPr lang="en-US" sz="32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32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</m:d>
                                        </m:e>
                                      </m:func>
                                    </m:sup>
                                  </m:sSup>
                                </m:e>
                              </m:d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3200" b="0" i="0" smtClean="0">
                                  <a:latin typeface="Cambria Math" panose="02040503050406030204" pitchFamily="18" charset="0"/>
                                </a:rPr>
                                <m:t>           </m:t>
                              </m:r>
                              <m:r>
                                <m:rPr>
                                  <m:sty m:val="p"/>
                                </m:rPr>
                                <a:rPr lang="en-US" sz="3200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sSup>
                                <m:sSupPr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p>
                              </m:sSup>
                            </m:e>
                          </m:eqArr>
                        </m:e>
                      </m:d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0A1346E-3FE1-FF42-A13A-DC2F292049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639" y="1690689"/>
                <a:ext cx="6458627" cy="2219775"/>
              </a:xfrm>
              <a:prstGeom prst="rect">
                <a:avLst/>
              </a:prstGeom>
              <a:blipFill>
                <a:blip r:embed="rId2"/>
                <a:stretch>
                  <a:fillRect l="-7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F785E294-626C-BC45-AF62-983DBD1B261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96745" y="3119172"/>
            <a:ext cx="3018605" cy="3145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1554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 more generally, </a:t>
            </a:r>
            <a:br>
              <a:rPr lang="en-US" dirty="0"/>
            </a:br>
            <a:r>
              <a:rPr lang="en-US" dirty="0"/>
              <a:t>for T(n) = </a:t>
            </a:r>
            <a:r>
              <a:rPr lang="en-US" dirty="0" err="1"/>
              <a:t>aT</a:t>
            </a:r>
            <a:r>
              <a:rPr lang="en-US" dirty="0"/>
              <a:t>(n/b) + f(n)</a:t>
            </a:r>
            <a:r>
              <a:rPr lang="mr-IN" dirty="0"/>
              <a:t>…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326032"/>
            <a:ext cx="8946546" cy="177111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08822" y="3809161"/>
            <a:ext cx="30867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accent4"/>
                </a:solidFill>
              </a:rPr>
              <a:t>[From CLRS – you won’t need to know this fancier version for this class unless you want to.]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392473" y="4097148"/>
            <a:ext cx="1636436" cy="224401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0" y="6341165"/>
            <a:ext cx="32202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Ollie the Over-Achieving Ostrich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90479" y="4097148"/>
            <a:ext cx="27021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Figure out how to adapt the proof we gave to prove this more general version!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D9046B-0189-CC4A-A635-023B7DC10952}"/>
              </a:ext>
            </a:extLst>
          </p:cNvPr>
          <p:cNvSpPr txBox="1"/>
          <p:nvPr/>
        </p:nvSpPr>
        <p:spPr>
          <a:xfrm>
            <a:off x="6425514" y="82015"/>
            <a:ext cx="252103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SLIDE SKIPPED IN CLASS</a:t>
            </a:r>
          </a:p>
        </p:txBody>
      </p:sp>
    </p:spTree>
    <p:extLst>
      <p:ext uri="{BB962C8B-B14F-4D97-AF65-F5344CB8AC3E}">
        <p14:creationId xmlns:p14="http://schemas.microsoft.com/office/powerpoint/2010/main" val="19093282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3777" y="206100"/>
            <a:ext cx="8336446" cy="1325563"/>
          </a:xfrm>
        </p:spPr>
        <p:txBody>
          <a:bodyPr/>
          <a:lstStyle/>
          <a:p>
            <a:r>
              <a:rPr lang="en-US"/>
              <a:t>Understanding the Master </a:t>
            </a:r>
            <a:r>
              <a:rPr lang="en-US" dirty="0"/>
              <a:t>Theorem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3777" y="5368691"/>
            <a:ext cx="7886700" cy="1035201"/>
          </a:xfrm>
        </p:spPr>
        <p:txBody>
          <a:bodyPr/>
          <a:lstStyle/>
          <a:p>
            <a:r>
              <a:rPr lang="en-US" dirty="0">
                <a:solidFill>
                  <a:schemeClr val="accent4"/>
                </a:solidFill>
              </a:rPr>
              <a:t>What do these three cases mean?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/>
              <p:cNvSpPr txBox="1">
                <a:spLocks/>
              </p:cNvSpPr>
              <p:nvPr/>
            </p:nvSpPr>
            <p:spPr>
              <a:xfrm>
                <a:off x="628650" y="1825625"/>
                <a:ext cx="7886700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≥1,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&gt;1,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and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dirty="0"/>
                  <a:t> be constants. </a:t>
                </a:r>
              </a:p>
              <a:p>
                <a:r>
                  <a:rPr lang="en-US" dirty="0"/>
                  <a:t>Suppose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charset="0"/>
                          </a:rPr>
                          <m:t>𝑛</m:t>
                        </m:r>
                      </m:e>
                    </m:d>
                    <m:r>
                      <a:rPr lang="en-US" i="1" smtClean="0">
                        <a:latin typeface="Cambria Math" charset="0"/>
                      </a:rPr>
                      <m:t>=</m:t>
                    </m:r>
                    <m:r>
                      <a:rPr lang="en-US" i="1" smtClean="0">
                        <a:latin typeface="Cambria Math" charset="0"/>
                      </a:rPr>
                      <m:t>𝑎</m:t>
                    </m:r>
                    <m:r>
                      <a:rPr lang="en-US" i="1" smtClean="0">
                        <a:latin typeface="Cambria Math" charset="0"/>
                      </a:rPr>
                      <m:t>⋅</m:t>
                    </m:r>
                    <m:r>
                      <a:rPr lang="en-US" i="1" smtClean="0"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 smtClean="0">
                                <a:latin typeface="Cambria Math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i="1" smtClean="0">
                                <a:latin typeface="Cambria Math" charset="0"/>
                              </a:rPr>
                              <m:t>𝑏</m:t>
                            </m:r>
                          </m:den>
                        </m:f>
                      </m:e>
                    </m:d>
                    <m:r>
                      <a:rPr lang="en-US" i="1" smtClean="0">
                        <a:latin typeface="Cambria Math" charset="0"/>
                      </a:rPr>
                      <m:t>+</m:t>
                    </m:r>
                    <m:r>
                      <a:rPr lang="en-US" i="1" smtClean="0">
                        <a:latin typeface="Cambria Math" charset="0"/>
                      </a:rPr>
                      <m:t>𝑂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smtClean="0">
                                <a:latin typeface="Cambria Math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i="1" smtClean="0">
                                <a:latin typeface="Cambria Math" charset="0"/>
                              </a:rPr>
                              <m:t>𝑑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.  Then</a:t>
                </a:r>
              </a:p>
            </p:txBody>
          </p:sp>
        </mc:Choice>
        <mc:Fallback xmlns="">
          <p:sp>
            <p:nvSpPr>
              <p:cNvPr id="4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1825625"/>
                <a:ext cx="7886700" cy="4351338"/>
              </a:xfrm>
              <a:prstGeom prst="rect">
                <a:avLst/>
              </a:prstGeom>
              <a:blipFill>
                <a:blip r:embed="rId2"/>
                <a:stretch>
                  <a:fillRect l="-1447" t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111F42F-46C0-364D-98BB-D0B6043724EC}"/>
                  </a:ext>
                </a:extLst>
              </p:cNvPr>
              <p:cNvSpPr txBox="1"/>
              <p:nvPr/>
            </p:nvSpPr>
            <p:spPr>
              <a:xfrm>
                <a:off x="956596" y="2921987"/>
                <a:ext cx="6458627" cy="221977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sty m:val="p"/>
                                </m:rPr>
                                <a:rPr lang="en-US" sz="3200" b="0" i="0" smtClean="0">
                                  <a:latin typeface="Cambria Math" panose="02040503050406030204" pitchFamily="18" charset="0"/>
                                </a:rPr>
                                <m:t>O</m:t>
                              </m:r>
                              <m:d>
                                <m:dPr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sup>
                                  </m:sSup>
                                  <m:func>
                                    <m:funcPr>
                                      <m:ctrlP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3200" b="0" i="0" smtClean="0"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sz="3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3200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</m:d>
                                    </m:e>
                                  </m:func>
                                </m:e>
                              </m:d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         </m:t>
                              </m:r>
                              <m:r>
                                <m:rPr>
                                  <m:sty m:val="p"/>
                                </m:rPr>
                                <a:rPr lang="en-US" sz="3200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p>
                              </m:sSup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sz="3200" b="0" i="0" smtClean="0">
                                  <a:latin typeface="Cambria Math" panose="02040503050406030204" pitchFamily="18" charset="0"/>
                                </a:rPr>
                                <m:t>O</m:t>
                              </m:r>
                              <m:d>
                                <m:dPr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                      </m:t>
                              </m:r>
                              <m:r>
                                <m:rPr>
                                  <m:sty m:val="p"/>
                                </m:rPr>
                                <a:rPr lang="en-US" sz="3200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sSup>
                                <m:sSupPr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p>
                              </m:sSup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sz="3200" b="0" i="0" smtClean="0">
                                  <a:latin typeface="Cambria Math" panose="02040503050406030204" pitchFamily="18" charset="0"/>
                                </a:rPr>
                                <m:t>O</m:t>
                              </m:r>
                              <m:d>
                                <m:dPr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func>
                                        <m:funcPr>
                                          <m:ctrlPr>
                                            <a:rPr lang="en-US" sz="3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sSub>
                                            <m:sSubPr>
                                              <m:ctrlPr>
                                                <a:rPr lang="en-US" sz="32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3200" b="0" i="0" smtClean="0">
                                                  <a:latin typeface="Cambria Math" panose="02040503050406030204" pitchFamily="18" charset="0"/>
                                                </a:rPr>
                                                <m:t>log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32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𝑏</m:t>
                                              </m:r>
                                            </m:sub>
                                          </m:sSub>
                                        </m:fName>
                                        <m:e>
                                          <m:d>
                                            <m:dPr>
                                              <m:ctrlPr>
                                                <a:rPr lang="en-US" sz="32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32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</m:d>
                                        </m:e>
                                      </m:func>
                                    </m:sup>
                                  </m:sSup>
                                </m:e>
                              </m:d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3200" b="0" i="0" smtClean="0">
                                  <a:latin typeface="Cambria Math" panose="02040503050406030204" pitchFamily="18" charset="0"/>
                                </a:rPr>
                                <m:t>           </m:t>
                              </m:r>
                              <m:r>
                                <m:rPr>
                                  <m:sty m:val="p"/>
                                </m:rPr>
                                <a:rPr lang="en-US" sz="3200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sSup>
                                <m:sSupPr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p>
                              </m:sSup>
                            </m:e>
                          </m:eqArr>
                        </m:e>
                      </m:d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111F42F-46C0-364D-98BB-D0B6043724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6596" y="2921987"/>
                <a:ext cx="6458627" cy="2219775"/>
              </a:xfrm>
              <a:prstGeom prst="rect">
                <a:avLst/>
              </a:prstGeom>
              <a:blipFill>
                <a:blip r:embed="rId3"/>
                <a:stretch>
                  <a:fillRect l="-7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3667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eternal struggle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90689"/>
            <a:ext cx="9153275" cy="276204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4731026"/>
            <a:ext cx="463163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DE6769"/>
                </a:solidFill>
              </a:rPr>
              <a:t>Branching causes the number of problems to explode</a:t>
            </a:r>
            <a:r>
              <a:rPr lang="en-US" sz="2800">
                <a:solidFill>
                  <a:srgbClr val="DE6769"/>
                </a:solidFill>
              </a:rPr>
              <a:t>!  </a:t>
            </a:r>
          </a:p>
          <a:p>
            <a:pPr algn="ctr"/>
            <a:r>
              <a:rPr lang="en-US" sz="2800" b="1" dirty="0">
                <a:solidFill>
                  <a:srgbClr val="DE6769"/>
                </a:solidFill>
              </a:rPr>
              <a:t>The most work is at the bottom of the tree!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26765" y="4731026"/>
            <a:ext cx="353170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The problems lower in the tree are smaller!  </a:t>
            </a:r>
            <a:r>
              <a:rPr lang="en-US" sz="2800" b="1" dirty="0">
                <a:solidFill>
                  <a:schemeClr val="accent1"/>
                </a:solidFill>
              </a:rPr>
              <a:t>The most work is at the top of the tree!</a:t>
            </a:r>
          </a:p>
        </p:txBody>
      </p:sp>
    </p:spTree>
    <p:extLst>
      <p:ext uri="{BB962C8B-B14F-4D97-AF65-F5344CB8AC3E}">
        <p14:creationId xmlns:p14="http://schemas.microsoft.com/office/powerpoint/2010/main" val="1399793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Consider our three warm-ups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accent4"/>
                        </a:solidFill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i="1" dirty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𝑛</m:t>
                        </m:r>
                      </m:e>
                    </m:d>
                    <m:r>
                      <a:rPr lang="en-US" i="1" dirty="0">
                        <a:solidFill>
                          <a:schemeClr val="accent4"/>
                        </a:solidFill>
                        <a:latin typeface="Cambria Math" charset="0"/>
                      </a:rPr>
                      <m:t>=</m:t>
                    </m:r>
                    <m:r>
                      <a:rPr lang="en-US" i="1" dirty="0">
                        <a:solidFill>
                          <a:schemeClr val="accent4"/>
                        </a:solidFill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i="1" dirty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 dirty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 dirty="0">
                                <a:solidFill>
                                  <a:schemeClr val="accent4"/>
                                </a:solidFill>
                                <a:latin typeface="Cambria Math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i="1" dirty="0">
                                <a:solidFill>
                                  <a:schemeClr val="accent4"/>
                                </a:solidFill>
                                <a:latin typeface="Cambria Math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i="1" dirty="0">
                        <a:solidFill>
                          <a:schemeClr val="accent4"/>
                        </a:solidFill>
                        <a:latin typeface="Cambria Math" charset="0"/>
                      </a:rPr>
                      <m:t>+</m:t>
                    </m:r>
                    <m:r>
                      <a:rPr lang="en-US" b="0" i="1" dirty="0" smtClean="0">
                        <a:solidFill>
                          <a:schemeClr val="accent4"/>
                        </a:solidFill>
                        <a:latin typeface="Cambria Math" charset="0"/>
                      </a:rPr>
                      <m:t>𝑛</m:t>
                    </m:r>
                  </m:oMath>
                </a14:m>
                <a:endParaRPr lang="en-US" dirty="0">
                  <a:solidFill>
                    <a:schemeClr val="accent4"/>
                  </a:solidFill>
                </a:endParaRPr>
              </a:p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4"/>
                        </a:solidFill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𝑛</m:t>
                        </m:r>
                      </m:e>
                    </m:d>
                    <m:r>
                      <a:rPr lang="en-US" i="1">
                        <a:solidFill>
                          <a:schemeClr val="accent4"/>
                        </a:solidFill>
                        <a:latin typeface="Cambria Math" charset="0"/>
                      </a:rPr>
                      <m:t>=2⋅</m:t>
                    </m:r>
                    <m:r>
                      <a:rPr lang="en-US" i="1">
                        <a:solidFill>
                          <a:schemeClr val="accent4"/>
                        </a:solidFill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schemeClr val="accent4"/>
                                </a:solidFill>
                                <a:latin typeface="Cambria Math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i="1">
                                <a:solidFill>
                                  <a:schemeClr val="accent4"/>
                                </a:solidFill>
                                <a:latin typeface="Cambria Math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i="1">
                        <a:solidFill>
                          <a:schemeClr val="accent4"/>
                        </a:solidFill>
                        <a:latin typeface="Cambria Math" charset="0"/>
                      </a:rPr>
                      <m:t>+</m:t>
                    </m:r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𝑛</m:t>
                    </m:r>
                  </m:oMath>
                </a14:m>
                <a:endParaRPr lang="en-US" b="0" i="1" dirty="0">
                  <a:solidFill>
                    <a:schemeClr val="accent4"/>
                  </a:solidFill>
                  <a:latin typeface="Cambria Math" charset="0"/>
                </a:endParaRPr>
              </a:p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4"/>
                        </a:solidFill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𝑛</m:t>
                        </m:r>
                      </m:e>
                    </m:d>
                    <m:r>
                      <a:rPr lang="en-US" i="1">
                        <a:solidFill>
                          <a:schemeClr val="accent4"/>
                        </a:solidFill>
                        <a:latin typeface="Cambria Math" charset="0"/>
                      </a:rPr>
                      <m:t>=4⋅</m:t>
                    </m:r>
                    <m:r>
                      <a:rPr lang="en-US" i="1">
                        <a:solidFill>
                          <a:schemeClr val="accent4"/>
                        </a:solidFill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schemeClr val="accent4"/>
                                </a:solidFill>
                                <a:latin typeface="Cambria Math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i="1">
                                <a:solidFill>
                                  <a:schemeClr val="accent4"/>
                                </a:solidFill>
                                <a:latin typeface="Cambria Math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i="1">
                        <a:solidFill>
                          <a:schemeClr val="accent4"/>
                        </a:solidFill>
                        <a:latin typeface="Cambria Math" charset="0"/>
                      </a:rPr>
                      <m:t>+</m:t>
                    </m:r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𝑛</m:t>
                    </m:r>
                  </m:oMath>
                </a14:m>
                <a:endParaRPr lang="en-US" dirty="0">
                  <a:solidFill>
                    <a:schemeClr val="accent4"/>
                  </a:solidFill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2306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6913" y="125580"/>
            <a:ext cx="9946585" cy="1325563"/>
          </a:xfrm>
        </p:spPr>
        <p:txBody>
          <a:bodyPr/>
          <a:lstStyle/>
          <a:p>
            <a:r>
              <a:rPr lang="en-US" dirty="0"/>
              <a:t>First example: tall and skinny tree</a:t>
            </a:r>
          </a:p>
        </p:txBody>
      </p:sp>
      <p:sp>
        <p:nvSpPr>
          <p:cNvPr id="4" name="Oval 3"/>
          <p:cNvSpPr/>
          <p:nvPr/>
        </p:nvSpPr>
        <p:spPr>
          <a:xfrm>
            <a:off x="6420472" y="1347671"/>
            <a:ext cx="1590671" cy="70614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Size n</a:t>
            </a:r>
          </a:p>
        </p:txBody>
      </p:sp>
      <p:sp>
        <p:nvSpPr>
          <p:cNvPr id="6" name="Oval 5"/>
          <p:cNvSpPr/>
          <p:nvPr/>
        </p:nvSpPr>
        <p:spPr>
          <a:xfrm>
            <a:off x="6648859" y="2396693"/>
            <a:ext cx="1133899" cy="478086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n/2</a:t>
            </a:r>
          </a:p>
        </p:txBody>
      </p:sp>
      <p:sp>
        <p:nvSpPr>
          <p:cNvPr id="23" name="Oval 22"/>
          <p:cNvSpPr/>
          <p:nvPr/>
        </p:nvSpPr>
        <p:spPr>
          <a:xfrm>
            <a:off x="6817489" y="3205396"/>
            <a:ext cx="796640" cy="565757"/>
          </a:xfrm>
          <a:prstGeom prst="ellipse">
            <a:avLst/>
          </a:prstGeom>
          <a:solidFill>
            <a:srgbClr val="555B9A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n/4</a:t>
            </a:r>
            <a:endParaRPr lang="en-US" dirty="0"/>
          </a:p>
        </p:txBody>
      </p:sp>
      <p:sp>
        <p:nvSpPr>
          <p:cNvPr id="29" name="Oval 28"/>
          <p:cNvSpPr/>
          <p:nvPr/>
        </p:nvSpPr>
        <p:spPr>
          <a:xfrm>
            <a:off x="6643376" y="4673444"/>
            <a:ext cx="970753" cy="565757"/>
          </a:xfrm>
          <a:prstGeom prst="ellipse">
            <a:avLst/>
          </a:prstGeom>
          <a:solidFill>
            <a:schemeClr val="accent5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n/2</a:t>
            </a:r>
            <a:r>
              <a:rPr lang="en-US" baseline="30000"/>
              <a:t>t</a:t>
            </a:r>
            <a:endParaRPr lang="en-US" dirty="0"/>
          </a:p>
        </p:txBody>
      </p:sp>
      <p:sp>
        <p:nvSpPr>
          <p:cNvPr id="38" name="Oval 37"/>
          <p:cNvSpPr/>
          <p:nvPr/>
        </p:nvSpPr>
        <p:spPr>
          <a:xfrm>
            <a:off x="6820098" y="6159319"/>
            <a:ext cx="395710" cy="338154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Rectangle 66"/>
              <p:cNvSpPr/>
              <p:nvPr/>
            </p:nvSpPr>
            <p:spPr>
              <a:xfrm>
                <a:off x="0" y="1197708"/>
                <a:ext cx="5934125" cy="73718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chemeClr val="accent4"/>
                        </a:solidFill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sz="2800" i="1" dirty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dirty="0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𝑛</m:t>
                        </m:r>
                      </m:e>
                    </m:d>
                    <m:r>
                      <a:rPr lang="en-US" sz="2800" i="1" dirty="0">
                        <a:solidFill>
                          <a:schemeClr val="accent4"/>
                        </a:solidFill>
                        <a:latin typeface="Cambria Math" charset="0"/>
                      </a:rPr>
                      <m:t>=</m:t>
                    </m:r>
                    <m:r>
                      <a:rPr lang="en-US" sz="2800" i="1" dirty="0">
                        <a:solidFill>
                          <a:schemeClr val="accent4"/>
                        </a:solidFill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sz="2800" i="1" dirty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800" i="1" dirty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i="1" dirty="0">
                                <a:solidFill>
                                  <a:schemeClr val="accent4"/>
                                </a:solidFill>
                                <a:latin typeface="Cambria Math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2800" i="1" dirty="0">
                                <a:solidFill>
                                  <a:schemeClr val="accent4"/>
                                </a:solidFill>
                                <a:latin typeface="Cambria Math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sz="2800" i="1" dirty="0">
                        <a:solidFill>
                          <a:schemeClr val="accent4"/>
                        </a:solidFill>
                        <a:latin typeface="Cambria Math" charset="0"/>
                      </a:rPr>
                      <m:t>+</m:t>
                    </m:r>
                    <m:r>
                      <a:rPr lang="en-US" sz="2800" b="0" i="1" dirty="0" smtClean="0">
                        <a:solidFill>
                          <a:schemeClr val="accent4"/>
                        </a:solidFill>
                        <a:latin typeface="Cambria Math" charset="0"/>
                      </a:rPr>
                      <m:t>𝑛</m:t>
                    </m:r>
                    <m:r>
                      <a:rPr lang="en-US" sz="2800" b="0" i="1" dirty="0" smtClean="0">
                        <a:solidFill>
                          <a:schemeClr val="accent4"/>
                        </a:solidFill>
                        <a:latin typeface="Cambria Math" charset="0"/>
                      </a:rPr>
                      <m:t>,        </m:t>
                    </m:r>
                    <m:d>
                      <m:dPr>
                        <m:ctrlPr>
                          <a:rPr lang="en-US" sz="2800" b="0" i="1" dirty="0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dirty="0" smtClean="0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𝑎</m:t>
                        </m:r>
                        <m:r>
                          <a:rPr lang="en-US" sz="2800" b="0" i="1" dirty="0" smtClean="0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&lt;</m:t>
                        </m:r>
                        <m:sSup>
                          <m:sSupPr>
                            <m:ctrlPr>
                              <a:rPr lang="en-US" sz="2800" b="0" i="1" dirty="0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dirty="0" smtClean="0">
                                <a:solidFill>
                                  <a:schemeClr val="accent4"/>
                                </a:solidFill>
                                <a:latin typeface="Cambria Math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sz="2800" b="0" i="1" dirty="0" smtClean="0">
                                <a:solidFill>
                                  <a:schemeClr val="accent4"/>
                                </a:solidFill>
                                <a:latin typeface="Cambria Math" charset="0"/>
                              </a:rPr>
                              <m:t>𝑑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800" dirty="0">
                    <a:solidFill>
                      <a:schemeClr val="accent4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67" name="Rectangle 6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197708"/>
                <a:ext cx="5934125" cy="737189"/>
              </a:xfrm>
              <a:prstGeom prst="rect">
                <a:avLst/>
              </a:prstGeom>
              <a:blipFill>
                <a:blip r:embed="rId2"/>
                <a:stretch>
                  <a:fillRect b="-1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Straight Connector 68"/>
          <p:cNvCxnSpPr>
            <a:stCxn id="4" idx="4"/>
            <a:endCxn id="6" idx="0"/>
          </p:cNvCxnSpPr>
          <p:nvPr/>
        </p:nvCxnSpPr>
        <p:spPr>
          <a:xfrm>
            <a:off x="7215808" y="2053818"/>
            <a:ext cx="1" cy="3428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>
            <a:off x="7209183" y="2842322"/>
            <a:ext cx="1" cy="3428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/>
          <p:nvPr/>
        </p:nvCxnSpPr>
        <p:spPr>
          <a:xfrm>
            <a:off x="7209182" y="3816362"/>
            <a:ext cx="6626" cy="2118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>
            <a:endCxn id="38" idx="0"/>
          </p:cNvCxnSpPr>
          <p:nvPr/>
        </p:nvCxnSpPr>
        <p:spPr>
          <a:xfrm>
            <a:off x="6997148" y="5883965"/>
            <a:ext cx="20805" cy="2753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>
            <a:stCxn id="29" idx="0"/>
          </p:cNvCxnSpPr>
          <p:nvPr/>
        </p:nvCxnSpPr>
        <p:spPr>
          <a:xfrm flipV="1">
            <a:off x="7128753" y="4452730"/>
            <a:ext cx="66250" cy="2207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>
            <a:stCxn id="29" idx="4"/>
          </p:cNvCxnSpPr>
          <p:nvPr/>
        </p:nvCxnSpPr>
        <p:spPr>
          <a:xfrm flipH="1">
            <a:off x="7017953" y="5239201"/>
            <a:ext cx="110800" cy="1430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550180" y="2278666"/>
            <a:ext cx="567407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sz="2800" dirty="0"/>
              <a:t>The amount of work done at the top (the biggest problem) swamps the amount of work done anywhere else.</a:t>
            </a:r>
          </a:p>
          <a:p>
            <a:endParaRPr lang="en-US" sz="2800" dirty="0"/>
          </a:p>
          <a:p>
            <a:pPr marL="285750" indent="-285750">
              <a:buFont typeface="Arial" charset="0"/>
              <a:buChar char="•"/>
            </a:pPr>
            <a:r>
              <a:rPr lang="en-US" sz="2800" dirty="0">
                <a:solidFill>
                  <a:srgbClr val="DE6769"/>
                </a:solidFill>
              </a:rPr>
              <a:t>T(n) = O( work at top ) = O(n)</a:t>
            </a:r>
          </a:p>
        </p:txBody>
      </p:sp>
      <p:pic>
        <p:nvPicPr>
          <p:cNvPr id="86" name="Picture 85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293166" y="5532776"/>
            <a:ext cx="3240157" cy="977732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1981282" y="6005230"/>
            <a:ext cx="1954614" cy="646331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1"/>
                </a:solidFill>
              </a:rPr>
              <a:t>Most work at the top of the tree!</a:t>
            </a:r>
          </a:p>
        </p:txBody>
      </p:sp>
      <p:sp>
        <p:nvSpPr>
          <p:cNvPr id="87" name="Down Arrow 86"/>
          <p:cNvSpPr/>
          <p:nvPr/>
        </p:nvSpPr>
        <p:spPr>
          <a:xfrm rot="1557368">
            <a:off x="1491575" y="4948902"/>
            <a:ext cx="698104" cy="834943"/>
          </a:xfrm>
          <a:prstGeom prst="down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TextBox 87"/>
          <p:cNvSpPr txBox="1"/>
          <p:nvPr/>
        </p:nvSpPr>
        <p:spPr>
          <a:xfrm>
            <a:off x="2107019" y="5048016"/>
            <a:ext cx="1463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WINNER</a:t>
            </a:r>
          </a:p>
        </p:txBody>
      </p:sp>
    </p:spTree>
    <p:extLst>
      <p:ext uri="{BB962C8B-B14F-4D97-AF65-F5344CB8AC3E}">
        <p14:creationId xmlns:p14="http://schemas.microsoft.com/office/powerpoint/2010/main" val="1425567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 build="p"/>
      <p:bldP spid="85" grpId="0" animBg="1"/>
      <p:bldP spid="87" grpId="0" animBg="1"/>
      <p:bldP spid="88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6913" y="125580"/>
            <a:ext cx="9946585" cy="1325563"/>
          </a:xfrm>
        </p:spPr>
        <p:txBody>
          <a:bodyPr/>
          <a:lstStyle/>
          <a:p>
            <a:r>
              <a:rPr lang="en-US" dirty="0"/>
              <a:t>Third example: bushy tree</a:t>
            </a:r>
          </a:p>
        </p:txBody>
      </p:sp>
      <p:sp>
        <p:nvSpPr>
          <p:cNvPr id="4" name="Oval 3"/>
          <p:cNvSpPr/>
          <p:nvPr/>
        </p:nvSpPr>
        <p:spPr>
          <a:xfrm>
            <a:off x="3894757" y="2015286"/>
            <a:ext cx="1215176" cy="5590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Size n</a:t>
            </a:r>
          </a:p>
        </p:txBody>
      </p:sp>
      <p:sp>
        <p:nvSpPr>
          <p:cNvPr id="6" name="Oval 5"/>
          <p:cNvSpPr/>
          <p:nvPr/>
        </p:nvSpPr>
        <p:spPr>
          <a:xfrm>
            <a:off x="3340108" y="3079632"/>
            <a:ext cx="866230" cy="378466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n/2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Rectangle 66"/>
              <p:cNvSpPr/>
              <p:nvPr/>
            </p:nvSpPr>
            <p:spPr>
              <a:xfrm>
                <a:off x="0" y="1197708"/>
                <a:ext cx="6417911" cy="73718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971550" lvl="1" indent="-514350">
                  <a:buFont typeface="+mj-lt"/>
                  <a:buAutoNum type="arabicPeriod" startAt="3"/>
                </a:pP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chemeClr val="accent4"/>
                        </a:solidFill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sz="2800" i="1" dirty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dirty="0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𝑛</m:t>
                        </m:r>
                      </m:e>
                    </m:d>
                    <m:r>
                      <a:rPr lang="en-US" sz="2800" i="1" dirty="0">
                        <a:solidFill>
                          <a:schemeClr val="accent4"/>
                        </a:solidFill>
                        <a:latin typeface="Cambria Math" charset="0"/>
                      </a:rPr>
                      <m:t>=</m:t>
                    </m:r>
                    <m:r>
                      <a:rPr lang="en-US" sz="2800" b="0" i="1" dirty="0" smtClean="0">
                        <a:solidFill>
                          <a:schemeClr val="accent4"/>
                        </a:solidFill>
                        <a:latin typeface="Cambria Math" charset="0"/>
                      </a:rPr>
                      <m:t>4⋅</m:t>
                    </m:r>
                    <m:r>
                      <a:rPr lang="en-US" sz="2800" i="1" dirty="0">
                        <a:solidFill>
                          <a:schemeClr val="accent4"/>
                        </a:solidFill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sz="2800" i="1" dirty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800" i="1" dirty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i="1" dirty="0">
                                <a:solidFill>
                                  <a:schemeClr val="accent4"/>
                                </a:solidFill>
                                <a:latin typeface="Cambria Math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2800" i="1" dirty="0">
                                <a:solidFill>
                                  <a:schemeClr val="accent4"/>
                                </a:solidFill>
                                <a:latin typeface="Cambria Math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sz="2800" i="1" dirty="0">
                        <a:solidFill>
                          <a:schemeClr val="accent4"/>
                        </a:solidFill>
                        <a:latin typeface="Cambria Math" charset="0"/>
                      </a:rPr>
                      <m:t>+</m:t>
                    </m:r>
                    <m:r>
                      <a:rPr lang="en-US" sz="2800" b="0" i="1" dirty="0" smtClean="0">
                        <a:solidFill>
                          <a:schemeClr val="accent4"/>
                        </a:solidFill>
                        <a:latin typeface="Cambria Math" charset="0"/>
                      </a:rPr>
                      <m:t>𝑛</m:t>
                    </m:r>
                    <m:r>
                      <a:rPr lang="en-US" sz="2800" b="0" i="1" dirty="0" smtClean="0">
                        <a:solidFill>
                          <a:schemeClr val="accent4"/>
                        </a:solidFill>
                        <a:latin typeface="Cambria Math" charset="0"/>
                      </a:rPr>
                      <m:t>,        </m:t>
                    </m:r>
                    <m:d>
                      <m:dPr>
                        <m:ctrlPr>
                          <a:rPr lang="en-US" sz="2800" b="0" i="1" dirty="0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dirty="0" smtClean="0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𝑎</m:t>
                        </m:r>
                        <m:r>
                          <a:rPr lang="en-US" sz="2800" b="0" i="1" dirty="0" smtClean="0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&gt;</m:t>
                        </m:r>
                        <m:sSup>
                          <m:sSupPr>
                            <m:ctrlPr>
                              <a:rPr lang="en-US" sz="2800" b="0" i="1" dirty="0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dirty="0" smtClean="0">
                                <a:solidFill>
                                  <a:schemeClr val="accent4"/>
                                </a:solidFill>
                                <a:latin typeface="Cambria Math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sz="2800" b="0" i="1" dirty="0" smtClean="0">
                                <a:solidFill>
                                  <a:schemeClr val="accent4"/>
                                </a:solidFill>
                                <a:latin typeface="Cambria Math" charset="0"/>
                              </a:rPr>
                              <m:t>𝑑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800" dirty="0">
                    <a:solidFill>
                      <a:schemeClr val="accent4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67" name="Rectangle 6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197708"/>
                <a:ext cx="6417911" cy="737189"/>
              </a:xfrm>
              <a:prstGeom prst="rect">
                <a:avLst/>
              </a:prstGeom>
              <a:blipFill>
                <a:blip r:embed="rId2"/>
                <a:stretch>
                  <a:fillRect b="-1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Straight Connector 68"/>
          <p:cNvCxnSpPr>
            <a:stCxn id="4" idx="4"/>
            <a:endCxn id="6" idx="0"/>
          </p:cNvCxnSpPr>
          <p:nvPr/>
        </p:nvCxnSpPr>
        <p:spPr>
          <a:xfrm flipH="1">
            <a:off x="3773223" y="2574291"/>
            <a:ext cx="729122" cy="5053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242147" y="3649949"/>
            <a:ext cx="889179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sz="2800" dirty="0"/>
              <a:t>There are a HUGE number of leaves, and the total work is dominated by the time to do work at these leaves.</a:t>
            </a:r>
          </a:p>
          <a:p>
            <a:endParaRPr lang="en-US" sz="2800" dirty="0"/>
          </a:p>
          <a:p>
            <a:pPr marL="285750" indent="-285750">
              <a:buFont typeface="Arial" charset="0"/>
              <a:buChar char="•"/>
            </a:pPr>
            <a:r>
              <a:rPr lang="en-US" sz="2800" dirty="0">
                <a:solidFill>
                  <a:srgbClr val="DE6769"/>
                </a:solidFill>
              </a:rPr>
              <a:t>T(n) = O( work at bottom ) = O( 4</a:t>
            </a:r>
            <a:r>
              <a:rPr lang="en-US" sz="2800" baseline="30000" dirty="0">
                <a:solidFill>
                  <a:srgbClr val="DE6769"/>
                </a:solidFill>
              </a:rPr>
              <a:t>depth of tree</a:t>
            </a:r>
            <a:r>
              <a:rPr lang="en-US" sz="2800" dirty="0">
                <a:solidFill>
                  <a:srgbClr val="DE6769"/>
                </a:solidFill>
              </a:rPr>
              <a:t> ) = O(n</a:t>
            </a:r>
            <a:r>
              <a:rPr lang="en-US" sz="2800" baseline="30000" dirty="0">
                <a:solidFill>
                  <a:srgbClr val="DE6769"/>
                </a:solidFill>
              </a:rPr>
              <a:t>2</a:t>
            </a:r>
            <a:r>
              <a:rPr lang="en-US" sz="2800" dirty="0">
                <a:solidFill>
                  <a:srgbClr val="DE6769"/>
                </a:solidFill>
              </a:rPr>
              <a:t>) </a:t>
            </a:r>
          </a:p>
        </p:txBody>
      </p:sp>
      <p:sp>
        <p:nvSpPr>
          <p:cNvPr id="16" name="Oval 15"/>
          <p:cNvSpPr/>
          <p:nvPr/>
        </p:nvSpPr>
        <p:spPr>
          <a:xfrm>
            <a:off x="5006876" y="3051952"/>
            <a:ext cx="866230" cy="378466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n/2</a:t>
            </a:r>
          </a:p>
        </p:txBody>
      </p:sp>
      <p:sp>
        <p:nvSpPr>
          <p:cNvPr id="18" name="Oval 17"/>
          <p:cNvSpPr/>
          <p:nvPr/>
        </p:nvSpPr>
        <p:spPr>
          <a:xfrm>
            <a:off x="4135444" y="3072151"/>
            <a:ext cx="866230" cy="378466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n/2</a:t>
            </a:r>
          </a:p>
        </p:txBody>
      </p:sp>
      <p:sp>
        <p:nvSpPr>
          <p:cNvPr id="19" name="Oval 18"/>
          <p:cNvSpPr/>
          <p:nvPr/>
        </p:nvSpPr>
        <p:spPr>
          <a:xfrm>
            <a:off x="2497153" y="2948203"/>
            <a:ext cx="866230" cy="378466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n/2</a:t>
            </a:r>
          </a:p>
        </p:txBody>
      </p:sp>
      <p:cxnSp>
        <p:nvCxnSpPr>
          <p:cNvPr id="20" name="Straight Connector 19"/>
          <p:cNvCxnSpPr>
            <a:stCxn id="4" idx="4"/>
            <a:endCxn id="18" idx="0"/>
          </p:cNvCxnSpPr>
          <p:nvPr/>
        </p:nvCxnSpPr>
        <p:spPr>
          <a:xfrm>
            <a:off x="4502345" y="2574291"/>
            <a:ext cx="66214" cy="4978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4" idx="4"/>
            <a:endCxn id="16" idx="0"/>
          </p:cNvCxnSpPr>
          <p:nvPr/>
        </p:nvCxnSpPr>
        <p:spPr>
          <a:xfrm>
            <a:off x="4502345" y="2574291"/>
            <a:ext cx="937646" cy="4776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4" idx="4"/>
            <a:endCxn id="19" idx="0"/>
          </p:cNvCxnSpPr>
          <p:nvPr/>
        </p:nvCxnSpPr>
        <p:spPr>
          <a:xfrm flipH="1">
            <a:off x="2930268" y="2574291"/>
            <a:ext cx="1572077" cy="3739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5819563" y="6181916"/>
            <a:ext cx="395710" cy="338154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8260404" y="6142397"/>
            <a:ext cx="395710" cy="338154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2" name="Oval 31"/>
          <p:cNvSpPr/>
          <p:nvPr/>
        </p:nvSpPr>
        <p:spPr>
          <a:xfrm>
            <a:off x="7659074" y="6142397"/>
            <a:ext cx="395710" cy="338154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7055464" y="6161761"/>
            <a:ext cx="395710" cy="338154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Oval 33"/>
          <p:cNvSpPr/>
          <p:nvPr/>
        </p:nvSpPr>
        <p:spPr>
          <a:xfrm>
            <a:off x="6451854" y="6196790"/>
            <a:ext cx="395710" cy="338154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3545616" y="6236309"/>
            <a:ext cx="395710" cy="338154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6" name="Oval 35"/>
          <p:cNvSpPr/>
          <p:nvPr/>
        </p:nvSpPr>
        <p:spPr>
          <a:xfrm>
            <a:off x="5385127" y="6196790"/>
            <a:ext cx="395710" cy="338154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4781517" y="6216154"/>
            <a:ext cx="395710" cy="338154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9" name="Oval 38"/>
          <p:cNvSpPr/>
          <p:nvPr/>
        </p:nvSpPr>
        <p:spPr>
          <a:xfrm>
            <a:off x="4177907" y="6251183"/>
            <a:ext cx="395710" cy="338154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0" name="Oval 39"/>
          <p:cNvSpPr/>
          <p:nvPr/>
        </p:nvSpPr>
        <p:spPr>
          <a:xfrm>
            <a:off x="5454946" y="5981801"/>
            <a:ext cx="395710" cy="338154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1" name="Oval 40"/>
          <p:cNvSpPr/>
          <p:nvPr/>
        </p:nvSpPr>
        <p:spPr>
          <a:xfrm>
            <a:off x="7895787" y="5942282"/>
            <a:ext cx="395710" cy="338154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2" name="Oval 41"/>
          <p:cNvSpPr/>
          <p:nvPr/>
        </p:nvSpPr>
        <p:spPr>
          <a:xfrm>
            <a:off x="7294457" y="5942282"/>
            <a:ext cx="395710" cy="338154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3" name="Oval 42"/>
          <p:cNvSpPr/>
          <p:nvPr/>
        </p:nvSpPr>
        <p:spPr>
          <a:xfrm>
            <a:off x="6690847" y="5961646"/>
            <a:ext cx="395710" cy="338154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4" name="Oval 43"/>
          <p:cNvSpPr/>
          <p:nvPr/>
        </p:nvSpPr>
        <p:spPr>
          <a:xfrm>
            <a:off x="6087237" y="5996675"/>
            <a:ext cx="395710" cy="338154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Oval 44"/>
          <p:cNvSpPr/>
          <p:nvPr/>
        </p:nvSpPr>
        <p:spPr>
          <a:xfrm>
            <a:off x="3180999" y="6036194"/>
            <a:ext cx="395710" cy="338154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6" name="Oval 45"/>
          <p:cNvSpPr/>
          <p:nvPr/>
        </p:nvSpPr>
        <p:spPr>
          <a:xfrm>
            <a:off x="5020510" y="5996675"/>
            <a:ext cx="395710" cy="338154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7" name="Oval 46"/>
          <p:cNvSpPr/>
          <p:nvPr/>
        </p:nvSpPr>
        <p:spPr>
          <a:xfrm>
            <a:off x="4416900" y="6016039"/>
            <a:ext cx="395710" cy="338154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8" name="Oval 47"/>
          <p:cNvSpPr/>
          <p:nvPr/>
        </p:nvSpPr>
        <p:spPr>
          <a:xfrm>
            <a:off x="3813290" y="6051068"/>
            <a:ext cx="395710" cy="338154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9" name="Oval 48"/>
          <p:cNvSpPr/>
          <p:nvPr/>
        </p:nvSpPr>
        <p:spPr>
          <a:xfrm>
            <a:off x="2009050" y="6493150"/>
            <a:ext cx="395710" cy="338154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0" name="Oval 49"/>
          <p:cNvSpPr/>
          <p:nvPr/>
        </p:nvSpPr>
        <p:spPr>
          <a:xfrm>
            <a:off x="4449891" y="6453631"/>
            <a:ext cx="395710" cy="338154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1" name="Oval 50"/>
          <p:cNvSpPr/>
          <p:nvPr/>
        </p:nvSpPr>
        <p:spPr>
          <a:xfrm>
            <a:off x="3848561" y="6453631"/>
            <a:ext cx="395710" cy="338154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2" name="Oval 51"/>
          <p:cNvSpPr/>
          <p:nvPr/>
        </p:nvSpPr>
        <p:spPr>
          <a:xfrm>
            <a:off x="3244951" y="6472995"/>
            <a:ext cx="395710" cy="338154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3" name="Oval 52"/>
          <p:cNvSpPr/>
          <p:nvPr/>
        </p:nvSpPr>
        <p:spPr>
          <a:xfrm>
            <a:off x="2641341" y="6508024"/>
            <a:ext cx="395710" cy="338154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4" name="Oval 53"/>
          <p:cNvSpPr/>
          <p:nvPr/>
        </p:nvSpPr>
        <p:spPr>
          <a:xfrm>
            <a:off x="-264897" y="6547543"/>
            <a:ext cx="395710" cy="338154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5" name="Oval 54"/>
          <p:cNvSpPr/>
          <p:nvPr/>
        </p:nvSpPr>
        <p:spPr>
          <a:xfrm>
            <a:off x="1574614" y="6508024"/>
            <a:ext cx="395710" cy="338154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6" name="Oval 55"/>
          <p:cNvSpPr/>
          <p:nvPr/>
        </p:nvSpPr>
        <p:spPr>
          <a:xfrm>
            <a:off x="971004" y="6527388"/>
            <a:ext cx="395710" cy="338154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7" name="Oval 56"/>
          <p:cNvSpPr/>
          <p:nvPr/>
        </p:nvSpPr>
        <p:spPr>
          <a:xfrm>
            <a:off x="367394" y="6562417"/>
            <a:ext cx="395710" cy="338154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8" name="Oval 57"/>
          <p:cNvSpPr/>
          <p:nvPr/>
        </p:nvSpPr>
        <p:spPr>
          <a:xfrm>
            <a:off x="2332630" y="6254015"/>
            <a:ext cx="395710" cy="338154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9" name="Oval 58"/>
          <p:cNvSpPr/>
          <p:nvPr/>
        </p:nvSpPr>
        <p:spPr>
          <a:xfrm>
            <a:off x="4773471" y="6214496"/>
            <a:ext cx="395710" cy="338154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0" name="Oval 59"/>
          <p:cNvSpPr/>
          <p:nvPr/>
        </p:nvSpPr>
        <p:spPr>
          <a:xfrm>
            <a:off x="4172141" y="6214496"/>
            <a:ext cx="395710" cy="338154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1" name="Oval 60"/>
          <p:cNvSpPr/>
          <p:nvPr/>
        </p:nvSpPr>
        <p:spPr>
          <a:xfrm>
            <a:off x="3568531" y="6233860"/>
            <a:ext cx="395710" cy="338154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2" name="Oval 61"/>
          <p:cNvSpPr/>
          <p:nvPr/>
        </p:nvSpPr>
        <p:spPr>
          <a:xfrm>
            <a:off x="2964921" y="6268889"/>
            <a:ext cx="395710" cy="338154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3" name="Oval 62"/>
          <p:cNvSpPr/>
          <p:nvPr/>
        </p:nvSpPr>
        <p:spPr>
          <a:xfrm>
            <a:off x="58683" y="6308408"/>
            <a:ext cx="395710" cy="338154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4" name="Oval 63"/>
          <p:cNvSpPr/>
          <p:nvPr/>
        </p:nvSpPr>
        <p:spPr>
          <a:xfrm>
            <a:off x="1898194" y="6268889"/>
            <a:ext cx="395710" cy="338154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5" name="Oval 64"/>
          <p:cNvSpPr/>
          <p:nvPr/>
        </p:nvSpPr>
        <p:spPr>
          <a:xfrm>
            <a:off x="1294584" y="6288253"/>
            <a:ext cx="395710" cy="338154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6" name="Oval 65"/>
          <p:cNvSpPr/>
          <p:nvPr/>
        </p:nvSpPr>
        <p:spPr>
          <a:xfrm>
            <a:off x="690974" y="6323282"/>
            <a:ext cx="395710" cy="338154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8" name="Oval 67"/>
          <p:cNvSpPr/>
          <p:nvPr/>
        </p:nvSpPr>
        <p:spPr>
          <a:xfrm>
            <a:off x="2083892" y="5875551"/>
            <a:ext cx="395710" cy="338154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2" name="Oval 71"/>
          <p:cNvSpPr/>
          <p:nvPr/>
        </p:nvSpPr>
        <p:spPr>
          <a:xfrm>
            <a:off x="4524733" y="5836032"/>
            <a:ext cx="395710" cy="338154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4" name="Oval 73"/>
          <p:cNvSpPr/>
          <p:nvPr/>
        </p:nvSpPr>
        <p:spPr>
          <a:xfrm>
            <a:off x="3923403" y="5836032"/>
            <a:ext cx="395710" cy="338154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5" name="Oval 74"/>
          <p:cNvSpPr/>
          <p:nvPr/>
        </p:nvSpPr>
        <p:spPr>
          <a:xfrm>
            <a:off x="3319793" y="5855396"/>
            <a:ext cx="395710" cy="338154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7" name="Oval 76"/>
          <p:cNvSpPr/>
          <p:nvPr/>
        </p:nvSpPr>
        <p:spPr>
          <a:xfrm>
            <a:off x="2716183" y="5890425"/>
            <a:ext cx="395710" cy="338154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8" name="Oval 77"/>
          <p:cNvSpPr/>
          <p:nvPr/>
        </p:nvSpPr>
        <p:spPr>
          <a:xfrm>
            <a:off x="-190055" y="5929944"/>
            <a:ext cx="395710" cy="338154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0" name="Oval 79"/>
          <p:cNvSpPr/>
          <p:nvPr/>
        </p:nvSpPr>
        <p:spPr>
          <a:xfrm>
            <a:off x="1649456" y="5890425"/>
            <a:ext cx="395710" cy="338154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1" name="Oval 80"/>
          <p:cNvSpPr/>
          <p:nvPr/>
        </p:nvSpPr>
        <p:spPr>
          <a:xfrm>
            <a:off x="1045846" y="5909789"/>
            <a:ext cx="395710" cy="338154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3" name="Oval 82"/>
          <p:cNvSpPr/>
          <p:nvPr/>
        </p:nvSpPr>
        <p:spPr>
          <a:xfrm>
            <a:off x="442236" y="5944818"/>
            <a:ext cx="395710" cy="338154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4" name="Oval 83"/>
          <p:cNvSpPr/>
          <p:nvPr/>
        </p:nvSpPr>
        <p:spPr>
          <a:xfrm>
            <a:off x="7422493" y="6450803"/>
            <a:ext cx="395710" cy="338154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5" name="Oval 84"/>
          <p:cNvSpPr/>
          <p:nvPr/>
        </p:nvSpPr>
        <p:spPr>
          <a:xfrm>
            <a:off x="9863334" y="6411284"/>
            <a:ext cx="395710" cy="338154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6" name="Oval 85"/>
          <p:cNvSpPr/>
          <p:nvPr/>
        </p:nvSpPr>
        <p:spPr>
          <a:xfrm>
            <a:off x="9262004" y="6411284"/>
            <a:ext cx="395710" cy="338154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7" name="Oval 86"/>
          <p:cNvSpPr/>
          <p:nvPr/>
        </p:nvSpPr>
        <p:spPr>
          <a:xfrm>
            <a:off x="8658394" y="6430648"/>
            <a:ext cx="395710" cy="338154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8" name="Oval 87"/>
          <p:cNvSpPr/>
          <p:nvPr/>
        </p:nvSpPr>
        <p:spPr>
          <a:xfrm>
            <a:off x="8054784" y="6465677"/>
            <a:ext cx="395710" cy="338154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9" name="Oval 88"/>
          <p:cNvSpPr/>
          <p:nvPr/>
        </p:nvSpPr>
        <p:spPr>
          <a:xfrm>
            <a:off x="5148546" y="6505196"/>
            <a:ext cx="395710" cy="338154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0" name="Oval 89"/>
          <p:cNvSpPr/>
          <p:nvPr/>
        </p:nvSpPr>
        <p:spPr>
          <a:xfrm>
            <a:off x="6988057" y="6465677"/>
            <a:ext cx="395710" cy="338154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1" name="Oval 90"/>
          <p:cNvSpPr/>
          <p:nvPr/>
        </p:nvSpPr>
        <p:spPr>
          <a:xfrm>
            <a:off x="6384447" y="6485041"/>
            <a:ext cx="395710" cy="338154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2" name="Oval 91"/>
          <p:cNvSpPr/>
          <p:nvPr/>
        </p:nvSpPr>
        <p:spPr>
          <a:xfrm>
            <a:off x="5780837" y="6520070"/>
            <a:ext cx="395710" cy="338154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3" name="Oval 92"/>
          <p:cNvSpPr/>
          <p:nvPr/>
        </p:nvSpPr>
        <p:spPr>
          <a:xfrm>
            <a:off x="7267781" y="5679555"/>
            <a:ext cx="395710" cy="338154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4" name="Oval 93"/>
          <p:cNvSpPr/>
          <p:nvPr/>
        </p:nvSpPr>
        <p:spPr>
          <a:xfrm>
            <a:off x="9708622" y="5640036"/>
            <a:ext cx="395710" cy="338154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5" name="Oval 94"/>
          <p:cNvSpPr/>
          <p:nvPr/>
        </p:nvSpPr>
        <p:spPr>
          <a:xfrm>
            <a:off x="9107292" y="5640036"/>
            <a:ext cx="395710" cy="338154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6" name="Oval 95"/>
          <p:cNvSpPr/>
          <p:nvPr/>
        </p:nvSpPr>
        <p:spPr>
          <a:xfrm>
            <a:off x="8503682" y="5659400"/>
            <a:ext cx="395710" cy="338154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7" name="Oval 96"/>
          <p:cNvSpPr/>
          <p:nvPr/>
        </p:nvSpPr>
        <p:spPr>
          <a:xfrm>
            <a:off x="7900072" y="5694429"/>
            <a:ext cx="395710" cy="338154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8" name="Oval 97"/>
          <p:cNvSpPr/>
          <p:nvPr/>
        </p:nvSpPr>
        <p:spPr>
          <a:xfrm>
            <a:off x="4993834" y="5733948"/>
            <a:ext cx="395710" cy="338154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9" name="Oval 98"/>
          <p:cNvSpPr/>
          <p:nvPr/>
        </p:nvSpPr>
        <p:spPr>
          <a:xfrm>
            <a:off x="6833345" y="5694429"/>
            <a:ext cx="395710" cy="338154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0" name="Oval 99"/>
          <p:cNvSpPr/>
          <p:nvPr/>
        </p:nvSpPr>
        <p:spPr>
          <a:xfrm>
            <a:off x="6229735" y="5713793"/>
            <a:ext cx="395710" cy="338154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1" name="Oval 100"/>
          <p:cNvSpPr/>
          <p:nvPr/>
        </p:nvSpPr>
        <p:spPr>
          <a:xfrm>
            <a:off x="5626125" y="5748822"/>
            <a:ext cx="395710" cy="338154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02" name="Picture 10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65065" y="1934897"/>
            <a:ext cx="3240157" cy="977732"/>
          </a:xfrm>
          <a:prstGeom prst="rect">
            <a:avLst/>
          </a:prstGeom>
        </p:spPr>
      </p:pic>
      <p:sp>
        <p:nvSpPr>
          <p:cNvPr id="104" name="Down Arrow 103"/>
          <p:cNvSpPr/>
          <p:nvPr/>
        </p:nvSpPr>
        <p:spPr>
          <a:xfrm>
            <a:off x="7590120" y="1371467"/>
            <a:ext cx="670284" cy="677674"/>
          </a:xfrm>
          <a:prstGeom prst="downArrow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DE676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TextBox 104"/>
          <p:cNvSpPr txBox="1"/>
          <p:nvPr/>
        </p:nvSpPr>
        <p:spPr>
          <a:xfrm>
            <a:off x="7590120" y="985141"/>
            <a:ext cx="1463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DE6769"/>
                </a:solidFill>
              </a:rPr>
              <a:t>WINNER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408820" y="2380720"/>
            <a:ext cx="1628910" cy="1015663"/>
          </a:xfrm>
          <a:prstGeom prst="rect">
            <a:avLst/>
          </a:prstGeom>
          <a:solidFill>
            <a:schemeClr val="bg1"/>
          </a:solidFill>
          <a:ln>
            <a:solidFill>
              <a:srgbClr val="DE6769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DE6769"/>
                </a:solidFill>
              </a:rPr>
              <a:t>Most work at the bottom of the tree!</a:t>
            </a:r>
          </a:p>
        </p:txBody>
      </p:sp>
    </p:spTree>
    <p:extLst>
      <p:ext uri="{BB962C8B-B14F-4D97-AF65-F5344CB8AC3E}">
        <p14:creationId xmlns:p14="http://schemas.microsoft.com/office/powerpoint/2010/main" val="1685189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 build="p"/>
      <p:bldP spid="104" grpId="0" animBg="1"/>
      <p:bldP spid="105" grpId="0"/>
      <p:bldP spid="110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6913" y="125580"/>
            <a:ext cx="9946585" cy="1325563"/>
          </a:xfrm>
        </p:spPr>
        <p:txBody>
          <a:bodyPr/>
          <a:lstStyle/>
          <a:p>
            <a:r>
              <a:rPr lang="en-US" dirty="0"/>
              <a:t>Second example: just right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Rectangle 66"/>
              <p:cNvSpPr/>
              <p:nvPr/>
            </p:nvSpPr>
            <p:spPr>
              <a:xfrm>
                <a:off x="0" y="1197708"/>
                <a:ext cx="6474016" cy="73718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971550" lvl="1" indent="-514350">
                  <a:buFont typeface="+mj-lt"/>
                  <a:buAutoNum type="arabicPeriod" startAt="2"/>
                </a:pP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chemeClr val="accent4"/>
                        </a:solidFill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sz="2800" i="1" dirty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dirty="0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𝑛</m:t>
                        </m:r>
                      </m:e>
                    </m:d>
                    <m:r>
                      <a:rPr lang="en-US" sz="2800" i="1" dirty="0">
                        <a:solidFill>
                          <a:schemeClr val="accent4"/>
                        </a:solidFill>
                        <a:latin typeface="Cambria Math" charset="0"/>
                      </a:rPr>
                      <m:t>=</m:t>
                    </m:r>
                    <m:r>
                      <a:rPr lang="en-US" sz="2800" b="0" i="1" dirty="0" smtClean="0">
                        <a:solidFill>
                          <a:schemeClr val="accent4"/>
                        </a:solidFill>
                        <a:latin typeface="Cambria Math" charset="0"/>
                      </a:rPr>
                      <m:t>2⋅</m:t>
                    </m:r>
                    <m:r>
                      <a:rPr lang="en-US" sz="2800" i="1" dirty="0">
                        <a:solidFill>
                          <a:schemeClr val="accent4"/>
                        </a:solidFill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sz="2800" i="1" dirty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800" i="1" dirty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i="1" dirty="0">
                                <a:solidFill>
                                  <a:schemeClr val="accent4"/>
                                </a:solidFill>
                                <a:latin typeface="Cambria Math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2800" i="1" dirty="0">
                                <a:solidFill>
                                  <a:schemeClr val="accent4"/>
                                </a:solidFill>
                                <a:latin typeface="Cambria Math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sz="2800" i="1" dirty="0">
                        <a:solidFill>
                          <a:schemeClr val="accent4"/>
                        </a:solidFill>
                        <a:latin typeface="Cambria Math" charset="0"/>
                      </a:rPr>
                      <m:t>+</m:t>
                    </m:r>
                    <m:r>
                      <a:rPr lang="en-US" sz="2800" b="0" i="1" dirty="0" smtClean="0">
                        <a:solidFill>
                          <a:schemeClr val="accent4"/>
                        </a:solidFill>
                        <a:latin typeface="Cambria Math" charset="0"/>
                      </a:rPr>
                      <m:t>𝑛</m:t>
                    </m:r>
                    <m:r>
                      <a:rPr lang="en-US" sz="2800" b="0" i="1" dirty="0" smtClean="0">
                        <a:solidFill>
                          <a:schemeClr val="accent4"/>
                        </a:solidFill>
                        <a:latin typeface="Cambria Math" charset="0"/>
                      </a:rPr>
                      <m:t>,        </m:t>
                    </m:r>
                    <m:d>
                      <m:dPr>
                        <m:ctrlPr>
                          <a:rPr lang="en-US" sz="2800" b="0" i="1" dirty="0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dirty="0" smtClean="0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𝑎</m:t>
                        </m:r>
                        <m:r>
                          <a:rPr lang="en-US" sz="2800" b="0" i="1" dirty="0" smtClean="0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sz="2800" b="0" i="1" dirty="0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dirty="0" smtClean="0">
                                <a:solidFill>
                                  <a:schemeClr val="accent4"/>
                                </a:solidFill>
                                <a:latin typeface="Cambria Math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sz="2800" b="0" i="1" dirty="0" smtClean="0">
                                <a:solidFill>
                                  <a:schemeClr val="accent4"/>
                                </a:solidFill>
                                <a:latin typeface="Cambria Math" charset="0"/>
                              </a:rPr>
                              <m:t>𝑑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800" dirty="0">
                    <a:solidFill>
                      <a:schemeClr val="accent4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67" name="Rectangle 6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197708"/>
                <a:ext cx="6474016" cy="737189"/>
              </a:xfrm>
              <a:prstGeom prst="rect">
                <a:avLst/>
              </a:prstGeom>
              <a:blipFill>
                <a:blip r:embed="rId2"/>
                <a:stretch>
                  <a:fillRect b="-1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TextBox 81"/>
          <p:cNvSpPr txBox="1"/>
          <p:nvPr/>
        </p:nvSpPr>
        <p:spPr>
          <a:xfrm>
            <a:off x="320488" y="2276770"/>
            <a:ext cx="456722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sz="2800" dirty="0"/>
              <a:t>The branching </a:t>
            </a:r>
            <a:r>
              <a:rPr lang="en-US" sz="2800" b="1" dirty="0"/>
              <a:t>just </a:t>
            </a:r>
            <a:r>
              <a:rPr lang="en-US" sz="2800" dirty="0"/>
              <a:t>balances out the amount of work.</a:t>
            </a:r>
            <a:endParaRPr lang="en-US" sz="2800" b="1" dirty="0"/>
          </a:p>
        </p:txBody>
      </p:sp>
      <p:sp>
        <p:nvSpPr>
          <p:cNvPr id="17" name="Oval 16"/>
          <p:cNvSpPr/>
          <p:nvPr/>
        </p:nvSpPr>
        <p:spPr>
          <a:xfrm>
            <a:off x="6491628" y="1433547"/>
            <a:ext cx="1590671" cy="70614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Size n</a:t>
            </a:r>
          </a:p>
        </p:txBody>
      </p:sp>
      <p:sp>
        <p:nvSpPr>
          <p:cNvPr id="18" name="Oval 17"/>
          <p:cNvSpPr/>
          <p:nvPr/>
        </p:nvSpPr>
        <p:spPr>
          <a:xfrm>
            <a:off x="5786358" y="2523271"/>
            <a:ext cx="1133899" cy="478086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n/2</a:t>
            </a:r>
          </a:p>
        </p:txBody>
      </p:sp>
      <p:sp>
        <p:nvSpPr>
          <p:cNvPr id="19" name="Oval 18"/>
          <p:cNvSpPr/>
          <p:nvPr/>
        </p:nvSpPr>
        <p:spPr>
          <a:xfrm>
            <a:off x="7750733" y="3286958"/>
            <a:ext cx="796640" cy="565757"/>
          </a:xfrm>
          <a:prstGeom prst="ellipse">
            <a:avLst/>
          </a:prstGeom>
          <a:solidFill>
            <a:srgbClr val="555B9A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n/4</a:t>
            </a:r>
            <a:endParaRPr lang="en-US" dirty="0"/>
          </a:p>
        </p:txBody>
      </p:sp>
      <p:sp>
        <p:nvSpPr>
          <p:cNvPr id="21" name="Oval 20"/>
          <p:cNvSpPr/>
          <p:nvPr/>
        </p:nvSpPr>
        <p:spPr>
          <a:xfrm>
            <a:off x="6155453" y="6246084"/>
            <a:ext cx="395710" cy="338154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Oval 21"/>
          <p:cNvSpPr/>
          <p:nvPr/>
        </p:nvSpPr>
        <p:spPr>
          <a:xfrm>
            <a:off x="7286963" y="2477293"/>
            <a:ext cx="1133899" cy="478086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n/2</a:t>
            </a:r>
          </a:p>
        </p:txBody>
      </p:sp>
      <p:sp>
        <p:nvSpPr>
          <p:cNvPr id="24" name="Oval 23"/>
          <p:cNvSpPr/>
          <p:nvPr/>
        </p:nvSpPr>
        <p:spPr>
          <a:xfrm>
            <a:off x="6698957" y="3308831"/>
            <a:ext cx="796640" cy="565757"/>
          </a:xfrm>
          <a:prstGeom prst="ellipse">
            <a:avLst/>
          </a:prstGeom>
          <a:solidFill>
            <a:srgbClr val="555B9A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n/4</a:t>
            </a:r>
            <a:endParaRPr lang="en-US" dirty="0"/>
          </a:p>
        </p:txBody>
      </p:sp>
      <p:sp>
        <p:nvSpPr>
          <p:cNvPr id="25" name="Oval 24"/>
          <p:cNvSpPr/>
          <p:nvPr/>
        </p:nvSpPr>
        <p:spPr>
          <a:xfrm>
            <a:off x="5694988" y="3304190"/>
            <a:ext cx="796640" cy="565757"/>
          </a:xfrm>
          <a:prstGeom prst="ellipse">
            <a:avLst/>
          </a:prstGeom>
          <a:solidFill>
            <a:srgbClr val="555B9A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n/4</a:t>
            </a:r>
            <a:endParaRPr lang="en-US" dirty="0"/>
          </a:p>
        </p:txBody>
      </p:sp>
      <p:sp>
        <p:nvSpPr>
          <p:cNvPr id="26" name="Oval 25"/>
          <p:cNvSpPr/>
          <p:nvPr/>
        </p:nvSpPr>
        <p:spPr>
          <a:xfrm>
            <a:off x="4752661" y="3309398"/>
            <a:ext cx="796640" cy="565757"/>
          </a:xfrm>
          <a:prstGeom prst="ellipse">
            <a:avLst/>
          </a:prstGeom>
          <a:solidFill>
            <a:srgbClr val="555B9A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n/4</a:t>
            </a:r>
            <a:endParaRPr lang="en-US" dirty="0"/>
          </a:p>
        </p:txBody>
      </p:sp>
      <p:sp>
        <p:nvSpPr>
          <p:cNvPr id="32" name="Oval 31"/>
          <p:cNvSpPr/>
          <p:nvPr/>
        </p:nvSpPr>
        <p:spPr>
          <a:xfrm>
            <a:off x="8596294" y="6206565"/>
            <a:ext cx="395710" cy="338154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7994964" y="6206565"/>
            <a:ext cx="395710" cy="338154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Oval 33"/>
          <p:cNvSpPr/>
          <p:nvPr/>
        </p:nvSpPr>
        <p:spPr>
          <a:xfrm>
            <a:off x="7391354" y="6225929"/>
            <a:ext cx="395710" cy="338154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6787744" y="6260958"/>
            <a:ext cx="395710" cy="338154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6" name="Oval 35"/>
          <p:cNvSpPr/>
          <p:nvPr/>
        </p:nvSpPr>
        <p:spPr>
          <a:xfrm>
            <a:off x="3881506" y="6300477"/>
            <a:ext cx="395710" cy="338154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5721017" y="6260958"/>
            <a:ext cx="395710" cy="338154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9" name="Oval 38"/>
          <p:cNvSpPr/>
          <p:nvPr/>
        </p:nvSpPr>
        <p:spPr>
          <a:xfrm>
            <a:off x="5117407" y="6280322"/>
            <a:ext cx="395710" cy="338154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0" name="Oval 39"/>
          <p:cNvSpPr/>
          <p:nvPr/>
        </p:nvSpPr>
        <p:spPr>
          <a:xfrm>
            <a:off x="4513797" y="6315351"/>
            <a:ext cx="395710" cy="338154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20488" y="3342901"/>
            <a:ext cx="428648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sz="2800" dirty="0"/>
              <a:t>The same amount of work is done at every level.</a:t>
            </a:r>
            <a:endParaRPr lang="en-US" sz="2800" b="1" dirty="0"/>
          </a:p>
        </p:txBody>
      </p:sp>
      <p:sp>
        <p:nvSpPr>
          <p:cNvPr id="5" name="Rectangle 4"/>
          <p:cNvSpPr/>
          <p:nvPr/>
        </p:nvSpPr>
        <p:spPr>
          <a:xfrm>
            <a:off x="320488" y="4436394"/>
            <a:ext cx="935568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sz="2800" dirty="0">
                <a:solidFill>
                  <a:srgbClr val="DE6769"/>
                </a:solidFill>
              </a:rPr>
              <a:t>T(n) = (number of levels) * (work per level)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800" dirty="0">
                <a:solidFill>
                  <a:srgbClr val="DE6769"/>
                </a:solidFill>
              </a:rPr>
              <a:t>        =  log(n) * O(n) = O(n log(n))</a:t>
            </a:r>
          </a:p>
        </p:txBody>
      </p:sp>
      <p:sp>
        <p:nvSpPr>
          <p:cNvPr id="44" name="Oval 43"/>
          <p:cNvSpPr/>
          <p:nvPr/>
        </p:nvSpPr>
        <p:spPr>
          <a:xfrm>
            <a:off x="2622546" y="6313729"/>
            <a:ext cx="395710" cy="338154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7" name="Picture 46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1753" y="5824863"/>
            <a:ext cx="3240157" cy="9777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58744" y="5650950"/>
            <a:ext cx="11020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>
                <a:solidFill>
                  <a:schemeClr val="accent4"/>
                </a:solidFill>
              </a:rPr>
              <a:t>TIE!</a:t>
            </a:r>
          </a:p>
        </p:txBody>
      </p:sp>
    </p:spTree>
    <p:extLst>
      <p:ext uri="{BB962C8B-B14F-4D97-AF65-F5344CB8AC3E}">
        <p14:creationId xmlns:p14="http://schemas.microsoft.com/office/powerpoint/2010/main" val="1364319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/>
      <p:bldP spid="41" grpId="0"/>
      <p:bldP spid="5" grpId="0" build="p"/>
      <p:bldP spid="7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have we learned?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68705"/>
            <a:ext cx="7886700" cy="135489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</a:t>
            </a:r>
            <a:r>
              <a:rPr lang="en-US" dirty="0">
                <a:solidFill>
                  <a:schemeClr val="accent4"/>
                </a:solidFill>
              </a:rPr>
              <a:t>“Master Method” </a:t>
            </a:r>
            <a:r>
              <a:rPr lang="en-US" dirty="0"/>
              <a:t>makes our lives easier.</a:t>
            </a:r>
          </a:p>
          <a:p>
            <a:r>
              <a:rPr lang="en-US" dirty="0"/>
              <a:t>But it’s basically just codifying a calculation we could do from scratch if we wanted to.</a:t>
            </a:r>
          </a:p>
        </p:txBody>
      </p:sp>
    </p:spTree>
    <p:extLst>
      <p:ext uri="{BB962C8B-B14F-4D97-AF65-F5344CB8AC3E}">
        <p14:creationId xmlns:p14="http://schemas.microsoft.com/office/powerpoint/2010/main" val="191212573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31721-33E7-0147-800A-5FC23633F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Substitution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C06FE5-48FA-E24D-A018-37601C70BD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Another way to solve recurrence relations.</a:t>
            </a:r>
          </a:p>
          <a:p>
            <a:r>
              <a:rPr lang="en-US" dirty="0"/>
              <a:t>More general than the master method.</a:t>
            </a:r>
          </a:p>
          <a:p>
            <a:endParaRPr lang="en-US" dirty="0"/>
          </a:p>
          <a:p>
            <a:r>
              <a:rPr lang="en-US" dirty="0">
                <a:solidFill>
                  <a:schemeClr val="accent4"/>
                </a:solidFill>
              </a:rPr>
              <a:t>Step 1</a:t>
            </a:r>
            <a:r>
              <a:rPr lang="en-US" dirty="0"/>
              <a:t>: Generate a guess at the correct answer.</a:t>
            </a:r>
          </a:p>
          <a:p>
            <a:r>
              <a:rPr lang="en-US" dirty="0">
                <a:solidFill>
                  <a:schemeClr val="accent4"/>
                </a:solidFill>
              </a:rPr>
              <a:t>Step 2</a:t>
            </a:r>
            <a:r>
              <a:rPr lang="en-US" dirty="0"/>
              <a:t>: Try to prove that your guess is correct.</a:t>
            </a:r>
          </a:p>
          <a:p>
            <a:r>
              <a:rPr lang="en-US" dirty="0">
                <a:solidFill>
                  <a:schemeClr val="accent4"/>
                </a:solidFill>
              </a:rPr>
              <a:t>(Step 3</a:t>
            </a:r>
            <a:r>
              <a:rPr lang="en-US" dirty="0"/>
              <a:t>: Profit.)</a:t>
            </a:r>
          </a:p>
        </p:txBody>
      </p:sp>
    </p:spTree>
    <p:extLst>
      <p:ext uri="{BB962C8B-B14F-4D97-AF65-F5344CB8AC3E}">
        <p14:creationId xmlns:p14="http://schemas.microsoft.com/office/powerpoint/2010/main" val="4257291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CFC2D-3729-B04A-80DD-31F7519D4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365126"/>
            <a:ext cx="8231145" cy="1325563"/>
          </a:xfrm>
        </p:spPr>
        <p:txBody>
          <a:bodyPr/>
          <a:lstStyle/>
          <a:p>
            <a:r>
              <a:rPr lang="en-US" dirty="0"/>
              <a:t>The Substitution Method </a:t>
            </a:r>
            <a:br>
              <a:rPr lang="en-US" dirty="0"/>
            </a:br>
            <a:r>
              <a:rPr lang="en-US" sz="2800" dirty="0"/>
              <a:t>first example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1AA6AE-4FF2-6840-9B23-801B35CA2C1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Let’s return to: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=2⋅</m:t>
                    </m:r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, with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=0, </m:t>
                    </m:r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=1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The Master Method says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func>
                          <m:funcPr>
                            <m:ctrlP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e>
                        </m:func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We will prove this via the Substitution Method.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1AA6AE-4FF2-6840-9B23-801B35CA2C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47" t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7137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7B1A3-9F2E-1A46-9D5C-EADD08DA9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1: Guess the answer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BC9FC0-98B2-3241-99BF-4C839B314C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49" y="1529059"/>
                <a:ext cx="9343254" cy="4711099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400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400" i="1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=2⋅</m:t>
                    </m:r>
                    <m:r>
                      <a:rPr lang="en-US" sz="2400" i="1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400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2400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sz="2400" i="1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400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400" i="1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=2⋅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2⋅</m:t>
                        </m:r>
                        <m:r>
                          <a:rPr lang="en-US" sz="24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d>
                          <m:dPr>
                            <m:ctrlPr>
                              <a:rPr lang="en-US" sz="2400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b="0" i="1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0" i="1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US" sz="2400" b="0" i="1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  <m:r>
                          <a:rPr lang="en-US" sz="24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sz="2400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2400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sz="2400" i="1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2400" dirty="0"/>
              </a:p>
              <a:p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400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400" i="1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4⋅</m:t>
                    </m:r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2400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2400" dirty="0"/>
              </a:p>
              <a:p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400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400" i="1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=4⋅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2⋅</m:t>
                        </m:r>
                        <m:r>
                          <a:rPr lang="en-US" sz="24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d>
                          <m:dPr>
                            <m:ctrlPr>
                              <a:rPr lang="en-US" sz="2400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b="0" i="1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0" i="1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US" sz="2400" b="0" i="1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den>
                            </m:f>
                          </m:e>
                        </m:d>
                        <m:r>
                          <a:rPr lang="en-US" sz="24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sz="2400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2400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a:rPr lang="en-US" sz="2400" i="1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400" i="1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2400" dirty="0"/>
              </a:p>
              <a:p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400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400" i="1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8⋅</m:t>
                    </m:r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2400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+3</m:t>
                    </m:r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…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BC9FC0-98B2-3241-99BF-4C839B314C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529059"/>
                <a:ext cx="9343254" cy="4711099"/>
              </a:xfrm>
              <a:blipFill>
                <a:blip r:embed="rId2"/>
                <a:stretch>
                  <a:fillRect l="-6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1B14554-851F-DF47-97D9-ADC952235AFA}"/>
                  </a:ext>
                </a:extLst>
              </p:cNvPr>
              <p:cNvSpPr/>
              <p:nvPr/>
            </p:nvSpPr>
            <p:spPr>
              <a:xfrm>
                <a:off x="3966519" y="111691"/>
                <a:ext cx="5424616" cy="5068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=2⋅</m:t>
                    </m:r>
                    <m:r>
                      <a:rPr lang="en-US" i="1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i="1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, with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i="1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=1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1B14554-851F-DF47-97D9-ADC952235A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6519" y="111691"/>
                <a:ext cx="5424616" cy="506870"/>
              </a:xfrm>
              <a:prstGeom prst="rect">
                <a:avLst/>
              </a:prstGeom>
              <a:blipFill>
                <a:blip r:embed="rId3"/>
                <a:stretch>
                  <a:fillRect b="-48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reeform 4">
            <a:extLst>
              <a:ext uri="{FF2B5EF4-FFF2-40B4-BE49-F238E27FC236}">
                <a16:creationId xmlns:a16="http://schemas.microsoft.com/office/drawing/2014/main" id="{DE629966-4AAF-6A4F-B29D-C63E6BBA5ADD}"/>
              </a:ext>
            </a:extLst>
          </p:cNvPr>
          <p:cNvSpPr/>
          <p:nvPr/>
        </p:nvSpPr>
        <p:spPr>
          <a:xfrm>
            <a:off x="3929451" y="1810485"/>
            <a:ext cx="1235675" cy="611436"/>
          </a:xfrm>
          <a:custGeom>
            <a:avLst/>
            <a:gdLst>
              <a:gd name="connsiteX0" fmla="*/ 0 w 952759"/>
              <a:gd name="connsiteY0" fmla="*/ 2901 h 583669"/>
              <a:gd name="connsiteX1" fmla="*/ 580768 w 952759"/>
              <a:gd name="connsiteY1" fmla="*/ 52328 h 583669"/>
              <a:gd name="connsiteX2" fmla="*/ 951470 w 952759"/>
              <a:gd name="connsiteY2" fmla="*/ 361247 h 583669"/>
              <a:gd name="connsiteX3" fmla="*/ 679622 w 952759"/>
              <a:gd name="connsiteY3" fmla="*/ 583669 h 583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52759" h="583669">
                <a:moveTo>
                  <a:pt x="0" y="2901"/>
                </a:moveTo>
                <a:cubicBezTo>
                  <a:pt x="211095" y="-2248"/>
                  <a:pt x="422190" y="-7396"/>
                  <a:pt x="580768" y="52328"/>
                </a:cubicBezTo>
                <a:cubicBezTo>
                  <a:pt x="739346" y="112052"/>
                  <a:pt x="934994" y="272690"/>
                  <a:pt x="951470" y="361247"/>
                </a:cubicBezTo>
                <a:cubicBezTo>
                  <a:pt x="967946" y="449804"/>
                  <a:pt x="823784" y="516736"/>
                  <a:pt x="679622" y="583669"/>
                </a:cubicBezTo>
              </a:path>
            </a:pathLst>
          </a:custGeom>
          <a:noFill/>
          <a:ln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9C217F9-CA84-864E-98A8-3DCF79991107}"/>
                  </a:ext>
                </a:extLst>
              </p:cNvPr>
              <p:cNvSpPr txBox="1"/>
              <p:nvPr/>
            </p:nvSpPr>
            <p:spPr>
              <a:xfrm>
                <a:off x="5165126" y="1809476"/>
                <a:ext cx="1433384" cy="5068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accent6"/>
                    </a:solidFill>
                  </a:rPr>
                  <a:t>Expand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lang="en-US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9C217F9-CA84-864E-98A8-3DCF799911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5126" y="1809476"/>
                <a:ext cx="1433384" cy="506870"/>
              </a:xfrm>
              <a:prstGeom prst="rect">
                <a:avLst/>
              </a:prstGeom>
              <a:blipFill>
                <a:blip r:embed="rId4"/>
                <a:stretch>
                  <a:fillRect l="-3509" b="-73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Freeform 6">
            <a:extLst>
              <a:ext uri="{FF2B5EF4-FFF2-40B4-BE49-F238E27FC236}">
                <a16:creationId xmlns:a16="http://schemas.microsoft.com/office/drawing/2014/main" id="{54236AA8-E79B-5A40-925F-CF99F2B637C9}"/>
              </a:ext>
            </a:extLst>
          </p:cNvPr>
          <p:cNvSpPr/>
          <p:nvPr/>
        </p:nvSpPr>
        <p:spPr>
          <a:xfrm>
            <a:off x="4213657" y="3090207"/>
            <a:ext cx="1190661" cy="611436"/>
          </a:xfrm>
          <a:custGeom>
            <a:avLst/>
            <a:gdLst>
              <a:gd name="connsiteX0" fmla="*/ 0 w 952759"/>
              <a:gd name="connsiteY0" fmla="*/ 2901 h 583669"/>
              <a:gd name="connsiteX1" fmla="*/ 580768 w 952759"/>
              <a:gd name="connsiteY1" fmla="*/ 52328 h 583669"/>
              <a:gd name="connsiteX2" fmla="*/ 951470 w 952759"/>
              <a:gd name="connsiteY2" fmla="*/ 361247 h 583669"/>
              <a:gd name="connsiteX3" fmla="*/ 679622 w 952759"/>
              <a:gd name="connsiteY3" fmla="*/ 583669 h 583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52759" h="583669">
                <a:moveTo>
                  <a:pt x="0" y="2901"/>
                </a:moveTo>
                <a:cubicBezTo>
                  <a:pt x="211095" y="-2248"/>
                  <a:pt x="422190" y="-7396"/>
                  <a:pt x="580768" y="52328"/>
                </a:cubicBezTo>
                <a:cubicBezTo>
                  <a:pt x="739346" y="112052"/>
                  <a:pt x="934994" y="272690"/>
                  <a:pt x="951470" y="361247"/>
                </a:cubicBezTo>
                <a:cubicBezTo>
                  <a:pt x="967946" y="449804"/>
                  <a:pt x="823784" y="516736"/>
                  <a:pt x="679622" y="583669"/>
                </a:cubicBezTo>
              </a:path>
            </a:pathLst>
          </a:custGeom>
          <a:noFill/>
          <a:ln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1CCD9BA-B4DB-6B47-B8A9-DF68FBFB1AAD}"/>
                  </a:ext>
                </a:extLst>
              </p:cNvPr>
              <p:cNvSpPr txBox="1"/>
              <p:nvPr/>
            </p:nvSpPr>
            <p:spPr>
              <a:xfrm>
                <a:off x="5387747" y="3173583"/>
                <a:ext cx="1433384" cy="5068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accent6"/>
                    </a:solidFill>
                  </a:rPr>
                  <a:t>Expand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endParaRPr lang="en-US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1CCD9BA-B4DB-6B47-B8A9-DF68FBFB1A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7747" y="3173583"/>
                <a:ext cx="1433384" cy="506870"/>
              </a:xfrm>
              <a:prstGeom prst="rect">
                <a:avLst/>
              </a:prstGeom>
              <a:blipFill>
                <a:blip r:embed="rId5"/>
                <a:stretch>
                  <a:fillRect l="-2632" b="-48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Freeform 8">
            <a:extLst>
              <a:ext uri="{FF2B5EF4-FFF2-40B4-BE49-F238E27FC236}">
                <a16:creationId xmlns:a16="http://schemas.microsoft.com/office/drawing/2014/main" id="{363D870C-438C-D940-8280-F8508770F96F}"/>
              </a:ext>
            </a:extLst>
          </p:cNvPr>
          <p:cNvSpPr/>
          <p:nvPr/>
        </p:nvSpPr>
        <p:spPr>
          <a:xfrm>
            <a:off x="4250727" y="2496060"/>
            <a:ext cx="984620" cy="494271"/>
          </a:xfrm>
          <a:custGeom>
            <a:avLst/>
            <a:gdLst>
              <a:gd name="connsiteX0" fmla="*/ 926757 w 1261341"/>
              <a:gd name="connsiteY0" fmla="*/ 0 h 494271"/>
              <a:gd name="connsiteX1" fmla="*/ 1260389 w 1261341"/>
              <a:gd name="connsiteY1" fmla="*/ 98854 h 494271"/>
              <a:gd name="connsiteX2" fmla="*/ 988541 w 1261341"/>
              <a:gd name="connsiteY2" fmla="*/ 321276 h 494271"/>
              <a:gd name="connsiteX3" fmla="*/ 0 w 1261341"/>
              <a:gd name="connsiteY3" fmla="*/ 494271 h 494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61341" h="494271">
                <a:moveTo>
                  <a:pt x="926757" y="0"/>
                </a:moveTo>
                <a:cubicBezTo>
                  <a:pt x="1088424" y="22654"/>
                  <a:pt x="1250092" y="45308"/>
                  <a:pt x="1260389" y="98854"/>
                </a:cubicBezTo>
                <a:cubicBezTo>
                  <a:pt x="1270686" y="152400"/>
                  <a:pt x="1198606" y="255373"/>
                  <a:pt x="988541" y="321276"/>
                </a:cubicBezTo>
                <a:cubicBezTo>
                  <a:pt x="778476" y="387179"/>
                  <a:pt x="389238" y="440725"/>
                  <a:pt x="0" y="494271"/>
                </a:cubicBezTo>
              </a:path>
            </a:pathLst>
          </a:custGeom>
          <a:noFill/>
          <a:ln>
            <a:solidFill>
              <a:schemeClr val="accent4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BC8A09-8936-5E4A-9AC2-117CE41D9A18}"/>
              </a:ext>
            </a:extLst>
          </p:cNvPr>
          <p:cNvSpPr txBox="1"/>
          <p:nvPr/>
        </p:nvSpPr>
        <p:spPr>
          <a:xfrm>
            <a:off x="5165126" y="2594183"/>
            <a:ext cx="1433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Simplify</a:t>
            </a: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FBD2AA5E-E3A3-8C42-A01D-F6954C0CA119}"/>
              </a:ext>
            </a:extLst>
          </p:cNvPr>
          <p:cNvSpPr/>
          <p:nvPr/>
        </p:nvSpPr>
        <p:spPr>
          <a:xfrm>
            <a:off x="4403127" y="3851921"/>
            <a:ext cx="984620" cy="494271"/>
          </a:xfrm>
          <a:custGeom>
            <a:avLst/>
            <a:gdLst>
              <a:gd name="connsiteX0" fmla="*/ 926757 w 1261341"/>
              <a:gd name="connsiteY0" fmla="*/ 0 h 494271"/>
              <a:gd name="connsiteX1" fmla="*/ 1260389 w 1261341"/>
              <a:gd name="connsiteY1" fmla="*/ 98854 h 494271"/>
              <a:gd name="connsiteX2" fmla="*/ 988541 w 1261341"/>
              <a:gd name="connsiteY2" fmla="*/ 321276 h 494271"/>
              <a:gd name="connsiteX3" fmla="*/ 0 w 1261341"/>
              <a:gd name="connsiteY3" fmla="*/ 494271 h 494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61341" h="494271">
                <a:moveTo>
                  <a:pt x="926757" y="0"/>
                </a:moveTo>
                <a:cubicBezTo>
                  <a:pt x="1088424" y="22654"/>
                  <a:pt x="1250092" y="45308"/>
                  <a:pt x="1260389" y="98854"/>
                </a:cubicBezTo>
                <a:cubicBezTo>
                  <a:pt x="1270686" y="152400"/>
                  <a:pt x="1198606" y="255373"/>
                  <a:pt x="988541" y="321276"/>
                </a:cubicBezTo>
                <a:cubicBezTo>
                  <a:pt x="778476" y="387179"/>
                  <a:pt x="389238" y="440725"/>
                  <a:pt x="0" y="494271"/>
                </a:cubicBezTo>
              </a:path>
            </a:pathLst>
          </a:custGeom>
          <a:noFill/>
          <a:ln>
            <a:solidFill>
              <a:schemeClr val="accent4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ECDDEF5-4FE4-5448-AE05-792CA58428B1}"/>
              </a:ext>
            </a:extLst>
          </p:cNvPr>
          <p:cNvSpPr txBox="1"/>
          <p:nvPr/>
        </p:nvSpPr>
        <p:spPr>
          <a:xfrm>
            <a:off x="5312834" y="4020271"/>
            <a:ext cx="1433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Simplify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9EADD85-03DE-4844-B53D-DC042FEF3EEC}"/>
                  </a:ext>
                </a:extLst>
              </p:cNvPr>
              <p:cNvSpPr txBox="1"/>
              <p:nvPr/>
            </p:nvSpPr>
            <p:spPr>
              <a:xfrm>
                <a:off x="628648" y="5236434"/>
                <a:ext cx="7798660" cy="17530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Guessing the pattern: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400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400" i="1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sz="2400" i="1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2400" i="1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400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2400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US" sz="2400" i="1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2400" i="1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Plug </a:t>
                </a:r>
                <a:r>
                  <a:rPr lang="en-US" sz="2400" dirty="0">
                    <a:solidFill>
                      <a:schemeClr val="tx1"/>
                    </a:solidFill>
                  </a:rPr>
                  <a:t>in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func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/>
                  <a:t> and get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4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24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4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e>
                      </m:func>
                      <m:r>
                        <a:rPr lang="en-US" sz="24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24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400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e>
                          </m:func>
                          <m:r>
                            <a:rPr lang="en-US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9EADD85-03DE-4844-B53D-DC042FEF3E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48" y="5236434"/>
                <a:ext cx="7798660" cy="1753044"/>
              </a:xfrm>
              <a:prstGeom prst="rect">
                <a:avLst/>
              </a:prstGeom>
              <a:blipFill>
                <a:blip r:embed="rId6"/>
                <a:stretch>
                  <a:fillRect l="-11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88BDF9BD-1688-B744-8218-1EA004044057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83256" y="4300421"/>
            <a:ext cx="1344440" cy="159153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EF2EDD7-3298-FA43-AEA2-12720ECCF118}"/>
              </a:ext>
            </a:extLst>
          </p:cNvPr>
          <p:cNvSpPr txBox="1"/>
          <p:nvPr/>
        </p:nvSpPr>
        <p:spPr>
          <a:xfrm>
            <a:off x="7037846" y="1161100"/>
            <a:ext cx="203526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You can guess the answer however you want: meta-reasoning, a little bird told you, wishful thinking, etc.  One useful way is to try to “unroll” the recursion, like we’re doing here.</a:t>
            </a:r>
          </a:p>
        </p:txBody>
      </p:sp>
    </p:spTree>
    <p:extLst>
      <p:ext uri="{BB962C8B-B14F-4D97-AF65-F5344CB8AC3E}">
        <p14:creationId xmlns:p14="http://schemas.microsoft.com/office/powerpoint/2010/main" val="4079493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/>
      <p:bldP spid="7" grpId="0" animBg="1"/>
      <p:bldP spid="8" grpId="0"/>
      <p:bldP spid="9" grpId="0" animBg="1"/>
      <p:bldP spid="10" grpId="0"/>
      <p:bldP spid="11" grpId="0" animBg="1"/>
      <p:bldP spid="12" grpId="0"/>
      <p:bldP spid="13" grpId="0" build="p"/>
      <p:bldP spid="1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C622B-1ABC-E148-852B-316540DD6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2: Prove the guess is correct.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DF10AC-404A-1245-A018-7FF8AB076C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5651" y="1519881"/>
                <a:ext cx="8799556" cy="4657082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Inductive Hypothesis: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e>
                        </m:func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Base Case (n=1):</a:t>
                </a:r>
                <a:r>
                  <a:rPr lang="en-US" dirty="0">
                    <a:solidFill>
                      <a:schemeClr val="accent4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i="1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1=1⋅</m:t>
                    </m:r>
                    <m:d>
                      <m:dPr>
                        <m:ctrlPr>
                          <a:rPr lang="en-US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i="1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</m:func>
                        <m:r>
                          <a:rPr lang="en-US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Inductive Step:</a:t>
                </a:r>
              </a:p>
              <a:p>
                <a:pPr lvl="1"/>
                <a:r>
                  <a:rPr lang="en-US" dirty="0"/>
                  <a:t>Assume Inductive </a:t>
                </a:r>
                <a:r>
                  <a:rPr lang="en-US" dirty="0" err="1"/>
                  <a:t>Hyp</a:t>
                </a:r>
                <a:r>
                  <a:rPr lang="en-US" dirty="0"/>
                  <a:t>. for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:</a:t>
                </a:r>
              </a:p>
              <a:p>
                <a:pPr lvl="2"/>
                <a:r>
                  <a:rPr lang="en-US" sz="2400" dirty="0"/>
                  <a:t>Suppose that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400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400" i="1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US" sz="2400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400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400" i="1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e>
                        </m:func>
                        <m:r>
                          <a:rPr lang="en-US" sz="2400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</m:oMath>
                </a14:m>
                <a:r>
                  <a:rPr lang="en-US" sz="2400" dirty="0"/>
                  <a:t> for all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400" dirty="0"/>
              </a:p>
              <a:p>
                <a:pPr lvl="1"/>
                <a:r>
                  <a:rPr lang="en-US" sz="2600" dirty="0"/>
                  <a:t>Prove Inductive </a:t>
                </a:r>
                <a:r>
                  <a:rPr lang="en-US" sz="2600" dirty="0" err="1"/>
                  <a:t>Hyp</a:t>
                </a:r>
                <a:r>
                  <a:rPr lang="en-US" sz="2600" dirty="0"/>
                  <a:t>. for n=k: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i="1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=2⋅</m:t>
                    </m:r>
                    <m:r>
                      <a:rPr lang="en-US" i="1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US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i="1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 by definition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i="1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=2⋅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d>
                          <m:dPr>
                            <m:ctrlP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en-US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b="0" i="1" smtClean="0">
                                            <a:solidFill>
                                              <a:schemeClr val="accent4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b="0" i="1" smtClean="0">
                                            <a:solidFill>
                                              <a:schemeClr val="accent4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num>
                                      <m:den>
                                        <m:r>
                                          <a:rPr lang="en-US" b="0" i="1" smtClean="0">
                                            <a:solidFill>
                                              <a:schemeClr val="accent4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</m:func>
                            <m: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e>
                    </m:d>
                    <m:r>
                      <a:rPr lang="en-US" i="1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by induction.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d>
                          </m:e>
                        </m:func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</m:oMath>
                </a14:m>
                <a:r>
                  <a:rPr lang="en-US" dirty="0"/>
                  <a:t> by simplifying.</a:t>
                </a:r>
              </a:p>
              <a:p>
                <a:pPr lvl="2"/>
                <a:r>
                  <a:rPr lang="en-US" dirty="0"/>
                  <a:t>So Inductive </a:t>
                </a:r>
                <a:r>
                  <a:rPr lang="en-US" dirty="0" err="1"/>
                  <a:t>Hyp</a:t>
                </a:r>
                <a:r>
                  <a:rPr lang="en-US" dirty="0"/>
                  <a:t>. holds for n=k.</a:t>
                </a:r>
              </a:p>
              <a:p>
                <a:r>
                  <a:rPr lang="en-US" dirty="0"/>
                  <a:t>Conclusion: For all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≥1,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US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i="1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e>
                        </m:func>
                        <m:r>
                          <a:rPr lang="en-US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DF10AC-404A-1245-A018-7FF8AB076C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5651" y="1519881"/>
                <a:ext cx="8799556" cy="4657082"/>
              </a:xfrm>
              <a:blipFill>
                <a:blip r:embed="rId2"/>
                <a:stretch>
                  <a:fillRect l="-1299" t="-29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DC476666-0E2C-B14A-9DC9-FBAD88AF289D}"/>
                  </a:ext>
                </a:extLst>
              </p:cNvPr>
              <p:cNvSpPr/>
              <p:nvPr/>
            </p:nvSpPr>
            <p:spPr>
              <a:xfrm>
                <a:off x="4436076" y="111691"/>
                <a:ext cx="5424616" cy="5068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=2⋅</m:t>
                    </m:r>
                    <m:r>
                      <a:rPr lang="en-US" i="1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i="1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, with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i="1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=1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DC476666-0E2C-B14A-9DC9-FBAD88AF28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6076" y="111691"/>
                <a:ext cx="5424616" cy="506870"/>
              </a:xfrm>
              <a:prstGeom prst="rect">
                <a:avLst/>
              </a:prstGeom>
              <a:blipFill>
                <a:blip r:embed="rId3"/>
                <a:stretch>
                  <a:fillRect b="-48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000D035B-2F2F-5744-BA36-04F0B72A1E8D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09376" y="5775719"/>
            <a:ext cx="905869" cy="10723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FE7F677-0796-8C4A-A98D-131D583EA4DF}"/>
              </a:ext>
            </a:extLst>
          </p:cNvPr>
          <p:cNvSpPr txBox="1"/>
          <p:nvPr/>
        </p:nvSpPr>
        <p:spPr>
          <a:xfrm>
            <a:off x="3404173" y="6019511"/>
            <a:ext cx="47052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rgbClr val="7030A0"/>
                </a:solidFill>
              </a:rPr>
              <a:t>We’re being sloppy here about floors and ceilings…what would you need to do to be less sloppy?</a:t>
            </a:r>
          </a:p>
        </p:txBody>
      </p:sp>
    </p:spTree>
    <p:extLst>
      <p:ext uri="{BB962C8B-B14F-4D97-AF65-F5344CB8AC3E}">
        <p14:creationId xmlns:p14="http://schemas.microsoft.com/office/powerpoint/2010/main" val="673351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D429D-8303-184E-AE6B-CFF47F002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3: Profit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127483-DF59-B647-8103-4F1E0F1B3A9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13268"/>
                <a:ext cx="8515350" cy="4351338"/>
              </a:xfrm>
            </p:spPr>
            <p:txBody>
              <a:bodyPr/>
              <a:lstStyle/>
              <a:p>
                <a:r>
                  <a:rPr lang="en-US" dirty="0"/>
                  <a:t>Pretend like you never did Step 1, and just write down:</a:t>
                </a:r>
              </a:p>
              <a:p>
                <a:endParaRPr lang="en-US" dirty="0"/>
              </a:p>
              <a:p>
                <a:r>
                  <a:rPr lang="en-US" dirty="0">
                    <a:solidFill>
                      <a:schemeClr val="tx1"/>
                    </a:solidFill>
                    <a:latin typeface="Segoe Print" panose="02000800000000000000" pitchFamily="2" charset="0"/>
                  </a:rPr>
                  <a:t>Theorem: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chemeClr val="tx1"/>
                  </a:solidFill>
                  <a:latin typeface="Segoe Print" panose="02000800000000000000" pitchFamily="2" charset="0"/>
                </a:endParaRPr>
              </a:p>
              <a:p>
                <a:r>
                  <a:rPr lang="en-US" dirty="0">
                    <a:solidFill>
                      <a:schemeClr val="tx1"/>
                    </a:solidFill>
                    <a:latin typeface="Segoe Print" panose="02000800000000000000" pitchFamily="2" charset="0"/>
                  </a:rPr>
                  <a:t>Proof: [Whatever you wrote in Step 2]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127483-DF59-B647-8103-4F1E0F1B3A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13268"/>
                <a:ext cx="8515350" cy="4351338"/>
              </a:xfrm>
              <a:blipFill>
                <a:blip r:embed="rId2"/>
                <a:stretch>
                  <a:fillRect l="-1341" t="-23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218745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68749-E761-0345-88AE-3F48E5195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have we learned?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0A5722-3542-A743-A748-3BAEA3BFB4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substitution method is a different way of solving recurrence relations.</a:t>
            </a:r>
          </a:p>
          <a:p>
            <a:endParaRPr lang="en-US" dirty="0"/>
          </a:p>
          <a:p>
            <a:r>
              <a:rPr lang="en-US" dirty="0">
                <a:solidFill>
                  <a:schemeClr val="accent4"/>
                </a:solidFill>
              </a:rPr>
              <a:t>Step 1</a:t>
            </a:r>
            <a:r>
              <a:rPr lang="en-US" dirty="0"/>
              <a:t>: Guess the answer.</a:t>
            </a:r>
          </a:p>
          <a:p>
            <a:r>
              <a:rPr lang="en-US" dirty="0">
                <a:solidFill>
                  <a:schemeClr val="accent4"/>
                </a:solidFill>
              </a:rPr>
              <a:t>Step 2</a:t>
            </a:r>
            <a:r>
              <a:rPr lang="en-US" dirty="0"/>
              <a:t>: Prove your guess is correct.</a:t>
            </a:r>
          </a:p>
          <a:p>
            <a:r>
              <a:rPr lang="en-US" dirty="0">
                <a:solidFill>
                  <a:schemeClr val="accent4"/>
                </a:solidFill>
              </a:rPr>
              <a:t>Step 3</a:t>
            </a:r>
            <a:r>
              <a:rPr lang="en-US" dirty="0"/>
              <a:t>: Profit.</a:t>
            </a:r>
          </a:p>
          <a:p>
            <a:endParaRPr lang="en-US" dirty="0"/>
          </a:p>
          <a:p>
            <a:r>
              <a:rPr lang="en-US" dirty="0"/>
              <a:t>We’ll get more practice with the substitution method next lecture!  </a:t>
            </a:r>
          </a:p>
        </p:txBody>
      </p:sp>
    </p:spTree>
    <p:extLst>
      <p:ext uri="{BB962C8B-B14F-4D97-AF65-F5344CB8AC3E}">
        <p14:creationId xmlns:p14="http://schemas.microsoft.com/office/powerpoint/2010/main" val="236530907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C2D60-8B78-BF44-B08F-D1F97D6C4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example (if time)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55D7BD-1ADB-DD4C-A3CA-FE0F728547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=2⋅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+32⋅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Step 1: Guess: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(divine inspiration).</a:t>
                </a:r>
              </a:p>
              <a:p>
                <a:r>
                  <a:rPr lang="en-US" dirty="0">
                    <a:solidFill>
                      <a:schemeClr val="accent4"/>
                    </a:solidFill>
                  </a:rPr>
                  <a:t>But I don’t have such a precise guess about the form for the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n-US" dirty="0">
                    <a:solidFill>
                      <a:schemeClr val="accent4"/>
                    </a:solidFill>
                  </a:rPr>
                  <a:t> …</a:t>
                </a:r>
              </a:p>
              <a:p>
                <a:pPr lvl="1"/>
                <a:r>
                  <a:rPr lang="en-US" dirty="0">
                    <a:solidFill>
                      <a:schemeClr val="accent4"/>
                    </a:solidFill>
                  </a:rPr>
                  <a:t>That is, what’s the leading constant?</a:t>
                </a:r>
              </a:p>
              <a:p>
                <a:r>
                  <a:rPr lang="en-US" dirty="0"/>
                  <a:t>Can I still do Step 2?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55D7BD-1ADB-DD4C-A3CA-FE0F728547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6814BDF5-F151-0143-9FAB-D60C3FA3D6C6}"/>
              </a:ext>
            </a:extLst>
          </p:cNvPr>
          <p:cNvSpPr txBox="1"/>
          <p:nvPr/>
        </p:nvSpPr>
        <p:spPr>
          <a:xfrm>
            <a:off x="628650" y="1251399"/>
            <a:ext cx="594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(If not time, that’s okay; we’ll see these ideas in Lecture 4)</a:t>
            </a:r>
          </a:p>
        </p:txBody>
      </p:sp>
    </p:spTree>
    <p:extLst>
      <p:ext uri="{BB962C8B-B14F-4D97-AF65-F5344CB8AC3E}">
        <p14:creationId xmlns:p14="http://schemas.microsoft.com/office/powerpoint/2010/main" val="1519914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A5124-7D45-7A4A-8E3D-65ABCD551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Aside: What’s wrong with this?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01E395-9E33-0F45-ADC8-7FCA606A19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chemeClr val="accent4"/>
                    </a:solidFill>
                  </a:rPr>
                  <a:t>Inductive Hypothesis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</a:p>
              <a:p>
                <a:r>
                  <a:rPr lang="en-US" dirty="0">
                    <a:solidFill>
                      <a:schemeClr val="bg2">
                        <a:lumMod val="75000"/>
                      </a:schemeClr>
                    </a:solidFill>
                  </a:rPr>
                  <a:t>Base case: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i="1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2=</m:t>
                    </m:r>
                    <m:r>
                      <a:rPr lang="en-US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(2</m:t>
                    </m:r>
                    <m:func>
                      <m:funcPr>
                        <m:ctrlPr>
                          <a:rPr lang="en-US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solidFill>
                                  <a:schemeClr val="bg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chemeClr val="bg2">
                      <a:lumMod val="75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bg2">
                        <a:lumMod val="75000"/>
                      </a:schemeClr>
                    </a:solidFill>
                  </a:rPr>
                  <a:t>Inductive Step: </a:t>
                </a:r>
              </a:p>
              <a:p>
                <a:pPr lvl="1"/>
                <a:r>
                  <a:rPr lang="en-US" dirty="0">
                    <a:solidFill>
                      <a:schemeClr val="bg2">
                        <a:lumMod val="75000"/>
                      </a:schemeClr>
                    </a:solidFill>
                  </a:rPr>
                  <a:t>Suppose that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i="1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solidFill>
                                  <a:schemeClr val="bg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lang="en-US" i="1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dirty="0">
                    <a:solidFill>
                      <a:schemeClr val="bg2">
                        <a:lumMod val="75000"/>
                      </a:schemeClr>
                    </a:solidFill>
                  </a:rPr>
                  <a:t> for n &lt; k.</a:t>
                </a:r>
              </a:p>
              <a:p>
                <a:pPr lvl="1"/>
                <a:r>
                  <a:rPr lang="en-US" dirty="0">
                    <a:solidFill>
                      <a:schemeClr val="bg2">
                        <a:lumMod val="75000"/>
                      </a:schemeClr>
                    </a:solidFill>
                  </a:rPr>
                  <a:t>Then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i="1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=2⋅</m:t>
                    </m:r>
                    <m:r>
                      <a:rPr lang="en-US" i="1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solidFill>
                                  <a:schemeClr val="bg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solidFill>
                                  <a:schemeClr val="bg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US" b="0" i="1" smtClean="0">
                                <a:solidFill>
                                  <a:schemeClr val="bg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i="1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+32⋅</m:t>
                    </m:r>
                    <m:r>
                      <a:rPr lang="en-US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>
                    <a:solidFill>
                      <a:schemeClr val="bg2">
                        <a:lumMod val="75000"/>
                      </a:schemeClr>
                    </a:solidFill>
                  </a:rPr>
                  <a:t> by definition</a:t>
                </a:r>
              </a:p>
              <a:p>
                <a:pPr lvl="1"/>
                <a:r>
                  <a:rPr lang="en-US" dirty="0">
                    <a:solidFill>
                      <a:schemeClr val="bg2">
                        <a:lumMod val="75000"/>
                      </a:schemeClr>
                    </a:solidFill>
                  </a:rPr>
                  <a:t>So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i="1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=2⋅</m:t>
                    </m:r>
                    <m:r>
                      <a:rPr lang="en-US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solidFill>
                                  <a:schemeClr val="bg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solidFill>
                                  <a:schemeClr val="bg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US" b="0" i="1" smtClean="0">
                                <a:solidFill>
                                  <a:schemeClr val="bg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func>
                          <m:funcPr>
                            <m:ctrlPr>
                              <a:rPr lang="en-US" b="0" i="1" smtClean="0">
                                <a:solidFill>
                                  <a:schemeClr val="bg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chemeClr val="bg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b="0" i="1" smtClean="0">
                                    <a:solidFill>
                                      <a:schemeClr val="bg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solidFill>
                                          <a:schemeClr val="bg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solidFill>
                                          <a:schemeClr val="bg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solidFill>
                                          <a:schemeClr val="bg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e>
                        </m:func>
                      </m:e>
                    </m:d>
                    <m:r>
                      <a:rPr lang="en-US" i="1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+32⋅</m:t>
                    </m:r>
                    <m:r>
                      <a:rPr lang="en-US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>
                    <a:solidFill>
                      <a:schemeClr val="bg2">
                        <a:lumMod val="75000"/>
                      </a:schemeClr>
                    </a:solidFill>
                  </a:rPr>
                  <a:t> by induction</a:t>
                </a:r>
              </a:p>
              <a:p>
                <a:pPr lvl="1"/>
                <a:r>
                  <a:rPr lang="en-US" dirty="0">
                    <a:solidFill>
                      <a:schemeClr val="bg2">
                        <a:lumMod val="75000"/>
                      </a:schemeClr>
                    </a:solidFill>
                  </a:rPr>
                  <a:t>But that’s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i="1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func>
                          <m:funcPr>
                            <m:ctrlPr>
                              <a:rPr lang="en-US" b="0" i="1" smtClean="0">
                                <a:solidFill>
                                  <a:schemeClr val="bg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chemeClr val="bg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b="0" i="1" smtClean="0">
                                    <a:solidFill>
                                      <a:schemeClr val="bg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solidFill>
                                      <a:schemeClr val="bg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d>
                          </m:e>
                        </m:func>
                      </m:e>
                    </m:d>
                  </m:oMath>
                </a14:m>
                <a:r>
                  <a:rPr lang="en-US" dirty="0">
                    <a:solidFill>
                      <a:schemeClr val="bg2">
                        <a:lumMod val="75000"/>
                      </a:schemeClr>
                    </a:solidFill>
                  </a:rPr>
                  <a:t>, so the I.H. holds for n=k.</a:t>
                </a:r>
              </a:p>
              <a:p>
                <a:r>
                  <a:rPr lang="en-US" dirty="0">
                    <a:solidFill>
                      <a:schemeClr val="bg2">
                        <a:lumMod val="75000"/>
                      </a:schemeClr>
                    </a:solidFill>
                  </a:rPr>
                  <a:t>Conclusion:</a:t>
                </a:r>
              </a:p>
              <a:p>
                <a:pPr lvl="1"/>
                <a:r>
                  <a:rPr lang="en-US" dirty="0">
                    <a:solidFill>
                      <a:schemeClr val="bg2">
                        <a:lumMod val="75000"/>
                      </a:schemeClr>
                    </a:solidFill>
                  </a:rPr>
                  <a:t>By induction,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i="1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solidFill>
                                  <a:schemeClr val="bg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chemeClr val="bg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lang="en-US" i="1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dirty="0">
                    <a:solidFill>
                      <a:schemeClr val="bg2">
                        <a:lumMod val="75000"/>
                      </a:schemeClr>
                    </a:solidFill>
                  </a:rPr>
                  <a:t> for all n.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01E395-9E33-0F45-ADC8-7FCA606A19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47" t="-2632" r="-161" b="-1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420797F1-C79F-9A45-8D26-06A802630B6F}"/>
              </a:ext>
            </a:extLst>
          </p:cNvPr>
          <p:cNvSpPr txBox="1"/>
          <p:nvPr/>
        </p:nvSpPr>
        <p:spPr>
          <a:xfrm>
            <a:off x="7641933" y="2339403"/>
            <a:ext cx="15517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Plucky the</a:t>
            </a:r>
          </a:p>
          <a:p>
            <a:pPr algn="ctr"/>
            <a:r>
              <a:rPr lang="en-US" dirty="0">
                <a:solidFill>
                  <a:srgbClr val="7030A0"/>
                </a:solidFill>
              </a:rPr>
              <a:t>Pedantic Penguin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06CA6E-DB2E-554F-AD9A-DC193E4835D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57751" y="1257428"/>
            <a:ext cx="874641" cy="113639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699290E-8D21-7240-A143-25923F640093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85626" y="5116935"/>
            <a:ext cx="1408098" cy="133941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48A1CCB-6EC7-434B-AE03-CAC92C7870EF}"/>
              </a:ext>
            </a:extLst>
          </p:cNvPr>
          <p:cNvSpPr txBox="1"/>
          <p:nvPr/>
        </p:nvSpPr>
        <p:spPr>
          <a:xfrm>
            <a:off x="6674449" y="6456345"/>
            <a:ext cx="2567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6400"/>
                </a:solidFill>
              </a:rPr>
              <a:t>Siggi</a:t>
            </a:r>
            <a:r>
              <a:rPr lang="en-US" dirty="0">
                <a:solidFill>
                  <a:srgbClr val="FF6400"/>
                </a:solidFill>
              </a:rPr>
              <a:t> the Studious Stork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C9D14D-8076-1A48-8C1A-E82A55866E87}"/>
              </a:ext>
            </a:extLst>
          </p:cNvPr>
          <p:cNvSpPr txBox="1"/>
          <p:nvPr/>
        </p:nvSpPr>
        <p:spPr>
          <a:xfrm rot="1296781">
            <a:off x="7862300" y="516734"/>
            <a:ext cx="13061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This is NOT CORRECT!!!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7A1F9C-FA5E-4A48-9E65-45826EB5E114}"/>
              </a:ext>
            </a:extLst>
          </p:cNvPr>
          <p:cNvSpPr txBox="1"/>
          <p:nvPr/>
        </p:nvSpPr>
        <p:spPr>
          <a:xfrm>
            <a:off x="7666646" y="3716219"/>
            <a:ext cx="13908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rgbClr val="FF6400"/>
                </a:solidFill>
              </a:rPr>
              <a:t>Figure out what’s wrong here!!!</a:t>
            </a:r>
          </a:p>
        </p:txBody>
      </p:sp>
    </p:spTree>
    <p:extLst>
      <p:ext uri="{BB962C8B-B14F-4D97-AF65-F5344CB8AC3E}">
        <p14:creationId xmlns:p14="http://schemas.microsoft.com/office/powerpoint/2010/main" val="3856845759"/>
      </p:ext>
    </p:extLst>
  </p:cSld>
  <p:clrMapOvr>
    <a:masterClrMapping/>
  </p:clrMapOvr>
  <p:transition spd="slow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A5124-7D45-7A4A-8E3D-65ABCD551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Aside: What’s wrong with this?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01E395-9E33-0F45-ADC8-7FCA606A19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chemeClr val="accent4"/>
                    </a:solidFill>
                  </a:rPr>
                  <a:t>Inductive Hypothesis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r>
                  <a:rPr lang="en-US" dirty="0">
                    <a:solidFill>
                      <a:schemeClr val="accent4"/>
                    </a:solidFill>
                  </a:rPr>
                  <a:t>Base case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(2)</m:t>
                    </m:r>
                  </m:oMath>
                </a14:m>
                <a:endParaRPr lang="en-US" dirty="0"/>
              </a:p>
              <a:p>
                <a:r>
                  <a:rPr lang="en-US" dirty="0">
                    <a:solidFill>
                      <a:schemeClr val="accent4"/>
                    </a:solidFill>
                  </a:rPr>
                  <a:t>Inductive Step: 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Suppose that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for n &lt; k.</a:t>
                </a:r>
              </a:p>
              <a:p>
                <a:pPr lvl="1"/>
                <a:r>
                  <a:rPr lang="en-US" dirty="0"/>
                  <a:t>Then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=2⋅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+32⋅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by definition</a:t>
                </a:r>
              </a:p>
              <a:p>
                <a:pPr lvl="1"/>
                <a:r>
                  <a:rPr lang="en-US" dirty="0"/>
                  <a:t>So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=2⋅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+32⋅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by induction</a:t>
                </a:r>
              </a:p>
              <a:p>
                <a:pPr lvl="1"/>
                <a:r>
                  <a:rPr lang="en-US" dirty="0"/>
                  <a:t>But that’s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en-US" dirty="0"/>
                  <a:t>, so the I.H. holds for n=k.</a:t>
                </a:r>
              </a:p>
              <a:p>
                <a:r>
                  <a:rPr lang="en-US" dirty="0">
                    <a:solidFill>
                      <a:schemeClr val="accent4"/>
                    </a:solidFill>
                  </a:rPr>
                  <a:t>Conclusion: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By induction,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 for all n.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01E395-9E33-0F45-ADC8-7FCA606A19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47" t="-2632" b="-1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420797F1-C79F-9A45-8D26-06A802630B6F}"/>
              </a:ext>
            </a:extLst>
          </p:cNvPr>
          <p:cNvSpPr txBox="1"/>
          <p:nvPr/>
        </p:nvSpPr>
        <p:spPr>
          <a:xfrm>
            <a:off x="7641933" y="2339403"/>
            <a:ext cx="15517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Plucky the</a:t>
            </a:r>
          </a:p>
          <a:p>
            <a:pPr algn="ctr"/>
            <a:r>
              <a:rPr lang="en-US" dirty="0">
                <a:solidFill>
                  <a:srgbClr val="7030A0"/>
                </a:solidFill>
              </a:rPr>
              <a:t>Pedantic Penguin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06CA6E-DB2E-554F-AD9A-DC193E4835D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57751" y="1257428"/>
            <a:ext cx="874641" cy="113639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2C9D14D-8076-1A48-8C1A-E82A55866E87}"/>
              </a:ext>
            </a:extLst>
          </p:cNvPr>
          <p:cNvSpPr txBox="1"/>
          <p:nvPr/>
        </p:nvSpPr>
        <p:spPr>
          <a:xfrm rot="1296781">
            <a:off x="7862300" y="516734"/>
            <a:ext cx="13061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This is NOT CORRECT!!!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C15DD7-73D8-F444-A3C9-F602620F5BF2}"/>
              </a:ext>
            </a:extLst>
          </p:cNvPr>
          <p:cNvSpPr txBox="1"/>
          <p:nvPr/>
        </p:nvSpPr>
        <p:spPr>
          <a:xfrm>
            <a:off x="0" y="0"/>
            <a:ext cx="47573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DE6769"/>
                </a:solidFill>
              </a:rPr>
              <a:t>Red flag: We can use the same reasoning to prove that T(n) = O(n), which is not true!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1FCAB3-F423-A143-97C4-89FEAF91D30E}"/>
              </a:ext>
            </a:extLst>
          </p:cNvPr>
          <p:cNvSpPr txBox="1"/>
          <p:nvPr/>
        </p:nvSpPr>
        <p:spPr>
          <a:xfrm>
            <a:off x="4757352" y="180460"/>
            <a:ext cx="303182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This slide skipped in class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173D6F-07A0-C94B-AD2B-B62FCA2BE68D}"/>
              </a:ext>
            </a:extLst>
          </p:cNvPr>
          <p:cNvSpPr txBox="1"/>
          <p:nvPr/>
        </p:nvSpPr>
        <p:spPr>
          <a:xfrm>
            <a:off x="6777680" y="5103674"/>
            <a:ext cx="236014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rgbClr val="DE6769"/>
                </a:solidFill>
              </a:rPr>
              <a:t>The problem is that this doesn’t make any sense.  We can’t have </a:t>
            </a:r>
          </a:p>
          <a:p>
            <a:pPr algn="r"/>
            <a:r>
              <a:rPr lang="en-US" dirty="0">
                <a:solidFill>
                  <a:srgbClr val="DE6769"/>
                </a:solidFill>
              </a:rPr>
              <a:t>“T(n) = O(n) for n &lt; k,” </a:t>
            </a:r>
          </a:p>
          <a:p>
            <a:pPr algn="r"/>
            <a:r>
              <a:rPr lang="en-US" dirty="0">
                <a:solidFill>
                  <a:srgbClr val="DE6769"/>
                </a:solidFill>
              </a:rPr>
              <a:t>since the def. of big-Oh needs to hold for all n.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DF9520D-D2EE-8A46-86A7-3E421219AFC2}"/>
              </a:ext>
            </a:extLst>
          </p:cNvPr>
          <p:cNvCxnSpPr>
            <a:cxnSpLocks/>
          </p:cNvCxnSpPr>
          <p:nvPr/>
        </p:nvCxnSpPr>
        <p:spPr>
          <a:xfrm flipH="1" flipV="1">
            <a:off x="5993028" y="3534033"/>
            <a:ext cx="2681415" cy="1569641"/>
          </a:xfrm>
          <a:prstGeom prst="straightConnector1">
            <a:avLst/>
          </a:prstGeom>
          <a:ln>
            <a:solidFill>
              <a:srgbClr val="DE676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599444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C2D60-8B78-BF44-B08F-D1F97D6C4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example (if time)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55D7BD-1ADB-DD4C-A3CA-FE0F728547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=2⋅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+32⋅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Step 1: Guess: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(divine inspiration).</a:t>
                </a:r>
              </a:p>
              <a:p>
                <a:r>
                  <a:rPr lang="en-US" dirty="0">
                    <a:solidFill>
                      <a:schemeClr val="accent4"/>
                    </a:solidFill>
                  </a:rPr>
                  <a:t>But I don’t have such a precise guess about the form for the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n-US" dirty="0">
                    <a:solidFill>
                      <a:schemeClr val="accent4"/>
                    </a:solidFill>
                  </a:rPr>
                  <a:t> …</a:t>
                </a:r>
              </a:p>
              <a:p>
                <a:pPr lvl="1"/>
                <a:r>
                  <a:rPr lang="en-US" dirty="0">
                    <a:solidFill>
                      <a:schemeClr val="accent4"/>
                    </a:solidFill>
                  </a:rPr>
                  <a:t>That is, what’s the leading constant?</a:t>
                </a:r>
              </a:p>
              <a:p>
                <a:r>
                  <a:rPr lang="en-US" dirty="0"/>
                  <a:t>Can I still do Step 2?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55D7BD-1ADB-DD4C-A3CA-FE0F728547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6814BDF5-F151-0143-9FAB-D60C3FA3D6C6}"/>
              </a:ext>
            </a:extLst>
          </p:cNvPr>
          <p:cNvSpPr txBox="1"/>
          <p:nvPr/>
        </p:nvSpPr>
        <p:spPr>
          <a:xfrm>
            <a:off x="628650" y="1251399"/>
            <a:ext cx="594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(If no time, that’s okay; we’ll see these ideas in Lecture 4)</a:t>
            </a:r>
          </a:p>
        </p:txBody>
      </p:sp>
    </p:spTree>
    <p:extLst>
      <p:ext uri="{BB962C8B-B14F-4D97-AF65-F5344CB8AC3E}">
        <p14:creationId xmlns:p14="http://schemas.microsoft.com/office/powerpoint/2010/main" val="1345039240"/>
      </p:ext>
    </p:extLst>
  </p:cSld>
  <p:clrMapOvr>
    <a:masterClrMapping/>
  </p:clrMapOvr>
  <p:transition spd="slow">
    <p:push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6B178-8467-9045-90C5-B7427EC5D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Step 2: Prove it, working backwards to figure out the constant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09E5F99-F2BC-C04A-8863-CD5B420341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8379426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>
                    <a:solidFill>
                      <a:schemeClr val="accent4"/>
                    </a:solidFill>
                  </a:rPr>
                  <a:t>Guess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solidFill>
                          <a:srgbClr val="DE6769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func>
                  </m:oMath>
                </a14:m>
                <a:r>
                  <a:rPr lang="en-US" dirty="0"/>
                  <a:t> for some constant </a:t>
                </a:r>
                <a:r>
                  <a:rPr lang="en-US" dirty="0">
                    <a:solidFill>
                      <a:srgbClr val="DE6769"/>
                    </a:solidFill>
                  </a:rPr>
                  <a:t>C</a:t>
                </a:r>
                <a:r>
                  <a:rPr lang="en-US" dirty="0"/>
                  <a:t> TBD. </a:t>
                </a:r>
              </a:p>
              <a:p>
                <a:r>
                  <a:rPr lang="en-US" dirty="0">
                    <a:solidFill>
                      <a:schemeClr val="accent4"/>
                    </a:solidFill>
                  </a:rPr>
                  <a:t>Inductive Hypothesis (for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≥2)</m:t>
                    </m:r>
                  </m:oMath>
                </a14:m>
                <a:r>
                  <a:rPr lang="en-US" dirty="0">
                    <a:solidFill>
                      <a:schemeClr val="accent4"/>
                    </a:solidFill>
                  </a:rPr>
                  <a:t> 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i="1" smtClean="0">
                        <a:solidFill>
                          <a:srgbClr val="DE6769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func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>
                    <a:solidFill>
                      <a:schemeClr val="accent4"/>
                    </a:solidFill>
                  </a:rPr>
                  <a:t>Base case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i="1" smtClean="0">
                        <a:solidFill>
                          <a:srgbClr val="DE6769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e>
                    </m:func>
                  </m:oMath>
                </a14:m>
                <a:r>
                  <a:rPr lang="en-US" dirty="0"/>
                  <a:t> </a:t>
                </a:r>
                <a:r>
                  <a:rPr lang="en-US" dirty="0">
                    <a:solidFill>
                      <a:srgbClr val="DE6769"/>
                    </a:solidFill>
                  </a:rPr>
                  <a:t>as long as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DE6769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solidFill>
                          <a:srgbClr val="DE6769"/>
                        </a:solidFill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endParaRPr lang="en-US" dirty="0"/>
              </a:p>
              <a:p>
                <a:r>
                  <a:rPr lang="en-US" dirty="0">
                    <a:solidFill>
                      <a:schemeClr val="accent4"/>
                    </a:solidFill>
                  </a:rPr>
                  <a:t>Inductive Step: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09E5F99-F2BC-C04A-8863-CD5B420341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8379426" cy="4351338"/>
              </a:xfrm>
              <a:blipFill>
                <a:blip r:embed="rId2"/>
                <a:stretch>
                  <a:fillRect l="-1364" t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A3BB8FE5-9B16-F14A-A0AD-8E90B00352B4}"/>
                  </a:ext>
                </a:extLst>
              </p:cNvPr>
              <p:cNvSpPr/>
              <p:nvPr/>
            </p:nvSpPr>
            <p:spPr>
              <a:xfrm>
                <a:off x="6279893" y="5890950"/>
                <a:ext cx="2728183" cy="8418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=2⋅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+32⋅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dirty="0"/>
              </a:p>
              <a:p>
                <a:pPr algn="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A3BB8FE5-9B16-F14A-A0AD-8E90B00352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9893" y="5890950"/>
                <a:ext cx="2728183" cy="8418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0330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5E31C-3FB5-814F-8CE1-6538BD88D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Inductive step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E8D5F1D-7C6A-A448-912C-22F365D3B2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8379426" cy="4351338"/>
              </a:xfrm>
            </p:spPr>
            <p:txBody>
              <a:bodyPr/>
              <a:lstStyle/>
              <a:p>
                <a:r>
                  <a:rPr lang="en-US" dirty="0"/>
                  <a:t>Assume that the inductive hypothesis holds for n&lt;k.</a:t>
                </a:r>
              </a:p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+32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           ≤2</m:t>
                    </m:r>
                    <m:r>
                      <a:rPr lang="en-US" i="1" smtClean="0">
                        <a:solidFill>
                          <a:srgbClr val="DE6769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func>
                    <m:r>
                      <a:rPr lang="en-US" i="1">
                        <a:latin typeface="Cambria Math" panose="02040503050406030204" pitchFamily="18" charset="0"/>
                      </a:rPr>
                      <m:t>+32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r>
                  <a:rPr lang="en-US" dirty="0"/>
                  <a:t>         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solidFill>
                              <a:srgbClr val="DE6769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⋅</m:t>
                        </m:r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d>
                          </m:e>
                        </m:func>
                        <m:r>
                          <a:rPr lang="en-US" i="1">
                            <a:latin typeface="Cambria Math" panose="02040503050406030204" pitchFamily="18" charset="0"/>
                          </a:rPr>
                          <m:t>+32 −</m:t>
                        </m:r>
                        <m:r>
                          <a:rPr lang="en-US" i="1" smtClean="0">
                            <a:solidFill>
                              <a:srgbClr val="DE6769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           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solidFill>
                              <a:srgbClr val="DE6769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⋅</m:t>
                        </m:r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en-US" dirty="0">
                    <a:solidFill>
                      <a:srgbClr val="DE6769"/>
                    </a:solidFill>
                  </a:rPr>
                  <a:t>as long as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DE6769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solidFill>
                          <a:srgbClr val="DE6769"/>
                        </a:solidFill>
                        <a:latin typeface="Cambria Math" panose="02040503050406030204" pitchFamily="18" charset="0"/>
                      </a:rPr>
                      <m:t>≥32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Then the inductive hypothesis holds for n=k.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E8D5F1D-7C6A-A448-912C-22F365D3B2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8379426" cy="4351338"/>
              </a:xfrm>
              <a:blipFill>
                <a:blip r:embed="rId2"/>
                <a:stretch>
                  <a:fillRect l="-1364" t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BFA2EDAF-6365-2748-89AF-E1E64E4B64A5}"/>
                  </a:ext>
                </a:extLst>
              </p:cNvPr>
              <p:cNvSpPr/>
              <p:nvPr/>
            </p:nvSpPr>
            <p:spPr>
              <a:xfrm>
                <a:off x="6279893" y="5890950"/>
                <a:ext cx="2728183" cy="8418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=2⋅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+32⋅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dirty="0"/>
              </a:p>
              <a:p>
                <a:pPr algn="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BFA2EDAF-6365-2748-89AF-E1E64E4B64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9893" y="5890950"/>
                <a:ext cx="2728183" cy="8418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4A7D35C8-04D5-1E42-B9B7-03587F780BDB}"/>
                  </a:ext>
                </a:extLst>
              </p:cNvPr>
              <p:cNvSpPr/>
              <p:nvPr/>
            </p:nvSpPr>
            <p:spPr>
              <a:xfrm>
                <a:off x="4955058" y="112992"/>
                <a:ext cx="4386649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olidFill>
                      <a:schemeClr val="accent4"/>
                    </a:solidFill>
                  </a:rPr>
                  <a:t>Inductive Hypothesis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i="1">
                        <a:solidFill>
                          <a:srgbClr val="DE6769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func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4A7D35C8-04D5-1E42-B9B7-03587F780BD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5058" y="112992"/>
                <a:ext cx="4386649" cy="369332"/>
              </a:xfrm>
              <a:prstGeom prst="rect">
                <a:avLst/>
              </a:prstGeom>
              <a:blipFill>
                <a:blip r:embed="rId4"/>
                <a:stretch>
                  <a:fillRect l="-1153" t="-6667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815825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6B178-8467-9045-90C5-B7427EC5D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Step 2: Prove it, working backwards to figure out the constant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09E5F99-F2BC-C04A-8863-CD5B420341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8379426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>
                    <a:solidFill>
                      <a:schemeClr val="accent4"/>
                    </a:solidFill>
                  </a:rPr>
                  <a:t>Guess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func>
                  </m:oMath>
                </a14:m>
                <a:r>
                  <a:rPr lang="en-US" dirty="0"/>
                  <a:t> for some constant C TBD. </a:t>
                </a:r>
              </a:p>
              <a:p>
                <a:r>
                  <a:rPr lang="en-US" dirty="0">
                    <a:solidFill>
                      <a:schemeClr val="accent4"/>
                    </a:solidFill>
                  </a:rPr>
                  <a:t>Inductive Hypothesis (for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≥2</m:t>
                    </m:r>
                  </m:oMath>
                </a14:m>
                <a:r>
                  <a:rPr lang="en-US" dirty="0"/>
                  <a:t>):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func>
                  </m:oMath>
                </a14:m>
                <a:endParaRPr lang="en-US" dirty="0"/>
              </a:p>
              <a:p>
                <a:r>
                  <a:rPr lang="en-US" dirty="0">
                    <a:solidFill>
                      <a:schemeClr val="accent4"/>
                    </a:solidFill>
                  </a:rPr>
                  <a:t>Base case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⋅2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e>
                    </m:func>
                  </m:oMath>
                </a14:m>
                <a:r>
                  <a:rPr lang="en-US" dirty="0"/>
                  <a:t> </a:t>
                </a:r>
                <a:r>
                  <a:rPr lang="en-US" dirty="0">
                    <a:solidFill>
                      <a:srgbClr val="DE6769"/>
                    </a:solidFill>
                  </a:rPr>
                  <a:t>as long as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DE6769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solidFill>
                          <a:srgbClr val="DE6769"/>
                        </a:solidFill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endParaRPr lang="en-US" dirty="0"/>
              </a:p>
              <a:p>
                <a:r>
                  <a:rPr lang="en-US" dirty="0">
                    <a:solidFill>
                      <a:schemeClr val="accent4"/>
                    </a:solidFill>
                  </a:rPr>
                  <a:t>Inductive step</a:t>
                </a:r>
                <a:r>
                  <a:rPr lang="en-US" dirty="0"/>
                  <a:t>: Works as long as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DE6769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>
                        <a:solidFill>
                          <a:srgbClr val="DE6769"/>
                        </a:solidFill>
                        <a:latin typeface="Cambria Math" panose="02040503050406030204" pitchFamily="18" charset="0"/>
                      </a:rPr>
                      <m:t>≥32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So choose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DE6769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solidFill>
                          <a:srgbClr val="DE6769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rgbClr val="DE6769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>
                    <a:solidFill>
                      <a:schemeClr val="accent4"/>
                    </a:solidFill>
                  </a:rPr>
                  <a:t>Conclusion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func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09E5F99-F2BC-C04A-8863-CD5B420341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8379426" cy="4351338"/>
              </a:xfrm>
              <a:blipFill>
                <a:blip r:embed="rId2"/>
                <a:stretch>
                  <a:fillRect l="-1364" t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A3BB8FE5-9B16-F14A-A0AD-8E90B00352B4}"/>
                  </a:ext>
                </a:extLst>
              </p:cNvPr>
              <p:cNvSpPr/>
              <p:nvPr/>
            </p:nvSpPr>
            <p:spPr>
              <a:xfrm>
                <a:off x="6279893" y="5890950"/>
                <a:ext cx="2728183" cy="8418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=2⋅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+32⋅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dirty="0"/>
              </a:p>
              <a:p>
                <a:pPr algn="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A3BB8FE5-9B16-F14A-A0AD-8E90B00352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9893" y="5890950"/>
                <a:ext cx="2728183" cy="8418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228544"/>
      </p:ext>
    </p:extLst>
  </p:cSld>
  <p:clrMapOvr>
    <a:masterClrMapping/>
  </p:clrMapOvr>
  <p:transition spd="slow">
    <p:push dir="d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BBB49-73A9-0846-B21F-771D08625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3: Profit.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3022FA-5E29-FC4C-ACC7-E06B6185E51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485106"/>
                <a:ext cx="7886700" cy="5372894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>
                    <a:latin typeface="Segoe Print" panose="02000800000000000000" pitchFamily="2" charset="0"/>
                  </a:rPr>
                  <a:t>Theorem: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func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latin typeface="Segoe Print" panose="02000800000000000000" pitchFamily="2" charset="0"/>
                </a:endParaRPr>
              </a:p>
              <a:p>
                <a:r>
                  <a:rPr lang="en-US" dirty="0">
                    <a:latin typeface="Segoe Print" panose="02000800000000000000" pitchFamily="2" charset="0"/>
                  </a:rPr>
                  <a:t>Proof:</a:t>
                </a:r>
              </a:p>
              <a:p>
                <a:pPr lvl="1"/>
                <a:r>
                  <a:rPr lang="en-US" dirty="0">
                    <a:solidFill>
                      <a:schemeClr val="accent4"/>
                    </a:solidFill>
                  </a:rPr>
                  <a:t>Inductive Hypothesis: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func>
                  </m:oMath>
                </a14:m>
                <a:endParaRPr lang="en-US" dirty="0"/>
              </a:p>
              <a:p>
                <a:pPr lvl="1"/>
                <a:r>
                  <a:rPr lang="en-US" dirty="0">
                    <a:solidFill>
                      <a:schemeClr val="accent4"/>
                    </a:solidFill>
                  </a:rPr>
                  <a:t>Base case: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=2≤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⋅2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e>
                    </m:func>
                  </m:oMath>
                </a14:m>
                <a:r>
                  <a:rPr lang="en-US" dirty="0"/>
                  <a:t>  is true.</a:t>
                </a:r>
              </a:p>
              <a:p>
                <a:pPr lvl="1"/>
                <a:r>
                  <a:rPr lang="en-US" dirty="0">
                    <a:solidFill>
                      <a:schemeClr val="accent4"/>
                    </a:solidFill>
                  </a:rPr>
                  <a:t>Inductive step: </a:t>
                </a:r>
              </a:p>
              <a:p>
                <a:pPr lvl="2"/>
                <a:r>
                  <a:rPr lang="en-US" dirty="0"/>
                  <a:t>Assume Inductive </a:t>
                </a:r>
                <a:r>
                  <a:rPr lang="en-US" dirty="0" err="1"/>
                  <a:t>Hyp</a:t>
                </a:r>
                <a:r>
                  <a:rPr lang="en-US" dirty="0"/>
                  <a:t>. for n&lt;k.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)=2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+32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           ≤2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⋅32⋅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func>
                    <m:r>
                      <a:rPr lang="en-US" i="1">
                        <a:latin typeface="Cambria Math" panose="02040503050406030204" pitchFamily="18" charset="0"/>
                      </a:rPr>
                      <m:t>+32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         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⋅</m:t>
                        </m:r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d>
                          </m:e>
                        </m:func>
                        <m:r>
                          <a:rPr lang="en-US" i="1">
                            <a:latin typeface="Cambria Math" panose="02040503050406030204" pitchFamily="18" charset="0"/>
                          </a:rPr>
                          <m:t>+32 −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32</m:t>
                        </m:r>
                      </m:e>
                    </m:d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         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=32⋅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This establishes inductive </a:t>
                </a:r>
                <a:r>
                  <a:rPr lang="en-US" dirty="0" err="1"/>
                  <a:t>hyp</a:t>
                </a:r>
                <a:r>
                  <a:rPr lang="en-US" dirty="0"/>
                  <a:t>. for n=k.</a:t>
                </a:r>
              </a:p>
              <a:p>
                <a:pPr lvl="1"/>
                <a:r>
                  <a:rPr lang="en-US" dirty="0">
                    <a:solidFill>
                      <a:schemeClr val="accent4"/>
                    </a:solidFill>
                  </a:rPr>
                  <a:t>Conclusion: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≤32⋅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func>
                  </m:oMath>
                </a14:m>
                <a:r>
                  <a:rPr lang="en-US" dirty="0"/>
                  <a:t> for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≥2</m:t>
                    </m:r>
                  </m:oMath>
                </a14:m>
                <a:r>
                  <a:rPr lang="en-US" dirty="0"/>
                  <a:t>.  </a:t>
                </a:r>
              </a:p>
              <a:p>
                <a:pPr lvl="2"/>
                <a:r>
                  <a:rPr lang="en-US" dirty="0"/>
                  <a:t>By the definition of big-Oh,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=32</m:t>
                    </m:r>
                  </m:oMath>
                </a14:m>
                <a:r>
                  <a:rPr lang="en-US" dirty="0"/>
                  <a:t>, this implies that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func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>
                  <a:latin typeface="Segoe Print" panose="02000800000000000000" pitchFamily="2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3022FA-5E29-FC4C-ACC7-E06B6185E5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485106"/>
                <a:ext cx="7886700" cy="5372894"/>
              </a:xfrm>
              <a:blipFill>
                <a:blip r:embed="rId2"/>
                <a:stretch>
                  <a:fillRect l="-1447" t="-21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65AD6106-3D62-324C-8358-B6A012417D57}"/>
              </a:ext>
            </a:extLst>
          </p:cNvPr>
          <p:cNvSpPr txBox="1"/>
          <p:nvPr/>
        </p:nvSpPr>
        <p:spPr>
          <a:xfrm>
            <a:off x="6190735" y="3802221"/>
            <a:ext cx="26319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 the def. of T(k)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626881-E8C9-1945-A624-DCEE58E1010F}"/>
              </a:ext>
            </a:extLst>
          </p:cNvPr>
          <p:cNvSpPr txBox="1"/>
          <p:nvPr/>
        </p:nvSpPr>
        <p:spPr>
          <a:xfrm>
            <a:off x="6190735" y="4171553"/>
            <a:ext cx="26319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 induction</a:t>
            </a:r>
          </a:p>
        </p:txBody>
      </p:sp>
    </p:spTree>
    <p:extLst>
      <p:ext uri="{BB962C8B-B14F-4D97-AF65-F5344CB8AC3E}">
        <p14:creationId xmlns:p14="http://schemas.microsoft.com/office/powerpoint/2010/main" val="2386538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  <p:bldP spid="5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87CCF-B2A7-A746-8747-7DAF7DEE5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two methods?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64AD5A-0FF5-484E-AED0-79B047A742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Sometimes the Substitution Method works where the Master Method does not.</a:t>
            </a:r>
          </a:p>
          <a:p>
            <a:r>
              <a:rPr lang="en-US" dirty="0"/>
              <a:t>More on this next time!</a:t>
            </a:r>
          </a:p>
        </p:txBody>
      </p:sp>
    </p:spTree>
    <p:extLst>
      <p:ext uri="{BB962C8B-B14F-4D97-AF65-F5344CB8AC3E}">
        <p14:creationId xmlns:p14="http://schemas.microsoft.com/office/powerpoint/2010/main" val="19214883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Time</a:t>
            </a:r>
          </a:p>
        </p:txBody>
      </p:sp>
      <p:sp>
        <p:nvSpPr>
          <p:cNvPr id="4" name="Content Placeholder 3"/>
          <p:cNvSpPr txBox="1">
            <a:spLocks noGrp="1"/>
          </p:cNvSpPr>
          <p:nvPr>
            <p:ph idx="1"/>
          </p:nvPr>
        </p:nvSpPr>
        <p:spPr>
          <a:xfrm>
            <a:off x="628649" y="1825625"/>
            <a:ext cx="8428853" cy="1512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sz="2800" dirty="0">
                <a:solidFill>
                  <a:schemeClr val="accent4"/>
                </a:solidFill>
              </a:rPr>
              <a:t>What happens if the sub-problems are different sizes? 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800" dirty="0">
                <a:solidFill>
                  <a:schemeClr val="accent4"/>
                </a:solidFill>
              </a:rPr>
              <a:t>And when might that happen?</a:t>
            </a:r>
          </a:p>
          <a:p>
            <a:endParaRPr lang="en-US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628650" y="3314781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FF6400"/>
                </a:solidFill>
              </a:rPr>
              <a:t>BEFORE</a:t>
            </a:r>
            <a:r>
              <a:rPr lang="en-US" dirty="0"/>
              <a:t> Next 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628649" y="4640344"/>
            <a:ext cx="851535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sz="2800" dirty="0"/>
              <a:t>Pre-lecture 4 exercises!</a:t>
            </a:r>
          </a:p>
        </p:txBody>
      </p:sp>
    </p:spTree>
    <p:extLst>
      <p:ext uri="{BB962C8B-B14F-4D97-AF65-F5344CB8AC3E}">
        <p14:creationId xmlns:p14="http://schemas.microsoft.com/office/powerpoint/2010/main" val="2124072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21209</TotalTime>
  <Words>4378</Words>
  <Application>Microsoft Macintosh PowerPoint</Application>
  <PresentationFormat>On-screen Show (4:3)</PresentationFormat>
  <Paragraphs>785</Paragraphs>
  <Slides>54</Slides>
  <Notes>1</Notes>
  <HiddenSlides>2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54</vt:i4>
      </vt:variant>
    </vt:vector>
  </HeadingPairs>
  <TitlesOfParts>
    <vt:vector size="62" baseType="lpstr">
      <vt:lpstr>Arial</vt:lpstr>
      <vt:lpstr>Athelas</vt:lpstr>
      <vt:lpstr>Calibri</vt:lpstr>
      <vt:lpstr>Calibri Light</vt:lpstr>
      <vt:lpstr>Cambria Math</vt:lpstr>
      <vt:lpstr>Segoe Print</vt:lpstr>
      <vt:lpstr>1_Office Theme</vt:lpstr>
      <vt:lpstr>Office Theme</vt:lpstr>
      <vt:lpstr>Lecture 3</vt:lpstr>
      <vt:lpstr>Announcements</vt:lpstr>
      <vt:lpstr>EthiCS</vt:lpstr>
      <vt:lpstr>Last time….</vt:lpstr>
      <vt:lpstr>Today</vt:lpstr>
      <vt:lpstr>Running time of MergeSort</vt:lpstr>
      <vt:lpstr>Running time of MergeSort</vt:lpstr>
      <vt:lpstr>Recurrence Relations</vt:lpstr>
      <vt:lpstr>Technicalities I Base Cases</vt:lpstr>
      <vt:lpstr>On your pre-lecture exercise</vt:lpstr>
      <vt:lpstr>One approach for all of these</vt:lpstr>
      <vt:lpstr>Pre-lecture exercise</vt:lpstr>
      <vt:lpstr>Solutions to pre-lecture exercise (1)</vt:lpstr>
      <vt:lpstr>Solutions to pre-lecture exercise (2)</vt:lpstr>
      <vt:lpstr>More examples</vt:lpstr>
      <vt:lpstr>The master theorem</vt:lpstr>
      <vt:lpstr>The master theorem</vt:lpstr>
      <vt:lpstr>Technicalities II Integer division</vt:lpstr>
      <vt:lpstr>Examples </vt:lpstr>
      <vt:lpstr>Proof of the master theorem</vt:lpstr>
      <vt:lpstr>Recursion tree</vt:lpstr>
      <vt:lpstr>Recursion tree</vt:lpstr>
      <vt:lpstr>Recursion tree</vt:lpstr>
      <vt:lpstr>Now let’s check all the cases </vt:lpstr>
      <vt:lpstr>Case 1: a=b^d</vt:lpstr>
      <vt:lpstr>Case 2: a&lt;b^d</vt:lpstr>
      <vt:lpstr>Aside: Geometric sums</vt:lpstr>
      <vt:lpstr>Case 2: a&lt;b^d</vt:lpstr>
      <vt:lpstr>Case 3: a&gt;b^d</vt:lpstr>
      <vt:lpstr>Now let’s check all the cases </vt:lpstr>
      <vt:lpstr>Even more generally,  for T(n) = aT(n/b) + f(n)…</vt:lpstr>
      <vt:lpstr>Understanding the Master Theorem</vt:lpstr>
      <vt:lpstr>The eternal struggle</vt:lpstr>
      <vt:lpstr>Consider our three warm-ups</vt:lpstr>
      <vt:lpstr>First example: tall and skinny tree</vt:lpstr>
      <vt:lpstr>Third example: bushy tree</vt:lpstr>
      <vt:lpstr>Second example: just right</vt:lpstr>
      <vt:lpstr>What have we learned?</vt:lpstr>
      <vt:lpstr>The Substitution Method</vt:lpstr>
      <vt:lpstr>The Substitution Method  first example</vt:lpstr>
      <vt:lpstr>Step 1: Guess the answer</vt:lpstr>
      <vt:lpstr>Step 2: Prove the guess is correct.</vt:lpstr>
      <vt:lpstr>Step 3: Profit</vt:lpstr>
      <vt:lpstr>What have we learned?</vt:lpstr>
      <vt:lpstr>Another example (if time)</vt:lpstr>
      <vt:lpstr>Aside: What’s wrong with this?</vt:lpstr>
      <vt:lpstr>Aside: What’s wrong with this?</vt:lpstr>
      <vt:lpstr>Another example (if time)</vt:lpstr>
      <vt:lpstr>Step 2: Prove it, working backwards to figure out the constant</vt:lpstr>
      <vt:lpstr>Inductive step</vt:lpstr>
      <vt:lpstr>Step 2: Prove it, working backwards to figure out the constant</vt:lpstr>
      <vt:lpstr>Step 3: Profit.</vt:lpstr>
      <vt:lpstr>Why two methods?</vt:lpstr>
      <vt:lpstr>Next Time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3</dc:title>
  <dc:creator>Mary Katherine Wootters</dc:creator>
  <cp:lastModifiedBy>Nima Anari</cp:lastModifiedBy>
  <cp:revision>195</cp:revision>
  <cp:lastPrinted>2020-01-30T06:01:17Z</cp:lastPrinted>
  <dcterms:created xsi:type="dcterms:W3CDTF">2017-04-07T20:39:43Z</dcterms:created>
  <dcterms:modified xsi:type="dcterms:W3CDTF">2023-01-18T16:43:10Z</dcterms:modified>
</cp:coreProperties>
</file>