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89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8" r:id="rId31"/>
    <p:sldId id="287" r:id="rId32"/>
    <p:sldId id="284" r:id="rId33"/>
    <p:sldId id="286" r:id="rId3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6" roundtripDataSignature="AMtx7miYs0P9H1Hn0FPhnHEyhkivlm9s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99"/>
    <p:restoredTop sz="94686"/>
  </p:normalViewPr>
  <p:slideViewPr>
    <p:cSldViewPr snapToGrid="0">
      <p:cViewPr varScale="1">
        <p:scale>
          <a:sx n="109" d="100"/>
          <a:sy n="109" d="100"/>
        </p:scale>
        <p:origin x="232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5" name="Google Shape;12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4" name="Google Shape;13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1" name="Google Shape;14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5" name="Google Shape;16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1" name="Google Shape;19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9" name="Google Shape;21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9" name="Google Shape;24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9" name="Google Shape;27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9" name="Google Shape;30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6" name="Google Shape;31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0" name="Google Shape;34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6" name="Google Shape;36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4" name="Google Shape;39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4" name="Google Shape;42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4" name="Google Shape;45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4" name="Google Shape;48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4" name="Google Shape;51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44" name="Google Shape;544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20054c9e1f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0" name="Google Shape;550;g20054c9e1fe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51" name="Google Shape;551;g20054c9e1fe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20054c9e1fe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8" name="Google Shape;558;g20054c9e1fe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59" name="Google Shape;559;g20054c9e1fe_0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20054c9e1fe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6" name="Google Shape;566;g20054c9e1fe_0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7" name="Google Shape;567;g20054c9e1fe_0_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20054c9e1fe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4" name="Google Shape;574;g20054c9e1fe_0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5" name="Google Shape;575;g20054c9e1fe_0_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2c186554fd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2c186554fd5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g2c186554fd5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20054c9e1fe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0" name="Google Shape;590;g20054c9e1fe_0_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91" name="Google Shape;591;g20054c9e1fe_0_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>
          <a:extLst>
            <a:ext uri="{FF2B5EF4-FFF2-40B4-BE49-F238E27FC236}">
              <a16:creationId xmlns:a16="http://schemas.microsoft.com/office/drawing/2014/main" id="{9A91C555-D55C-C713-862F-7880550D6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20054c9e1fe_0_28:notes">
            <a:extLst>
              <a:ext uri="{FF2B5EF4-FFF2-40B4-BE49-F238E27FC236}">
                <a16:creationId xmlns:a16="http://schemas.microsoft.com/office/drawing/2014/main" id="{66CB6E14-2110-C27C-1F3F-9AA5002D0C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0" name="Google Shape;590;g20054c9e1fe_0_28:notes">
            <a:extLst>
              <a:ext uri="{FF2B5EF4-FFF2-40B4-BE49-F238E27FC236}">
                <a16:creationId xmlns:a16="http://schemas.microsoft.com/office/drawing/2014/main" id="{42B7B8BD-A7A7-CC8A-C2E2-04DDB6982C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Not all strategies will be applicable for all problems</a:t>
            </a:r>
            <a:endParaRPr dirty="0"/>
          </a:p>
        </p:txBody>
      </p:sp>
      <p:sp>
        <p:nvSpPr>
          <p:cNvPr id="591" name="Google Shape;591;g20054c9e1fe_0_28:notes">
            <a:extLst>
              <a:ext uri="{FF2B5EF4-FFF2-40B4-BE49-F238E27FC236}">
                <a16:creationId xmlns:a16="http://schemas.microsoft.com/office/drawing/2014/main" id="{E6D9C88B-B208-350A-ED7B-72B48EBF8E9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379363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>
          <a:extLst>
            <a:ext uri="{FF2B5EF4-FFF2-40B4-BE49-F238E27FC236}">
              <a16:creationId xmlns:a16="http://schemas.microsoft.com/office/drawing/2014/main" id="{42A70657-6C53-4593-D095-8812E1393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20054c9e1fe_0_28:notes">
            <a:extLst>
              <a:ext uri="{FF2B5EF4-FFF2-40B4-BE49-F238E27FC236}">
                <a16:creationId xmlns:a16="http://schemas.microsoft.com/office/drawing/2014/main" id="{4DD1E17F-12B2-29EE-F01A-24BC65D535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0" name="Google Shape;590;g20054c9e1fe_0_28:notes">
            <a:extLst>
              <a:ext uri="{FF2B5EF4-FFF2-40B4-BE49-F238E27FC236}">
                <a16:creationId xmlns:a16="http://schemas.microsoft.com/office/drawing/2014/main" id="{199B9CF5-F261-FA64-4D57-1B1E0B3F2B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91" name="Google Shape;591;g20054c9e1fe_0_28:notes">
            <a:extLst>
              <a:ext uri="{FF2B5EF4-FFF2-40B4-BE49-F238E27FC236}">
                <a16:creationId xmlns:a16="http://schemas.microsoft.com/office/drawing/2014/main" id="{9431651E-4FFF-39D7-4586-F634A72C463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2040278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20054c9e1fe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8" name="Google Shape;598;g20054c9e1fe_0_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Give time to review specific material requested by students!</a:t>
            </a:r>
            <a:endParaRPr dirty="0"/>
          </a:p>
        </p:txBody>
      </p:sp>
      <p:sp>
        <p:nvSpPr>
          <p:cNvPr id="599" name="Google Shape;599;g20054c9e1fe_0_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>
          <a:extLst>
            <a:ext uri="{FF2B5EF4-FFF2-40B4-BE49-F238E27FC236}">
              <a16:creationId xmlns:a16="http://schemas.microsoft.com/office/drawing/2014/main" id="{83B2AF90-1FA9-4A78-E399-655AB308B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20054c9e1fe_0_35:notes">
            <a:extLst>
              <a:ext uri="{FF2B5EF4-FFF2-40B4-BE49-F238E27FC236}">
                <a16:creationId xmlns:a16="http://schemas.microsoft.com/office/drawing/2014/main" id="{81097E80-CE1B-51EA-6FA9-111DE56989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8" name="Google Shape;598;g20054c9e1fe_0_35:notes">
            <a:extLst>
              <a:ext uri="{FF2B5EF4-FFF2-40B4-BE49-F238E27FC236}">
                <a16:creationId xmlns:a16="http://schemas.microsoft.com/office/drawing/2014/main" id="{6E609E17-674C-922E-E8A8-87E1EEBBB6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99" name="Google Shape;599;g20054c9e1fe_0_35:notes">
            <a:extLst>
              <a:ext uri="{FF2B5EF4-FFF2-40B4-BE49-F238E27FC236}">
                <a16:creationId xmlns:a16="http://schemas.microsoft.com/office/drawing/2014/main" id="{28BCB429-A68B-CCDA-07A4-4D6B1A9ACA5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7256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3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3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3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3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4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4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4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CS 161 – Section 9</a:t>
            </a:r>
            <a:endParaRPr/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CA: </a:t>
            </a:r>
            <a:endParaRPr/>
          </a:p>
        </p:txBody>
      </p:sp>
      <p:sp>
        <p:nvSpPr>
          <p:cNvPr id="90" name="Google Shape;9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Section 9 Agenda</a:t>
            </a:r>
            <a:endParaRPr/>
          </a:p>
        </p:txBody>
      </p:sp>
      <p:sp>
        <p:nvSpPr>
          <p:cNvPr id="96" name="Google Shape;96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Stable Matching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Course Review</a:t>
            </a:r>
            <a:endParaRPr dirty="0"/>
          </a:p>
        </p:txBody>
      </p:sp>
      <p:sp>
        <p:nvSpPr>
          <p:cNvPr id="97" name="Google Shape;97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Stable Matching</a:t>
            </a:r>
            <a:endParaRPr/>
          </a:p>
        </p:txBody>
      </p:sp>
      <p:sp>
        <p:nvSpPr>
          <p:cNvPr id="103" name="Google Shape;103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>
            <a:spLocks noGrp="1"/>
          </p:cNvSpPr>
          <p:nvPr>
            <p:ph type="title"/>
          </p:nvPr>
        </p:nvSpPr>
        <p:spPr>
          <a:xfrm>
            <a:off x="2152650" y="365127"/>
            <a:ext cx="7886700" cy="915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Stable Matching</a:t>
            </a:r>
            <a:endParaRPr/>
          </a:p>
        </p:txBody>
      </p:sp>
      <p:sp>
        <p:nvSpPr>
          <p:cNvPr id="109" name="Google Shape;109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110" name="Google Shape;110;p4" descr="https://encrypted-tbn0.gstatic.com/images?q=tbn:ANd9GcTqrlWXrqrtetsETFI_IPXh9RDJ9R7zI0goJNGYQIIx08gaKBvF0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52629" y="4057301"/>
            <a:ext cx="956246" cy="956246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4"/>
          <p:cNvSpPr/>
          <p:nvPr/>
        </p:nvSpPr>
        <p:spPr>
          <a:xfrm>
            <a:off x="3364992" y="6056886"/>
            <a:ext cx="731520" cy="694944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3638202" y="5230575"/>
            <a:ext cx="170275" cy="170275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3638202" y="5478941"/>
            <a:ext cx="170275" cy="170275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3638202" y="5727307"/>
            <a:ext cx="170275" cy="170275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8127760" y="6056886"/>
            <a:ext cx="731520" cy="69494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8400970" y="5230575"/>
            <a:ext cx="170275" cy="170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8400970" y="5478941"/>
            <a:ext cx="170275" cy="170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8400970" y="5727307"/>
            <a:ext cx="170275" cy="170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 txBox="1">
            <a:spLocks noGrp="1"/>
          </p:cNvSpPr>
          <p:nvPr>
            <p:ph type="body" idx="1"/>
          </p:nvPr>
        </p:nvSpPr>
        <p:spPr>
          <a:xfrm>
            <a:off x="1676400" y="1179449"/>
            <a:ext cx="8826500" cy="302771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u="sng" dirty="0">
                <a:solidFill>
                  <a:schemeClr val="accent6"/>
                </a:solidFill>
              </a:rPr>
              <a:t>Blocking pair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In a given </a:t>
            </a:r>
            <a:r>
              <a:rPr lang="en-US" dirty="0">
                <a:solidFill>
                  <a:srgbClr val="0070C0"/>
                </a:solidFill>
              </a:rPr>
              <a:t>matching M</a:t>
            </a:r>
            <a:r>
              <a:rPr lang="en-US" dirty="0"/>
              <a:t>, (</a:t>
            </a:r>
            <a:r>
              <a:rPr lang="en-US" dirty="0">
                <a:solidFill>
                  <a:srgbClr val="7030A0"/>
                </a:solidFill>
              </a:rPr>
              <a:t>Doctor </a:t>
            </a:r>
            <a:r>
              <a:rPr lang="en-US" dirty="0" err="1">
                <a:solidFill>
                  <a:srgbClr val="7030A0"/>
                </a:solidFill>
              </a:rPr>
              <a:t>i</a:t>
            </a:r>
            <a:r>
              <a:rPr lang="en-US" dirty="0"/>
              <a:t>, </a:t>
            </a:r>
            <a:r>
              <a:rPr lang="en-US" dirty="0">
                <a:solidFill>
                  <a:schemeClr val="accent1"/>
                </a:solidFill>
              </a:rPr>
              <a:t>Hospital j</a:t>
            </a:r>
            <a:r>
              <a:rPr lang="en-US" dirty="0"/>
              <a:t>) are a </a:t>
            </a:r>
            <a:r>
              <a:rPr lang="en-US" b="1" i="1" dirty="0">
                <a:solidFill>
                  <a:schemeClr val="accent6"/>
                </a:solidFill>
              </a:rPr>
              <a:t>blocking pair</a:t>
            </a:r>
            <a:r>
              <a:rPr lang="en-US" dirty="0"/>
              <a:t> if they prefer each other to their assignment in </a:t>
            </a:r>
            <a:r>
              <a:rPr lang="en-US" dirty="0">
                <a:solidFill>
                  <a:srgbClr val="0070C0"/>
                </a:solidFill>
              </a:rPr>
              <a:t>M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16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u="sng" dirty="0">
                <a:solidFill>
                  <a:srgbClr val="0070C0"/>
                </a:solidFill>
              </a:rPr>
              <a:t>Stable matching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 dirty="0">
                <a:solidFill>
                  <a:srgbClr val="0070C0"/>
                </a:solidFill>
              </a:rPr>
              <a:t>M </a:t>
            </a:r>
            <a:r>
              <a:rPr lang="en-US" dirty="0"/>
              <a:t>is a </a:t>
            </a:r>
            <a:r>
              <a:rPr lang="en-US" b="1" i="1" dirty="0">
                <a:solidFill>
                  <a:srgbClr val="0070C0"/>
                </a:solidFill>
              </a:rPr>
              <a:t>stable matching</a:t>
            </a:r>
            <a:r>
              <a:rPr lang="en-US" dirty="0"/>
              <a:t> if there are no </a:t>
            </a:r>
            <a:r>
              <a:rPr lang="en-US" dirty="0">
                <a:solidFill>
                  <a:schemeClr val="accent6"/>
                </a:solidFill>
              </a:rPr>
              <a:t>blocking pairs</a:t>
            </a:r>
            <a:r>
              <a:rPr lang="en-US" dirty="0"/>
              <a:t>.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pic>
        <p:nvPicPr>
          <p:cNvPr id="120" name="Google Shape;120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89769" y="4326257"/>
            <a:ext cx="2031164" cy="65581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1" name="Google Shape;121;p4"/>
          <p:cNvCxnSpPr/>
          <p:nvPr/>
        </p:nvCxnSpPr>
        <p:spPr>
          <a:xfrm flipH="1">
            <a:off x="4368800" y="4656499"/>
            <a:ext cx="3263900" cy="1759044"/>
          </a:xfrm>
          <a:prstGeom prst="straightConnector1">
            <a:avLst/>
          </a:prstGeom>
          <a:noFill/>
          <a:ln w="57150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2" name="Google Shape;122;p4"/>
          <p:cNvCxnSpPr/>
          <p:nvPr/>
        </p:nvCxnSpPr>
        <p:spPr>
          <a:xfrm>
            <a:off x="4368801" y="4783593"/>
            <a:ext cx="3507501" cy="1631951"/>
          </a:xfrm>
          <a:prstGeom prst="straightConnector1">
            <a:avLst/>
          </a:prstGeom>
          <a:noFill/>
          <a:ln w="57150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 txBox="1">
            <a:spLocks noGrp="1"/>
          </p:cNvSpPr>
          <p:nvPr>
            <p:ph type="body" idx="1"/>
          </p:nvPr>
        </p:nvSpPr>
        <p:spPr>
          <a:xfrm>
            <a:off x="1811797" y="1177962"/>
            <a:ext cx="864460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 dirty="0">
                <a:solidFill>
                  <a:srgbClr val="0070C0"/>
                </a:solidFill>
              </a:rPr>
              <a:t>Main idea: </a:t>
            </a:r>
            <a:r>
              <a:rPr lang="en-US" b="1" i="1" dirty="0">
                <a:solidFill>
                  <a:srgbClr val="0070C0"/>
                </a:solidFill>
              </a:rPr>
              <a:t>try</a:t>
            </a:r>
            <a:r>
              <a:rPr lang="en-US" dirty="0">
                <a:solidFill>
                  <a:srgbClr val="0070C0"/>
                </a:solidFill>
              </a:rPr>
              <a:t> to match each doctor to top choice;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 dirty="0">
                <a:solidFill>
                  <a:srgbClr val="0070C0"/>
                </a:solidFill>
              </a:rPr>
              <a:t>if you discover a </a:t>
            </a:r>
            <a:r>
              <a:rPr lang="en-US" dirty="0">
                <a:solidFill>
                  <a:schemeClr val="accent6"/>
                </a:solidFill>
              </a:rPr>
              <a:t>blocking pair</a:t>
            </a:r>
            <a:r>
              <a:rPr lang="en-US" dirty="0">
                <a:solidFill>
                  <a:srgbClr val="0070C0"/>
                </a:solidFill>
              </a:rPr>
              <a:t>, just switch the matching!</a:t>
            </a:r>
            <a:endParaRPr dirty="0"/>
          </a:p>
        </p:txBody>
      </p:sp>
      <p:sp>
        <p:nvSpPr>
          <p:cNvPr id="128" name="Google Shape;128;p5"/>
          <p:cNvSpPr txBox="1">
            <a:spLocks noGrp="1"/>
          </p:cNvSpPr>
          <p:nvPr>
            <p:ph type="title"/>
          </p:nvPr>
        </p:nvSpPr>
        <p:spPr>
          <a:xfrm>
            <a:off x="2190750" y="44284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C00000"/>
                </a:solidFill>
              </a:rPr>
              <a:t>Deferred Acceptance Algorithm</a:t>
            </a:r>
            <a:endParaRPr sz="4000" dirty="0"/>
          </a:p>
        </p:txBody>
      </p:sp>
      <p:sp>
        <p:nvSpPr>
          <p:cNvPr id="129" name="Google Shape;129;p5"/>
          <p:cNvSpPr txBox="1"/>
          <p:nvPr/>
        </p:nvSpPr>
        <p:spPr>
          <a:xfrm>
            <a:off x="1524001" y="1"/>
            <a:ext cx="3524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 txBox="1"/>
          <p:nvPr/>
        </p:nvSpPr>
        <p:spPr>
          <a:xfrm>
            <a:off x="1811797" y="2266490"/>
            <a:ext cx="9542003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Almost-pseudo-code: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there is an unmatched doctor </a:t>
            </a:r>
            <a:r>
              <a:rPr lang="en-US" sz="2200" b="1" i="0" u="none" strike="noStrike" cap="none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Try to match </a:t>
            </a:r>
            <a:r>
              <a:rPr lang="en-US" sz="2200" b="1" i="0" u="none" strike="noStrike" cap="none" dirty="0" err="1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next-favorite </a:t>
            </a:r>
            <a:r>
              <a:rPr lang="en-US" sz="2200" b="0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hospital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her list;</a:t>
            </a:r>
            <a:endParaRPr lang="en-US" dirty="0">
              <a:ea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this </a:t>
            </a:r>
            <a:r>
              <a:rPr lang="en-US" sz="2200" b="0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hospital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doesn’t have a doctor yet: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Both Doctor </a:t>
            </a:r>
            <a:r>
              <a:rPr lang="en-US" sz="2200" b="1" i="0" u="none" strike="noStrike" cap="none" dirty="0" err="1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2200" b="0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hospital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are happy with this new match ☺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Else-if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this </a:t>
            </a:r>
            <a:r>
              <a:rPr lang="en-US" sz="2200" b="0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hospital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prefers its current match </a:t>
            </a:r>
            <a:r>
              <a:rPr lang="en-US" sz="2200" b="1" i="0" u="none" strike="noStrike" cap="none" dirty="0" err="1">
                <a:solidFill>
                  <a:srgbClr val="BC770B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200" b="1" i="0" u="none" strike="noStrike" cap="none" dirty="0">
                <a:solidFill>
                  <a:srgbClr val="BC770B"/>
                </a:solidFill>
                <a:latin typeface="Calibri"/>
                <a:ea typeface="Calibri"/>
                <a:cs typeface="Calibri"/>
                <a:sym typeface="Calibri"/>
              </a:rPr>
              <a:t>’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over </a:t>
            </a:r>
            <a:r>
              <a:rPr lang="en-US" sz="2200" b="1" i="0" u="none" strike="noStrike" cap="none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Doctor </a:t>
            </a:r>
            <a:r>
              <a:rPr lang="en-US" sz="2200" b="1" i="0" u="none" strike="noStrike" cap="none" dirty="0" err="1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remains unmatched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Else-if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this </a:t>
            </a:r>
            <a:r>
              <a:rPr lang="en-US" sz="2200" b="0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hospital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prefers </a:t>
            </a:r>
            <a:r>
              <a:rPr lang="en-US" sz="2200" b="1" i="0" u="none" strike="noStrike" cap="none" dirty="0" err="1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over </a:t>
            </a:r>
            <a:r>
              <a:rPr lang="en-US" sz="2200" b="1" i="0" u="none" strike="noStrike" cap="none" dirty="0" err="1">
                <a:solidFill>
                  <a:srgbClr val="BC770B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200" b="1" i="0" u="none" strike="noStrike" cap="none" dirty="0">
                <a:solidFill>
                  <a:srgbClr val="BC770B"/>
                </a:solidFill>
                <a:latin typeface="Calibri"/>
                <a:ea typeface="Calibri"/>
                <a:cs typeface="Calibri"/>
                <a:sym typeface="Calibri"/>
              </a:rPr>
              <a:t>’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lang="en-US" sz="2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Unmatch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200" b="1" i="0" u="none" strike="noStrike" cap="none" dirty="0" err="1">
                <a:solidFill>
                  <a:srgbClr val="BC770B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200" b="1" i="0" u="none" strike="noStrike" cap="none" dirty="0">
                <a:solidFill>
                  <a:srgbClr val="BC770B"/>
                </a:solidFill>
                <a:latin typeface="Calibri"/>
                <a:ea typeface="Calibri"/>
                <a:cs typeface="Calibri"/>
                <a:sym typeface="Calibri"/>
              </a:rPr>
              <a:t>’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Match (</a:t>
            </a:r>
            <a:r>
              <a:rPr lang="en-US" sz="2200" b="1" i="0" u="none" strike="noStrike" cap="none" dirty="0" err="1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lang="en-US" sz="2200" b="0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hospital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		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"/>
          <p:cNvSpPr txBox="1">
            <a:spLocks noGrp="1"/>
          </p:cNvSpPr>
          <p:nvPr>
            <p:ph type="title"/>
          </p:nvPr>
        </p:nvSpPr>
        <p:spPr>
          <a:xfrm>
            <a:off x="831850" y="2487610"/>
            <a:ext cx="10515600" cy="941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dirty="0"/>
              <a:t>Example run-through</a:t>
            </a:r>
            <a:endParaRPr dirty="0"/>
          </a:p>
        </p:txBody>
      </p:sp>
      <p:sp>
        <p:nvSpPr>
          <p:cNvPr id="138" name="Google Shape;13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"/>
          <p:cNvSpPr txBox="1">
            <a:spLocks noGrp="1"/>
          </p:cNvSpPr>
          <p:nvPr>
            <p:ph type="title"/>
          </p:nvPr>
        </p:nvSpPr>
        <p:spPr>
          <a:xfrm>
            <a:off x="2152650" y="959645"/>
            <a:ext cx="7886700" cy="475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DA Example Run 1 </a:t>
            </a:r>
            <a:endParaRPr/>
          </a:p>
        </p:txBody>
      </p:sp>
      <p:sp>
        <p:nvSpPr>
          <p:cNvPr id="144" name="Google Shape;144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45" name="Google Shape;145;p7" descr="Illustration of a doc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74813" y="4547173"/>
            <a:ext cx="652841" cy="888222"/>
          </a:xfrm>
          <a:prstGeom prst="snip1Rect">
            <a:avLst>
              <a:gd name="adj" fmla="val 50000"/>
            </a:avLst>
          </a:prstGeom>
          <a:noFill/>
          <a:ln>
            <a:noFill/>
          </a:ln>
        </p:spPr>
      </p:pic>
      <p:pic>
        <p:nvPicPr>
          <p:cNvPr id="146" name="Google Shape;146;p7" descr="File:Doctor Showing Clipboard Cartoon.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39295" y="1955402"/>
            <a:ext cx="923876" cy="9941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7" descr="https://encrypted-tbn0.gstatic.com/images?q=tbn:ANd9GcTqrlWXrqrtetsETFI_IPXh9RDJ9R7zI0goJNGYQIIx08gaKBvF0A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39295" y="3259135"/>
            <a:ext cx="923876" cy="99417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7"/>
          <p:cNvSpPr txBox="1"/>
          <p:nvPr/>
        </p:nvSpPr>
        <p:spPr>
          <a:xfrm>
            <a:off x="1524000" y="2906662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7"/>
          <p:cNvSpPr txBox="1"/>
          <p:nvPr/>
        </p:nvSpPr>
        <p:spPr>
          <a:xfrm>
            <a:off x="1524000" y="4190282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7"/>
          <p:cNvSpPr txBox="1"/>
          <p:nvPr/>
        </p:nvSpPr>
        <p:spPr>
          <a:xfrm>
            <a:off x="1524000" y="5449907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Charlie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7"/>
          <p:cNvSpPr txBox="1"/>
          <p:nvPr/>
        </p:nvSpPr>
        <p:spPr>
          <a:xfrm>
            <a:off x="2584517" y="2377322"/>
            <a:ext cx="82720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X, Y, 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7"/>
          <p:cNvSpPr txBox="1"/>
          <p:nvPr/>
        </p:nvSpPr>
        <p:spPr>
          <a:xfrm>
            <a:off x="2584517" y="3695848"/>
            <a:ext cx="82720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Y, X, 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7"/>
          <p:cNvSpPr txBox="1"/>
          <p:nvPr/>
        </p:nvSpPr>
        <p:spPr>
          <a:xfrm>
            <a:off x="2584517" y="4907467"/>
            <a:ext cx="82720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Y, Z, 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p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15573" y="1876767"/>
            <a:ext cx="967978" cy="803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15572" y="3088384"/>
            <a:ext cx="967978" cy="803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555362" y="4300003"/>
            <a:ext cx="967979" cy="803672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7"/>
          <p:cNvSpPr txBox="1"/>
          <p:nvPr/>
        </p:nvSpPr>
        <p:spPr>
          <a:xfrm>
            <a:off x="9515572" y="2631238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"/>
          <p:cNvSpPr txBox="1"/>
          <p:nvPr/>
        </p:nvSpPr>
        <p:spPr>
          <a:xfrm>
            <a:off x="9522328" y="3819030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7"/>
          <p:cNvSpPr txBox="1"/>
          <p:nvPr/>
        </p:nvSpPr>
        <p:spPr>
          <a:xfrm>
            <a:off x="9555361" y="5103674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7"/>
          <p:cNvSpPr txBox="1"/>
          <p:nvPr/>
        </p:nvSpPr>
        <p:spPr>
          <a:xfrm>
            <a:off x="8567024" y="2089203"/>
            <a:ext cx="104045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 A, 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7"/>
          <p:cNvSpPr txBox="1"/>
          <p:nvPr/>
        </p:nvSpPr>
        <p:spPr>
          <a:xfrm>
            <a:off x="8582036" y="3363806"/>
            <a:ext cx="9733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A, B, 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7"/>
          <p:cNvSpPr txBox="1"/>
          <p:nvPr/>
        </p:nvSpPr>
        <p:spPr>
          <a:xfrm>
            <a:off x="8582036" y="4578125"/>
            <a:ext cx="9733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 C, 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"/>
          <p:cNvSpPr txBox="1">
            <a:spLocks noGrp="1"/>
          </p:cNvSpPr>
          <p:nvPr>
            <p:ph type="title"/>
          </p:nvPr>
        </p:nvSpPr>
        <p:spPr>
          <a:xfrm>
            <a:off x="2152650" y="959645"/>
            <a:ext cx="7886700" cy="475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DA Example Run 1 </a:t>
            </a:r>
            <a:endParaRPr/>
          </a:p>
        </p:txBody>
      </p:sp>
      <p:sp>
        <p:nvSpPr>
          <p:cNvPr id="168" name="Google Shape;16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169" name="Google Shape;169;p8" descr="Illustration of a doc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74813" y="4547173"/>
            <a:ext cx="652841" cy="888222"/>
          </a:xfrm>
          <a:prstGeom prst="snip1Rect">
            <a:avLst>
              <a:gd name="adj" fmla="val 50000"/>
            </a:avLst>
          </a:prstGeom>
          <a:noFill/>
          <a:ln>
            <a:noFill/>
          </a:ln>
        </p:spPr>
      </p:pic>
      <p:pic>
        <p:nvPicPr>
          <p:cNvPr id="170" name="Google Shape;170;p8" descr="File:Doctor Showing Clipboard Cartoon.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39295" y="1955402"/>
            <a:ext cx="923876" cy="9941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8" descr="https://encrypted-tbn0.gstatic.com/images?q=tbn:ANd9GcTqrlWXrqrtetsETFI_IPXh9RDJ9R7zI0goJNGYQIIx08gaKBvF0A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39295" y="3259135"/>
            <a:ext cx="923876" cy="994172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8"/>
          <p:cNvSpPr txBox="1"/>
          <p:nvPr/>
        </p:nvSpPr>
        <p:spPr>
          <a:xfrm>
            <a:off x="1524000" y="2906662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8"/>
          <p:cNvSpPr txBox="1"/>
          <p:nvPr/>
        </p:nvSpPr>
        <p:spPr>
          <a:xfrm>
            <a:off x="1524000" y="4190282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8"/>
          <p:cNvSpPr txBox="1"/>
          <p:nvPr/>
        </p:nvSpPr>
        <p:spPr>
          <a:xfrm>
            <a:off x="1524000" y="5449907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Charlie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8"/>
          <p:cNvSpPr txBox="1"/>
          <p:nvPr/>
        </p:nvSpPr>
        <p:spPr>
          <a:xfrm>
            <a:off x="2584517" y="2377322"/>
            <a:ext cx="82720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X, Y, 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8"/>
          <p:cNvSpPr txBox="1"/>
          <p:nvPr/>
        </p:nvSpPr>
        <p:spPr>
          <a:xfrm>
            <a:off x="2584517" y="3695848"/>
            <a:ext cx="82720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Y, X, 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8"/>
          <p:cNvSpPr txBox="1"/>
          <p:nvPr/>
        </p:nvSpPr>
        <p:spPr>
          <a:xfrm>
            <a:off x="2584517" y="4907467"/>
            <a:ext cx="82720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Y, Z, 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8" name="Google Shape;178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15573" y="1876767"/>
            <a:ext cx="967978" cy="803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15572" y="3088384"/>
            <a:ext cx="967978" cy="803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555362" y="4300003"/>
            <a:ext cx="967979" cy="803672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8"/>
          <p:cNvSpPr txBox="1"/>
          <p:nvPr/>
        </p:nvSpPr>
        <p:spPr>
          <a:xfrm>
            <a:off x="9515572" y="2631238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8"/>
          <p:cNvSpPr txBox="1"/>
          <p:nvPr/>
        </p:nvSpPr>
        <p:spPr>
          <a:xfrm>
            <a:off x="9522328" y="3819030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8"/>
          <p:cNvSpPr txBox="1"/>
          <p:nvPr/>
        </p:nvSpPr>
        <p:spPr>
          <a:xfrm>
            <a:off x="9555361" y="5103674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8"/>
          <p:cNvSpPr txBox="1"/>
          <p:nvPr/>
        </p:nvSpPr>
        <p:spPr>
          <a:xfrm>
            <a:off x="8567024" y="2089203"/>
            <a:ext cx="104045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 A, 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8"/>
          <p:cNvSpPr txBox="1"/>
          <p:nvPr/>
        </p:nvSpPr>
        <p:spPr>
          <a:xfrm>
            <a:off x="8582036" y="3363806"/>
            <a:ext cx="954464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A, B, 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8"/>
          <p:cNvSpPr txBox="1"/>
          <p:nvPr/>
        </p:nvSpPr>
        <p:spPr>
          <a:xfrm>
            <a:off x="8582036" y="4578125"/>
            <a:ext cx="954464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 C, 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8"/>
          <p:cNvSpPr/>
          <p:nvPr/>
        </p:nvSpPr>
        <p:spPr>
          <a:xfrm rot="10800000" flipH="1">
            <a:off x="2583314" y="2068748"/>
            <a:ext cx="261594" cy="337079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1570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8" name="Google Shape;188;p8"/>
          <p:cNvCxnSpPr/>
          <p:nvPr/>
        </p:nvCxnSpPr>
        <p:spPr>
          <a:xfrm rot="10800000" flipH="1">
            <a:off x="3588471" y="2285412"/>
            <a:ext cx="4793530" cy="288119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"/>
          <p:cNvSpPr txBox="1">
            <a:spLocks noGrp="1"/>
          </p:cNvSpPr>
          <p:nvPr>
            <p:ph type="title"/>
          </p:nvPr>
        </p:nvSpPr>
        <p:spPr>
          <a:xfrm>
            <a:off x="2152650" y="959645"/>
            <a:ext cx="7886700" cy="475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DA Example Run 1 </a:t>
            </a:r>
            <a:endParaRPr/>
          </a:p>
        </p:txBody>
      </p:sp>
      <p:sp>
        <p:nvSpPr>
          <p:cNvPr id="194" name="Google Shape;19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195" name="Google Shape;195;p9" descr="Illustration of a doc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74813" y="4547173"/>
            <a:ext cx="652841" cy="888222"/>
          </a:xfrm>
          <a:prstGeom prst="snip1Rect">
            <a:avLst>
              <a:gd name="adj" fmla="val 50000"/>
            </a:avLst>
          </a:prstGeom>
          <a:noFill/>
          <a:ln>
            <a:noFill/>
          </a:ln>
        </p:spPr>
      </p:pic>
      <p:pic>
        <p:nvPicPr>
          <p:cNvPr id="196" name="Google Shape;196;p9" descr="File:Doctor Showing Clipboard Cartoon.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39295" y="1955402"/>
            <a:ext cx="923876" cy="9941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9" descr="https://encrypted-tbn0.gstatic.com/images?q=tbn:ANd9GcTqrlWXrqrtetsETFI_IPXh9RDJ9R7zI0goJNGYQIIx08gaKBvF0A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39295" y="3259135"/>
            <a:ext cx="923876" cy="994172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9"/>
          <p:cNvSpPr txBox="1"/>
          <p:nvPr/>
        </p:nvSpPr>
        <p:spPr>
          <a:xfrm>
            <a:off x="1524000" y="2906662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9"/>
          <p:cNvSpPr txBox="1"/>
          <p:nvPr/>
        </p:nvSpPr>
        <p:spPr>
          <a:xfrm>
            <a:off x="1524000" y="4190282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9"/>
          <p:cNvSpPr txBox="1"/>
          <p:nvPr/>
        </p:nvSpPr>
        <p:spPr>
          <a:xfrm>
            <a:off x="1524000" y="5449907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Charlie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9"/>
          <p:cNvSpPr txBox="1"/>
          <p:nvPr/>
        </p:nvSpPr>
        <p:spPr>
          <a:xfrm>
            <a:off x="2584517" y="2377322"/>
            <a:ext cx="82720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X, Y, 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9"/>
          <p:cNvSpPr txBox="1"/>
          <p:nvPr/>
        </p:nvSpPr>
        <p:spPr>
          <a:xfrm>
            <a:off x="2584517" y="3695848"/>
            <a:ext cx="82720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Y, X, 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9"/>
          <p:cNvSpPr txBox="1"/>
          <p:nvPr/>
        </p:nvSpPr>
        <p:spPr>
          <a:xfrm>
            <a:off x="2584517" y="4907467"/>
            <a:ext cx="82720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Y, Z, 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4" name="Google Shape;204;p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15573" y="1876767"/>
            <a:ext cx="967978" cy="803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15572" y="3088384"/>
            <a:ext cx="967978" cy="803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555362" y="4300003"/>
            <a:ext cx="967979" cy="803672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9"/>
          <p:cNvSpPr txBox="1"/>
          <p:nvPr/>
        </p:nvSpPr>
        <p:spPr>
          <a:xfrm>
            <a:off x="9515572" y="2631238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9"/>
          <p:cNvSpPr txBox="1"/>
          <p:nvPr/>
        </p:nvSpPr>
        <p:spPr>
          <a:xfrm>
            <a:off x="9522328" y="3819030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9"/>
          <p:cNvSpPr txBox="1"/>
          <p:nvPr/>
        </p:nvSpPr>
        <p:spPr>
          <a:xfrm>
            <a:off x="9555361" y="5103674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9"/>
          <p:cNvSpPr txBox="1"/>
          <p:nvPr/>
        </p:nvSpPr>
        <p:spPr>
          <a:xfrm>
            <a:off x="8567024" y="2089203"/>
            <a:ext cx="1151407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 A, 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9"/>
          <p:cNvSpPr txBox="1"/>
          <p:nvPr/>
        </p:nvSpPr>
        <p:spPr>
          <a:xfrm>
            <a:off x="8582036" y="3363806"/>
            <a:ext cx="954463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A, B, 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9"/>
          <p:cNvSpPr txBox="1"/>
          <p:nvPr/>
        </p:nvSpPr>
        <p:spPr>
          <a:xfrm>
            <a:off x="8582036" y="4578125"/>
            <a:ext cx="9733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 C, 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9"/>
          <p:cNvSpPr/>
          <p:nvPr/>
        </p:nvSpPr>
        <p:spPr>
          <a:xfrm rot="10800000" flipH="1">
            <a:off x="2583314" y="2068748"/>
            <a:ext cx="261594" cy="337079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1570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4" name="Google Shape;214;p9"/>
          <p:cNvCxnSpPr/>
          <p:nvPr/>
        </p:nvCxnSpPr>
        <p:spPr>
          <a:xfrm rot="10800000" flipH="1">
            <a:off x="3588471" y="2285412"/>
            <a:ext cx="4793530" cy="288119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sp>
        <p:nvSpPr>
          <p:cNvPr id="215" name="Google Shape;215;p9"/>
          <p:cNvSpPr/>
          <p:nvPr/>
        </p:nvSpPr>
        <p:spPr>
          <a:xfrm rot="10800000" flipH="1">
            <a:off x="2583314" y="3395962"/>
            <a:ext cx="261594" cy="337079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1570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6" name="Google Shape;216;p9"/>
          <p:cNvCxnSpPr/>
          <p:nvPr/>
        </p:nvCxnSpPr>
        <p:spPr>
          <a:xfrm rot="10800000" flipH="1">
            <a:off x="3588471" y="3560015"/>
            <a:ext cx="4793530" cy="288119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"/>
          <p:cNvSpPr txBox="1">
            <a:spLocks noGrp="1"/>
          </p:cNvSpPr>
          <p:nvPr>
            <p:ph type="title"/>
          </p:nvPr>
        </p:nvSpPr>
        <p:spPr>
          <a:xfrm>
            <a:off x="2152650" y="959645"/>
            <a:ext cx="7886700" cy="475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DA Example Run 1 </a:t>
            </a:r>
            <a:endParaRPr/>
          </a:p>
        </p:txBody>
      </p:sp>
      <p:sp>
        <p:nvSpPr>
          <p:cNvPr id="222" name="Google Shape;222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223" name="Google Shape;223;p10" descr="Illustration of a doc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74813" y="4547173"/>
            <a:ext cx="652841" cy="888222"/>
          </a:xfrm>
          <a:prstGeom prst="snip1Rect">
            <a:avLst>
              <a:gd name="adj" fmla="val 50000"/>
            </a:avLst>
          </a:prstGeom>
          <a:noFill/>
          <a:ln>
            <a:noFill/>
          </a:ln>
        </p:spPr>
      </p:pic>
      <p:pic>
        <p:nvPicPr>
          <p:cNvPr id="224" name="Google Shape;224;p10" descr="File:Doctor Showing Clipboard Cartoon.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39295" y="1955402"/>
            <a:ext cx="923876" cy="9941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0" descr="https://encrypted-tbn0.gstatic.com/images?q=tbn:ANd9GcTqrlWXrqrtetsETFI_IPXh9RDJ9R7zI0goJNGYQIIx08gaKBvF0A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39295" y="3259135"/>
            <a:ext cx="923876" cy="994172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0"/>
          <p:cNvSpPr txBox="1"/>
          <p:nvPr/>
        </p:nvSpPr>
        <p:spPr>
          <a:xfrm>
            <a:off x="1524000" y="2906662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0"/>
          <p:cNvSpPr txBox="1"/>
          <p:nvPr/>
        </p:nvSpPr>
        <p:spPr>
          <a:xfrm>
            <a:off x="1524000" y="4190282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0"/>
          <p:cNvSpPr txBox="1"/>
          <p:nvPr/>
        </p:nvSpPr>
        <p:spPr>
          <a:xfrm>
            <a:off x="1524000" y="5449907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Charlie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0"/>
          <p:cNvSpPr txBox="1"/>
          <p:nvPr/>
        </p:nvSpPr>
        <p:spPr>
          <a:xfrm>
            <a:off x="2584517" y="2377322"/>
            <a:ext cx="82720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X, Y, 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0"/>
          <p:cNvSpPr txBox="1"/>
          <p:nvPr/>
        </p:nvSpPr>
        <p:spPr>
          <a:xfrm>
            <a:off x="2584517" y="3695848"/>
            <a:ext cx="82720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Y, X, 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0"/>
          <p:cNvSpPr txBox="1"/>
          <p:nvPr/>
        </p:nvSpPr>
        <p:spPr>
          <a:xfrm>
            <a:off x="2584517" y="4907467"/>
            <a:ext cx="82720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Y, Z, 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2" name="Google Shape;232;p1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15573" y="1876767"/>
            <a:ext cx="967978" cy="803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1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15572" y="3088384"/>
            <a:ext cx="967978" cy="803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1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555362" y="4300003"/>
            <a:ext cx="967979" cy="803672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0"/>
          <p:cNvSpPr txBox="1"/>
          <p:nvPr/>
        </p:nvSpPr>
        <p:spPr>
          <a:xfrm>
            <a:off x="9515572" y="2631238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0"/>
          <p:cNvSpPr txBox="1"/>
          <p:nvPr/>
        </p:nvSpPr>
        <p:spPr>
          <a:xfrm>
            <a:off x="9522328" y="3819030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0"/>
          <p:cNvSpPr txBox="1"/>
          <p:nvPr/>
        </p:nvSpPr>
        <p:spPr>
          <a:xfrm>
            <a:off x="9555361" y="5103674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0"/>
          <p:cNvSpPr txBox="1"/>
          <p:nvPr/>
        </p:nvSpPr>
        <p:spPr>
          <a:xfrm>
            <a:off x="8567024" y="2089203"/>
            <a:ext cx="104045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 A, 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0"/>
          <p:cNvSpPr txBox="1"/>
          <p:nvPr/>
        </p:nvSpPr>
        <p:spPr>
          <a:xfrm>
            <a:off x="8582036" y="3363806"/>
            <a:ext cx="1025446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A, B, 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0"/>
          <p:cNvSpPr txBox="1"/>
          <p:nvPr/>
        </p:nvSpPr>
        <p:spPr>
          <a:xfrm>
            <a:off x="8582036" y="4578125"/>
            <a:ext cx="102544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 C, 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0"/>
          <p:cNvSpPr/>
          <p:nvPr/>
        </p:nvSpPr>
        <p:spPr>
          <a:xfrm rot="10800000" flipH="1">
            <a:off x="2583314" y="2068748"/>
            <a:ext cx="261594" cy="337079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1570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2" name="Google Shape;242;p10"/>
          <p:cNvCxnSpPr/>
          <p:nvPr/>
        </p:nvCxnSpPr>
        <p:spPr>
          <a:xfrm rot="10800000" flipH="1">
            <a:off x="3588471" y="2285412"/>
            <a:ext cx="4793530" cy="288119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sp>
        <p:nvSpPr>
          <p:cNvPr id="243" name="Google Shape;243;p10"/>
          <p:cNvSpPr/>
          <p:nvPr/>
        </p:nvSpPr>
        <p:spPr>
          <a:xfrm rot="10800000" flipH="1">
            <a:off x="2583314" y="3395962"/>
            <a:ext cx="261594" cy="337079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1570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4" name="Google Shape;244;p10"/>
          <p:cNvCxnSpPr/>
          <p:nvPr/>
        </p:nvCxnSpPr>
        <p:spPr>
          <a:xfrm rot="10800000" flipH="1">
            <a:off x="3588471" y="3560015"/>
            <a:ext cx="4793530" cy="288119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sp>
        <p:nvSpPr>
          <p:cNvPr id="245" name="Google Shape;245;p10"/>
          <p:cNvSpPr/>
          <p:nvPr/>
        </p:nvSpPr>
        <p:spPr>
          <a:xfrm rot="10800000" flipH="1">
            <a:off x="2579041" y="4578184"/>
            <a:ext cx="261594" cy="337079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1570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6" name="Google Shape;246;p10"/>
          <p:cNvCxnSpPr/>
          <p:nvPr/>
        </p:nvCxnSpPr>
        <p:spPr>
          <a:xfrm rot="10800000" flipH="1">
            <a:off x="3584198" y="3560014"/>
            <a:ext cx="4797803" cy="1470342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1"/>
          <p:cNvSpPr txBox="1">
            <a:spLocks noGrp="1"/>
          </p:cNvSpPr>
          <p:nvPr>
            <p:ph type="title"/>
          </p:nvPr>
        </p:nvSpPr>
        <p:spPr>
          <a:xfrm>
            <a:off x="2152650" y="959645"/>
            <a:ext cx="7886700" cy="475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DA Example Run 1 </a:t>
            </a:r>
            <a:endParaRPr/>
          </a:p>
        </p:txBody>
      </p:sp>
      <p:sp>
        <p:nvSpPr>
          <p:cNvPr id="252" name="Google Shape;252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253" name="Google Shape;253;p11" descr="Illustration of a doc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74813" y="4547173"/>
            <a:ext cx="652841" cy="888222"/>
          </a:xfrm>
          <a:prstGeom prst="snip1Rect">
            <a:avLst>
              <a:gd name="adj" fmla="val 50000"/>
            </a:avLst>
          </a:prstGeom>
          <a:noFill/>
          <a:ln>
            <a:noFill/>
          </a:ln>
        </p:spPr>
      </p:pic>
      <p:pic>
        <p:nvPicPr>
          <p:cNvPr id="254" name="Google Shape;254;p11" descr="File:Doctor Showing Clipboard Cartoon.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39295" y="1955402"/>
            <a:ext cx="923876" cy="9941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11" descr="https://encrypted-tbn0.gstatic.com/images?q=tbn:ANd9GcTqrlWXrqrtetsETFI_IPXh9RDJ9R7zI0goJNGYQIIx08gaKBvF0A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39295" y="3259135"/>
            <a:ext cx="923876" cy="994172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1"/>
          <p:cNvSpPr txBox="1"/>
          <p:nvPr/>
        </p:nvSpPr>
        <p:spPr>
          <a:xfrm>
            <a:off x="1524000" y="2906662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1"/>
          <p:cNvSpPr txBox="1"/>
          <p:nvPr/>
        </p:nvSpPr>
        <p:spPr>
          <a:xfrm>
            <a:off x="1524000" y="4190282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1"/>
          <p:cNvSpPr txBox="1"/>
          <p:nvPr/>
        </p:nvSpPr>
        <p:spPr>
          <a:xfrm>
            <a:off x="1524000" y="5449907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Charlie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1"/>
          <p:cNvSpPr txBox="1"/>
          <p:nvPr/>
        </p:nvSpPr>
        <p:spPr>
          <a:xfrm>
            <a:off x="2584517" y="2377322"/>
            <a:ext cx="82720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X, Y, 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1"/>
          <p:cNvSpPr txBox="1"/>
          <p:nvPr/>
        </p:nvSpPr>
        <p:spPr>
          <a:xfrm>
            <a:off x="2584517" y="3695848"/>
            <a:ext cx="82720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Y, X, 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1"/>
          <p:cNvSpPr txBox="1"/>
          <p:nvPr/>
        </p:nvSpPr>
        <p:spPr>
          <a:xfrm>
            <a:off x="2584517" y="4907467"/>
            <a:ext cx="82720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Y, Z, 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2" name="Google Shape;262;p1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15573" y="1876767"/>
            <a:ext cx="967978" cy="803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1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15572" y="3088384"/>
            <a:ext cx="967978" cy="803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1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555362" y="4300003"/>
            <a:ext cx="967979" cy="803672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1"/>
          <p:cNvSpPr txBox="1"/>
          <p:nvPr/>
        </p:nvSpPr>
        <p:spPr>
          <a:xfrm>
            <a:off x="9515572" y="2631238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1"/>
          <p:cNvSpPr txBox="1"/>
          <p:nvPr/>
        </p:nvSpPr>
        <p:spPr>
          <a:xfrm>
            <a:off x="9522328" y="3819030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1"/>
          <p:cNvSpPr txBox="1"/>
          <p:nvPr/>
        </p:nvSpPr>
        <p:spPr>
          <a:xfrm>
            <a:off x="9555361" y="5103674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1"/>
          <p:cNvSpPr txBox="1"/>
          <p:nvPr/>
        </p:nvSpPr>
        <p:spPr>
          <a:xfrm>
            <a:off x="8567024" y="2089203"/>
            <a:ext cx="988337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 A, 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1"/>
          <p:cNvSpPr txBox="1"/>
          <p:nvPr/>
        </p:nvSpPr>
        <p:spPr>
          <a:xfrm>
            <a:off x="8582036" y="3363806"/>
            <a:ext cx="1025447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A, B, 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1"/>
          <p:cNvSpPr txBox="1"/>
          <p:nvPr/>
        </p:nvSpPr>
        <p:spPr>
          <a:xfrm>
            <a:off x="8582036" y="4578125"/>
            <a:ext cx="1159841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 C, 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1"/>
          <p:cNvSpPr/>
          <p:nvPr/>
        </p:nvSpPr>
        <p:spPr>
          <a:xfrm rot="10800000" flipH="1">
            <a:off x="2583314" y="2068748"/>
            <a:ext cx="261594" cy="337079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1570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2" name="Google Shape;272;p11"/>
          <p:cNvCxnSpPr/>
          <p:nvPr/>
        </p:nvCxnSpPr>
        <p:spPr>
          <a:xfrm rot="10800000" flipH="1">
            <a:off x="3588471" y="2285412"/>
            <a:ext cx="4793530" cy="288119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sp>
        <p:nvSpPr>
          <p:cNvPr id="273" name="Google Shape;273;p11"/>
          <p:cNvSpPr/>
          <p:nvPr/>
        </p:nvSpPr>
        <p:spPr>
          <a:xfrm rot="10800000" flipH="1">
            <a:off x="2583314" y="3395962"/>
            <a:ext cx="261594" cy="337079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1570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4" name="Google Shape;274;p11"/>
          <p:cNvCxnSpPr/>
          <p:nvPr/>
        </p:nvCxnSpPr>
        <p:spPr>
          <a:xfrm rot="10800000" flipH="1">
            <a:off x="3588471" y="3560015"/>
            <a:ext cx="4793530" cy="288119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sp>
        <p:nvSpPr>
          <p:cNvPr id="275" name="Google Shape;275;p11"/>
          <p:cNvSpPr/>
          <p:nvPr/>
        </p:nvSpPr>
        <p:spPr>
          <a:xfrm rot="10800000" flipH="1">
            <a:off x="2805347" y="4578127"/>
            <a:ext cx="261594" cy="337079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1570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6" name="Google Shape;276;p11"/>
          <p:cNvCxnSpPr/>
          <p:nvPr/>
        </p:nvCxnSpPr>
        <p:spPr>
          <a:xfrm rot="10800000" flipH="1">
            <a:off x="3584197" y="4774334"/>
            <a:ext cx="4862322" cy="256023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2"/>
          <p:cNvSpPr txBox="1">
            <a:spLocks noGrp="1"/>
          </p:cNvSpPr>
          <p:nvPr>
            <p:ph type="title"/>
          </p:nvPr>
        </p:nvSpPr>
        <p:spPr>
          <a:xfrm>
            <a:off x="2152650" y="959645"/>
            <a:ext cx="7886700" cy="475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DA Example Run 1 </a:t>
            </a:r>
            <a:endParaRPr/>
          </a:p>
        </p:txBody>
      </p:sp>
      <p:sp>
        <p:nvSpPr>
          <p:cNvPr id="282" name="Google Shape;282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283" name="Google Shape;283;p12" descr="Illustration of a doc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74813" y="4547173"/>
            <a:ext cx="652841" cy="888222"/>
          </a:xfrm>
          <a:prstGeom prst="snip1Rect">
            <a:avLst>
              <a:gd name="adj" fmla="val 50000"/>
            </a:avLst>
          </a:prstGeom>
          <a:noFill/>
          <a:ln>
            <a:noFill/>
          </a:ln>
        </p:spPr>
      </p:pic>
      <p:pic>
        <p:nvPicPr>
          <p:cNvPr id="284" name="Google Shape;284;p12" descr="File:Doctor Showing Clipboard Cartoon.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39295" y="1955402"/>
            <a:ext cx="923876" cy="9941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12" descr="https://encrypted-tbn0.gstatic.com/images?q=tbn:ANd9GcTqrlWXrqrtetsETFI_IPXh9RDJ9R7zI0goJNGYQIIx08gaKBvF0A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39295" y="3259135"/>
            <a:ext cx="923876" cy="994172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2"/>
          <p:cNvSpPr txBox="1"/>
          <p:nvPr/>
        </p:nvSpPr>
        <p:spPr>
          <a:xfrm>
            <a:off x="1524000" y="2906662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2"/>
          <p:cNvSpPr txBox="1"/>
          <p:nvPr/>
        </p:nvSpPr>
        <p:spPr>
          <a:xfrm>
            <a:off x="1524000" y="4190282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2"/>
          <p:cNvSpPr txBox="1"/>
          <p:nvPr/>
        </p:nvSpPr>
        <p:spPr>
          <a:xfrm>
            <a:off x="1524000" y="5449907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Charlie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2"/>
          <p:cNvSpPr txBox="1"/>
          <p:nvPr/>
        </p:nvSpPr>
        <p:spPr>
          <a:xfrm>
            <a:off x="2584517" y="2377322"/>
            <a:ext cx="82720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X, Y, 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2"/>
          <p:cNvSpPr txBox="1"/>
          <p:nvPr/>
        </p:nvSpPr>
        <p:spPr>
          <a:xfrm>
            <a:off x="2584517" y="3695848"/>
            <a:ext cx="82720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Y, X, 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2"/>
          <p:cNvSpPr txBox="1"/>
          <p:nvPr/>
        </p:nvSpPr>
        <p:spPr>
          <a:xfrm>
            <a:off x="2584517" y="4907467"/>
            <a:ext cx="82720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Y, Z, 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2" name="Google Shape;292;p1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15573" y="1876767"/>
            <a:ext cx="967978" cy="803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1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15572" y="3088384"/>
            <a:ext cx="967978" cy="803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1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555362" y="4300003"/>
            <a:ext cx="967979" cy="803672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2"/>
          <p:cNvSpPr txBox="1"/>
          <p:nvPr/>
        </p:nvSpPr>
        <p:spPr>
          <a:xfrm>
            <a:off x="9515572" y="2631238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2"/>
          <p:cNvSpPr txBox="1"/>
          <p:nvPr/>
        </p:nvSpPr>
        <p:spPr>
          <a:xfrm>
            <a:off x="9522328" y="3819030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2"/>
          <p:cNvSpPr txBox="1"/>
          <p:nvPr/>
        </p:nvSpPr>
        <p:spPr>
          <a:xfrm>
            <a:off x="9555361" y="5103674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2"/>
          <p:cNvSpPr txBox="1"/>
          <p:nvPr/>
        </p:nvSpPr>
        <p:spPr>
          <a:xfrm>
            <a:off x="8567024" y="2089203"/>
            <a:ext cx="988337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 A, 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2"/>
          <p:cNvSpPr txBox="1"/>
          <p:nvPr/>
        </p:nvSpPr>
        <p:spPr>
          <a:xfrm>
            <a:off x="8582036" y="3363806"/>
            <a:ext cx="112467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A, B, 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2"/>
          <p:cNvSpPr txBox="1"/>
          <p:nvPr/>
        </p:nvSpPr>
        <p:spPr>
          <a:xfrm>
            <a:off x="8582036" y="4578125"/>
            <a:ext cx="1025447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 C, 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2"/>
          <p:cNvSpPr/>
          <p:nvPr/>
        </p:nvSpPr>
        <p:spPr>
          <a:xfrm rot="10800000" flipH="1">
            <a:off x="2583314" y="2068748"/>
            <a:ext cx="261594" cy="337079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1570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2" name="Google Shape;302;p12"/>
          <p:cNvCxnSpPr/>
          <p:nvPr/>
        </p:nvCxnSpPr>
        <p:spPr>
          <a:xfrm rot="10800000" flipH="1">
            <a:off x="3588471" y="2285412"/>
            <a:ext cx="4793530" cy="288119"/>
          </a:xfrm>
          <a:prstGeom prst="straightConnector1">
            <a:avLst/>
          </a:prstGeom>
          <a:noFill/>
          <a:ln w="76200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03" name="Google Shape;303;p12"/>
          <p:cNvSpPr/>
          <p:nvPr/>
        </p:nvSpPr>
        <p:spPr>
          <a:xfrm rot="10800000" flipH="1">
            <a:off x="2583314" y="3395962"/>
            <a:ext cx="261594" cy="337079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1570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4" name="Google Shape;304;p12"/>
          <p:cNvCxnSpPr/>
          <p:nvPr/>
        </p:nvCxnSpPr>
        <p:spPr>
          <a:xfrm rot="10800000" flipH="1">
            <a:off x="3588471" y="3560015"/>
            <a:ext cx="4793530" cy="288119"/>
          </a:xfrm>
          <a:prstGeom prst="straightConnector1">
            <a:avLst/>
          </a:prstGeom>
          <a:noFill/>
          <a:ln w="76200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05" name="Google Shape;305;p12"/>
          <p:cNvSpPr/>
          <p:nvPr/>
        </p:nvSpPr>
        <p:spPr>
          <a:xfrm rot="10800000" flipH="1">
            <a:off x="2805347" y="4578127"/>
            <a:ext cx="261594" cy="337079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1570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6" name="Google Shape;306;p12"/>
          <p:cNvCxnSpPr/>
          <p:nvPr/>
        </p:nvCxnSpPr>
        <p:spPr>
          <a:xfrm rot="10800000" flipH="1">
            <a:off x="3584197" y="4774334"/>
            <a:ext cx="4862322" cy="256023"/>
          </a:xfrm>
          <a:prstGeom prst="straightConnector1">
            <a:avLst/>
          </a:prstGeom>
          <a:noFill/>
          <a:ln w="76200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3"/>
          <p:cNvSpPr txBox="1">
            <a:spLocks noGrp="1"/>
          </p:cNvSpPr>
          <p:nvPr>
            <p:ph type="title"/>
          </p:nvPr>
        </p:nvSpPr>
        <p:spPr>
          <a:xfrm>
            <a:off x="838200" y="2862262"/>
            <a:ext cx="10515600" cy="1133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dirty="0"/>
              <a:t>Another example</a:t>
            </a:r>
            <a:endParaRPr dirty="0"/>
          </a:p>
        </p:txBody>
      </p:sp>
      <p:sp>
        <p:nvSpPr>
          <p:cNvPr id="313" name="Google Shape;31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4"/>
          <p:cNvSpPr txBox="1">
            <a:spLocks noGrp="1"/>
          </p:cNvSpPr>
          <p:nvPr>
            <p:ph type="title"/>
          </p:nvPr>
        </p:nvSpPr>
        <p:spPr>
          <a:xfrm>
            <a:off x="2152650" y="959645"/>
            <a:ext cx="7886700" cy="475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DA Example Run 2 </a:t>
            </a:r>
            <a:endParaRPr/>
          </a:p>
        </p:txBody>
      </p:sp>
      <p:sp>
        <p:nvSpPr>
          <p:cNvPr id="319" name="Google Shape;319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320" name="Google Shape;320;p14" descr="Illustration of a doc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74813" y="4547173"/>
            <a:ext cx="652841" cy="888222"/>
          </a:xfrm>
          <a:prstGeom prst="snip1Rect">
            <a:avLst>
              <a:gd name="adj" fmla="val 50000"/>
            </a:avLst>
          </a:prstGeom>
          <a:noFill/>
          <a:ln>
            <a:noFill/>
          </a:ln>
        </p:spPr>
      </p:pic>
      <p:pic>
        <p:nvPicPr>
          <p:cNvPr id="321" name="Google Shape;321;p14" descr="File:Doctor Showing Clipboard Cartoon.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39295" y="1955402"/>
            <a:ext cx="923876" cy="9941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14" descr="https://encrypted-tbn0.gstatic.com/images?q=tbn:ANd9GcTqrlWXrqrtetsETFI_IPXh9RDJ9R7zI0goJNGYQIIx08gaKBvF0A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39295" y="3259135"/>
            <a:ext cx="923876" cy="994172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14"/>
          <p:cNvSpPr txBox="1"/>
          <p:nvPr/>
        </p:nvSpPr>
        <p:spPr>
          <a:xfrm>
            <a:off x="1524000" y="2906662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4"/>
          <p:cNvSpPr txBox="1"/>
          <p:nvPr/>
        </p:nvSpPr>
        <p:spPr>
          <a:xfrm>
            <a:off x="1524000" y="4190282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4"/>
          <p:cNvSpPr txBox="1"/>
          <p:nvPr/>
        </p:nvSpPr>
        <p:spPr>
          <a:xfrm>
            <a:off x="1524000" y="5449907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Charlie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4"/>
          <p:cNvSpPr txBox="1"/>
          <p:nvPr/>
        </p:nvSpPr>
        <p:spPr>
          <a:xfrm>
            <a:off x="2584517" y="2377322"/>
            <a:ext cx="82720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X, Y, 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4"/>
          <p:cNvSpPr txBox="1"/>
          <p:nvPr/>
        </p:nvSpPr>
        <p:spPr>
          <a:xfrm>
            <a:off x="2584517" y="3695848"/>
            <a:ext cx="82720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Y, X, 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4"/>
          <p:cNvSpPr txBox="1"/>
          <p:nvPr/>
        </p:nvSpPr>
        <p:spPr>
          <a:xfrm>
            <a:off x="2584517" y="4907467"/>
            <a:ext cx="82720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Y, Z, 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9" name="Google Shape;329;p1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15573" y="1876767"/>
            <a:ext cx="967978" cy="803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1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15572" y="3088384"/>
            <a:ext cx="967978" cy="803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1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555362" y="4300003"/>
            <a:ext cx="967979" cy="803672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14"/>
          <p:cNvSpPr txBox="1"/>
          <p:nvPr/>
        </p:nvSpPr>
        <p:spPr>
          <a:xfrm>
            <a:off x="9515572" y="2631238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4"/>
          <p:cNvSpPr txBox="1"/>
          <p:nvPr/>
        </p:nvSpPr>
        <p:spPr>
          <a:xfrm>
            <a:off x="9522328" y="3819030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4"/>
          <p:cNvSpPr txBox="1"/>
          <p:nvPr/>
        </p:nvSpPr>
        <p:spPr>
          <a:xfrm>
            <a:off x="9555361" y="5103674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4"/>
          <p:cNvSpPr txBox="1"/>
          <p:nvPr/>
        </p:nvSpPr>
        <p:spPr>
          <a:xfrm>
            <a:off x="8567024" y="2089203"/>
            <a:ext cx="104045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 A, 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4"/>
          <p:cNvSpPr txBox="1"/>
          <p:nvPr/>
        </p:nvSpPr>
        <p:spPr>
          <a:xfrm>
            <a:off x="8582036" y="3363806"/>
            <a:ext cx="94029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A, C, 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4"/>
          <p:cNvSpPr txBox="1"/>
          <p:nvPr/>
        </p:nvSpPr>
        <p:spPr>
          <a:xfrm>
            <a:off x="8582036" y="4578125"/>
            <a:ext cx="9733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 C, 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5"/>
          <p:cNvSpPr txBox="1">
            <a:spLocks noGrp="1"/>
          </p:cNvSpPr>
          <p:nvPr>
            <p:ph type="title"/>
          </p:nvPr>
        </p:nvSpPr>
        <p:spPr>
          <a:xfrm>
            <a:off x="2152650" y="959645"/>
            <a:ext cx="7886700" cy="475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DA Example Run 2 </a:t>
            </a:r>
            <a:endParaRPr/>
          </a:p>
        </p:txBody>
      </p:sp>
      <p:sp>
        <p:nvSpPr>
          <p:cNvPr id="343" name="Google Shape;343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344" name="Google Shape;344;p15" descr="Illustration of a doc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74813" y="4547173"/>
            <a:ext cx="652841" cy="888222"/>
          </a:xfrm>
          <a:prstGeom prst="snip1Rect">
            <a:avLst>
              <a:gd name="adj" fmla="val 50000"/>
            </a:avLst>
          </a:prstGeom>
          <a:noFill/>
          <a:ln>
            <a:noFill/>
          </a:ln>
        </p:spPr>
      </p:pic>
      <p:pic>
        <p:nvPicPr>
          <p:cNvPr id="345" name="Google Shape;345;p15" descr="File:Doctor Showing Clipboard Cartoon.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39295" y="1955402"/>
            <a:ext cx="923876" cy="9941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15" descr="https://encrypted-tbn0.gstatic.com/images?q=tbn:ANd9GcTqrlWXrqrtetsETFI_IPXh9RDJ9R7zI0goJNGYQIIx08gaKBvF0A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39295" y="3259135"/>
            <a:ext cx="923876" cy="994172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15"/>
          <p:cNvSpPr txBox="1"/>
          <p:nvPr/>
        </p:nvSpPr>
        <p:spPr>
          <a:xfrm>
            <a:off x="1524000" y="2906662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5"/>
          <p:cNvSpPr txBox="1"/>
          <p:nvPr/>
        </p:nvSpPr>
        <p:spPr>
          <a:xfrm>
            <a:off x="1524000" y="4190282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5"/>
          <p:cNvSpPr txBox="1"/>
          <p:nvPr/>
        </p:nvSpPr>
        <p:spPr>
          <a:xfrm>
            <a:off x="1524000" y="5449907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Charlie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5"/>
          <p:cNvSpPr txBox="1"/>
          <p:nvPr/>
        </p:nvSpPr>
        <p:spPr>
          <a:xfrm>
            <a:off x="2584517" y="2377322"/>
            <a:ext cx="82720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X, Y, 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5"/>
          <p:cNvSpPr txBox="1"/>
          <p:nvPr/>
        </p:nvSpPr>
        <p:spPr>
          <a:xfrm>
            <a:off x="2584517" y="3695848"/>
            <a:ext cx="82720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Y, X, 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5"/>
          <p:cNvSpPr txBox="1"/>
          <p:nvPr/>
        </p:nvSpPr>
        <p:spPr>
          <a:xfrm>
            <a:off x="2584517" y="4907467"/>
            <a:ext cx="82720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Y, Z, 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3" name="Google Shape;353;p1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15573" y="1876767"/>
            <a:ext cx="967978" cy="803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1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15572" y="3088384"/>
            <a:ext cx="967978" cy="803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1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555362" y="4300003"/>
            <a:ext cx="967979" cy="803672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15"/>
          <p:cNvSpPr txBox="1"/>
          <p:nvPr/>
        </p:nvSpPr>
        <p:spPr>
          <a:xfrm>
            <a:off x="9515572" y="2631238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5"/>
          <p:cNvSpPr txBox="1"/>
          <p:nvPr/>
        </p:nvSpPr>
        <p:spPr>
          <a:xfrm>
            <a:off x="9522328" y="3819030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5"/>
          <p:cNvSpPr txBox="1"/>
          <p:nvPr/>
        </p:nvSpPr>
        <p:spPr>
          <a:xfrm>
            <a:off x="9555361" y="5103674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5"/>
          <p:cNvSpPr txBox="1"/>
          <p:nvPr/>
        </p:nvSpPr>
        <p:spPr>
          <a:xfrm>
            <a:off x="8567024" y="2089203"/>
            <a:ext cx="104045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 A, 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5"/>
          <p:cNvSpPr txBox="1"/>
          <p:nvPr/>
        </p:nvSpPr>
        <p:spPr>
          <a:xfrm>
            <a:off x="8582036" y="3363806"/>
            <a:ext cx="954464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A, C, 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5"/>
          <p:cNvSpPr txBox="1"/>
          <p:nvPr/>
        </p:nvSpPr>
        <p:spPr>
          <a:xfrm>
            <a:off x="8582036" y="4578125"/>
            <a:ext cx="111294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 C, 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5"/>
          <p:cNvSpPr/>
          <p:nvPr/>
        </p:nvSpPr>
        <p:spPr>
          <a:xfrm rot="10800000" flipH="1">
            <a:off x="2583314" y="2068748"/>
            <a:ext cx="261594" cy="337079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1570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3" name="Google Shape;363;p15"/>
          <p:cNvCxnSpPr/>
          <p:nvPr/>
        </p:nvCxnSpPr>
        <p:spPr>
          <a:xfrm rot="10800000" flipH="1">
            <a:off x="3588471" y="2285412"/>
            <a:ext cx="4793530" cy="288119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6"/>
          <p:cNvSpPr txBox="1">
            <a:spLocks noGrp="1"/>
          </p:cNvSpPr>
          <p:nvPr>
            <p:ph type="title"/>
          </p:nvPr>
        </p:nvSpPr>
        <p:spPr>
          <a:xfrm>
            <a:off x="2152650" y="959645"/>
            <a:ext cx="7886700" cy="475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DA Example Run 2 </a:t>
            </a:r>
            <a:endParaRPr/>
          </a:p>
        </p:txBody>
      </p:sp>
      <p:sp>
        <p:nvSpPr>
          <p:cNvPr id="369" name="Google Shape;36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370" name="Google Shape;370;p16" descr="Illustration of a doc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74813" y="4547173"/>
            <a:ext cx="652841" cy="888222"/>
          </a:xfrm>
          <a:prstGeom prst="snip1Rect">
            <a:avLst>
              <a:gd name="adj" fmla="val 50000"/>
            </a:avLst>
          </a:prstGeom>
          <a:noFill/>
          <a:ln>
            <a:noFill/>
          </a:ln>
        </p:spPr>
      </p:pic>
      <p:pic>
        <p:nvPicPr>
          <p:cNvPr id="371" name="Google Shape;371;p16" descr="File:Doctor Showing Clipboard Cartoon.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39295" y="1955402"/>
            <a:ext cx="923876" cy="9941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16" descr="https://encrypted-tbn0.gstatic.com/images?q=tbn:ANd9GcTqrlWXrqrtetsETFI_IPXh9RDJ9R7zI0goJNGYQIIx08gaKBvF0A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39295" y="3259135"/>
            <a:ext cx="923876" cy="994172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16"/>
          <p:cNvSpPr txBox="1"/>
          <p:nvPr/>
        </p:nvSpPr>
        <p:spPr>
          <a:xfrm>
            <a:off x="1524000" y="2906662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6"/>
          <p:cNvSpPr txBox="1"/>
          <p:nvPr/>
        </p:nvSpPr>
        <p:spPr>
          <a:xfrm>
            <a:off x="1524000" y="4190282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6"/>
          <p:cNvSpPr txBox="1"/>
          <p:nvPr/>
        </p:nvSpPr>
        <p:spPr>
          <a:xfrm>
            <a:off x="1524000" y="5449907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Charlie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6"/>
          <p:cNvSpPr txBox="1"/>
          <p:nvPr/>
        </p:nvSpPr>
        <p:spPr>
          <a:xfrm>
            <a:off x="2584517" y="2377322"/>
            <a:ext cx="82720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X, Y, 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6"/>
          <p:cNvSpPr txBox="1"/>
          <p:nvPr/>
        </p:nvSpPr>
        <p:spPr>
          <a:xfrm>
            <a:off x="2584517" y="3695848"/>
            <a:ext cx="82720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Y, X, 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6"/>
          <p:cNvSpPr txBox="1"/>
          <p:nvPr/>
        </p:nvSpPr>
        <p:spPr>
          <a:xfrm>
            <a:off x="2584517" y="4907467"/>
            <a:ext cx="82720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Y, Z, 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9" name="Google Shape;379;p1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15573" y="1876767"/>
            <a:ext cx="967978" cy="803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1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15572" y="3088384"/>
            <a:ext cx="967978" cy="803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1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555362" y="4300003"/>
            <a:ext cx="967979" cy="803672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16"/>
          <p:cNvSpPr txBox="1"/>
          <p:nvPr/>
        </p:nvSpPr>
        <p:spPr>
          <a:xfrm>
            <a:off x="9515572" y="2631238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6"/>
          <p:cNvSpPr txBox="1"/>
          <p:nvPr/>
        </p:nvSpPr>
        <p:spPr>
          <a:xfrm>
            <a:off x="9522328" y="3819030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6"/>
          <p:cNvSpPr txBox="1"/>
          <p:nvPr/>
        </p:nvSpPr>
        <p:spPr>
          <a:xfrm>
            <a:off x="9555361" y="5103674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6"/>
          <p:cNvSpPr txBox="1"/>
          <p:nvPr/>
        </p:nvSpPr>
        <p:spPr>
          <a:xfrm>
            <a:off x="8567024" y="2089203"/>
            <a:ext cx="104045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 A, 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6"/>
          <p:cNvSpPr txBox="1"/>
          <p:nvPr/>
        </p:nvSpPr>
        <p:spPr>
          <a:xfrm>
            <a:off x="8582036" y="3363806"/>
            <a:ext cx="1171564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A, C, 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6"/>
          <p:cNvSpPr txBox="1"/>
          <p:nvPr/>
        </p:nvSpPr>
        <p:spPr>
          <a:xfrm>
            <a:off x="8582036" y="4578125"/>
            <a:ext cx="1025446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 C, 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6"/>
          <p:cNvSpPr/>
          <p:nvPr/>
        </p:nvSpPr>
        <p:spPr>
          <a:xfrm rot="10800000" flipH="1">
            <a:off x="2583314" y="2068748"/>
            <a:ext cx="261594" cy="337079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1570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6"/>
          <p:cNvSpPr/>
          <p:nvPr/>
        </p:nvSpPr>
        <p:spPr>
          <a:xfrm rot="10800000" flipH="1">
            <a:off x="2583314" y="3405003"/>
            <a:ext cx="261594" cy="337079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1570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0" name="Google Shape;390;p16"/>
          <p:cNvCxnSpPr/>
          <p:nvPr/>
        </p:nvCxnSpPr>
        <p:spPr>
          <a:xfrm rot="10800000" flipH="1">
            <a:off x="3588471" y="2285412"/>
            <a:ext cx="4793530" cy="288119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391" name="Google Shape;391;p16"/>
          <p:cNvCxnSpPr/>
          <p:nvPr/>
        </p:nvCxnSpPr>
        <p:spPr>
          <a:xfrm rot="10800000" flipH="1">
            <a:off x="3595985" y="3582120"/>
            <a:ext cx="4793530" cy="288119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7"/>
          <p:cNvSpPr txBox="1">
            <a:spLocks noGrp="1"/>
          </p:cNvSpPr>
          <p:nvPr>
            <p:ph type="title"/>
          </p:nvPr>
        </p:nvSpPr>
        <p:spPr>
          <a:xfrm>
            <a:off x="2152650" y="959645"/>
            <a:ext cx="7886700" cy="475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DA Example Run 2 </a:t>
            </a:r>
            <a:endParaRPr/>
          </a:p>
        </p:txBody>
      </p:sp>
      <p:sp>
        <p:nvSpPr>
          <p:cNvPr id="397" name="Google Shape;39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pic>
        <p:nvPicPr>
          <p:cNvPr id="398" name="Google Shape;398;p17" descr="Illustration of a doc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74813" y="4547173"/>
            <a:ext cx="652841" cy="888222"/>
          </a:xfrm>
          <a:prstGeom prst="snip1Rect">
            <a:avLst>
              <a:gd name="adj" fmla="val 50000"/>
            </a:avLst>
          </a:prstGeom>
          <a:noFill/>
          <a:ln>
            <a:noFill/>
          </a:ln>
        </p:spPr>
      </p:pic>
      <p:pic>
        <p:nvPicPr>
          <p:cNvPr id="399" name="Google Shape;399;p17" descr="File:Doctor Showing Clipboard Cartoon.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39295" y="1955402"/>
            <a:ext cx="923876" cy="9941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17" descr="https://encrypted-tbn0.gstatic.com/images?q=tbn:ANd9GcTqrlWXrqrtetsETFI_IPXh9RDJ9R7zI0goJNGYQIIx08gaKBvF0A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39295" y="3259135"/>
            <a:ext cx="923876" cy="994172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17"/>
          <p:cNvSpPr txBox="1"/>
          <p:nvPr/>
        </p:nvSpPr>
        <p:spPr>
          <a:xfrm>
            <a:off x="1524000" y="2906662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7"/>
          <p:cNvSpPr txBox="1"/>
          <p:nvPr/>
        </p:nvSpPr>
        <p:spPr>
          <a:xfrm>
            <a:off x="1524000" y="4190282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7"/>
          <p:cNvSpPr txBox="1"/>
          <p:nvPr/>
        </p:nvSpPr>
        <p:spPr>
          <a:xfrm>
            <a:off x="1524000" y="5449907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Charlie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7"/>
          <p:cNvSpPr txBox="1"/>
          <p:nvPr/>
        </p:nvSpPr>
        <p:spPr>
          <a:xfrm>
            <a:off x="2584517" y="2377322"/>
            <a:ext cx="82720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X, Y, 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7"/>
          <p:cNvSpPr txBox="1"/>
          <p:nvPr/>
        </p:nvSpPr>
        <p:spPr>
          <a:xfrm>
            <a:off x="2584517" y="3695848"/>
            <a:ext cx="82720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Y, X, 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7"/>
          <p:cNvSpPr txBox="1"/>
          <p:nvPr/>
        </p:nvSpPr>
        <p:spPr>
          <a:xfrm>
            <a:off x="2584517" y="4907467"/>
            <a:ext cx="82720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Y, Z, 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7" name="Google Shape;407;p1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15573" y="1876767"/>
            <a:ext cx="967978" cy="803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1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15572" y="3088384"/>
            <a:ext cx="967978" cy="803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1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555362" y="4300003"/>
            <a:ext cx="967979" cy="803672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17"/>
          <p:cNvSpPr txBox="1"/>
          <p:nvPr/>
        </p:nvSpPr>
        <p:spPr>
          <a:xfrm>
            <a:off x="9515572" y="2631238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7"/>
          <p:cNvSpPr txBox="1"/>
          <p:nvPr/>
        </p:nvSpPr>
        <p:spPr>
          <a:xfrm>
            <a:off x="9522328" y="3819030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7"/>
          <p:cNvSpPr txBox="1"/>
          <p:nvPr/>
        </p:nvSpPr>
        <p:spPr>
          <a:xfrm>
            <a:off x="9555361" y="5103674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7"/>
          <p:cNvSpPr txBox="1"/>
          <p:nvPr/>
        </p:nvSpPr>
        <p:spPr>
          <a:xfrm>
            <a:off x="8567024" y="2089203"/>
            <a:ext cx="104045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 A, 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7"/>
          <p:cNvSpPr txBox="1"/>
          <p:nvPr/>
        </p:nvSpPr>
        <p:spPr>
          <a:xfrm>
            <a:off x="8582036" y="3363806"/>
            <a:ext cx="1159841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A, C, 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7"/>
          <p:cNvSpPr txBox="1"/>
          <p:nvPr/>
        </p:nvSpPr>
        <p:spPr>
          <a:xfrm>
            <a:off x="8582036" y="4578125"/>
            <a:ext cx="152920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 C, 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7"/>
          <p:cNvSpPr/>
          <p:nvPr/>
        </p:nvSpPr>
        <p:spPr>
          <a:xfrm rot="10800000" flipH="1">
            <a:off x="2583314" y="2068748"/>
            <a:ext cx="261594" cy="337079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1570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7"/>
          <p:cNvSpPr/>
          <p:nvPr/>
        </p:nvSpPr>
        <p:spPr>
          <a:xfrm rot="10800000" flipH="1">
            <a:off x="2583314" y="3405003"/>
            <a:ext cx="261594" cy="337079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1570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7"/>
          <p:cNvSpPr/>
          <p:nvPr/>
        </p:nvSpPr>
        <p:spPr>
          <a:xfrm rot="10800000" flipH="1">
            <a:off x="2621939" y="4633463"/>
            <a:ext cx="261594" cy="337079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1570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9" name="Google Shape;419;p17"/>
          <p:cNvCxnSpPr/>
          <p:nvPr/>
        </p:nvCxnSpPr>
        <p:spPr>
          <a:xfrm rot="10800000" flipH="1">
            <a:off x="3588471" y="2285412"/>
            <a:ext cx="4793530" cy="288119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420" name="Google Shape;420;p17"/>
          <p:cNvCxnSpPr/>
          <p:nvPr/>
        </p:nvCxnSpPr>
        <p:spPr>
          <a:xfrm rot="10800000" flipH="1">
            <a:off x="3595985" y="3582120"/>
            <a:ext cx="4793530" cy="288119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421" name="Google Shape;421;p17"/>
          <p:cNvCxnSpPr/>
          <p:nvPr/>
        </p:nvCxnSpPr>
        <p:spPr>
          <a:xfrm rot="10800000" flipH="1">
            <a:off x="3544742" y="3642871"/>
            <a:ext cx="4837259" cy="1408656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8"/>
          <p:cNvSpPr txBox="1">
            <a:spLocks noGrp="1"/>
          </p:cNvSpPr>
          <p:nvPr>
            <p:ph type="title"/>
          </p:nvPr>
        </p:nvSpPr>
        <p:spPr>
          <a:xfrm>
            <a:off x="2152650" y="959645"/>
            <a:ext cx="7886700" cy="475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DA Example Run 2 </a:t>
            </a:r>
            <a:endParaRPr/>
          </a:p>
        </p:txBody>
      </p:sp>
      <p:sp>
        <p:nvSpPr>
          <p:cNvPr id="427" name="Google Shape;427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428" name="Google Shape;428;p18" descr="Illustration of a doc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74813" y="4547173"/>
            <a:ext cx="652841" cy="888222"/>
          </a:xfrm>
          <a:prstGeom prst="snip1Rect">
            <a:avLst>
              <a:gd name="adj" fmla="val 50000"/>
            </a:avLst>
          </a:prstGeom>
          <a:noFill/>
          <a:ln>
            <a:noFill/>
          </a:ln>
        </p:spPr>
      </p:pic>
      <p:pic>
        <p:nvPicPr>
          <p:cNvPr id="429" name="Google Shape;429;p18" descr="File:Doctor Showing Clipboard Cartoon.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39295" y="1955402"/>
            <a:ext cx="923876" cy="9941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18" descr="https://encrypted-tbn0.gstatic.com/images?q=tbn:ANd9GcTqrlWXrqrtetsETFI_IPXh9RDJ9R7zI0goJNGYQIIx08gaKBvF0A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39295" y="3259135"/>
            <a:ext cx="923876" cy="994172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18"/>
          <p:cNvSpPr txBox="1"/>
          <p:nvPr/>
        </p:nvSpPr>
        <p:spPr>
          <a:xfrm>
            <a:off x="1524000" y="2906662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8"/>
          <p:cNvSpPr txBox="1"/>
          <p:nvPr/>
        </p:nvSpPr>
        <p:spPr>
          <a:xfrm>
            <a:off x="1524000" y="4190282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8"/>
          <p:cNvSpPr txBox="1"/>
          <p:nvPr/>
        </p:nvSpPr>
        <p:spPr>
          <a:xfrm>
            <a:off x="1524000" y="5449907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Charlie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8"/>
          <p:cNvSpPr txBox="1"/>
          <p:nvPr/>
        </p:nvSpPr>
        <p:spPr>
          <a:xfrm>
            <a:off x="2584517" y="2377322"/>
            <a:ext cx="82720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X, Y, 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8"/>
          <p:cNvSpPr txBox="1"/>
          <p:nvPr/>
        </p:nvSpPr>
        <p:spPr>
          <a:xfrm>
            <a:off x="2584517" y="3695848"/>
            <a:ext cx="82720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Y, X, 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8"/>
          <p:cNvSpPr txBox="1"/>
          <p:nvPr/>
        </p:nvSpPr>
        <p:spPr>
          <a:xfrm>
            <a:off x="2584517" y="4907467"/>
            <a:ext cx="82720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Y, Z, 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7" name="Google Shape;437;p1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15573" y="1876767"/>
            <a:ext cx="967978" cy="803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1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15572" y="3088384"/>
            <a:ext cx="967978" cy="803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1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555362" y="4300003"/>
            <a:ext cx="967979" cy="803672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18"/>
          <p:cNvSpPr txBox="1"/>
          <p:nvPr/>
        </p:nvSpPr>
        <p:spPr>
          <a:xfrm>
            <a:off x="9515572" y="2631238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8"/>
          <p:cNvSpPr txBox="1"/>
          <p:nvPr/>
        </p:nvSpPr>
        <p:spPr>
          <a:xfrm>
            <a:off x="9522328" y="3819030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8"/>
          <p:cNvSpPr txBox="1"/>
          <p:nvPr/>
        </p:nvSpPr>
        <p:spPr>
          <a:xfrm>
            <a:off x="9555361" y="5103674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8"/>
          <p:cNvSpPr txBox="1"/>
          <p:nvPr/>
        </p:nvSpPr>
        <p:spPr>
          <a:xfrm>
            <a:off x="8567024" y="2089203"/>
            <a:ext cx="116313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 A, 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8"/>
          <p:cNvSpPr txBox="1"/>
          <p:nvPr/>
        </p:nvSpPr>
        <p:spPr>
          <a:xfrm>
            <a:off x="8582036" y="3363806"/>
            <a:ext cx="1457314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A, C, 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8"/>
          <p:cNvSpPr txBox="1"/>
          <p:nvPr/>
        </p:nvSpPr>
        <p:spPr>
          <a:xfrm>
            <a:off x="8582036" y="4578125"/>
            <a:ext cx="1148118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 C, 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8"/>
          <p:cNvSpPr/>
          <p:nvPr/>
        </p:nvSpPr>
        <p:spPr>
          <a:xfrm rot="10800000" flipH="1">
            <a:off x="2583314" y="2068748"/>
            <a:ext cx="261594" cy="337079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1570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8"/>
          <p:cNvSpPr/>
          <p:nvPr/>
        </p:nvSpPr>
        <p:spPr>
          <a:xfrm rot="10800000" flipH="1">
            <a:off x="2805401" y="3429002"/>
            <a:ext cx="261594" cy="337079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1570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8"/>
          <p:cNvSpPr/>
          <p:nvPr/>
        </p:nvSpPr>
        <p:spPr>
          <a:xfrm rot="10800000" flipH="1">
            <a:off x="2621939" y="4633463"/>
            <a:ext cx="261594" cy="337079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1570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9" name="Google Shape;449;p18"/>
          <p:cNvCxnSpPr/>
          <p:nvPr/>
        </p:nvCxnSpPr>
        <p:spPr>
          <a:xfrm rot="10800000" flipH="1">
            <a:off x="3588471" y="2285412"/>
            <a:ext cx="4793530" cy="288119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450" name="Google Shape;450;p18"/>
          <p:cNvCxnSpPr/>
          <p:nvPr/>
        </p:nvCxnSpPr>
        <p:spPr>
          <a:xfrm rot="10800000" flipH="1">
            <a:off x="3595984" y="2285411"/>
            <a:ext cx="4786016" cy="1584828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451" name="Google Shape;451;p18"/>
          <p:cNvCxnSpPr/>
          <p:nvPr/>
        </p:nvCxnSpPr>
        <p:spPr>
          <a:xfrm rot="10800000" flipH="1">
            <a:off x="3544742" y="3642871"/>
            <a:ext cx="4837259" cy="1408656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9"/>
          <p:cNvSpPr txBox="1">
            <a:spLocks noGrp="1"/>
          </p:cNvSpPr>
          <p:nvPr>
            <p:ph type="title"/>
          </p:nvPr>
        </p:nvSpPr>
        <p:spPr>
          <a:xfrm>
            <a:off x="2152650" y="959645"/>
            <a:ext cx="7886700" cy="475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DA Example Run 2 </a:t>
            </a:r>
            <a:endParaRPr/>
          </a:p>
        </p:txBody>
      </p:sp>
      <p:sp>
        <p:nvSpPr>
          <p:cNvPr id="457" name="Google Shape;45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pic>
        <p:nvPicPr>
          <p:cNvPr id="458" name="Google Shape;458;p19" descr="Illustration of a doc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74813" y="4547173"/>
            <a:ext cx="652841" cy="888222"/>
          </a:xfrm>
          <a:prstGeom prst="snip1Rect">
            <a:avLst>
              <a:gd name="adj" fmla="val 50000"/>
            </a:avLst>
          </a:prstGeom>
          <a:noFill/>
          <a:ln>
            <a:noFill/>
          </a:ln>
        </p:spPr>
      </p:pic>
      <p:pic>
        <p:nvPicPr>
          <p:cNvPr id="459" name="Google Shape;459;p19" descr="File:Doctor Showing Clipboard Cartoon.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39295" y="1955402"/>
            <a:ext cx="923876" cy="9941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19" descr="https://encrypted-tbn0.gstatic.com/images?q=tbn:ANd9GcTqrlWXrqrtetsETFI_IPXh9RDJ9R7zI0goJNGYQIIx08gaKBvF0A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39295" y="3259135"/>
            <a:ext cx="923876" cy="994172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19"/>
          <p:cNvSpPr txBox="1"/>
          <p:nvPr/>
        </p:nvSpPr>
        <p:spPr>
          <a:xfrm>
            <a:off x="1524000" y="2906662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19"/>
          <p:cNvSpPr txBox="1"/>
          <p:nvPr/>
        </p:nvSpPr>
        <p:spPr>
          <a:xfrm>
            <a:off x="1524000" y="4190282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19"/>
          <p:cNvSpPr txBox="1"/>
          <p:nvPr/>
        </p:nvSpPr>
        <p:spPr>
          <a:xfrm>
            <a:off x="1524000" y="5449907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Charlie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19"/>
          <p:cNvSpPr txBox="1"/>
          <p:nvPr/>
        </p:nvSpPr>
        <p:spPr>
          <a:xfrm>
            <a:off x="2584517" y="2377322"/>
            <a:ext cx="82720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X, Y, 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19"/>
          <p:cNvSpPr txBox="1"/>
          <p:nvPr/>
        </p:nvSpPr>
        <p:spPr>
          <a:xfrm>
            <a:off x="2584517" y="3695848"/>
            <a:ext cx="82720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Y, X, 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9"/>
          <p:cNvSpPr txBox="1"/>
          <p:nvPr/>
        </p:nvSpPr>
        <p:spPr>
          <a:xfrm>
            <a:off x="2584517" y="4907467"/>
            <a:ext cx="82720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Y, Z, 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7" name="Google Shape;467;p1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15573" y="1876767"/>
            <a:ext cx="967978" cy="803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1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15572" y="3088384"/>
            <a:ext cx="967978" cy="803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1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555362" y="4300003"/>
            <a:ext cx="967979" cy="803672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19"/>
          <p:cNvSpPr txBox="1"/>
          <p:nvPr/>
        </p:nvSpPr>
        <p:spPr>
          <a:xfrm>
            <a:off x="9515572" y="2631238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19"/>
          <p:cNvSpPr txBox="1"/>
          <p:nvPr/>
        </p:nvSpPr>
        <p:spPr>
          <a:xfrm>
            <a:off x="9522328" y="3819030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9"/>
          <p:cNvSpPr txBox="1"/>
          <p:nvPr/>
        </p:nvSpPr>
        <p:spPr>
          <a:xfrm>
            <a:off x="9555361" y="5103674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9"/>
          <p:cNvSpPr txBox="1"/>
          <p:nvPr/>
        </p:nvSpPr>
        <p:spPr>
          <a:xfrm>
            <a:off x="8567024" y="2089203"/>
            <a:ext cx="104045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 A, 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19"/>
          <p:cNvSpPr txBox="1"/>
          <p:nvPr/>
        </p:nvSpPr>
        <p:spPr>
          <a:xfrm>
            <a:off x="8582036" y="3363806"/>
            <a:ext cx="104045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A, C, 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19"/>
          <p:cNvSpPr txBox="1"/>
          <p:nvPr/>
        </p:nvSpPr>
        <p:spPr>
          <a:xfrm>
            <a:off x="8582036" y="4578125"/>
            <a:ext cx="9880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 C, 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19"/>
          <p:cNvSpPr/>
          <p:nvPr/>
        </p:nvSpPr>
        <p:spPr>
          <a:xfrm rot="10800000" flipH="1">
            <a:off x="2867321" y="2062440"/>
            <a:ext cx="261594" cy="337079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1570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9"/>
          <p:cNvSpPr/>
          <p:nvPr/>
        </p:nvSpPr>
        <p:spPr>
          <a:xfrm rot="10800000" flipH="1">
            <a:off x="2621939" y="4633463"/>
            <a:ext cx="261594" cy="337079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1570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8" name="Google Shape;478;p19"/>
          <p:cNvCxnSpPr/>
          <p:nvPr/>
        </p:nvCxnSpPr>
        <p:spPr>
          <a:xfrm>
            <a:off x="3588471" y="2573531"/>
            <a:ext cx="4793530" cy="106934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479" name="Google Shape;479;p19"/>
          <p:cNvCxnSpPr/>
          <p:nvPr/>
        </p:nvCxnSpPr>
        <p:spPr>
          <a:xfrm rot="10800000" flipH="1">
            <a:off x="3595984" y="2285411"/>
            <a:ext cx="4786016" cy="1584828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480" name="Google Shape;480;p19"/>
          <p:cNvCxnSpPr/>
          <p:nvPr/>
        </p:nvCxnSpPr>
        <p:spPr>
          <a:xfrm rot="10800000" flipH="1">
            <a:off x="3544742" y="3642871"/>
            <a:ext cx="4837259" cy="1408656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sp>
        <p:nvSpPr>
          <p:cNvPr id="481" name="Google Shape;481;p19"/>
          <p:cNvSpPr/>
          <p:nvPr/>
        </p:nvSpPr>
        <p:spPr>
          <a:xfrm rot="10800000" flipH="1">
            <a:off x="2805401" y="3429002"/>
            <a:ext cx="261594" cy="337079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1570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0"/>
          <p:cNvSpPr txBox="1">
            <a:spLocks noGrp="1"/>
          </p:cNvSpPr>
          <p:nvPr>
            <p:ph type="title"/>
          </p:nvPr>
        </p:nvSpPr>
        <p:spPr>
          <a:xfrm>
            <a:off x="2152650" y="959645"/>
            <a:ext cx="7886700" cy="475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DA Example Run 2 </a:t>
            </a:r>
            <a:endParaRPr/>
          </a:p>
        </p:txBody>
      </p:sp>
      <p:sp>
        <p:nvSpPr>
          <p:cNvPr id="487" name="Google Shape;487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pic>
        <p:nvPicPr>
          <p:cNvPr id="488" name="Google Shape;488;p20" descr="Illustration of a doc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74813" y="4547173"/>
            <a:ext cx="652841" cy="888222"/>
          </a:xfrm>
          <a:prstGeom prst="snip1Rect">
            <a:avLst>
              <a:gd name="adj" fmla="val 50000"/>
            </a:avLst>
          </a:prstGeom>
          <a:noFill/>
          <a:ln>
            <a:noFill/>
          </a:ln>
        </p:spPr>
      </p:pic>
      <p:pic>
        <p:nvPicPr>
          <p:cNvPr id="489" name="Google Shape;489;p20" descr="File:Doctor Showing Clipboard Cartoon.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39295" y="1955402"/>
            <a:ext cx="923876" cy="9941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20" descr="https://encrypted-tbn0.gstatic.com/images?q=tbn:ANd9GcTqrlWXrqrtetsETFI_IPXh9RDJ9R7zI0goJNGYQIIx08gaKBvF0A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39295" y="3259135"/>
            <a:ext cx="923876" cy="994172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20"/>
          <p:cNvSpPr txBox="1"/>
          <p:nvPr/>
        </p:nvSpPr>
        <p:spPr>
          <a:xfrm>
            <a:off x="1524000" y="2906662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20"/>
          <p:cNvSpPr txBox="1"/>
          <p:nvPr/>
        </p:nvSpPr>
        <p:spPr>
          <a:xfrm>
            <a:off x="1524000" y="4190282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20"/>
          <p:cNvSpPr txBox="1"/>
          <p:nvPr/>
        </p:nvSpPr>
        <p:spPr>
          <a:xfrm>
            <a:off x="1524000" y="5449907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Charlie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20"/>
          <p:cNvSpPr txBox="1"/>
          <p:nvPr/>
        </p:nvSpPr>
        <p:spPr>
          <a:xfrm>
            <a:off x="2584517" y="2377322"/>
            <a:ext cx="82720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X, Y, 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20"/>
          <p:cNvSpPr txBox="1"/>
          <p:nvPr/>
        </p:nvSpPr>
        <p:spPr>
          <a:xfrm>
            <a:off x="2584517" y="3695848"/>
            <a:ext cx="82720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Y, X, 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20"/>
          <p:cNvSpPr txBox="1"/>
          <p:nvPr/>
        </p:nvSpPr>
        <p:spPr>
          <a:xfrm>
            <a:off x="2584517" y="4907467"/>
            <a:ext cx="82720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Y, Z, 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7" name="Google Shape;497;p2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15573" y="1876767"/>
            <a:ext cx="967978" cy="803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2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15572" y="3088384"/>
            <a:ext cx="967978" cy="803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2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555362" y="4300003"/>
            <a:ext cx="967979" cy="803672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20"/>
          <p:cNvSpPr txBox="1"/>
          <p:nvPr/>
        </p:nvSpPr>
        <p:spPr>
          <a:xfrm>
            <a:off x="9515572" y="2631238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20"/>
          <p:cNvSpPr txBox="1"/>
          <p:nvPr/>
        </p:nvSpPr>
        <p:spPr>
          <a:xfrm>
            <a:off x="9522328" y="3819030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20"/>
          <p:cNvSpPr txBox="1"/>
          <p:nvPr/>
        </p:nvSpPr>
        <p:spPr>
          <a:xfrm>
            <a:off x="9555361" y="5103674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20"/>
          <p:cNvSpPr txBox="1"/>
          <p:nvPr/>
        </p:nvSpPr>
        <p:spPr>
          <a:xfrm>
            <a:off x="8567024" y="2089203"/>
            <a:ext cx="935033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 A, 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20"/>
          <p:cNvSpPr txBox="1"/>
          <p:nvPr/>
        </p:nvSpPr>
        <p:spPr>
          <a:xfrm>
            <a:off x="8582036" y="3363806"/>
            <a:ext cx="1025447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A, C, 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20"/>
          <p:cNvSpPr txBox="1"/>
          <p:nvPr/>
        </p:nvSpPr>
        <p:spPr>
          <a:xfrm>
            <a:off x="8582036" y="4578125"/>
            <a:ext cx="1561856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 C, 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20"/>
          <p:cNvSpPr/>
          <p:nvPr/>
        </p:nvSpPr>
        <p:spPr>
          <a:xfrm rot="10800000" flipH="1">
            <a:off x="2805401" y="4633463"/>
            <a:ext cx="261594" cy="337079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1570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7" name="Google Shape;507;p20"/>
          <p:cNvCxnSpPr/>
          <p:nvPr/>
        </p:nvCxnSpPr>
        <p:spPr>
          <a:xfrm>
            <a:off x="3588471" y="2573531"/>
            <a:ext cx="4793530" cy="106934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08" name="Google Shape;508;p20"/>
          <p:cNvCxnSpPr/>
          <p:nvPr/>
        </p:nvCxnSpPr>
        <p:spPr>
          <a:xfrm rot="10800000" flipH="1">
            <a:off x="3595984" y="2285411"/>
            <a:ext cx="4786016" cy="1584828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09" name="Google Shape;509;p20"/>
          <p:cNvCxnSpPr>
            <a:endCxn id="505" idx="1"/>
          </p:cNvCxnSpPr>
          <p:nvPr/>
        </p:nvCxnSpPr>
        <p:spPr>
          <a:xfrm rot="10800000" flipH="1">
            <a:off x="3544736" y="4785874"/>
            <a:ext cx="5037300" cy="2658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sp>
        <p:nvSpPr>
          <p:cNvPr id="510" name="Google Shape;510;p20"/>
          <p:cNvSpPr/>
          <p:nvPr/>
        </p:nvSpPr>
        <p:spPr>
          <a:xfrm rot="10800000" flipH="1">
            <a:off x="2867321" y="2062440"/>
            <a:ext cx="261594" cy="337079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1570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0"/>
          <p:cNvSpPr/>
          <p:nvPr/>
        </p:nvSpPr>
        <p:spPr>
          <a:xfrm rot="10800000" flipH="1">
            <a:off x="2805401" y="3429002"/>
            <a:ext cx="261594" cy="337079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1570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pic>
        <p:nvPicPr>
          <p:cNvPr id="517" name="Google Shape;517;p21" descr="Illustration of a doc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74813" y="4547173"/>
            <a:ext cx="652841" cy="888222"/>
          </a:xfrm>
          <a:prstGeom prst="snip1Rect">
            <a:avLst>
              <a:gd name="adj" fmla="val 50000"/>
            </a:avLst>
          </a:prstGeom>
          <a:noFill/>
          <a:ln>
            <a:noFill/>
          </a:ln>
        </p:spPr>
      </p:pic>
      <p:pic>
        <p:nvPicPr>
          <p:cNvPr id="518" name="Google Shape;518;p21" descr="File:Doctor Showing Clipboard Cartoon.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39295" y="1955402"/>
            <a:ext cx="923876" cy="99417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p21" descr="https://encrypted-tbn0.gstatic.com/images?q=tbn:ANd9GcTqrlWXrqrtetsETFI_IPXh9RDJ9R7zI0goJNGYQIIx08gaKBvF0A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39295" y="3259135"/>
            <a:ext cx="923876" cy="994172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21"/>
          <p:cNvSpPr txBox="1"/>
          <p:nvPr/>
        </p:nvSpPr>
        <p:spPr>
          <a:xfrm>
            <a:off x="1524000" y="2906662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21"/>
          <p:cNvSpPr txBox="1"/>
          <p:nvPr/>
        </p:nvSpPr>
        <p:spPr>
          <a:xfrm>
            <a:off x="1524000" y="4190282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21"/>
          <p:cNvSpPr txBox="1"/>
          <p:nvPr/>
        </p:nvSpPr>
        <p:spPr>
          <a:xfrm>
            <a:off x="1524000" y="5449907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Charlie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21"/>
          <p:cNvSpPr txBox="1"/>
          <p:nvPr/>
        </p:nvSpPr>
        <p:spPr>
          <a:xfrm>
            <a:off x="2584517" y="2377322"/>
            <a:ext cx="82720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X, Y, 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21"/>
          <p:cNvSpPr txBox="1"/>
          <p:nvPr/>
        </p:nvSpPr>
        <p:spPr>
          <a:xfrm>
            <a:off x="2584517" y="3695848"/>
            <a:ext cx="82720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Y, X, 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21"/>
          <p:cNvSpPr txBox="1"/>
          <p:nvPr/>
        </p:nvSpPr>
        <p:spPr>
          <a:xfrm>
            <a:off x="2584517" y="4907467"/>
            <a:ext cx="82720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Y, Z, 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6" name="Google Shape;526;p2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15573" y="1876767"/>
            <a:ext cx="967978" cy="803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2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15572" y="3088384"/>
            <a:ext cx="967978" cy="803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p2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555362" y="4300003"/>
            <a:ext cx="967979" cy="803672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21"/>
          <p:cNvSpPr txBox="1"/>
          <p:nvPr/>
        </p:nvSpPr>
        <p:spPr>
          <a:xfrm>
            <a:off x="9515572" y="2631238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21"/>
          <p:cNvSpPr txBox="1"/>
          <p:nvPr/>
        </p:nvSpPr>
        <p:spPr>
          <a:xfrm>
            <a:off x="9522328" y="3819030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21"/>
          <p:cNvSpPr txBox="1"/>
          <p:nvPr/>
        </p:nvSpPr>
        <p:spPr>
          <a:xfrm>
            <a:off x="9555361" y="5103674"/>
            <a:ext cx="95446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21"/>
          <p:cNvSpPr txBox="1"/>
          <p:nvPr/>
        </p:nvSpPr>
        <p:spPr>
          <a:xfrm>
            <a:off x="8567024" y="2089203"/>
            <a:ext cx="1231353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 A, 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21"/>
          <p:cNvSpPr txBox="1"/>
          <p:nvPr/>
        </p:nvSpPr>
        <p:spPr>
          <a:xfrm>
            <a:off x="8582036" y="3363806"/>
            <a:ext cx="9733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A, C, 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21"/>
          <p:cNvSpPr txBox="1"/>
          <p:nvPr/>
        </p:nvSpPr>
        <p:spPr>
          <a:xfrm>
            <a:off x="8582036" y="4578125"/>
            <a:ext cx="121634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 C, 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21"/>
          <p:cNvSpPr/>
          <p:nvPr/>
        </p:nvSpPr>
        <p:spPr>
          <a:xfrm rot="10800000" flipH="1">
            <a:off x="2805401" y="4633463"/>
            <a:ext cx="261594" cy="337079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1570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6" name="Google Shape;536;p21"/>
          <p:cNvCxnSpPr/>
          <p:nvPr/>
        </p:nvCxnSpPr>
        <p:spPr>
          <a:xfrm>
            <a:off x="3588471" y="2573531"/>
            <a:ext cx="4793530" cy="1069340"/>
          </a:xfrm>
          <a:prstGeom prst="straightConnector1">
            <a:avLst/>
          </a:prstGeom>
          <a:noFill/>
          <a:ln w="57150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37" name="Google Shape;537;p21"/>
          <p:cNvCxnSpPr/>
          <p:nvPr/>
        </p:nvCxnSpPr>
        <p:spPr>
          <a:xfrm rot="10800000" flipH="1">
            <a:off x="3595984" y="2285411"/>
            <a:ext cx="4786016" cy="1584828"/>
          </a:xfrm>
          <a:prstGeom prst="straightConnector1">
            <a:avLst/>
          </a:prstGeom>
          <a:noFill/>
          <a:ln w="57150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38" name="Google Shape;538;p21"/>
          <p:cNvCxnSpPr>
            <a:endCxn id="534" idx="1"/>
          </p:cNvCxnSpPr>
          <p:nvPr/>
        </p:nvCxnSpPr>
        <p:spPr>
          <a:xfrm rot="10800000" flipH="1">
            <a:off x="3544736" y="4785874"/>
            <a:ext cx="5037300" cy="265800"/>
          </a:xfrm>
          <a:prstGeom prst="straightConnector1">
            <a:avLst/>
          </a:prstGeom>
          <a:noFill/>
          <a:ln w="57150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39" name="Google Shape;539;p21"/>
          <p:cNvSpPr/>
          <p:nvPr/>
        </p:nvSpPr>
        <p:spPr>
          <a:xfrm rot="10800000" flipH="1">
            <a:off x="2867321" y="2062440"/>
            <a:ext cx="261594" cy="337079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1570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1"/>
          <p:cNvSpPr/>
          <p:nvPr/>
        </p:nvSpPr>
        <p:spPr>
          <a:xfrm rot="10800000" flipH="1">
            <a:off x="2805401" y="3429002"/>
            <a:ext cx="261594" cy="337079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1570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1"/>
          <p:cNvSpPr txBox="1">
            <a:spLocks noGrp="1"/>
          </p:cNvSpPr>
          <p:nvPr>
            <p:ph type="title"/>
          </p:nvPr>
        </p:nvSpPr>
        <p:spPr>
          <a:xfrm>
            <a:off x="2152650" y="959645"/>
            <a:ext cx="7886700" cy="475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DA Example Run 2 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F1460-9DA2-6CDC-B2BB-B22916EF3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4C642C-20E7-666E-CFBB-21356F44BC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383C01-FC1D-6889-061B-C28FE40B156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22</a:t>
            </a:fld>
            <a:endParaRPr lang="en-US"/>
          </a:p>
        </p:txBody>
      </p:sp>
      <p:pic>
        <p:nvPicPr>
          <p:cNvPr id="5" name="Picture 4" descr="A screenshot of a text&#10;&#10;Description automatically generated">
            <a:extLst>
              <a:ext uri="{FF2B5EF4-FFF2-40B4-BE49-F238E27FC236}">
                <a16:creationId xmlns:a16="http://schemas.microsoft.com/office/drawing/2014/main" id="{388B360A-D716-A5B8-DE2B-427457EC4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623" y="533400"/>
            <a:ext cx="10522174" cy="582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5250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31"/>
          <p:cNvSpPr txBox="1">
            <a:spLocks noGrp="1"/>
          </p:cNvSpPr>
          <p:nvPr>
            <p:ph type="title"/>
          </p:nvPr>
        </p:nvSpPr>
        <p:spPr>
          <a:xfrm>
            <a:off x="906168" y="2353114"/>
            <a:ext cx="10379700" cy="21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6600" dirty="0"/>
              <a:t>Final Review!</a:t>
            </a:r>
            <a:endParaRPr sz="6600" dirty="0"/>
          </a:p>
        </p:txBody>
      </p:sp>
      <p:sp>
        <p:nvSpPr>
          <p:cNvPr id="547" name="Google Shape;547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20054c9e1fe_0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 err="1"/>
              <a:t>Asymptotics</a:t>
            </a:r>
            <a:r>
              <a:rPr lang="en-US" dirty="0"/>
              <a:t>, Runtime Analysis</a:t>
            </a:r>
            <a:endParaRPr dirty="0"/>
          </a:p>
        </p:txBody>
      </p:sp>
      <p:sp>
        <p:nvSpPr>
          <p:cNvPr id="554" name="Google Shape;554;g20054c9e1fe_0_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3600"/>
              <a:buChar char="•"/>
            </a:pPr>
            <a:r>
              <a:rPr lang="en-US" sz="3600" dirty="0"/>
              <a:t>Big-O Notation O(f(n)) -  what does this mean? </a:t>
            </a:r>
          </a:p>
          <a:p>
            <a:pPr lvl="1" indent="-457200">
              <a:lnSpc>
                <a:spcPct val="150000"/>
              </a:lnSpc>
              <a:spcBef>
                <a:spcPts val="1000"/>
              </a:spcBef>
              <a:buSzPts val="3600"/>
            </a:pPr>
            <a:r>
              <a:rPr lang="en-US" sz="3200" dirty="0"/>
              <a:t>O vs. Theta vs. Omega </a:t>
            </a:r>
          </a:p>
          <a:p>
            <a:pPr marL="45720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600"/>
              <a:buChar char="•"/>
            </a:pPr>
            <a:r>
              <a:rPr lang="en-US" sz="3600" dirty="0"/>
              <a:t>Expected vs. Worst-Case Analysis</a:t>
            </a:r>
            <a:endParaRPr sz="3600" dirty="0"/>
          </a:p>
        </p:txBody>
      </p:sp>
      <p:sp>
        <p:nvSpPr>
          <p:cNvPr id="555" name="Google Shape;555;g20054c9e1fe_0_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20054c9e1fe_0_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Divide and Conquer</a:t>
            </a:r>
            <a:endParaRPr dirty="0"/>
          </a:p>
        </p:txBody>
      </p:sp>
      <p:sp>
        <p:nvSpPr>
          <p:cNvPr id="562" name="Google Shape;562;g20054c9e1fe_0_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71500" indent="-571500">
              <a:lnSpc>
                <a:spcPct val="150000"/>
              </a:lnSpc>
              <a:spcBef>
                <a:spcPts val="0"/>
              </a:spcBef>
              <a:buSzPts val="3600"/>
            </a:pPr>
            <a:r>
              <a:rPr lang="en-US" sz="3600" dirty="0"/>
              <a:t>What does it mean to divide and conquer</a:t>
            </a:r>
          </a:p>
          <a:p>
            <a:pPr lvl="1" indent="-457200">
              <a:lnSpc>
                <a:spcPct val="150000"/>
              </a:lnSpc>
              <a:spcBef>
                <a:spcPts val="0"/>
              </a:spcBef>
              <a:buSzPts val="3600"/>
            </a:pPr>
            <a:r>
              <a:rPr lang="en-US" sz="3200" dirty="0"/>
              <a:t>How do you define subproblems?</a:t>
            </a:r>
          </a:p>
          <a:p>
            <a:pPr marL="45720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600"/>
              <a:buChar char="•"/>
            </a:pPr>
            <a:r>
              <a:rPr lang="en-US" sz="3600" dirty="0"/>
              <a:t>How do we analyze</a:t>
            </a:r>
          </a:p>
          <a:p>
            <a:pPr lvl="1" indent="-457200">
              <a:lnSpc>
                <a:spcPct val="150000"/>
              </a:lnSpc>
              <a:spcBef>
                <a:spcPts val="0"/>
              </a:spcBef>
              <a:buSzPts val="3600"/>
            </a:pPr>
            <a:r>
              <a:rPr lang="en-US" sz="3200" dirty="0"/>
              <a:t>Recurrence (substitution and tree method), Master Theorem</a:t>
            </a:r>
          </a:p>
        </p:txBody>
      </p:sp>
      <p:sp>
        <p:nvSpPr>
          <p:cNvPr id="563" name="Google Shape;563;g20054c9e1fe_0_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20054c9e1fe_0_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More Algorithm Concepts</a:t>
            </a:r>
            <a:endParaRPr/>
          </a:p>
        </p:txBody>
      </p:sp>
      <p:sp>
        <p:nvSpPr>
          <p:cNvPr id="570" name="Google Shape;570;g20054c9e1fe_0_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66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609600" indent="-571500">
              <a:lnSpc>
                <a:spcPct val="120000"/>
              </a:lnSpc>
              <a:buSzPct val="150000"/>
            </a:pPr>
            <a:r>
              <a:rPr lang="en-US" sz="4000" dirty="0"/>
              <a:t>Randomized Algorithms</a:t>
            </a:r>
          </a:p>
          <a:p>
            <a:pPr marL="1066800" lvl="1" indent="-571500">
              <a:lnSpc>
                <a:spcPct val="120000"/>
              </a:lnSpc>
              <a:buSzPct val="150000"/>
            </a:pPr>
            <a:r>
              <a:rPr lang="en-US" sz="3600" dirty="0"/>
              <a:t>What does it mean for an algorithm to be randomized? </a:t>
            </a:r>
          </a:p>
          <a:p>
            <a:pPr marL="1066800" lvl="1" indent="-571500">
              <a:lnSpc>
                <a:spcPct val="120000"/>
              </a:lnSpc>
              <a:buSzPct val="150000"/>
            </a:pPr>
            <a:r>
              <a:rPr lang="en-US" sz="3600" dirty="0"/>
              <a:t>What types of randomized algorithms are there?</a:t>
            </a:r>
            <a:endParaRPr sz="3600" dirty="0"/>
          </a:p>
          <a:p>
            <a:pPr marL="571500" indent="-571500">
              <a:lnSpc>
                <a:spcPct val="120000"/>
              </a:lnSpc>
              <a:spcBef>
                <a:spcPts val="0"/>
              </a:spcBef>
              <a:buSzPts val="4000"/>
            </a:pPr>
            <a:r>
              <a:rPr lang="en-US" sz="4000" dirty="0"/>
              <a:t>Bounds for sorting</a:t>
            </a:r>
          </a:p>
          <a:p>
            <a:pPr marL="1028700" lvl="1" indent="-571500">
              <a:lnSpc>
                <a:spcPct val="120000"/>
              </a:lnSpc>
              <a:spcBef>
                <a:spcPts val="0"/>
              </a:spcBef>
              <a:buSzPts val="4000"/>
            </a:pPr>
            <a:r>
              <a:rPr lang="en-US" sz="3600" dirty="0"/>
              <a:t>How can we prove bounds on complexity?</a:t>
            </a:r>
            <a:endParaRPr sz="3600" dirty="0"/>
          </a:p>
          <a:p>
            <a:pPr marL="571500" indent="-571500">
              <a:lnSpc>
                <a:spcPct val="120000"/>
              </a:lnSpc>
              <a:spcBef>
                <a:spcPts val="0"/>
              </a:spcBef>
              <a:buSzPts val="4000"/>
            </a:pPr>
            <a:r>
              <a:rPr lang="en-US" sz="4000" dirty="0"/>
              <a:t>Binary trees </a:t>
            </a:r>
          </a:p>
          <a:p>
            <a:pPr marL="1028700" lvl="1" indent="-571500">
              <a:lnSpc>
                <a:spcPct val="120000"/>
              </a:lnSpc>
              <a:spcBef>
                <a:spcPts val="0"/>
              </a:spcBef>
              <a:buSzPts val="4000"/>
            </a:pPr>
            <a:r>
              <a:rPr lang="en-US" sz="3600" dirty="0"/>
              <a:t>What are their key properties and uses? Balanced vs. unbalanced?</a:t>
            </a:r>
            <a:endParaRPr sz="3600" dirty="0"/>
          </a:p>
          <a:p>
            <a:pPr marL="571500" indent="-571500">
              <a:lnSpc>
                <a:spcPct val="120000"/>
              </a:lnSpc>
              <a:spcBef>
                <a:spcPts val="0"/>
              </a:spcBef>
              <a:buSzPts val="4000"/>
            </a:pPr>
            <a:r>
              <a:rPr lang="en-US" sz="4000" dirty="0"/>
              <a:t>Hashing</a:t>
            </a:r>
          </a:p>
          <a:p>
            <a:pPr marL="1028700" lvl="1" indent="-571500">
              <a:lnSpc>
                <a:spcPct val="120000"/>
              </a:lnSpc>
              <a:spcBef>
                <a:spcPts val="0"/>
              </a:spcBef>
              <a:buSzPts val="4000"/>
            </a:pPr>
            <a:r>
              <a:rPr lang="en-US" sz="3600" dirty="0"/>
              <a:t>Universal families and universal hash functions</a:t>
            </a:r>
            <a:endParaRPr sz="3600" dirty="0"/>
          </a:p>
        </p:txBody>
      </p:sp>
      <p:sp>
        <p:nvSpPr>
          <p:cNvPr id="571" name="Google Shape;571;g20054c9e1fe_0_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20054c9e1fe_0_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Graphs</a:t>
            </a:r>
            <a:endParaRPr dirty="0"/>
          </a:p>
        </p:txBody>
      </p:sp>
      <p:sp>
        <p:nvSpPr>
          <p:cNvPr id="578" name="Google Shape;578;g20054c9e1fe_0_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57200" lvl="0" indent="-4191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 sz="4000" dirty="0"/>
              <a:t>BFS, DFS</a:t>
            </a:r>
          </a:p>
          <a:p>
            <a:pPr lvl="1" indent="-419100">
              <a:lnSpc>
                <a:spcPct val="100000"/>
              </a:lnSpc>
              <a:spcBef>
                <a:spcPts val="1000"/>
              </a:spcBef>
              <a:buSzPct val="100000"/>
            </a:pPr>
            <a:r>
              <a:rPr lang="en-US" sz="3600" dirty="0"/>
              <a:t>Complexity, differences?</a:t>
            </a:r>
            <a:endParaRPr sz="3600" dirty="0"/>
          </a:p>
          <a:p>
            <a:pPr marL="4572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Char char="•"/>
            </a:pPr>
            <a:r>
              <a:rPr lang="en-US" sz="4000" dirty="0"/>
              <a:t>SCC’s</a:t>
            </a:r>
          </a:p>
          <a:p>
            <a:pPr lvl="1" indent="-457200">
              <a:lnSpc>
                <a:spcPct val="100000"/>
              </a:lnSpc>
              <a:spcBef>
                <a:spcPts val="0"/>
              </a:spcBef>
              <a:buSzPts val="4000"/>
            </a:pPr>
            <a:r>
              <a:rPr lang="en-US" sz="3600" dirty="0"/>
              <a:t>Definition, how do we find them?</a:t>
            </a:r>
            <a:endParaRPr sz="3600" dirty="0"/>
          </a:p>
          <a:p>
            <a:pPr marL="4572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Char char="•"/>
            </a:pPr>
            <a:r>
              <a:rPr lang="en-US" sz="4000" dirty="0"/>
              <a:t>Shortest Path</a:t>
            </a:r>
          </a:p>
          <a:p>
            <a:pPr lvl="1" indent="-457200">
              <a:lnSpc>
                <a:spcPct val="100000"/>
              </a:lnSpc>
              <a:spcBef>
                <a:spcPts val="0"/>
              </a:spcBef>
              <a:buSzPts val="4000"/>
            </a:pPr>
            <a:r>
              <a:rPr lang="en-US" sz="3600" dirty="0"/>
              <a:t>Bellman Ford, Dijkstra, Floyd-</a:t>
            </a:r>
            <a:r>
              <a:rPr lang="en-US" sz="3600" dirty="0" err="1"/>
              <a:t>Warshall</a:t>
            </a:r>
            <a:endParaRPr lang="en-US" sz="3600" dirty="0"/>
          </a:p>
          <a:p>
            <a:pPr lvl="1" indent="-457200">
              <a:lnSpc>
                <a:spcPct val="100000"/>
              </a:lnSpc>
              <a:spcBef>
                <a:spcPts val="0"/>
              </a:spcBef>
              <a:buSzPts val="4000"/>
            </a:pPr>
            <a:r>
              <a:rPr lang="en-US" sz="3600" dirty="0"/>
              <a:t>Requirements, runtime</a:t>
            </a:r>
            <a:endParaRPr sz="3600" dirty="0"/>
          </a:p>
        </p:txBody>
      </p:sp>
      <p:sp>
        <p:nvSpPr>
          <p:cNvPr id="579" name="Google Shape;579;g20054c9e1fe_0_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2c186554fd5_0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Dynamic Programming</a:t>
            </a:r>
            <a:endParaRPr/>
          </a:p>
        </p:txBody>
      </p:sp>
      <p:sp>
        <p:nvSpPr>
          <p:cNvPr id="586" name="Google Shape;586;g2c186554fd5_0_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57200" lvl="0" indent="-482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4000"/>
              <a:buChar char="•"/>
            </a:pPr>
            <a:r>
              <a:rPr lang="en-US" sz="4000" dirty="0"/>
              <a:t>Optimization problems</a:t>
            </a:r>
            <a:endParaRPr sz="4000" dirty="0"/>
          </a:p>
          <a:p>
            <a:pPr marL="457200" lvl="0" indent="-482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4000"/>
              <a:buChar char="•"/>
            </a:pPr>
            <a:r>
              <a:rPr lang="en-US" sz="4000" dirty="0"/>
              <a:t>Overlapping subproblems (reuse work)</a:t>
            </a:r>
          </a:p>
          <a:p>
            <a:pPr marL="457200" lvl="0" indent="-482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4000"/>
              <a:buChar char="•"/>
            </a:pPr>
            <a:r>
              <a:rPr lang="en-US" sz="4000" dirty="0"/>
              <a:t>Top-down vs. bottom-up</a:t>
            </a:r>
            <a:endParaRPr sz="4000" dirty="0"/>
          </a:p>
          <a:p>
            <a:pPr marL="457200" lvl="0" indent="-482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4000"/>
              <a:buChar char="•"/>
            </a:pPr>
            <a:r>
              <a:rPr lang="en-US" sz="4000" dirty="0"/>
              <a:t>Examples:</a:t>
            </a:r>
          </a:p>
          <a:p>
            <a:pPr lvl="1" indent="-482600">
              <a:lnSpc>
                <a:spcPct val="100000"/>
              </a:lnSpc>
              <a:spcBef>
                <a:spcPts val="1000"/>
              </a:spcBef>
              <a:buSzPts val="4000"/>
            </a:pPr>
            <a:r>
              <a:rPr lang="en-US" sz="3600" dirty="0"/>
              <a:t>Bellman Ford, Floyd-</a:t>
            </a:r>
            <a:r>
              <a:rPr lang="en-US" sz="3600" dirty="0" err="1"/>
              <a:t>Warshall</a:t>
            </a:r>
            <a:endParaRPr lang="en-US" sz="3600" dirty="0"/>
          </a:p>
          <a:p>
            <a:pPr lvl="1" indent="-482600">
              <a:lnSpc>
                <a:spcPct val="100000"/>
              </a:lnSpc>
              <a:spcBef>
                <a:spcPts val="1000"/>
              </a:spcBef>
              <a:buSzPts val="4000"/>
            </a:pPr>
            <a:r>
              <a:rPr lang="en-US" sz="3600" dirty="0"/>
              <a:t>LCS, Knapsack, Independent Set</a:t>
            </a:r>
            <a:endParaRPr sz="3600" dirty="0"/>
          </a:p>
        </p:txBody>
      </p:sp>
      <p:sp>
        <p:nvSpPr>
          <p:cNvPr id="587" name="Google Shape;587;g2c186554fd5_0_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20054c9e1fe_0_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Greedy Algorithms</a:t>
            </a:r>
            <a:endParaRPr dirty="0"/>
          </a:p>
        </p:txBody>
      </p:sp>
      <p:sp>
        <p:nvSpPr>
          <p:cNvPr id="594" name="Google Shape;594;g20054c9e1fe_0_2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746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300"/>
              <a:buChar char="●"/>
            </a:pPr>
            <a:r>
              <a:rPr lang="en-US" sz="4000" dirty="0"/>
              <a:t>What makes a greedy algorithm? </a:t>
            </a:r>
          </a:p>
          <a:p>
            <a:pPr lvl="1" indent="-374650">
              <a:spcBef>
                <a:spcPts val="1000"/>
              </a:spcBef>
              <a:buSzPts val="2300"/>
              <a:buChar char="●"/>
            </a:pPr>
            <a:r>
              <a:rPr lang="en-US" sz="3600" dirty="0"/>
              <a:t>How do we prove a greedy algorithm is correct?</a:t>
            </a:r>
          </a:p>
          <a:p>
            <a:pPr marL="457200" lvl="0" indent="-3746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300"/>
              <a:buChar char="●"/>
            </a:pPr>
            <a:r>
              <a:rPr lang="en-US" sz="4000" dirty="0"/>
              <a:t>Greedy and mostly greedy algorithms</a:t>
            </a:r>
          </a:p>
          <a:p>
            <a:pPr lvl="1" indent="-374650">
              <a:spcBef>
                <a:spcPts val="1000"/>
              </a:spcBef>
              <a:buSzPts val="2300"/>
              <a:buChar char="●"/>
            </a:pPr>
            <a:r>
              <a:rPr lang="en-US" sz="3600" dirty="0"/>
              <a:t>Minimum Spanning Tree</a:t>
            </a:r>
          </a:p>
          <a:p>
            <a:pPr lvl="1" indent="-374650">
              <a:spcBef>
                <a:spcPts val="1000"/>
              </a:spcBef>
              <a:buSzPts val="2300"/>
              <a:buChar char="●"/>
            </a:pPr>
            <a:r>
              <a:rPr lang="en-US" sz="3600" dirty="0"/>
              <a:t>Max-Flow, Min-Cut</a:t>
            </a:r>
          </a:p>
          <a:p>
            <a:pPr lvl="1" indent="-374650">
              <a:spcBef>
                <a:spcPts val="1000"/>
              </a:spcBef>
              <a:buSzPts val="2300"/>
              <a:buChar char="●"/>
            </a:pPr>
            <a:r>
              <a:rPr lang="en-US" sz="3600" dirty="0"/>
              <a:t>Stable Matching (not on the final)</a:t>
            </a:r>
            <a:endParaRPr sz="3600" dirty="0"/>
          </a:p>
        </p:txBody>
      </p:sp>
      <p:sp>
        <p:nvSpPr>
          <p:cNvPr id="595" name="Google Shape;595;g20054c9e1fe_0_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>
          <a:extLst>
            <a:ext uri="{FF2B5EF4-FFF2-40B4-BE49-F238E27FC236}">
              <a16:creationId xmlns:a16="http://schemas.microsoft.com/office/drawing/2014/main" id="{8F440D29-71D1-5FDE-D531-69C5C9B78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20054c9e1fe_0_28">
            <a:extLst>
              <a:ext uri="{FF2B5EF4-FFF2-40B4-BE49-F238E27FC236}">
                <a16:creationId xmlns:a16="http://schemas.microsoft.com/office/drawing/2014/main" id="{8A7643F8-1EAA-785E-557F-512E2F9DD4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Problem-Solving Toolkit</a:t>
            </a:r>
            <a:endParaRPr dirty="0"/>
          </a:p>
        </p:txBody>
      </p:sp>
      <p:sp>
        <p:nvSpPr>
          <p:cNvPr id="594" name="Google Shape;594;g20054c9e1fe_0_28">
            <a:extLst>
              <a:ext uri="{FF2B5EF4-FFF2-40B4-BE49-F238E27FC236}">
                <a16:creationId xmlns:a16="http://schemas.microsoft.com/office/drawing/2014/main" id="{06382E8A-4F0D-D514-178F-875C8DA574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457200" lvl="0" indent="-3746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300"/>
              <a:buChar char="●"/>
            </a:pPr>
            <a:r>
              <a:rPr lang="en-US" sz="4000" dirty="0"/>
              <a:t>How can you adapt algorithms from lecture for different problems?</a:t>
            </a:r>
          </a:p>
          <a:p>
            <a:pPr marL="457200" lvl="0" indent="-3746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300"/>
              <a:buChar char="●"/>
            </a:pPr>
            <a:r>
              <a:rPr lang="en-US" sz="4000" dirty="0"/>
              <a:t>Read the problem statement carefully! Are there hints in provided runtimes, inputs, or outputs?</a:t>
            </a:r>
          </a:p>
          <a:p>
            <a:pPr marL="457200" lvl="0" indent="-3746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300"/>
              <a:buChar char="●"/>
            </a:pPr>
            <a:r>
              <a:rPr lang="en-US" sz="4000" dirty="0"/>
              <a:t>Break down the problem: what could smaller subproblems look like? </a:t>
            </a:r>
          </a:p>
          <a:p>
            <a:pPr marL="457200" lvl="0" indent="-3746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300"/>
              <a:buChar char="●"/>
            </a:pPr>
            <a:r>
              <a:rPr lang="en-US" sz="4000" dirty="0"/>
              <a:t>Try small test-cases</a:t>
            </a:r>
          </a:p>
          <a:p>
            <a:pPr marL="457200" lvl="0" indent="-3746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300"/>
              <a:buChar char="●"/>
            </a:pPr>
            <a:r>
              <a:rPr lang="en-US" sz="4000" dirty="0"/>
              <a:t>Good to know: various proof structures, runtime and applicability of algorithms from class</a:t>
            </a:r>
          </a:p>
          <a:p>
            <a:pPr marL="457200" lvl="0" indent="-3746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300"/>
              <a:buChar char="●"/>
            </a:pPr>
            <a:endParaRPr sz="3600" dirty="0"/>
          </a:p>
        </p:txBody>
      </p:sp>
      <p:sp>
        <p:nvSpPr>
          <p:cNvPr id="595" name="Google Shape;595;g20054c9e1fe_0_28">
            <a:extLst>
              <a:ext uri="{FF2B5EF4-FFF2-40B4-BE49-F238E27FC236}">
                <a16:creationId xmlns:a16="http://schemas.microsoft.com/office/drawing/2014/main" id="{836333CF-D758-3E95-8A68-4C5F8CC3087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626825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>
          <a:extLst>
            <a:ext uri="{FF2B5EF4-FFF2-40B4-BE49-F238E27FC236}">
              <a16:creationId xmlns:a16="http://schemas.microsoft.com/office/drawing/2014/main" id="{CADA1846-72E5-25C0-CACD-A9484C181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20054c9e1fe_0_28">
            <a:extLst>
              <a:ext uri="{FF2B5EF4-FFF2-40B4-BE49-F238E27FC236}">
                <a16:creationId xmlns:a16="http://schemas.microsoft.com/office/drawing/2014/main" id="{435057E3-333D-1A0F-2980-916C240DEA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Other Review Resources</a:t>
            </a:r>
            <a:endParaRPr dirty="0"/>
          </a:p>
        </p:txBody>
      </p:sp>
      <p:sp>
        <p:nvSpPr>
          <p:cNvPr id="594" name="Google Shape;594;g20054c9e1fe_0_28">
            <a:extLst>
              <a:ext uri="{FF2B5EF4-FFF2-40B4-BE49-F238E27FC236}">
                <a16:creationId xmlns:a16="http://schemas.microsoft.com/office/drawing/2014/main" id="{BEBF19D3-5F21-898A-5481-B37B910E78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4"/>
            <a:ext cx="105156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457200" lvl="0" indent="-3746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300"/>
              <a:buChar char="●"/>
            </a:pPr>
            <a:r>
              <a:rPr lang="en-US" sz="3300" dirty="0"/>
              <a:t>2 Practice Finals (Ed #840)</a:t>
            </a:r>
          </a:p>
          <a:p>
            <a:pPr lvl="1" indent="-374650">
              <a:spcBef>
                <a:spcPts val="1000"/>
              </a:spcBef>
              <a:buSzPts val="2300"/>
              <a:buChar char="●"/>
            </a:pPr>
            <a:r>
              <a:rPr lang="en-US" sz="2900" dirty="0"/>
              <a:t>Recommended: practice under timed conditions to develop timing strategies!</a:t>
            </a:r>
          </a:p>
          <a:p>
            <a:pPr indent="-374650">
              <a:buSzPts val="2300"/>
              <a:buChar char="●"/>
            </a:pPr>
            <a:r>
              <a:rPr lang="en-US" sz="3300" dirty="0"/>
              <a:t>2 Review Sections</a:t>
            </a:r>
          </a:p>
          <a:p>
            <a:pPr lvl="1" indent="-374650">
              <a:buSzPts val="2300"/>
              <a:buChar char="●"/>
            </a:pPr>
            <a:r>
              <a:rPr lang="en-US" sz="2900" dirty="0"/>
              <a:t>3/7 and 3/14 – Skilling Auditorium 10:30am-12:00pm, recorded on Canvas </a:t>
            </a:r>
          </a:p>
          <a:p>
            <a:pPr indent="-374650">
              <a:buSzPts val="2300"/>
              <a:buChar char="●"/>
            </a:pPr>
            <a:r>
              <a:rPr lang="en-US" sz="3700" dirty="0"/>
              <a:t>Lectures </a:t>
            </a:r>
          </a:p>
          <a:p>
            <a:pPr lvl="1" indent="-374650">
              <a:buSzPts val="2300"/>
              <a:buChar char="●"/>
            </a:pPr>
            <a:r>
              <a:rPr lang="en-US" sz="3300" dirty="0"/>
              <a:t>Content covered on the exam is cumulative with a focus on materials covered </a:t>
            </a:r>
            <a:r>
              <a:rPr lang="en-US" sz="3300" b="1" dirty="0"/>
              <a:t>after</a:t>
            </a:r>
            <a:r>
              <a:rPr lang="en-US" sz="3300" dirty="0"/>
              <a:t> the midterm</a:t>
            </a:r>
          </a:p>
          <a:p>
            <a:pPr indent="-374650">
              <a:buSzPts val="2300"/>
              <a:buChar char="●"/>
            </a:pPr>
            <a:r>
              <a:rPr lang="en-US" sz="3300" dirty="0"/>
              <a:t>Section Problems – great for extra practice!</a:t>
            </a:r>
            <a:endParaRPr lang="en-US" sz="2900" dirty="0"/>
          </a:p>
          <a:p>
            <a:pPr indent="-374650">
              <a:buSzPts val="2300"/>
              <a:buChar char="●"/>
            </a:pPr>
            <a:r>
              <a:rPr lang="en-US" sz="3300" dirty="0"/>
              <a:t>Have Questions? Feel free to ask on Ed or in OH!</a:t>
            </a:r>
          </a:p>
        </p:txBody>
      </p:sp>
      <p:sp>
        <p:nvSpPr>
          <p:cNvPr id="595" name="Google Shape;595;g20054c9e1fe_0_28">
            <a:extLst>
              <a:ext uri="{FF2B5EF4-FFF2-40B4-BE49-F238E27FC236}">
                <a16:creationId xmlns:a16="http://schemas.microsoft.com/office/drawing/2014/main" id="{9E8DCB40-0611-C10A-2E3F-728813EEF0B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627004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0054c9e1fe_0_3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 dirty="0"/>
              <a:t>Questions?</a:t>
            </a:r>
            <a:endParaRPr dirty="0"/>
          </a:p>
        </p:txBody>
      </p:sp>
      <p:sp>
        <p:nvSpPr>
          <p:cNvPr id="602" name="Google Shape;602;g20054c9e1fe_0_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0">
          <a:extLst>
            <a:ext uri="{FF2B5EF4-FFF2-40B4-BE49-F238E27FC236}">
              <a16:creationId xmlns:a16="http://schemas.microsoft.com/office/drawing/2014/main" id="{37349187-BA28-62D6-CB28-01C933A06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0054c9e1fe_0_35">
            <a:extLst>
              <a:ext uri="{FF2B5EF4-FFF2-40B4-BE49-F238E27FC236}">
                <a16:creationId xmlns:a16="http://schemas.microsoft.com/office/drawing/2014/main" id="{F28237FB-F27B-6233-4091-CC673FB230F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 dirty="0"/>
              <a:t>Good luck preparing for the final!!</a:t>
            </a:r>
            <a:endParaRPr dirty="0"/>
          </a:p>
        </p:txBody>
      </p:sp>
      <p:sp>
        <p:nvSpPr>
          <p:cNvPr id="602" name="Google Shape;602;g20054c9e1fe_0_35">
            <a:extLst>
              <a:ext uri="{FF2B5EF4-FFF2-40B4-BE49-F238E27FC236}">
                <a16:creationId xmlns:a16="http://schemas.microsoft.com/office/drawing/2014/main" id="{568136D4-8A28-0434-4FF7-F2A2FD96436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41987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710</TotalTime>
  <Words>1159</Words>
  <Application>Microsoft Macintosh PowerPoint</Application>
  <PresentationFormat>Widescreen</PresentationFormat>
  <Paragraphs>318</Paragraphs>
  <Slides>33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CS 161 – Section 9</vt:lpstr>
      <vt:lpstr>Section 9 Agenda</vt:lpstr>
      <vt:lpstr>Stable Matching</vt:lpstr>
      <vt:lpstr>Stable Matching</vt:lpstr>
      <vt:lpstr>Deferred Acceptance Algorithm</vt:lpstr>
      <vt:lpstr>Example run-through</vt:lpstr>
      <vt:lpstr>DA Example Run 1 </vt:lpstr>
      <vt:lpstr>DA Example Run 1 </vt:lpstr>
      <vt:lpstr>DA Example Run 1 </vt:lpstr>
      <vt:lpstr>DA Example Run 1 </vt:lpstr>
      <vt:lpstr>DA Example Run 1 </vt:lpstr>
      <vt:lpstr>DA Example Run 1 </vt:lpstr>
      <vt:lpstr>Another example</vt:lpstr>
      <vt:lpstr>DA Example Run 2 </vt:lpstr>
      <vt:lpstr>DA Example Run 2 </vt:lpstr>
      <vt:lpstr>DA Example Run 2 </vt:lpstr>
      <vt:lpstr>DA Example Run 2 </vt:lpstr>
      <vt:lpstr>DA Example Run 2 </vt:lpstr>
      <vt:lpstr>DA Example Run 2 </vt:lpstr>
      <vt:lpstr>DA Example Run 2 </vt:lpstr>
      <vt:lpstr>DA Example Run 2 </vt:lpstr>
      <vt:lpstr>PowerPoint Presentation</vt:lpstr>
      <vt:lpstr>Final Review!</vt:lpstr>
      <vt:lpstr>Asymptotics, Runtime Analysis</vt:lpstr>
      <vt:lpstr>Divide and Conquer</vt:lpstr>
      <vt:lpstr>More Algorithm Concepts</vt:lpstr>
      <vt:lpstr>Graphs</vt:lpstr>
      <vt:lpstr>Dynamic Programming</vt:lpstr>
      <vt:lpstr>Greedy Algorithms</vt:lpstr>
      <vt:lpstr>Problem-Solving Toolkit</vt:lpstr>
      <vt:lpstr>Other Review Resources</vt:lpstr>
      <vt:lpstr>Questions?</vt:lpstr>
      <vt:lpstr>Good luck preparing for the final!!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Bryan William Zhu</dc:creator>
  <cp:lastModifiedBy>Samantha Liu</cp:lastModifiedBy>
  <cp:revision>15</cp:revision>
  <dcterms:created xsi:type="dcterms:W3CDTF">2021-11-02T03:41:46Z</dcterms:created>
  <dcterms:modified xsi:type="dcterms:W3CDTF">2025-03-12T22:22:24Z</dcterms:modified>
</cp:coreProperties>
</file>