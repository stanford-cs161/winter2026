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8" r:id="rId3"/>
    <p:sldId id="300" r:id="rId4"/>
    <p:sldId id="342" r:id="rId5"/>
    <p:sldId id="347" r:id="rId6"/>
    <p:sldId id="302" r:id="rId7"/>
    <p:sldId id="301" r:id="rId8"/>
    <p:sldId id="323" r:id="rId9"/>
    <p:sldId id="324" r:id="rId10"/>
    <p:sldId id="325" r:id="rId11"/>
    <p:sldId id="357" r:id="rId12"/>
    <p:sldId id="343" r:id="rId13"/>
    <p:sldId id="313" r:id="rId14"/>
    <p:sldId id="316" r:id="rId15"/>
    <p:sldId id="317" r:id="rId16"/>
    <p:sldId id="319" r:id="rId17"/>
    <p:sldId id="318" r:id="rId18"/>
    <p:sldId id="326" r:id="rId19"/>
    <p:sldId id="327" r:id="rId20"/>
    <p:sldId id="328" r:id="rId21"/>
    <p:sldId id="331" r:id="rId22"/>
    <p:sldId id="332" r:id="rId23"/>
    <p:sldId id="307" r:id="rId24"/>
    <p:sldId id="308" r:id="rId25"/>
    <p:sldId id="341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45" r:id="rId36"/>
    <p:sldId id="344" r:id="rId37"/>
    <p:sldId id="346" r:id="rId38"/>
    <p:sldId id="310" r:id="rId39"/>
    <p:sldId id="309" r:id="rId40"/>
    <p:sldId id="335" r:id="rId41"/>
    <p:sldId id="333" r:id="rId42"/>
    <p:sldId id="336" r:id="rId43"/>
    <p:sldId id="337" r:id="rId44"/>
    <p:sldId id="338" r:id="rId45"/>
    <p:sldId id="339" r:id="rId46"/>
    <p:sldId id="340" r:id="rId47"/>
    <p:sldId id="314" r:id="rId48"/>
    <p:sldId id="315" r:id="rId49"/>
    <p:sldId id="269" r:id="rId50"/>
    <p:sldId id="299" r:id="rId51"/>
    <p:sldId id="297" r:id="rId52"/>
    <p:sldId id="298" r:id="rId53"/>
    <p:sldId id="290" r:id="rId54"/>
    <p:sldId id="303" r:id="rId55"/>
    <p:sldId id="311" r:id="rId56"/>
    <p:sldId id="305" r:id="rId57"/>
    <p:sldId id="304" r:id="rId58"/>
    <p:sldId id="322" r:id="rId59"/>
    <p:sldId id="320" r:id="rId60"/>
    <p:sldId id="321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8C1515"/>
    <a:srgbClr val="009AB4"/>
    <a:srgbClr val="ED7D31"/>
    <a:srgbClr val="2F62BB"/>
    <a:srgbClr val="7F7F7F"/>
    <a:srgbClr val="3265BE"/>
    <a:srgbClr val="804444"/>
    <a:srgbClr val="FFC000"/>
    <a:srgbClr val="36C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5755" autoAdjust="0"/>
  </p:normalViewPr>
  <p:slideViewPr>
    <p:cSldViewPr snapToGrid="0">
      <p:cViewPr varScale="1">
        <p:scale>
          <a:sx n="75" d="100"/>
          <a:sy n="75" d="100"/>
        </p:scale>
        <p:origin x="11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2EDBE-41B0-47FC-9EFB-BD9F3233B533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62143-CEED-4295-8FB4-0F17DABE7C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66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343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74b7700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74b7700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g3274b7700f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3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05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943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810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239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058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900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31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29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742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53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981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138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535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672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934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830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0122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316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928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381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222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8268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354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2103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2176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9217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78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5257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3002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809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142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556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1857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1420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338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521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8952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6266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4246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4437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0161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9138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7676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4D841-B791-BC4E-BB7B-773CB5D67ABD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4716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159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2e3c3536b7_0_20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28" name="Google Shape;928;g32e3c3536b7_0_20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>
          <a:extLst>
            <a:ext uri="{FF2B5EF4-FFF2-40B4-BE49-F238E27FC236}">
              <a16:creationId xmlns:a16="http://schemas.microsoft.com/office/drawing/2014/main" id="{09199DAC-79A4-70F2-EF34-395FAB09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2e3c3536b7_0_2086:notes">
            <a:extLst>
              <a:ext uri="{FF2B5EF4-FFF2-40B4-BE49-F238E27FC236}">
                <a16:creationId xmlns:a16="http://schemas.microsoft.com/office/drawing/2014/main" id="{FABD9A47-7471-38B9-6C42-2AFEE61F0E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28" name="Google Shape;928;g32e3c3536b7_0_2086:notes">
            <a:extLst>
              <a:ext uri="{FF2B5EF4-FFF2-40B4-BE49-F238E27FC236}">
                <a16:creationId xmlns:a16="http://schemas.microsoft.com/office/drawing/2014/main" id="{A0E47F1F-941D-E3F9-824B-A9B28D43B7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52458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770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6311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62143-CEED-4295-8FB4-0F17DABE7C8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4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759EA-469E-4953-CDAB-0FDA08E30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8C1515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6F5181-6ABF-319F-1B97-D3D82947E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rgbClr val="009AB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06404-1E9B-64A6-FD0A-43D6D37A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ADCEE9-2B12-3848-93FA-28696878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6F233C-A50B-A991-AEF5-8DDCC3B8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15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DB251-0D0F-B27A-ED4B-6BADD485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5400" b="1" kern="1200" dirty="0">
                <a:solidFill>
                  <a:srgbClr val="8C151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9A84D8-44B3-53A9-AB92-FEA8C0C02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5"/>
            <a:ext cx="10515600" cy="4597545"/>
          </a:xfrm>
        </p:spPr>
        <p:txBody>
          <a:bodyPr>
            <a:normAutofit/>
          </a:bodyPr>
          <a:lstStyle>
            <a:lvl1pPr>
              <a:defRPr lang="zh-CN" altLang="en-US" sz="2800" b="1" kern="1200" dirty="0">
                <a:solidFill>
                  <a:srgbClr val="009AB4"/>
                </a:solidFill>
                <a:latin typeface="+mn-lt"/>
                <a:ea typeface="+mn-ea"/>
                <a:cs typeface="+mn-cs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D0FF2F-9733-1050-B32F-864BCAE4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17D59-4DDD-17E3-3724-6CDC1F46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2D7EA-D8CF-EA37-6515-7AED554C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997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A5220-AA50-F50F-42B9-4E1CB7E34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zh-CN" altLang="en-US" sz="6000" b="1" kern="1200" dirty="0">
                <a:solidFill>
                  <a:srgbClr val="8C151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6CE167-CCA7-9374-2584-6119106FA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7B8071-C73F-EBCB-2EB4-4B2673C2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A345D-072A-92F5-C0FD-7F46867B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FC8453-F689-DCE0-773B-5AED1A00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568C0-B1A8-A91E-7637-5BD431FA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7BC26-75DD-8AA8-C3D1-C3E6936A2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A50F5-BEE1-D1C6-3876-26F95EA38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807F5A-A766-CE7C-EA9E-17E0147E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4F034C-281A-714C-B5BB-1FD02372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A60780-8A31-0ACD-BDC4-61757900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6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948D7-BC96-28F2-DF08-8F37C9E8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1E2B44-0B11-072E-6B5D-49888584B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BD0A30-6214-73B9-A9DB-C23788468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D93D36-0C93-1D2C-BE92-FF1A19108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C02267-C54D-D701-8881-1D80A296C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CFB6B9-100B-24E5-C6F3-0F8FB961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3AB98A-1573-E4D6-7B27-A978C593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D723031-BB44-4519-2F41-27048A98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45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42CA3-CCBE-AE57-97C6-87A4B559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58F4F3-CF0E-29BD-FED8-9E52F062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729DC2-47E6-1725-CFA8-FE7789BB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F70006-7C9A-913B-4124-7BAC8764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876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9918B6-688C-D870-2810-ED9338F8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E0797A-9B00-E9B4-E2C1-6DEAB354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08ADA6-8399-1748-CDA4-2DDB3C889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25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BD359-8D9D-FE74-3430-0416635E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77E710-3AC3-E026-122E-70A0FB632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13CCEA-49F6-79F5-8B6F-436DE6978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140F25-1EBD-7CE2-EE3A-563215649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7D62B0-A31F-ADFF-412D-C52F43A02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77D44B-993C-F586-D739-213050C8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EEFF6-7C58-3827-2260-6C9C72C8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C04730-E4B2-717F-4FD8-D277478C6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8F0F3E-3394-8C4D-59B0-55067FFEC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264F07-2852-73D4-639D-FFB5460D6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C2B251-BBFE-B87F-3104-1027E722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71CEA-4685-63BF-10FC-DD12C7E3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14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200DF-EBEF-0330-DE98-EA8C9005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020170-4635-F2DB-D20B-FD6D6273F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75C5AB-3A24-E4B5-9F9F-A0274D88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11761-555E-1522-119C-C95AC2B3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7E499D-C982-8EC9-7E98-C4E63659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94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B5C901-FCA4-20E0-4B5E-F48F8F4FF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55A5B5-6BD5-5D19-FA88-E773CDACF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2E5280-6F8B-2F94-1832-9418A123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FC87DA-0328-E579-D5FF-1F9360D1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61809-CF71-84F9-04F6-B11195C8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14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5A3AD0-FF3B-8D05-83D7-8AD04A9F0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86C709-0294-9447-DDEB-3C0555530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864ED-0A73-D22D-26E7-A59CD6737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CFEF0-BE10-4552-98E7-680A4212171D}" type="datetimeFigureOut">
              <a:rPr lang="zh-CN" altLang="en-US" smtClean="0"/>
              <a:t>2025/2/6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06D98-8E1D-E058-D9CA-861B6F53C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34B573-3D87-B0AB-54AC-68533D406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2F16E-A8DD-4848-844D-59174AFBF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62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anford-cs161.github.io/winter2025/section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tiff"/><Relationship Id="rId5" Type="http://schemas.openxmlformats.org/officeDocument/2006/relationships/image" Target="../media/image6.tiff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tiff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22.tiff"/><Relationship Id="rId4" Type="http://schemas.openxmlformats.org/officeDocument/2006/relationships/image" Target="../media/image21.tif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6.png"/><Relationship Id="rId7" Type="http://schemas.openxmlformats.org/officeDocument/2006/relationships/image" Target="../media/image26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39.png"/><Relationship Id="rId9" Type="http://schemas.openxmlformats.org/officeDocument/2006/relationships/image" Target="../media/image2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00.png"/><Relationship Id="rId7" Type="http://schemas.openxmlformats.org/officeDocument/2006/relationships/image" Target="../media/image34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Relationship Id="rId9" Type="http://schemas.openxmlformats.org/officeDocument/2006/relationships/image" Target="../media/image5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C542D-D093-B88A-2263-907E145E2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805" y="1094902"/>
            <a:ext cx="10404389" cy="2387600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Midterm Review (CS161)</a:t>
            </a:r>
            <a:br>
              <a:rPr lang="en-US" altLang="zh-CN" sz="4800" dirty="0"/>
            </a:br>
            <a:endParaRPr lang="zh-CN" altLang="en-US" sz="4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3BEF9C-9F3D-EFA4-6C52-007613AB2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2400"/>
            <a:ext cx="9144000" cy="2008909"/>
          </a:xfrm>
        </p:spPr>
        <p:txBody>
          <a:bodyPr>
            <a:normAutofit/>
          </a:bodyPr>
          <a:lstStyle/>
          <a:p>
            <a:r>
              <a:rPr lang="en-US" altLang="zh-CN" b="1" dirty="0"/>
              <a:t>Ruiquan Gao</a:t>
            </a:r>
          </a:p>
          <a:p>
            <a:r>
              <a:rPr lang="en-US" altLang="zh-CN" b="1" dirty="0"/>
              <a:t>Stanford University</a:t>
            </a:r>
            <a:br>
              <a:rPr lang="en-US" altLang="zh-CN" b="1" dirty="0"/>
            </a:br>
            <a:endParaRPr lang="en-US" altLang="zh-CN" b="1" dirty="0"/>
          </a:p>
        </p:txBody>
      </p:sp>
      <p:pic>
        <p:nvPicPr>
          <p:cNvPr id="7" name="Picture 2" descr="Stanford Logo - Foundation for a College Education">
            <a:extLst>
              <a:ext uri="{FF2B5EF4-FFF2-40B4-BE49-F238E27FC236}">
                <a16:creationId xmlns:a16="http://schemas.microsoft.com/office/drawing/2014/main" id="{AB1600E4-A94A-367D-34A5-549D217AD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143" y="5976938"/>
            <a:ext cx="2013857" cy="88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307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274b7700f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089" y="1198"/>
            <a:ext cx="9144001" cy="685560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274b7700fb_0_0"/>
          <p:cNvSpPr/>
          <p:nvPr/>
        </p:nvSpPr>
        <p:spPr>
          <a:xfrm>
            <a:off x="6510290" y="1200"/>
            <a:ext cx="5203500" cy="33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274b7700fb_0_0"/>
          <p:cNvSpPr/>
          <p:nvPr/>
        </p:nvSpPr>
        <p:spPr>
          <a:xfrm rot="2064452">
            <a:off x="1272708" y="2485592"/>
            <a:ext cx="823961" cy="4335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6100D-6BFE-7753-B68B-3A0F9A25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will be covered in midterm?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04F16C-D13A-360C-5AFF-C61B4248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Lecture 1~7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Divide-and-Conquer</a:t>
            </a:r>
          </a:p>
          <a:p>
            <a:pPr lvl="1">
              <a:lnSpc>
                <a:spcPts val="3700"/>
              </a:lnSpc>
            </a:pPr>
            <a:r>
              <a:rPr lang="en-US" altLang="zh-CN" dirty="0" err="1"/>
              <a:t>Asymptotics</a:t>
            </a:r>
            <a:r>
              <a:rPr lang="en-US" altLang="zh-CN" dirty="0"/>
              <a:t>, Worst-Case Analysis, and </a:t>
            </a:r>
            <a:r>
              <a:rPr lang="en-US" altLang="zh-CN" dirty="0" err="1"/>
              <a:t>MergeSort</a:t>
            </a:r>
            <a:endParaRPr lang="en-US" altLang="zh-CN" dirty="0"/>
          </a:p>
          <a:p>
            <a:pPr lvl="1">
              <a:lnSpc>
                <a:spcPts val="3700"/>
              </a:lnSpc>
            </a:pPr>
            <a:r>
              <a:rPr lang="en-US" altLang="zh-CN" dirty="0"/>
              <a:t>Solving Recurrences and the Master Theorem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Median and Selection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Randomized Algorithms and </a:t>
            </a:r>
            <a:r>
              <a:rPr lang="en-US" altLang="zh-CN" dirty="0" err="1"/>
              <a:t>QuickSort</a:t>
            </a:r>
            <a:endParaRPr lang="en-US" altLang="zh-CN" dirty="0"/>
          </a:p>
          <a:p>
            <a:pPr lvl="1">
              <a:lnSpc>
                <a:spcPts val="3700"/>
              </a:lnSpc>
            </a:pPr>
            <a:r>
              <a:rPr lang="en-US" altLang="zh-CN" dirty="0" err="1"/>
              <a:t>BucketSort</a:t>
            </a:r>
            <a:r>
              <a:rPr lang="en-US" altLang="zh-CN" dirty="0"/>
              <a:t> and Lower Bounds for Sorting</a:t>
            </a:r>
          </a:p>
          <a:p>
            <a:pPr lvl="1">
              <a:lnSpc>
                <a:spcPts val="3700"/>
              </a:lnSpc>
            </a:pPr>
            <a:r>
              <a:rPr lang="en-US" altLang="zh-CN" dirty="0"/>
              <a:t>Binary Search Trees and Red-Black Trees</a:t>
            </a:r>
          </a:p>
          <a:p>
            <a:pPr lvl="1"/>
            <a:endParaRPr lang="zh-CN" altLang="en-US" dirty="0"/>
          </a:p>
        </p:txBody>
      </p:sp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3A28ECFC-7B33-1E97-D9B5-2C49C03DB33B}"/>
              </a:ext>
            </a:extLst>
          </p:cNvPr>
          <p:cNvSpPr/>
          <p:nvPr/>
        </p:nvSpPr>
        <p:spPr>
          <a:xfrm>
            <a:off x="8138160" y="2741756"/>
            <a:ext cx="3922776" cy="2633472"/>
          </a:xfrm>
          <a:prstGeom prst="cloudCallout">
            <a:avLst>
              <a:gd name="adj1" fmla="val -46008"/>
              <a:gd name="adj2" fmla="val 71528"/>
            </a:avLst>
          </a:prstGeom>
          <a:noFill/>
          <a:ln w="5715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</a:rPr>
              <a:t>Don’t forget about the related sections and past exams!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Picture 32">
            <a:extLst>
              <a:ext uri="{FF2B5EF4-FFF2-40B4-BE49-F238E27FC236}">
                <a16:creationId xmlns:a16="http://schemas.microsoft.com/office/drawing/2014/main" id="{7654845B-5255-D40A-F0B9-C242F5DDFD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4794" y="5614869"/>
            <a:ext cx="813366" cy="113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6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B68DA-AD8B-98A8-2E12-12232967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A2418A-214C-BBE7-59D6-29FBE2271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BA7BD5-3521-4964-F7F4-DFA4F0793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25" y="615890"/>
            <a:ext cx="10540550" cy="562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4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0CA1C-201B-78BB-7CC7-0D1003DD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your questions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DD9F68-D858-9317-1433-6158DC3D5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Feel free to ask any questions from past exams</a:t>
            </a:r>
          </a:p>
          <a:p>
            <a:pPr lvl="1"/>
            <a:r>
              <a:rPr lang="en-US" altLang="zh-CN" dirty="0"/>
              <a:t>All CAs are expected to be prepared for them!</a:t>
            </a:r>
          </a:p>
          <a:p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If you have questions about the past sections, we recommend</a:t>
            </a:r>
          </a:p>
          <a:p>
            <a:pPr lvl="1"/>
            <a:r>
              <a:rPr lang="en-US" altLang="zh-CN" dirty="0"/>
              <a:t>Asking on Ed</a:t>
            </a:r>
          </a:p>
          <a:p>
            <a:pPr lvl="1"/>
            <a:r>
              <a:rPr lang="en-US" altLang="zh-CN" dirty="0"/>
              <a:t>Going to office hours of CAs who teach the sections (other CAs may not be familiar with the contents) </a:t>
            </a:r>
          </a:p>
          <a:p>
            <a:pPr marL="457200" lvl="1" indent="0" algn="ctr">
              <a:buNone/>
            </a:pPr>
            <a:r>
              <a:rPr lang="en-US" altLang="zh-CN" dirty="0">
                <a:hlinkClick r:id="rId3"/>
              </a:rPr>
              <a:t>https://stanford-cs161.github.io/winter2025/sections/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9071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2450B84-F032-3E5E-3137-6F2D1EDF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Big-Oh Notation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D3DF16-F67E-7A62-A1E1-83B87E081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2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C1C6B-CC21-0F7F-AAAD-84B67346C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dirty="0"/>
              <a:t>Main idea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D92BD5-9C2D-AC61-2188-2842B2E4AF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800" b="0" dirty="0"/>
                  <a:t>Focus on how the runtime </a:t>
                </a:r>
                <a:r>
                  <a:rPr lang="en-US" altLang="zh-CN" sz="2800" dirty="0"/>
                  <a:t>scales</a:t>
                </a:r>
                <a:r>
                  <a:rPr lang="en-US" altLang="zh-CN" sz="2800" b="0" dirty="0"/>
                  <a:t> with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b="0" dirty="0"/>
                  <a:t> (the input size). </a:t>
                </a:r>
              </a:p>
              <a:p>
                <a:endParaRPr lang="en-US" altLang="zh-CN" dirty="0"/>
              </a:p>
              <a:p>
                <a:r>
                  <a:rPr lang="en-US" altLang="zh-CN" sz="2800" dirty="0"/>
                  <a:t>Some examples…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D92BD5-9C2D-AC61-2188-2842B2E4AF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table">
            <a:extLst>
              <a:ext uri="{FF2B5EF4-FFF2-40B4-BE49-F238E27FC236}">
                <a16:creationId xmlns:a16="http://schemas.microsoft.com/office/drawing/2014/main" id="{0CFB9D91-73D1-EB3D-6966-DCC099E17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384" y="3173262"/>
            <a:ext cx="5753966" cy="3422949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0A009954-CD25-E54F-A146-B3A283C864D3}"/>
              </a:ext>
            </a:extLst>
          </p:cNvPr>
          <p:cNvSpPr txBox="1"/>
          <p:nvPr/>
        </p:nvSpPr>
        <p:spPr>
          <a:xfrm>
            <a:off x="8639645" y="5425642"/>
            <a:ext cx="2796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DE6769"/>
                </a:solidFill>
              </a:rPr>
              <a:t>We say this algorithm is “asymptotically faster” than the others.</a:t>
            </a:r>
          </a:p>
        </p:txBody>
      </p:sp>
      <p:cxnSp>
        <p:nvCxnSpPr>
          <p:cNvPr id="6" name="Straight Arrow Connector 7">
            <a:extLst>
              <a:ext uri="{FF2B5EF4-FFF2-40B4-BE49-F238E27FC236}">
                <a16:creationId xmlns:a16="http://schemas.microsoft.com/office/drawing/2014/main" id="{089E9681-4AFF-6A43-AD0F-4B454F1A07E1}"/>
              </a:ext>
            </a:extLst>
          </p:cNvPr>
          <p:cNvCxnSpPr>
            <a:cxnSpLocks/>
          </p:cNvCxnSpPr>
          <p:nvPr/>
        </p:nvCxnSpPr>
        <p:spPr>
          <a:xfrm flipH="1">
            <a:off x="7896368" y="5790325"/>
            <a:ext cx="743277" cy="285358"/>
          </a:xfrm>
          <a:prstGeom prst="straightConnector1">
            <a:avLst/>
          </a:prstGeom>
          <a:ln>
            <a:solidFill>
              <a:srgbClr val="DE67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8">
            <a:extLst>
              <a:ext uri="{FF2B5EF4-FFF2-40B4-BE49-F238E27FC236}">
                <a16:creationId xmlns:a16="http://schemas.microsoft.com/office/drawing/2014/main" id="{2CF08F63-CF1A-184C-B7A9-6F89FF029714}"/>
              </a:ext>
            </a:extLst>
          </p:cNvPr>
          <p:cNvSpPr/>
          <p:nvPr/>
        </p:nvSpPr>
        <p:spPr>
          <a:xfrm>
            <a:off x="3850089" y="3907813"/>
            <a:ext cx="526473" cy="582506"/>
          </a:xfrm>
          <a:prstGeom prst="ellipse">
            <a:avLst/>
          </a:prstGeom>
          <a:noFill/>
          <a:ln w="57150">
            <a:solidFill>
              <a:srgbClr val="DE67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DE6769"/>
              </a:solidFill>
            </a:endParaRP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5F50B4D2-B9B5-1749-B962-628F7E9785EE}"/>
              </a:ext>
            </a:extLst>
          </p:cNvPr>
          <p:cNvSpPr/>
          <p:nvPr/>
        </p:nvSpPr>
        <p:spPr>
          <a:xfrm>
            <a:off x="3614934" y="4525121"/>
            <a:ext cx="526473" cy="582506"/>
          </a:xfrm>
          <a:prstGeom prst="ellipse">
            <a:avLst/>
          </a:prstGeom>
          <a:noFill/>
          <a:ln w="57150">
            <a:solidFill>
              <a:srgbClr val="DE67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D01D6C7C-2BE9-DF40-8614-8DBCB7A9677F}"/>
              </a:ext>
            </a:extLst>
          </p:cNvPr>
          <p:cNvSpPr/>
          <p:nvPr/>
        </p:nvSpPr>
        <p:spPr>
          <a:xfrm>
            <a:off x="3566692" y="5134389"/>
            <a:ext cx="778043" cy="582506"/>
          </a:xfrm>
          <a:prstGeom prst="ellipse">
            <a:avLst/>
          </a:prstGeom>
          <a:noFill/>
          <a:ln w="57150">
            <a:solidFill>
              <a:srgbClr val="DE67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F849CC64-A68A-4F47-AEAB-824041BCCDF6}"/>
              </a:ext>
            </a:extLst>
          </p:cNvPr>
          <p:cNvSpPr/>
          <p:nvPr/>
        </p:nvSpPr>
        <p:spPr>
          <a:xfrm>
            <a:off x="3757439" y="5933004"/>
            <a:ext cx="1151773" cy="582506"/>
          </a:xfrm>
          <a:prstGeom prst="ellipse">
            <a:avLst/>
          </a:prstGeom>
          <a:noFill/>
          <a:ln w="57150">
            <a:solidFill>
              <a:srgbClr val="DE67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F905AD46-7D7C-3140-B045-1125A12B2A7F}"/>
              </a:ext>
            </a:extLst>
          </p:cNvPr>
          <p:cNvSpPr txBox="1"/>
          <p:nvPr/>
        </p:nvSpPr>
        <p:spPr>
          <a:xfrm>
            <a:off x="6828314" y="2298934"/>
            <a:ext cx="4213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DE6769"/>
                </a:solidFill>
              </a:rPr>
              <a:t>(Heuristically: only pay attention to the largest function of n that appears.)</a:t>
            </a:r>
          </a:p>
        </p:txBody>
      </p:sp>
    </p:spTree>
    <p:extLst>
      <p:ext uri="{BB962C8B-B14F-4D97-AF65-F5344CB8AC3E}">
        <p14:creationId xmlns:p14="http://schemas.microsoft.com/office/powerpoint/2010/main" val="18718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F01C2-E538-770E-D553-3625751E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Formal definition of O(…)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829803-06B9-B6E0-3D93-8A3EED834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5034374"/>
              </a:xfrm>
            </p:spPr>
            <p:txBody>
              <a:bodyPr/>
              <a:lstStyle/>
              <a:p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9AB4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9AB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9AB4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9AB4"/>
                        </a:solidFill>
                        <a:latin typeface="Cambria Math" charset="0"/>
                      </a:rPr>
                      <m:t>𝑔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9AB4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9AB4"/>
                    </a:solidFill>
                  </a:rPr>
                  <a:t> </a:t>
                </a:r>
                <a:r>
                  <a:rPr lang="en-US" altLang="zh-CN" dirty="0"/>
                  <a:t>be functions of positive integers.</a:t>
                </a:r>
              </a:p>
              <a:p>
                <a:pPr lvl="1"/>
                <a:r>
                  <a:rPr lang="en-US" altLang="zh-CN" dirty="0"/>
                  <a:t>Think of </a:t>
                </a:r>
                <a:r>
                  <a:rPr lang="zh-CN" altLang="en-US" dirty="0"/>
                  <a:t>𝑇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𝑛</a:t>
                </a:r>
                <a:r>
                  <a:rPr lang="en-US" altLang="zh-CN" dirty="0"/>
                  <a:t>) as a runtime: positive and increasing in n.</a:t>
                </a:r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Formally,</a:t>
                </a:r>
                <a:endParaRPr lang="en-US" altLang="zh-CN" dirty="0">
                  <a:solidFill>
                    <a:srgbClr val="005ECE"/>
                  </a:solidFill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𝑂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 </m:t>
                      </m:r>
                    </m:oMath>
                  </m:oMathPara>
                </a14:m>
                <a:endParaRPr lang="en-US" altLang="zh-CN" sz="700" b="0" i="1" dirty="0">
                  <a:solidFill>
                    <a:srgbClr val="FF0000"/>
                  </a:solidFill>
                  <a:latin typeface="Cambria Math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⟺</m:t>
                      </m:r>
                    </m:oMath>
                  </m:oMathPara>
                </a14:m>
                <a:endParaRPr lang="en-US" altLang="zh-CN" sz="800" b="0" i="1" dirty="0">
                  <a:solidFill>
                    <a:srgbClr val="FF000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∃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&gt;0,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𝑡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.   ∀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</m:t>
                      </m:r>
                    </m:oMath>
                  </m:oMathPara>
                </a14:m>
                <a:endParaRPr lang="en-US" altLang="zh-CN" b="0" i="1" dirty="0">
                  <a:solidFill>
                    <a:srgbClr val="FF0000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𝑐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𝑔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endParaRPr lang="en-US" altLang="zh-CN" dirty="0"/>
              </a:p>
              <a:p>
                <a:r>
                  <a:rPr lang="en-US" altLang="zh-CN" dirty="0"/>
                  <a:t>Also, review the definitions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1" i="1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6829803-06B9-B6E0-3D93-8A3EED834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5034374"/>
              </a:xfrm>
              <a:blipFill>
                <a:blip r:embed="rId3"/>
                <a:stretch>
                  <a:fillRect l="-1043" t="-2058" b="-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81669A2-224C-9A45-C110-23A0AD61C2BA}"/>
              </a:ext>
            </a:extLst>
          </p:cNvPr>
          <p:cNvSpPr>
            <a:spLocks noGrp="1"/>
          </p:cNvSpPr>
          <p:nvPr/>
        </p:nvSpPr>
        <p:spPr>
          <a:xfrm>
            <a:off x="2152650" y="1141907"/>
            <a:ext cx="7886700" cy="4574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787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F89C3-F0BD-FD2E-EA12-3C0EB828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example,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D404EB-F241-6D97-C292-93315E8013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To prove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(3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DD404EB-F241-6D97-C292-93315E801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5">
                <a:extLst>
                  <a:ext uri="{FF2B5EF4-FFF2-40B4-BE49-F238E27FC236}">
                    <a16:creationId xmlns:a16="http://schemas.microsoft.com/office/drawing/2014/main" id="{45FE299A-C06C-7EFF-1E3E-F4A5EF63B78C}"/>
                  </a:ext>
                </a:extLst>
              </p:cNvPr>
              <p:cNvSpPr txBox="1"/>
              <p:nvPr/>
            </p:nvSpPr>
            <p:spPr>
              <a:xfrm>
                <a:off x="7628321" y="3078754"/>
                <a:ext cx="345461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charset="0"/>
                  <a:buChar char="•"/>
                </a:pPr>
                <a:r>
                  <a:rPr lang="en-US" sz="2400" dirty="0"/>
                  <a:t>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1/3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2400" dirty="0"/>
                  <a:t>Choose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2400" dirty="0"/>
                  <a:t>Then</a:t>
                </a:r>
              </a:p>
            </p:txBody>
          </p:sp>
        </mc:Choice>
        <mc:Fallback xmlns="">
          <p:sp>
            <p:nvSpPr>
              <p:cNvPr id="4" name="TextBox 5">
                <a:extLst>
                  <a:ext uri="{FF2B5EF4-FFF2-40B4-BE49-F238E27FC236}">
                    <a16:creationId xmlns:a16="http://schemas.microsoft.com/office/drawing/2014/main" id="{45FE299A-C06C-7EFF-1E3E-F4A5EF63B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321" y="3078754"/>
                <a:ext cx="3454619" cy="1200329"/>
              </a:xfrm>
              <a:prstGeom prst="rect">
                <a:avLst/>
              </a:prstGeom>
              <a:blipFill>
                <a:blip r:embed="rId4"/>
                <a:stretch>
                  <a:fillRect l="-2293" t="-3553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8">
            <a:extLst>
              <a:ext uri="{FF2B5EF4-FFF2-40B4-BE49-F238E27FC236}">
                <a16:creationId xmlns:a16="http://schemas.microsoft.com/office/drawing/2014/main" id="{5D2DB9DE-CDAC-6D2B-8A18-D2EE14976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762" y="2443458"/>
            <a:ext cx="6565559" cy="4377039"/>
          </a:xfrm>
          <a:prstGeom prst="rect">
            <a:avLst/>
          </a:prstGeom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251997B3-FE99-20DA-1430-15A36C374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761" y="2443457"/>
            <a:ext cx="6565559" cy="43770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6E34A0-5535-7ADF-D09C-00752685E0E3}"/>
                  </a:ext>
                </a:extLst>
              </p:cNvPr>
              <p:cNvSpPr/>
              <p:nvPr/>
            </p:nvSpPr>
            <p:spPr>
              <a:xfrm>
                <a:off x="7802179" y="4279083"/>
                <a:ext cx="3377761" cy="13093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≥2, 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endParaRPr lang="en-US" sz="1000" i="1" dirty="0">
                  <a:solidFill>
                    <a:schemeClr val="tx1"/>
                  </a:solidFill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𝑛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⁡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6E34A0-5535-7ADF-D09C-00752685E0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179" y="4279083"/>
                <a:ext cx="3377761" cy="13093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10">
            <a:extLst>
              <a:ext uri="{FF2B5EF4-FFF2-40B4-BE49-F238E27FC236}">
                <a16:creationId xmlns:a16="http://schemas.microsoft.com/office/drawing/2014/main" id="{D8FA3FAA-BC8E-E251-56C9-C6F8A305CB20}"/>
              </a:ext>
            </a:extLst>
          </p:cNvPr>
          <p:cNvSpPr txBox="1"/>
          <p:nvPr/>
        </p:nvSpPr>
        <p:spPr>
          <a:xfrm rot="20921105">
            <a:off x="5059752" y="5240668"/>
            <a:ext cx="1599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B050"/>
                </a:solidFill>
              </a:rPr>
              <a:t>g(n)/3 = n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87AFDFC-EE4E-87D8-7E90-CA9FA41CF7BE}"/>
              </a:ext>
            </a:extLst>
          </p:cNvPr>
          <p:cNvSpPr txBox="1"/>
          <p:nvPr/>
        </p:nvSpPr>
        <p:spPr>
          <a:xfrm rot="19224857">
            <a:off x="4995577" y="3938642"/>
            <a:ext cx="2130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DE6769"/>
                </a:solidFill>
              </a:rPr>
              <a:t>T(n) = </a:t>
            </a:r>
            <a:r>
              <a:rPr lang="en-US" sz="2400" dirty="0" err="1">
                <a:solidFill>
                  <a:srgbClr val="DE6769"/>
                </a:solidFill>
              </a:rPr>
              <a:t>nlog</a:t>
            </a:r>
            <a:r>
              <a:rPr lang="en-US" sz="2400" dirty="0">
                <a:solidFill>
                  <a:srgbClr val="DE6769"/>
                </a:solidFill>
              </a:rPr>
              <a:t>(n)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479C669F-1847-8EC0-09A7-304A044D5337}"/>
              </a:ext>
            </a:extLst>
          </p:cNvPr>
          <p:cNvSpPr txBox="1"/>
          <p:nvPr/>
        </p:nvSpPr>
        <p:spPr>
          <a:xfrm rot="19843085">
            <a:off x="5120899" y="3021201"/>
            <a:ext cx="1960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5ECE"/>
                </a:solidFill>
              </a:rPr>
              <a:t>g(n) = 3n</a:t>
            </a:r>
          </a:p>
        </p:txBody>
      </p:sp>
    </p:spTree>
    <p:extLst>
      <p:ext uri="{BB962C8B-B14F-4D97-AF65-F5344CB8AC3E}">
        <p14:creationId xmlns:p14="http://schemas.microsoft.com/office/powerpoint/2010/main" val="4280243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2BBFB-4EAB-4EAC-EAF3-F6363825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example,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319653-79DD-51E1-25B8-5C471D0971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8525719" cy="4597545"/>
              </a:xfrm>
            </p:spPr>
            <p:txBody>
              <a:bodyPr/>
              <a:lstStyle/>
              <a:p>
                <a:r>
                  <a:rPr lang="en-US" altLang="zh-CN" dirty="0"/>
                  <a:t>To prove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</a:p>
              <a:p>
                <a:pPr marL="0" indent="0" algn="ctr">
                  <a:buNone/>
                </a:pP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fun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 algn="ctr">
                  <a:buNone/>
                </a:pPr>
                <a:endParaRPr lang="en-US" altLang="zh-CN" b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fun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fun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d>
                    </m:oMath>
                  </m:oMathPara>
                </a14:m>
                <a:endParaRPr lang="zh-CN" altLang="en-US" b="0" dirty="0"/>
              </a:p>
              <a:p>
                <a:pPr marL="0" indent="0" algn="ctr"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319653-79DD-51E1-25B8-5C471D097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8525719" cy="4597545"/>
              </a:xfrm>
              <a:blipFill>
                <a:blip r:embed="rId3"/>
                <a:stretch>
                  <a:fillRect l="-1288" t="-2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话气泡: 圆角矩形 3">
                <a:extLst>
                  <a:ext uri="{FF2B5EF4-FFF2-40B4-BE49-F238E27FC236}">
                    <a16:creationId xmlns:a16="http://schemas.microsoft.com/office/drawing/2014/main" id="{368F6798-D43C-3183-B9AE-1E9BCC40F582}"/>
                  </a:ext>
                </a:extLst>
              </p:cNvPr>
              <p:cNvSpPr/>
              <p:nvPr/>
            </p:nvSpPr>
            <p:spPr>
              <a:xfrm>
                <a:off x="740781" y="4247909"/>
                <a:ext cx="3194612" cy="1935981"/>
              </a:xfrm>
              <a:prstGeom prst="wedgeRoundRectCallout">
                <a:avLst>
                  <a:gd name="adj1" fmla="val 71620"/>
                  <a:gd name="adj2" fmla="val -47508"/>
                  <a:gd name="adj3" fmla="val 16667"/>
                </a:avLst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b="1" dirty="0">
                    <a:solidFill>
                      <a:schemeClr val="tx1"/>
                    </a:solidFill>
                  </a:rPr>
                  <a:t>Remember: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e>
                      </m:fun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fun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对话气泡: 圆角矩形 3">
                <a:extLst>
                  <a:ext uri="{FF2B5EF4-FFF2-40B4-BE49-F238E27FC236}">
                    <a16:creationId xmlns:a16="http://schemas.microsoft.com/office/drawing/2014/main" id="{368F6798-D43C-3183-B9AE-1E9BCC40F5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81" y="4247909"/>
                <a:ext cx="3194612" cy="1935981"/>
              </a:xfrm>
              <a:prstGeom prst="wedgeRoundRectCallout">
                <a:avLst>
                  <a:gd name="adj1" fmla="val 71620"/>
                  <a:gd name="adj2" fmla="val -47508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26BCC259-C6EF-D14E-DE95-9110317063A6}"/>
                  </a:ext>
                </a:extLst>
              </p:cNvPr>
              <p:cNvSpPr/>
              <p:nvPr/>
            </p:nvSpPr>
            <p:spPr>
              <a:xfrm>
                <a:off x="8403219" y="2303362"/>
                <a:ext cx="3395241" cy="3880528"/>
              </a:xfrm>
              <a:prstGeom prst="round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b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Assuming n is even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!=</m:t>
                      </m:r>
                    </m:oMath>
                  </m:oMathPara>
                </a14:m>
                <a:endParaRPr lang="en-US" altLang="zh-CN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⋅⋯⋅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 ⋯⋅2⋅1</m:t>
                      </m:r>
                    </m:oMath>
                  </m:oMathPara>
                </a14:m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⋅⋯⋅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US" altLang="zh-CN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1⋅⋯⋅1⋅1</m:t>
                      </m:r>
                    </m:oMath>
                  </m:oMathPara>
                </a14:m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b="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dirty="0"/>
              </a:p>
            </p:txBody>
          </p:sp>
        </mc:Choice>
        <mc:Fallback xmlns=""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26BCC259-C6EF-D14E-DE95-911031706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3219" y="2303362"/>
                <a:ext cx="3395241" cy="388052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31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06D77-8A5C-223F-5E30-0FC724E1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AA6226-9E67-D608-F64E-3A8BC222E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BFBEEB-1761-C2C5-964F-D6DDC3E29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02" y="0"/>
            <a:ext cx="103537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21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B3914-32FF-4491-8AD4-2A7A14D19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example,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57AC2A-E553-32B3-A90D-DDF374FEDE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  <a:p>
                <a:r>
                  <a:rPr lang="en-US" altLang="zh-CN" dirty="0"/>
                  <a:t>Note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  does not imply </a:t>
                </a:r>
                <a:endParaRPr lang="zh-CN" alt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See midterm 2023 Problem 4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57AC2A-E553-32B3-A90D-DDF374FED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66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FF1AF50-1364-DEAD-3994-86C063CA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Divide and Conquer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662DD4-4B84-5942-B80B-5FDC32123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048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CB19F-06DD-F8BA-34D5-E3563CEB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Karatsuba integer multiplication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AD650-D000-2511-6460-BA946F62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Recursively compute these THREE things:</a:t>
            </a:r>
          </a:p>
          <a:p>
            <a:pPr lvl="1"/>
            <a:r>
              <a:rPr lang="en-US" altLang="zh-CN" dirty="0"/>
              <a:t>ac </a:t>
            </a:r>
          </a:p>
          <a:p>
            <a:pPr lvl="1"/>
            <a:r>
              <a:rPr lang="en-US" altLang="zh-CN" dirty="0"/>
              <a:t>bd</a:t>
            </a:r>
          </a:p>
          <a:p>
            <a:pPr lvl="1"/>
            <a:r>
              <a:rPr lang="en-US" altLang="zh-CN" dirty="0"/>
              <a:t>(</a:t>
            </a:r>
            <a:r>
              <a:rPr lang="en-US" altLang="zh-CN" dirty="0" err="1"/>
              <a:t>a+b</a:t>
            </a:r>
            <a:r>
              <a:rPr lang="en-US" altLang="zh-CN" dirty="0"/>
              <a:t>)(</a:t>
            </a:r>
            <a:r>
              <a:rPr lang="en-US" altLang="zh-CN" dirty="0" err="1"/>
              <a:t>c+d</a:t>
            </a:r>
            <a:r>
              <a:rPr lang="en-US" altLang="zh-CN" dirty="0"/>
              <a:t>)</a:t>
            </a:r>
          </a:p>
          <a:p>
            <a:pPr lvl="1"/>
            <a:endParaRPr lang="en-US" altLang="zh-CN" dirty="0"/>
          </a:p>
          <a:p>
            <a:endParaRPr lang="en-US" altLang="en-US" sz="2800" b="1" dirty="0">
              <a:solidFill>
                <a:srgbClr val="009AB4"/>
              </a:solidFill>
            </a:endParaRPr>
          </a:p>
          <a:p>
            <a:r>
              <a:rPr lang="en-US" altLang="en-US" sz="2800" b="1" dirty="0">
                <a:solidFill>
                  <a:srgbClr val="009AB4"/>
                </a:solidFill>
              </a:rPr>
              <a:t>Assemble the product:</a:t>
            </a:r>
          </a:p>
          <a:p>
            <a:endParaRPr lang="zh-CN" altLang="en-US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1B370CB-495C-C1CA-A1D1-49232518184F}"/>
              </a:ext>
            </a:extLst>
          </p:cNvPr>
          <p:cNvSpPr/>
          <p:nvPr/>
        </p:nvSpPr>
        <p:spPr>
          <a:xfrm>
            <a:off x="5334771" y="2653146"/>
            <a:ext cx="5288477" cy="997527"/>
          </a:xfrm>
          <a:prstGeom prst="roundRect">
            <a:avLst/>
          </a:prstGeom>
          <a:solidFill>
            <a:srgbClr val="FDE1CB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a+b</a:t>
            </a:r>
            <a:r>
              <a:rPr lang="en-US" sz="2800" dirty="0">
                <a:solidFill>
                  <a:schemeClr val="tx1"/>
                </a:solidFill>
              </a:rPr>
              <a:t>)(</a:t>
            </a:r>
            <a:r>
              <a:rPr lang="en-US" sz="2800" dirty="0" err="1">
                <a:solidFill>
                  <a:schemeClr val="tx1"/>
                </a:solidFill>
              </a:rPr>
              <a:t>c+d</a:t>
            </a:r>
            <a:r>
              <a:rPr lang="en-US" sz="2800" dirty="0">
                <a:solidFill>
                  <a:schemeClr val="tx1"/>
                </a:solidFill>
              </a:rPr>
              <a:t>) = ac + </a:t>
            </a:r>
            <a:r>
              <a:rPr lang="en-US" sz="2800" dirty="0" err="1">
                <a:solidFill>
                  <a:schemeClr val="tx1"/>
                </a:solidFill>
              </a:rPr>
              <a:t>bd</a:t>
            </a:r>
            <a:r>
              <a:rPr lang="en-US" sz="2800" dirty="0">
                <a:solidFill>
                  <a:schemeClr val="tx1"/>
                </a:solidFill>
              </a:rPr>
              <a:t> + </a:t>
            </a:r>
            <a:r>
              <a:rPr lang="en-US" sz="2800" dirty="0" err="1">
                <a:solidFill>
                  <a:schemeClr val="tx1"/>
                </a:solidFill>
              </a:rPr>
              <a:t>bc</a:t>
            </a:r>
            <a:r>
              <a:rPr lang="en-US" sz="2800" dirty="0">
                <a:solidFill>
                  <a:schemeClr val="tx1"/>
                </a:solidFill>
              </a:rPr>
              <a:t> + ad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F500834-603D-1654-6103-18D8EEA136A4}"/>
              </a:ext>
            </a:extLst>
          </p:cNvPr>
          <p:cNvSpPr/>
          <p:nvPr/>
        </p:nvSpPr>
        <p:spPr>
          <a:xfrm>
            <a:off x="2142068" y="2209800"/>
            <a:ext cx="5478703" cy="788281"/>
          </a:xfrm>
          <a:custGeom>
            <a:avLst/>
            <a:gdLst>
              <a:gd name="connsiteX0" fmla="*/ 0 w 4266173"/>
              <a:gd name="connsiteY0" fmla="*/ 16460 h 920766"/>
              <a:gd name="connsiteX1" fmla="*/ 2175164 w 4266173"/>
              <a:gd name="connsiteY1" fmla="*/ 30315 h 920766"/>
              <a:gd name="connsiteX2" fmla="*/ 3879273 w 4266173"/>
              <a:gd name="connsiteY2" fmla="*/ 293551 h 920766"/>
              <a:gd name="connsiteX3" fmla="*/ 4239491 w 4266173"/>
              <a:gd name="connsiteY3" fmla="*/ 861588 h 920766"/>
              <a:gd name="connsiteX4" fmla="*/ 4239491 w 4266173"/>
              <a:gd name="connsiteY4" fmla="*/ 903151 h 920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6173" h="920766">
                <a:moveTo>
                  <a:pt x="0" y="16460"/>
                </a:moveTo>
                <a:cubicBezTo>
                  <a:pt x="764309" y="296"/>
                  <a:pt x="1528619" y="-15867"/>
                  <a:pt x="2175164" y="30315"/>
                </a:cubicBezTo>
                <a:cubicBezTo>
                  <a:pt x="2821709" y="76497"/>
                  <a:pt x="3535219" y="155006"/>
                  <a:pt x="3879273" y="293551"/>
                </a:cubicBezTo>
                <a:cubicBezTo>
                  <a:pt x="4223328" y="432097"/>
                  <a:pt x="4179455" y="759988"/>
                  <a:pt x="4239491" y="861588"/>
                </a:cubicBezTo>
                <a:cubicBezTo>
                  <a:pt x="4299527" y="963188"/>
                  <a:pt x="4239491" y="903151"/>
                  <a:pt x="4239491" y="903151"/>
                </a:cubicBezTo>
              </a:path>
            </a:pathLst>
          </a:custGeom>
          <a:noFill/>
          <a:ln w="31750">
            <a:solidFill>
              <a:schemeClr val="accent4"/>
            </a:solidFill>
            <a:tailEnd type="stealth" w="lg" len="lg"/>
          </a:ln>
          <a:effectLst>
            <a:outerShdw blurRad="50800" dist="50800" dir="5400000" sx="98000" sy="98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C1DB752-33DF-0B22-0616-922B02AE3714}"/>
              </a:ext>
            </a:extLst>
          </p:cNvPr>
          <p:cNvSpPr/>
          <p:nvPr/>
        </p:nvSpPr>
        <p:spPr>
          <a:xfrm>
            <a:off x="2142068" y="2551424"/>
            <a:ext cx="6129868" cy="446657"/>
          </a:xfrm>
          <a:custGeom>
            <a:avLst/>
            <a:gdLst>
              <a:gd name="connsiteX0" fmla="*/ 0 w 4266173"/>
              <a:gd name="connsiteY0" fmla="*/ 16460 h 920766"/>
              <a:gd name="connsiteX1" fmla="*/ 2175164 w 4266173"/>
              <a:gd name="connsiteY1" fmla="*/ 30315 h 920766"/>
              <a:gd name="connsiteX2" fmla="*/ 3879273 w 4266173"/>
              <a:gd name="connsiteY2" fmla="*/ 293551 h 920766"/>
              <a:gd name="connsiteX3" fmla="*/ 4239491 w 4266173"/>
              <a:gd name="connsiteY3" fmla="*/ 861588 h 920766"/>
              <a:gd name="connsiteX4" fmla="*/ 4239491 w 4266173"/>
              <a:gd name="connsiteY4" fmla="*/ 903151 h 920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66173" h="920766">
                <a:moveTo>
                  <a:pt x="0" y="16460"/>
                </a:moveTo>
                <a:cubicBezTo>
                  <a:pt x="764309" y="296"/>
                  <a:pt x="1528619" y="-15867"/>
                  <a:pt x="2175164" y="30315"/>
                </a:cubicBezTo>
                <a:cubicBezTo>
                  <a:pt x="2821709" y="76497"/>
                  <a:pt x="3535219" y="155006"/>
                  <a:pt x="3879273" y="293551"/>
                </a:cubicBezTo>
                <a:cubicBezTo>
                  <a:pt x="4223328" y="432097"/>
                  <a:pt x="4179455" y="759988"/>
                  <a:pt x="4239491" y="861588"/>
                </a:cubicBezTo>
                <a:cubicBezTo>
                  <a:pt x="4299527" y="963188"/>
                  <a:pt x="4239491" y="903151"/>
                  <a:pt x="4239491" y="903151"/>
                </a:cubicBezTo>
              </a:path>
            </a:pathLst>
          </a:custGeom>
          <a:noFill/>
          <a:ln w="31750">
            <a:solidFill>
              <a:schemeClr val="accent4"/>
            </a:solidFill>
            <a:tailEnd type="stealth" w="lg" len="lg"/>
          </a:ln>
          <a:effectLst>
            <a:outerShdw blurRad="50800" dist="50800" dir="5400000" sx="98000" sy="98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9F270-5D79-9614-1800-8D6C844679DC}"/>
              </a:ext>
            </a:extLst>
          </p:cNvPr>
          <p:cNvSpPr txBox="1"/>
          <p:nvPr/>
        </p:nvSpPr>
        <p:spPr>
          <a:xfrm>
            <a:off x="6891879" y="1997425"/>
            <a:ext cx="2055371" cy="369332"/>
          </a:xfrm>
          <a:prstGeom prst="rect">
            <a:avLst/>
          </a:prstGeom>
          <a:noFill/>
          <a:effectLst>
            <a:outerShdw blurRad="50800" dist="279400" dir="5400000" sx="99000" sy="99000" algn="ctr" rotWithShape="0">
              <a:srgbClr val="000000">
                <a:alpha val="43137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Subtract these off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B18FD6-7599-67BC-3640-658F4AAE53C4}"/>
              </a:ext>
            </a:extLst>
          </p:cNvPr>
          <p:cNvSpPr/>
          <p:nvPr/>
        </p:nvSpPr>
        <p:spPr>
          <a:xfrm>
            <a:off x="9170029" y="2794072"/>
            <a:ext cx="1328685" cy="715674"/>
          </a:xfrm>
          <a:prstGeom prst="ellipse">
            <a:avLst/>
          </a:prstGeom>
          <a:noFill/>
          <a:ln w="41275">
            <a:solidFill>
              <a:srgbClr val="C00000"/>
            </a:solidFill>
          </a:ln>
          <a:effectLst>
            <a:outerShdw blurRad="50800" dist="50800" dir="5400000" sx="98000" sy="98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FA3968-39F3-0C5B-B3B0-A0C6FAF5F970}"/>
              </a:ext>
            </a:extLst>
          </p:cNvPr>
          <p:cNvSpPr txBox="1"/>
          <p:nvPr/>
        </p:nvSpPr>
        <p:spPr>
          <a:xfrm>
            <a:off x="9371358" y="2272158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get this</a:t>
            </a: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5452" y="4739250"/>
            <a:ext cx="4814149" cy="91197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082914DE-FE6B-C14E-B66E-4AF65748B81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8482" y="5747657"/>
            <a:ext cx="562812" cy="4884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CD63EE-B462-A44F-83CF-E169D033058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1488" y="5747657"/>
            <a:ext cx="562812" cy="4884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597DE5-875F-C64C-96EE-42F397924D9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4494" y="5747657"/>
            <a:ext cx="562812" cy="48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9D24C-BC8E-3DC1-03D2-A8BE52EA3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What’s the running time?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62CEC6-E64E-5212-1202-6AFCECFC1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Oval 4"/>
          <p:cNvSpPr/>
          <p:nvPr/>
        </p:nvSpPr>
        <p:spPr>
          <a:xfrm>
            <a:off x="3075265" y="1426687"/>
            <a:ext cx="1054243" cy="706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018022" y="2448362"/>
            <a:ext cx="540326" cy="49429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297259" y="2448362"/>
            <a:ext cx="540326" cy="49429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576496" y="2448362"/>
            <a:ext cx="540326" cy="49429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676764" y="3996924"/>
            <a:ext cx="415637" cy="37363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4129508" y="4183743"/>
            <a:ext cx="415637" cy="37363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3602386" y="3996924"/>
            <a:ext cx="415637" cy="37363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075265" y="4183742"/>
            <a:ext cx="415637" cy="37363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2538076" y="3996923"/>
            <a:ext cx="415637" cy="37363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1983895" y="4225305"/>
            <a:ext cx="415637" cy="373637"/>
          </a:xfrm>
          <a:prstGeom prst="ellipse">
            <a:avLst/>
          </a:prstGeom>
          <a:solidFill>
            <a:srgbClr val="555B9A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5053871" y="6171629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4665936" y="6379012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4267616" y="6171629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3858911" y="6379012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3452372" y="6193776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3036735" y="6379012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2621098" y="6193776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2207637" y="6337665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1820989" y="6143705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1485471" y="6318243"/>
            <a:ext cx="304801" cy="248946"/>
          </a:xfrm>
          <a:prstGeom prst="ellipse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20016" y="1385641"/>
            <a:ext cx="16369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</a:t>
            </a:r>
            <a:r>
              <a:rPr lang="en-US" sz="2400"/>
              <a:t>problem </a:t>
            </a:r>
          </a:p>
          <a:p>
            <a:r>
              <a:rPr lang="en-US" sz="2400" dirty="0"/>
              <a:t>of size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1632" y="2313271"/>
            <a:ext cx="17620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 problems </a:t>
            </a:r>
          </a:p>
          <a:p>
            <a:r>
              <a:rPr lang="en-US" sz="2400" dirty="0"/>
              <a:t>of size n/2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9932" y="3842484"/>
            <a:ext cx="18277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  <a:r>
              <a:rPr lang="en-US" sz="2400" baseline="30000" dirty="0"/>
              <a:t>t</a:t>
            </a:r>
            <a:r>
              <a:rPr lang="en-US" sz="2400" dirty="0"/>
              <a:t> problems </a:t>
            </a:r>
          </a:p>
          <a:p>
            <a:r>
              <a:rPr lang="en-US" sz="2400" dirty="0"/>
              <a:t>of size n/2</a:t>
            </a:r>
            <a:r>
              <a:rPr lang="en-US" sz="2400" baseline="30000" dirty="0"/>
              <a:t>t</a:t>
            </a:r>
            <a:endParaRPr lang="en-US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6069140" y="5944231"/>
            <a:ext cx="21161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____ problems </a:t>
            </a:r>
          </a:p>
          <a:p>
            <a:r>
              <a:rPr lang="en-US" sz="2400" dirty="0"/>
              <a:t>of size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1536" y="4943778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ounded Rectangle 35"/>
              <p:cNvSpPr/>
              <p:nvPr/>
            </p:nvSpPr>
            <p:spPr>
              <a:xfrm>
                <a:off x="7622158" y="1255400"/>
                <a:ext cx="3503043" cy="3618232"/>
              </a:xfrm>
              <a:prstGeom prst="roundRect">
                <a:avLst/>
              </a:prstGeom>
              <a:solidFill>
                <a:srgbClr val="FDF6C6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</a:rPr>
                  <a:t>If you cut n in half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times, you get down to 1.</a:t>
                </a:r>
              </a:p>
              <a:p>
                <a:pPr marL="285750" indent="-285750">
                  <a:buFont typeface="Arial" charset="0"/>
                  <a:buChar char="•"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</a:rPr>
                  <a:t>So at level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    we get</a:t>
                </a:r>
                <a:r>
                  <a:rPr lang="mr-IN" sz="2000" dirty="0">
                    <a:solidFill>
                      <a:schemeClr val="tx1"/>
                    </a:solidFill>
                  </a:rPr>
                  <a:t>…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0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3</m:t>
                          </m:r>
                        </m:e>
                        <m:sup>
                          <m:func>
                            <m:func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3</m:t>
                              </m:r>
                            </m:e>
                          </m:func>
                        </m:sup>
                      </m:sSup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≈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1.6</m:t>
                          </m:r>
                        </m:sup>
                      </m:sSup>
                    </m:oMath>
                  </m:oMathPara>
                </a14:m>
                <a:endParaRPr lang="en-US" sz="2400" baseline="30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problems of size 1.</a:t>
                </a:r>
              </a:p>
            </p:txBody>
          </p:sp>
        </mc:Choice>
        <mc:Fallback xmlns="">
          <p:sp>
            <p:nvSpPr>
              <p:cNvPr id="36" name="Rounded 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158" y="1255400"/>
                <a:ext cx="3503043" cy="361823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047611" y="5832924"/>
                <a:ext cx="76011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𝑛</m:t>
                          </m:r>
                        </m:e>
                        <m:sup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1.6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611" y="5832924"/>
                <a:ext cx="760115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DB62618F-C967-DD49-9284-19BD5345BA12}"/>
              </a:ext>
            </a:extLst>
          </p:cNvPr>
          <p:cNvSpPr txBox="1"/>
          <p:nvPr/>
        </p:nvSpPr>
        <p:spPr>
          <a:xfrm>
            <a:off x="1568419" y="4701663"/>
            <a:ext cx="17400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this is just a cartoon – I’m not going to draw all 3</a:t>
            </a:r>
            <a:r>
              <a:rPr lang="en-US" sz="1400" baseline="30000" dirty="0"/>
              <a:t>t</a:t>
            </a:r>
            <a:r>
              <a:rPr lang="en-US" sz="1400" dirty="0"/>
              <a:t>  circles!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5FD8E6-E785-7F4C-B6F9-D3B788D1BB78}"/>
              </a:ext>
            </a:extLst>
          </p:cNvPr>
          <p:cNvSpPr txBox="1"/>
          <p:nvPr/>
        </p:nvSpPr>
        <p:spPr>
          <a:xfrm>
            <a:off x="3341535" y="3069762"/>
            <a:ext cx="51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4000" dirty="0"/>
              <a:t>…</a:t>
            </a:r>
            <a:r>
              <a:rPr lang="en-US" sz="4000" dirty="0"/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5A4926-E152-5770-B7AB-6890F3F224B4}"/>
              </a:ext>
            </a:extLst>
          </p:cNvPr>
          <p:cNvSpPr txBox="1"/>
          <p:nvPr/>
        </p:nvSpPr>
        <p:spPr>
          <a:xfrm>
            <a:off x="142100" y="1462088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9AB4"/>
                </a:solidFill>
              </a:rPr>
              <a:t>Recursion tree</a:t>
            </a:r>
            <a:endParaRPr lang="zh-CN" altLang="en-US" sz="3200" b="1" dirty="0">
              <a:solidFill>
                <a:srgbClr val="009AB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E26EB44-E538-32D7-8470-D944F663827C}"/>
                  </a:ext>
                </a:extLst>
              </p:cNvPr>
              <p:cNvSpPr txBox="1"/>
              <p:nvPr/>
            </p:nvSpPr>
            <p:spPr>
              <a:xfrm>
                <a:off x="9068322" y="4964962"/>
                <a:ext cx="2453572" cy="17653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≈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1.6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E26EB44-E538-32D7-8470-D944F6638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322" y="4964962"/>
                <a:ext cx="2453572" cy="1765355"/>
              </a:xfrm>
              <a:prstGeom prst="rect">
                <a:avLst/>
              </a:prstGeom>
              <a:blipFill>
                <a:blip r:embed="rId5"/>
                <a:stretch>
                  <a:fillRect b="-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38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uiExpand="1" build="p" animBg="1"/>
      <p:bldP spid="38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F6BCAEE-ABE6-D060-CD39-7DCC859B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Solving Recurrence and Master Theorem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F8444D-824C-9F2D-C49A-BF4DFEDF8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773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03737-4A20-DBE0-CE0A-9DCEE8A3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example,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78D1FB-6CB6-4BAC-D75D-C86237C62C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In </a:t>
                </a:r>
                <a:r>
                  <a:rPr lang="en-US" altLang="en-US" dirty="0"/>
                  <a:t>Karatsuba integer multiplication:</a:t>
                </a:r>
              </a:p>
              <a:p>
                <a:pPr lvl="1"/>
                <a:r>
                  <a:rPr lang="en-US" altLang="zh-CN" dirty="0"/>
                  <a:t>Think of </a:t>
                </a:r>
                <a:r>
                  <a:rPr lang="zh-CN" altLang="en-US" dirty="0"/>
                  <a:t>𝑇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𝑛</a:t>
                </a:r>
                <a:r>
                  <a:rPr lang="en-US" altLang="zh-CN" dirty="0"/>
                  <a:t>) as a runtime for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-digit multiplication</a:t>
                </a:r>
              </a:p>
              <a:p>
                <a:pPr lvl="1"/>
                <a:r>
                  <a:rPr lang="en-US" altLang="zh-CN" dirty="0"/>
                  <a:t>As we recursively call three instances of size at most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⌈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⌉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lvl="1"/>
                <a:r>
                  <a:rPr lang="en-US" altLang="zh-CN" dirty="0"/>
                  <a:t>and in each recursion, we have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work</a:t>
                </a:r>
              </a:p>
              <a:p>
                <a:pPr marL="457200" lvl="1" indent="0">
                  <a:buNone/>
                </a:pP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endParaRPr lang="en-US" altLang="en-US" dirty="0"/>
              </a:p>
              <a:p>
                <a:r>
                  <a:rPr lang="en-US" altLang="zh-CN" dirty="0"/>
                  <a:t>Use the Master Theorem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Use the Substitution Method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 marL="457200" lvl="1" indent="0">
                  <a:buNone/>
                </a:pPr>
                <a:endParaRPr lang="en-US" altLang="zh-CN" sz="2800" b="1" dirty="0">
                  <a:solidFill>
                    <a:srgbClr val="009AB4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78D1FB-6CB6-4BAC-D75D-C86237C62C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7" b="-2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6D159C33-CB12-B0A0-811B-CD830328694F}"/>
                  </a:ext>
                </a:extLst>
              </p:cNvPr>
              <p:cNvSpPr/>
              <p:nvPr/>
            </p:nvSpPr>
            <p:spPr>
              <a:xfrm>
                <a:off x="7859212" y="4409953"/>
                <a:ext cx="4097438" cy="1990845"/>
              </a:xfrm>
              <a:prstGeom prst="wedgeRoundRectCallout">
                <a:avLst>
                  <a:gd name="adj1" fmla="val -80260"/>
                  <a:gd name="adj2" fmla="val -24793"/>
                  <a:gd name="adj3" fmla="val 16667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One can show that the Master theorem works fine if we ignore floors and ceilings.</a:t>
                </a:r>
              </a:p>
              <a:p>
                <a:pPr algn="ctr"/>
                <a:endParaRPr lang="en-US" altLang="zh-CN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bg1"/>
                  </a:solidFill>
                </a:endParaRPr>
              </a:p>
              <a:p>
                <a:pPr algn="ctr"/>
                <a:endParaRPr lang="zh-CN" altLang="en-US" b="1" dirty="0"/>
              </a:p>
            </p:txBody>
          </p:sp>
        </mc:Choice>
        <mc:Fallback xmlns="">
          <p:sp>
            <p:nvSpPr>
              <p:cNvPr id="6" name="对话气泡: 圆角矩形 5">
                <a:extLst>
                  <a:ext uri="{FF2B5EF4-FFF2-40B4-BE49-F238E27FC236}">
                    <a16:creationId xmlns:a16="http://schemas.microsoft.com/office/drawing/2014/main" id="{6D159C33-CB12-B0A0-811B-CD8303286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212" y="4409953"/>
                <a:ext cx="4097438" cy="1990845"/>
              </a:xfrm>
              <a:prstGeom prst="wedgeRoundRectCallout">
                <a:avLst>
                  <a:gd name="adj1" fmla="val -80260"/>
                  <a:gd name="adj2" fmla="val -24793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AB6AA9-0F52-6FB4-1FDB-70BE28B096A3}"/>
                  </a:ext>
                </a:extLst>
              </p:cNvPr>
              <p:cNvSpPr txBox="1"/>
              <p:nvPr/>
            </p:nvSpPr>
            <p:spPr>
              <a:xfrm>
                <a:off x="4990012" y="4009843"/>
                <a:ext cx="33959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Simply, we have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(1)=</m:t>
                    </m:r>
                    <m:r>
                      <a:rPr lang="en-US" altLang="zh-CN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AB6AA9-0F52-6FB4-1FDB-70BE28B09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012" y="4009843"/>
                <a:ext cx="3395994" cy="400110"/>
              </a:xfrm>
              <a:prstGeom prst="rect">
                <a:avLst/>
              </a:prstGeom>
              <a:blipFill>
                <a:blip r:embed="rId5"/>
                <a:stretch>
                  <a:fillRect l="-1975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19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2ECE7-9A53-DC03-4765-AC13626E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Master Theorem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B89523A-57E5-EA08-394B-54ED4E7C0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491862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If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Then, 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  <m:func>
                                    <m:func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unc>
                                        <m:func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sSub>
                                            <m:sSubPr>
                                              <m:ctrlP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zh-CN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log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sub>
                                          </m:sSub>
                                        </m:fName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func>
                                    </m:sup>
                                  </m:sSup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Example: </a:t>
                </a:r>
                <a:r>
                  <a:rPr lang="en-US" altLang="en-US" dirty="0"/>
                  <a:t>Karatsuba integer multiplication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func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1.6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B89523A-57E5-EA08-394B-54ED4E7C0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4918627"/>
              </a:xfrm>
              <a:blipFill>
                <a:blip r:embed="rId3"/>
                <a:stretch>
                  <a:fillRect l="-1043" t="-2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560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D4537-1307-EF9B-2BB4-9BAED38C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Substitution Method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E9E659-2490-1D38-5C9B-8F0321F0E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Another way to solve recurrence relations.</a:t>
            </a:r>
          </a:p>
          <a:p>
            <a:r>
              <a:rPr lang="en-US" altLang="zh-CN" dirty="0"/>
              <a:t>More general than the master method.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Step 1: </a:t>
            </a:r>
            <a:r>
              <a:rPr lang="en-US" altLang="zh-CN" dirty="0"/>
              <a:t>Generate a guess at the correct answer.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Step 2: </a:t>
            </a:r>
            <a:r>
              <a:rPr lang="en-US" altLang="zh-CN" dirty="0"/>
              <a:t>Try to prove that your guess is correct.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(Step 3: </a:t>
            </a:r>
            <a:r>
              <a:rPr lang="en-US" altLang="zh-CN" dirty="0"/>
              <a:t>Profit.)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9702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B1A3-9F2E-1A46-9D5C-EADD08DA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Guess the answer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C9FC0-98B2-3241-99BF-4C839B314C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49" y="1529060"/>
                <a:ext cx="9343254" cy="471109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  <m:t>2⋅</m:t>
                        </m:r>
                        <m:r>
                          <a:rPr lang="en-US" sz="2400" b="0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>
                                    <a:solidFill>
                                      <a:srgbClr val="009AB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rgbClr val="009AB4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rgbClr val="009AB4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en-US" sz="2400" b="0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4⋅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=4⋅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  <m:t>2⋅</m:t>
                        </m:r>
                        <m:r>
                          <a:rPr lang="en-US" sz="2400" b="0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2400" b="0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>
                                    <a:solidFill>
                                      <a:srgbClr val="009AB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rgbClr val="009AB4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rgbClr val="009AB4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  <m:r>
                          <a:rPr lang="en-US" sz="2400" b="0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b="0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8⋅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/>
                  <a:t>…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C9FC0-98B2-3241-99BF-4C839B314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49" y="1529060"/>
                <a:ext cx="9343254" cy="4711099"/>
              </a:xfrm>
              <a:blipFill>
                <a:blip r:embed="rId3"/>
                <a:stretch>
                  <a:fillRect l="-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B14554-851F-DF47-97D9-ADC952235AFA}"/>
                  </a:ext>
                </a:extLst>
              </p:cNvPr>
              <p:cNvSpPr/>
              <p:nvPr/>
            </p:nvSpPr>
            <p:spPr>
              <a:xfrm>
                <a:off x="5490519" y="111691"/>
                <a:ext cx="5424616" cy="506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1B14554-851F-DF47-97D9-ADC952235A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519" y="111691"/>
                <a:ext cx="5424616" cy="506870"/>
              </a:xfrm>
              <a:prstGeom prst="rect">
                <a:avLst/>
              </a:prstGeom>
              <a:blipFill>
                <a:blip r:embed="rId4"/>
                <a:stretch>
                  <a:fillRect b="-6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>
            <a:extLst>
              <a:ext uri="{FF2B5EF4-FFF2-40B4-BE49-F238E27FC236}">
                <a16:creationId xmlns:a16="http://schemas.microsoft.com/office/drawing/2014/main" id="{DE629966-4AAF-6A4F-B29D-C63E6BBA5ADD}"/>
              </a:ext>
            </a:extLst>
          </p:cNvPr>
          <p:cNvSpPr/>
          <p:nvPr/>
        </p:nvSpPr>
        <p:spPr>
          <a:xfrm>
            <a:off x="5453452" y="1810485"/>
            <a:ext cx="1235675" cy="611436"/>
          </a:xfrm>
          <a:custGeom>
            <a:avLst/>
            <a:gdLst>
              <a:gd name="connsiteX0" fmla="*/ 0 w 952759"/>
              <a:gd name="connsiteY0" fmla="*/ 2901 h 583669"/>
              <a:gd name="connsiteX1" fmla="*/ 580768 w 952759"/>
              <a:gd name="connsiteY1" fmla="*/ 52328 h 583669"/>
              <a:gd name="connsiteX2" fmla="*/ 951470 w 952759"/>
              <a:gd name="connsiteY2" fmla="*/ 361247 h 583669"/>
              <a:gd name="connsiteX3" fmla="*/ 679622 w 952759"/>
              <a:gd name="connsiteY3" fmla="*/ 583669 h 58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759" h="583669">
                <a:moveTo>
                  <a:pt x="0" y="2901"/>
                </a:moveTo>
                <a:cubicBezTo>
                  <a:pt x="211095" y="-2248"/>
                  <a:pt x="422190" y="-7396"/>
                  <a:pt x="580768" y="52328"/>
                </a:cubicBezTo>
                <a:cubicBezTo>
                  <a:pt x="739346" y="112052"/>
                  <a:pt x="934994" y="272690"/>
                  <a:pt x="951470" y="361247"/>
                </a:cubicBezTo>
                <a:cubicBezTo>
                  <a:pt x="967946" y="449804"/>
                  <a:pt x="823784" y="516736"/>
                  <a:pt x="679622" y="583669"/>
                </a:cubicBezTo>
              </a:path>
            </a:pathLst>
          </a:custGeom>
          <a:noFill/>
          <a:ln>
            <a:solidFill>
              <a:srgbClr val="009AB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C217F9-CA84-864E-98A8-3DCF79991107}"/>
                  </a:ext>
                </a:extLst>
              </p:cNvPr>
              <p:cNvSpPr txBox="1"/>
              <p:nvPr/>
            </p:nvSpPr>
            <p:spPr>
              <a:xfrm>
                <a:off x="6689126" y="1809477"/>
                <a:ext cx="1433384" cy="783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9AB4"/>
                    </a:solidFill>
                  </a:rPr>
                  <a:t>Expand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9AB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>
                  <a:solidFill>
                    <a:srgbClr val="009AB4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C217F9-CA84-864E-98A8-3DCF79991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126" y="1809477"/>
                <a:ext cx="1433384" cy="783869"/>
              </a:xfrm>
              <a:prstGeom prst="rect">
                <a:avLst/>
              </a:prstGeom>
              <a:blipFill>
                <a:blip r:embed="rId5"/>
                <a:stretch>
                  <a:fillRect l="-3404" t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6">
            <a:extLst>
              <a:ext uri="{FF2B5EF4-FFF2-40B4-BE49-F238E27FC236}">
                <a16:creationId xmlns:a16="http://schemas.microsoft.com/office/drawing/2014/main" id="{54236AA8-E79B-5A40-925F-CF99F2B637C9}"/>
              </a:ext>
            </a:extLst>
          </p:cNvPr>
          <p:cNvSpPr/>
          <p:nvPr/>
        </p:nvSpPr>
        <p:spPr>
          <a:xfrm>
            <a:off x="5737658" y="3090207"/>
            <a:ext cx="1190661" cy="611436"/>
          </a:xfrm>
          <a:custGeom>
            <a:avLst/>
            <a:gdLst>
              <a:gd name="connsiteX0" fmla="*/ 0 w 952759"/>
              <a:gd name="connsiteY0" fmla="*/ 2901 h 583669"/>
              <a:gd name="connsiteX1" fmla="*/ 580768 w 952759"/>
              <a:gd name="connsiteY1" fmla="*/ 52328 h 583669"/>
              <a:gd name="connsiteX2" fmla="*/ 951470 w 952759"/>
              <a:gd name="connsiteY2" fmla="*/ 361247 h 583669"/>
              <a:gd name="connsiteX3" fmla="*/ 679622 w 952759"/>
              <a:gd name="connsiteY3" fmla="*/ 583669 h 58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759" h="583669">
                <a:moveTo>
                  <a:pt x="0" y="2901"/>
                </a:moveTo>
                <a:cubicBezTo>
                  <a:pt x="211095" y="-2248"/>
                  <a:pt x="422190" y="-7396"/>
                  <a:pt x="580768" y="52328"/>
                </a:cubicBezTo>
                <a:cubicBezTo>
                  <a:pt x="739346" y="112052"/>
                  <a:pt x="934994" y="272690"/>
                  <a:pt x="951470" y="361247"/>
                </a:cubicBezTo>
                <a:cubicBezTo>
                  <a:pt x="967946" y="449804"/>
                  <a:pt x="823784" y="516736"/>
                  <a:pt x="679622" y="583669"/>
                </a:cubicBezTo>
              </a:path>
            </a:pathLst>
          </a:custGeom>
          <a:noFill/>
          <a:ln>
            <a:solidFill>
              <a:srgbClr val="009AB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CCD9BA-B4DB-6B47-B8A9-DF68FBFB1AAD}"/>
                  </a:ext>
                </a:extLst>
              </p:cNvPr>
              <p:cNvSpPr txBox="1"/>
              <p:nvPr/>
            </p:nvSpPr>
            <p:spPr>
              <a:xfrm>
                <a:off x="6911747" y="3173584"/>
                <a:ext cx="1433384" cy="783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9AB4"/>
                    </a:solidFill>
                  </a:rPr>
                  <a:t>Expand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9AB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009AB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9AB4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US" dirty="0">
                  <a:solidFill>
                    <a:srgbClr val="009AB4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CCD9BA-B4DB-6B47-B8A9-DF68FBFB1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747" y="3173584"/>
                <a:ext cx="1433384" cy="783869"/>
              </a:xfrm>
              <a:prstGeom prst="rect">
                <a:avLst/>
              </a:prstGeom>
              <a:blipFill>
                <a:blip r:embed="rId6"/>
                <a:stretch>
                  <a:fillRect l="-3830" t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>
            <a:extLst>
              <a:ext uri="{FF2B5EF4-FFF2-40B4-BE49-F238E27FC236}">
                <a16:creationId xmlns:a16="http://schemas.microsoft.com/office/drawing/2014/main" id="{363D870C-438C-D940-8280-F8508770F96F}"/>
              </a:ext>
            </a:extLst>
          </p:cNvPr>
          <p:cNvSpPr/>
          <p:nvPr/>
        </p:nvSpPr>
        <p:spPr>
          <a:xfrm>
            <a:off x="5774727" y="2496061"/>
            <a:ext cx="984620" cy="494271"/>
          </a:xfrm>
          <a:custGeom>
            <a:avLst/>
            <a:gdLst>
              <a:gd name="connsiteX0" fmla="*/ 926757 w 1261341"/>
              <a:gd name="connsiteY0" fmla="*/ 0 h 494271"/>
              <a:gd name="connsiteX1" fmla="*/ 1260389 w 1261341"/>
              <a:gd name="connsiteY1" fmla="*/ 98854 h 494271"/>
              <a:gd name="connsiteX2" fmla="*/ 988541 w 1261341"/>
              <a:gd name="connsiteY2" fmla="*/ 321276 h 494271"/>
              <a:gd name="connsiteX3" fmla="*/ 0 w 1261341"/>
              <a:gd name="connsiteY3" fmla="*/ 494271 h 494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1341" h="494271">
                <a:moveTo>
                  <a:pt x="926757" y="0"/>
                </a:moveTo>
                <a:cubicBezTo>
                  <a:pt x="1088424" y="22654"/>
                  <a:pt x="1250092" y="45308"/>
                  <a:pt x="1260389" y="98854"/>
                </a:cubicBezTo>
                <a:cubicBezTo>
                  <a:pt x="1270686" y="152400"/>
                  <a:pt x="1198606" y="255373"/>
                  <a:pt x="988541" y="321276"/>
                </a:cubicBezTo>
                <a:cubicBezTo>
                  <a:pt x="778476" y="387179"/>
                  <a:pt x="389238" y="440725"/>
                  <a:pt x="0" y="494271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C8A09-8936-5E4A-9AC2-117CE41D9A18}"/>
              </a:ext>
            </a:extLst>
          </p:cNvPr>
          <p:cNvSpPr txBox="1"/>
          <p:nvPr/>
        </p:nvSpPr>
        <p:spPr>
          <a:xfrm>
            <a:off x="6689126" y="2594183"/>
            <a:ext cx="143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Simplify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BD2AA5E-E3A3-8C42-A01D-F6954C0CA119}"/>
              </a:ext>
            </a:extLst>
          </p:cNvPr>
          <p:cNvSpPr/>
          <p:nvPr/>
        </p:nvSpPr>
        <p:spPr>
          <a:xfrm>
            <a:off x="5927127" y="3851922"/>
            <a:ext cx="984620" cy="494271"/>
          </a:xfrm>
          <a:custGeom>
            <a:avLst/>
            <a:gdLst>
              <a:gd name="connsiteX0" fmla="*/ 926757 w 1261341"/>
              <a:gd name="connsiteY0" fmla="*/ 0 h 494271"/>
              <a:gd name="connsiteX1" fmla="*/ 1260389 w 1261341"/>
              <a:gd name="connsiteY1" fmla="*/ 98854 h 494271"/>
              <a:gd name="connsiteX2" fmla="*/ 988541 w 1261341"/>
              <a:gd name="connsiteY2" fmla="*/ 321276 h 494271"/>
              <a:gd name="connsiteX3" fmla="*/ 0 w 1261341"/>
              <a:gd name="connsiteY3" fmla="*/ 494271 h 494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1341" h="494271">
                <a:moveTo>
                  <a:pt x="926757" y="0"/>
                </a:moveTo>
                <a:cubicBezTo>
                  <a:pt x="1088424" y="22654"/>
                  <a:pt x="1250092" y="45308"/>
                  <a:pt x="1260389" y="98854"/>
                </a:cubicBezTo>
                <a:cubicBezTo>
                  <a:pt x="1270686" y="152400"/>
                  <a:pt x="1198606" y="255373"/>
                  <a:pt x="988541" y="321276"/>
                </a:cubicBezTo>
                <a:cubicBezTo>
                  <a:pt x="778476" y="387179"/>
                  <a:pt x="389238" y="440725"/>
                  <a:pt x="0" y="494271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DDEF5-4FE4-5448-AE05-792CA58428B1}"/>
              </a:ext>
            </a:extLst>
          </p:cNvPr>
          <p:cNvSpPr txBox="1"/>
          <p:nvPr/>
        </p:nvSpPr>
        <p:spPr>
          <a:xfrm>
            <a:off x="6836834" y="4020271"/>
            <a:ext cx="143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Simplify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EADD85-03DE-4844-B53D-DC042FEF3EEC}"/>
                  </a:ext>
                </a:extLst>
              </p:cNvPr>
              <p:cNvSpPr txBox="1"/>
              <p:nvPr/>
            </p:nvSpPr>
            <p:spPr>
              <a:xfrm>
                <a:off x="2152648" y="5236434"/>
                <a:ext cx="7798660" cy="1753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Guessing the pattern: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/>
                  <a:t>Plug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 get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func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9EADD85-03DE-4844-B53D-DC042FEF3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8" y="5236434"/>
                <a:ext cx="7798660" cy="1753044"/>
              </a:xfrm>
              <a:prstGeom prst="rect">
                <a:avLst/>
              </a:prstGeom>
              <a:blipFill>
                <a:blip r:embed="rId7"/>
                <a:stretch>
                  <a:fillRect l="-1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88BDF9BD-1688-B744-8218-1EA00404405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7256" y="4300422"/>
            <a:ext cx="1344440" cy="15915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EF2EDD7-3298-FA43-AEA2-12720ECCF118}"/>
              </a:ext>
            </a:extLst>
          </p:cNvPr>
          <p:cNvSpPr txBox="1"/>
          <p:nvPr/>
        </p:nvSpPr>
        <p:spPr>
          <a:xfrm>
            <a:off x="8561846" y="1161101"/>
            <a:ext cx="20352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You can guess the answer however you want: meta-reasoning, a little bird told you, wishful thinking, etc.  One useful way is to try to “unroll” the recursion, like we’re doing here.</a:t>
            </a:r>
          </a:p>
        </p:txBody>
      </p:sp>
    </p:spTree>
    <p:extLst>
      <p:ext uri="{BB962C8B-B14F-4D97-AF65-F5344CB8AC3E}">
        <p14:creationId xmlns:p14="http://schemas.microsoft.com/office/powerpoint/2010/main" val="407949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build="p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BA33D-A799-FEA5-D735-616CB702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2: Prove the guess is correct.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CA3303-C1C8-2358-9CED-FCD97F8C4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504305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Inductive Hypothesis: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Base Case (n=1):</a:t>
                </a:r>
                <a:r>
                  <a:rPr lang="en-US" altLang="zh-CN" dirty="0">
                    <a:solidFill>
                      <a:schemeClr val="accent4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1=1⋅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Inductive Step:</a:t>
                </a:r>
              </a:p>
              <a:p>
                <a:pPr lvl="1"/>
                <a:r>
                  <a:rPr lang="en-US" altLang="zh-CN" dirty="0"/>
                  <a:t>Assume Inductive </a:t>
                </a:r>
                <a:r>
                  <a:rPr lang="en-US" altLang="zh-CN" dirty="0" err="1"/>
                  <a:t>Hyp</a:t>
                </a:r>
                <a:r>
                  <a:rPr lang="en-US" altLang="zh-CN" dirty="0"/>
                  <a:t>. for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 lvl="2"/>
                <a:r>
                  <a:rPr lang="en-US" altLang="zh-CN" sz="2400" dirty="0"/>
                  <a:t>Suppose that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CN" sz="2400" dirty="0"/>
                  <a:t> for all 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sz="2600" dirty="0"/>
                  <a:t>Prove Inductive </a:t>
                </a:r>
                <a:r>
                  <a:rPr lang="en-US" altLang="zh-CN" sz="2600" dirty="0" err="1"/>
                  <a:t>Hyp</a:t>
                </a:r>
                <a:r>
                  <a:rPr lang="en-US" altLang="zh-CN" sz="2600" dirty="0"/>
                  <a:t>. for 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600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  by definition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num>
                                      <m:den>
                                        <m:r>
                                          <a:rPr lang="en-US" altLang="zh-CN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/>
                  <a:t>by induction.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func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/>
                  <a:t>by simplifying.</a:t>
                </a:r>
              </a:p>
              <a:p>
                <a:pPr lvl="2"/>
                <a:r>
                  <a:rPr lang="en-US" altLang="zh-CN" dirty="0"/>
                  <a:t>So Inductive </a:t>
                </a:r>
                <a:r>
                  <a:rPr lang="en-US" altLang="zh-CN" dirty="0" err="1"/>
                  <a:t>Hyp</a:t>
                </a:r>
                <a:r>
                  <a:rPr lang="en-US" altLang="zh-CN" dirty="0"/>
                  <a:t>. holds for n=k.</a:t>
                </a:r>
              </a:p>
              <a:p>
                <a:r>
                  <a:rPr lang="en-US" altLang="zh-CN" dirty="0"/>
                  <a:t>Conclusion: For all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≥1,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CA3303-C1C8-2358-9CED-FCD97F8C4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5043055"/>
              </a:xfrm>
              <a:blipFill>
                <a:blip r:embed="rId3"/>
                <a:stretch>
                  <a:fillRect l="-1043" t="-2053" b="-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8568106-F09C-6AF4-D2DD-BE7DC4871320}"/>
                  </a:ext>
                </a:extLst>
              </p:cNvPr>
              <p:cNvSpPr/>
              <p:nvPr/>
            </p:nvSpPr>
            <p:spPr>
              <a:xfrm>
                <a:off x="5490519" y="111691"/>
                <a:ext cx="5424616" cy="506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58568106-F09C-6AF4-D2DD-BE7DC48713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519" y="111691"/>
                <a:ext cx="5424616" cy="506870"/>
              </a:xfrm>
              <a:prstGeom prst="rect">
                <a:avLst/>
              </a:prstGeom>
              <a:blipFill>
                <a:blip r:embed="rId4"/>
                <a:stretch>
                  <a:fillRect b="-60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思想气泡: 云 6">
                <a:extLst>
                  <a:ext uri="{FF2B5EF4-FFF2-40B4-BE49-F238E27FC236}">
                    <a16:creationId xmlns:a16="http://schemas.microsoft.com/office/drawing/2014/main" id="{CB0764BD-E15E-758C-F0BD-59A76E3D1D04}"/>
                  </a:ext>
                </a:extLst>
              </p:cNvPr>
              <p:cNvSpPr/>
              <p:nvPr/>
            </p:nvSpPr>
            <p:spPr>
              <a:xfrm>
                <a:off x="8634549" y="7491"/>
                <a:ext cx="3762102" cy="2592018"/>
              </a:xfrm>
              <a:prstGeom prst="cloudCallout">
                <a:avLst>
                  <a:gd name="adj1" fmla="val -63378"/>
                  <a:gd name="adj2" fmla="val 1978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/>
                  <a:t>IMPORTANT NOTE</a:t>
                </a:r>
              </a:p>
              <a:p>
                <a:r>
                  <a:rPr lang="en-US" altLang="zh-CN" dirty="0"/>
                  <a:t>Don’t try to write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as the Inductive </a:t>
                </a:r>
                <a:r>
                  <a:rPr lang="en-US" altLang="zh-CN" dirty="0" err="1"/>
                  <a:t>Hyp</a:t>
                </a:r>
                <a:r>
                  <a:rPr lang="en-US" altLang="zh-CN" dirty="0"/>
                  <a:t>. You should fix the constant.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思想气泡: 云 6">
                <a:extLst>
                  <a:ext uri="{FF2B5EF4-FFF2-40B4-BE49-F238E27FC236}">
                    <a16:creationId xmlns:a16="http://schemas.microsoft.com/office/drawing/2014/main" id="{CB0764BD-E15E-758C-F0BD-59A76E3D1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549" y="7491"/>
                <a:ext cx="3762102" cy="2592018"/>
              </a:xfrm>
              <a:prstGeom prst="cloudCallout">
                <a:avLst>
                  <a:gd name="adj1" fmla="val -63378"/>
                  <a:gd name="adj2" fmla="val 1978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69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C03D5-6228-73EB-9408-479CDFC9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3: Profit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8247AC-F434-F98E-5A21-985004EEBB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Pretend like you never did Step 1, and just write down:</a:t>
                </a:r>
              </a:p>
              <a:p>
                <a:endParaRPr lang="en-US" altLang="zh-CN" dirty="0"/>
              </a:p>
              <a:p>
                <a:r>
                  <a:rPr lang="en-US" altLang="zh-CN" dirty="0">
                    <a:solidFill>
                      <a:schemeClr val="tx1"/>
                    </a:solidFill>
                    <a:latin typeface="Segoe Print" panose="02000800000000000000" pitchFamily="2" charset="0"/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  <a:latin typeface="Segoe Print" panose="02000800000000000000" pitchFamily="2" charset="0"/>
                </a:endParaRPr>
              </a:p>
              <a:p>
                <a:r>
                  <a:rPr lang="en-US" altLang="zh-CN" dirty="0">
                    <a:solidFill>
                      <a:schemeClr val="tx1"/>
                    </a:solidFill>
                    <a:latin typeface="Segoe Print" panose="02000800000000000000" pitchFamily="2" charset="0"/>
                  </a:rPr>
                  <a:t>Proof: [Whatever you wrote in Step 2]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8247AC-F434-F98E-5A21-985004EEBB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946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CEF1-7A01-F506-C827-A647F107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8A414FC-EBC1-3D63-74B7-F5A7FB93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Linear-time Selection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3078AB-CD64-8E0E-63EA-8E6AC87D7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56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60EFC-6E18-293F-4943-BF81D06D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831A6-A8BB-47A8-09E6-FB3533722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k-SELECT problem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2E7708-6BFE-FA62-D71F-EA37EEC1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02402E-EC92-B866-07A6-0E359A3D0BBA}"/>
              </a:ext>
            </a:extLst>
          </p:cNvPr>
          <p:cNvSpPr>
            <a:spLocks noGrp="1"/>
          </p:cNvSpPr>
          <p:nvPr/>
        </p:nvSpPr>
        <p:spPr>
          <a:xfrm>
            <a:off x="2152650" y="1462088"/>
            <a:ext cx="7886700" cy="1190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9AB4"/>
                </a:solidFill>
              </a:rPr>
              <a:t>SELECT</a:t>
            </a:r>
            <a:r>
              <a:rPr lang="en-US" dirty="0"/>
              <a:t>(A, k):</a:t>
            </a:r>
          </a:p>
          <a:p>
            <a:pPr lvl="1"/>
            <a:r>
              <a:rPr lang="en-US" dirty="0"/>
              <a:t>Return the k-</a:t>
            </a:r>
            <a:r>
              <a:rPr lang="en-US" dirty="0" err="1"/>
              <a:t>th</a:t>
            </a:r>
            <a:r>
              <a:rPr lang="en-US" dirty="0"/>
              <a:t> smallest element of A.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C38B6342-AA64-8EF6-31AB-D39E94077BBE}"/>
              </a:ext>
            </a:extLst>
          </p:cNvPr>
          <p:cNvGrpSpPr/>
          <p:nvPr/>
        </p:nvGrpSpPr>
        <p:grpSpPr>
          <a:xfrm>
            <a:off x="3070324" y="3178216"/>
            <a:ext cx="5766649" cy="705201"/>
            <a:chOff x="1573619" y="3296093"/>
            <a:chExt cx="5766649" cy="705201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DC6314F3-AD26-1FE2-E105-414F06694E4E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A348A23E-4EEA-EBC4-470C-77AE29BE5AF1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CA0DACEB-7B24-0CA2-002B-1F6703F33D67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3C7F2DA8-15E3-1743-1B08-ABAFAAEFED2A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9585667C-DB07-D10A-DFC7-3F3176182A69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2DD31B1D-D84F-A353-E274-46762BF50D8B}"/>
                </a:ext>
              </a:extLst>
            </p:cNvPr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4096E1B2-41F7-6A5C-B5D2-BF26A0AD136C}"/>
                </a:ext>
              </a:extLst>
            </p:cNvPr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9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884F43A6-213B-5192-A74C-23B13BC22FD8}"/>
                </a:ext>
              </a:extLst>
            </p:cNvPr>
            <p:cNvSpPr/>
            <p:nvPr/>
          </p:nvSpPr>
          <p:spPr>
            <a:xfrm>
              <a:off x="6635067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13">
            <a:extLst>
              <a:ext uri="{FF2B5EF4-FFF2-40B4-BE49-F238E27FC236}">
                <a16:creationId xmlns:a16="http://schemas.microsoft.com/office/drawing/2014/main" id="{2DEF9160-5B1A-E0F8-C8C4-30D576C8E910}"/>
              </a:ext>
            </a:extLst>
          </p:cNvPr>
          <p:cNvSpPr txBox="1"/>
          <p:nvPr/>
        </p:nvSpPr>
        <p:spPr>
          <a:xfrm>
            <a:off x="5235363" y="4401806"/>
            <a:ext cx="42528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SELECT</a:t>
            </a:r>
            <a:r>
              <a:rPr lang="en-US" sz="2400" dirty="0"/>
              <a:t>(A, 1) = MIN(A)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SELECT</a:t>
            </a:r>
            <a:r>
              <a:rPr lang="en-US" sz="2400" dirty="0"/>
              <a:t>(A, n/2) = MEDIAN(A)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SELECT</a:t>
            </a:r>
            <a:r>
              <a:rPr lang="en-US" sz="2400" dirty="0"/>
              <a:t>(A, n) = MAX(A)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DA0758F9-6825-CFD9-7140-6A0212658450}"/>
              </a:ext>
            </a:extLst>
          </p:cNvPr>
          <p:cNvSpPr txBox="1"/>
          <p:nvPr/>
        </p:nvSpPr>
        <p:spPr>
          <a:xfrm>
            <a:off x="2440676" y="4401806"/>
            <a:ext cx="3316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SELECT</a:t>
            </a:r>
            <a:r>
              <a:rPr lang="en-US" sz="2400" dirty="0"/>
              <a:t>(A, 1) = 1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SELECT</a:t>
            </a:r>
            <a:r>
              <a:rPr lang="en-US" sz="2400" dirty="0"/>
              <a:t>(A, 2) = 3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SELECT</a:t>
            </a:r>
            <a:r>
              <a:rPr lang="en-US" sz="2400" dirty="0"/>
              <a:t>(A, 3) = 4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SELECT</a:t>
            </a:r>
            <a:r>
              <a:rPr lang="en-US" sz="2400" dirty="0"/>
              <a:t>(A, 8) = 14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8AF89332-217E-3903-4854-78A227349966}"/>
              </a:ext>
            </a:extLst>
          </p:cNvPr>
          <p:cNvSpPr txBox="1"/>
          <p:nvPr/>
        </p:nvSpPr>
        <p:spPr>
          <a:xfrm>
            <a:off x="1585357" y="6120523"/>
            <a:ext cx="5134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9AB4"/>
                </a:solidFill>
              </a:rPr>
              <a:t>Note that the definition of Select is 1-indexed</a:t>
            </a:r>
            <a:r>
              <a:rPr lang="mr-IN" dirty="0">
                <a:solidFill>
                  <a:srgbClr val="009AB4"/>
                </a:solidFill>
              </a:rPr>
              <a:t>…</a:t>
            </a:r>
            <a:endParaRPr lang="en-US" dirty="0">
              <a:solidFill>
                <a:srgbClr val="009A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34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69D45-8C73-69EE-79A6-F6B33F11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Goal: An O(n)-time algorithm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AC73C3-FFB7-E423-C322-039FD743DA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dirty="0"/>
                  <a:t>Trivial algorithm:</a:t>
                </a:r>
              </a:p>
              <a:p>
                <a:pPr lvl="1"/>
                <a:r>
                  <a:rPr lang="en-US" altLang="zh-CN" dirty="0"/>
                  <a:t>Sort and Select</a:t>
                </a:r>
              </a:p>
              <a:p>
                <a:pPr lvl="1"/>
                <a:r>
                  <a:rPr lang="en-US" altLang="zh-CN" dirty="0"/>
                  <a:t>Time: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It turns out that we can do better!</a:t>
                </a:r>
              </a:p>
              <a:p>
                <a:pPr lvl="1"/>
                <a:r>
                  <a:rPr lang="en-US" altLang="zh-CN" dirty="0"/>
                  <a:t>In worst-case time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AC73C3-FFB7-E423-C322-039FD743D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6460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BB5A7-32B5-3786-73D2-CBB1A2F7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Idea: divide and conquer!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5D4D01-39D5-0673-2434-AF3580593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3413"/>
            <a:ext cx="10515600" cy="45975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8D1FDF2-D17F-78AB-D276-85355FA0D315}"/>
              </a:ext>
            </a:extLst>
          </p:cNvPr>
          <p:cNvSpPr/>
          <p:nvPr/>
        </p:nvSpPr>
        <p:spPr>
          <a:xfrm>
            <a:off x="7377585" y="2460732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7E1FC0D-6489-2BC0-55E0-55AFF8E25618}"/>
              </a:ext>
            </a:extLst>
          </p:cNvPr>
          <p:cNvSpPr/>
          <p:nvPr/>
        </p:nvSpPr>
        <p:spPr>
          <a:xfrm>
            <a:off x="8112408" y="2460732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5D94F69-6C60-8355-25AC-D52AF674B8A5}"/>
              </a:ext>
            </a:extLst>
          </p:cNvPr>
          <p:cNvSpPr/>
          <p:nvPr/>
        </p:nvSpPr>
        <p:spPr>
          <a:xfrm>
            <a:off x="2178901" y="2460730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92A35D3-3ED2-DE0F-9719-D6CDC9EE10C1}"/>
              </a:ext>
            </a:extLst>
          </p:cNvPr>
          <p:cNvSpPr/>
          <p:nvPr/>
        </p:nvSpPr>
        <p:spPr>
          <a:xfrm>
            <a:off x="5634336" y="1457002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771A7D1F-828A-4920-F6D3-496E9B767718}"/>
              </a:ext>
            </a:extLst>
          </p:cNvPr>
          <p:cNvSpPr/>
          <p:nvPr/>
        </p:nvSpPr>
        <p:spPr>
          <a:xfrm>
            <a:off x="2884102" y="2460731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880F90C5-9051-66AF-943E-AFF7020E3579}"/>
              </a:ext>
            </a:extLst>
          </p:cNvPr>
          <p:cNvSpPr/>
          <p:nvPr/>
        </p:nvSpPr>
        <p:spPr>
          <a:xfrm>
            <a:off x="3594888" y="245865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BD72EFB0-A52B-BE2A-1E25-8CF397CF4FDE}"/>
              </a:ext>
            </a:extLst>
          </p:cNvPr>
          <p:cNvSpPr/>
          <p:nvPr/>
        </p:nvSpPr>
        <p:spPr>
          <a:xfrm>
            <a:off x="4327865" y="2458653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riangle 18">
            <a:extLst>
              <a:ext uri="{FF2B5EF4-FFF2-40B4-BE49-F238E27FC236}">
                <a16:creationId xmlns:a16="http://schemas.microsoft.com/office/drawing/2014/main" id="{DD35FEB0-B80C-A91A-51BD-C4426CCBFDA7}"/>
              </a:ext>
            </a:extLst>
          </p:cNvPr>
          <p:cNvSpPr/>
          <p:nvPr/>
        </p:nvSpPr>
        <p:spPr>
          <a:xfrm>
            <a:off x="5773820" y="2197103"/>
            <a:ext cx="403898" cy="26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EDBC6295-1A09-29E3-A480-C12E6D42D339}"/>
              </a:ext>
            </a:extLst>
          </p:cNvPr>
          <p:cNvSpPr txBox="1"/>
          <p:nvPr/>
        </p:nvSpPr>
        <p:spPr>
          <a:xfrm>
            <a:off x="5634336" y="2458653"/>
            <a:ext cx="91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pivot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103F3102-A3DA-F315-DDAA-7BDCC433D7DE}"/>
              </a:ext>
            </a:extLst>
          </p:cNvPr>
          <p:cNvSpPr txBox="1"/>
          <p:nvPr/>
        </p:nvSpPr>
        <p:spPr>
          <a:xfrm>
            <a:off x="2565065" y="3163854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F5BA6261-1A55-3EF5-4116-8AA3A133D778}"/>
              </a:ext>
            </a:extLst>
          </p:cNvPr>
          <p:cNvSpPr txBox="1"/>
          <p:nvPr/>
        </p:nvSpPr>
        <p:spPr>
          <a:xfrm>
            <a:off x="7022742" y="3163853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p:sp>
        <p:nvSpPr>
          <p:cNvPr id="15" name="TextBox 23">
            <a:extLst>
              <a:ext uri="{FF2B5EF4-FFF2-40B4-BE49-F238E27FC236}">
                <a16:creationId xmlns:a16="http://schemas.microsoft.com/office/drawing/2014/main" id="{C1C6E065-3D0C-3926-5E1E-978F33C8275C}"/>
              </a:ext>
            </a:extLst>
          </p:cNvPr>
          <p:cNvSpPr txBox="1"/>
          <p:nvPr/>
        </p:nvSpPr>
        <p:spPr>
          <a:xfrm>
            <a:off x="1988143" y="4090413"/>
            <a:ext cx="67419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If k = 5 = </a:t>
            </a:r>
            <a:r>
              <a:rPr lang="en-US" sz="2400" dirty="0" err="1">
                <a:solidFill>
                  <a:srgbClr val="009AB4"/>
                </a:solidFill>
              </a:rPr>
              <a:t>len</a:t>
            </a:r>
            <a:r>
              <a:rPr lang="en-US" sz="2400" dirty="0">
                <a:solidFill>
                  <a:srgbClr val="009AB4"/>
                </a:solidFill>
              </a:rPr>
              <a:t>(L) + 1: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rgbClr val="009AB4"/>
                </a:solidFill>
              </a:rPr>
              <a:t>A[pivot]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If k &lt; 5: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rgbClr val="009AB4"/>
                </a:solidFill>
              </a:rPr>
              <a:t>SELECT(L, k)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>
                <a:solidFill>
                  <a:srgbClr val="009AB4"/>
                </a:solidFill>
              </a:rPr>
              <a:t>If k &gt; 5: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We should return </a:t>
            </a:r>
            <a:r>
              <a:rPr lang="en-US" sz="2400" dirty="0">
                <a:solidFill>
                  <a:srgbClr val="009AB4"/>
                </a:solidFill>
              </a:rPr>
              <a:t>SELECT(R, k </a:t>
            </a:r>
            <a:r>
              <a:rPr lang="mr-IN" sz="2400" dirty="0">
                <a:solidFill>
                  <a:srgbClr val="009AB4"/>
                </a:solidFill>
              </a:rPr>
              <a:t>–</a:t>
            </a:r>
            <a:r>
              <a:rPr lang="en-US" sz="2400" dirty="0">
                <a:solidFill>
                  <a:srgbClr val="009AB4"/>
                </a:solidFill>
              </a:rPr>
              <a:t> 5)</a:t>
            </a:r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A1112E9F-C4D6-3C40-D30E-52A88383FA93}"/>
              </a:ext>
            </a:extLst>
          </p:cNvPr>
          <p:cNvSpPr txBox="1"/>
          <p:nvPr/>
        </p:nvSpPr>
        <p:spPr>
          <a:xfrm>
            <a:off x="7501838" y="4758965"/>
            <a:ext cx="27020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dirty="0">
                <a:solidFill>
                  <a:srgbClr val="FF0000"/>
                </a:solidFill>
              </a:rPr>
              <a:t>This suggests a recursive algorithm</a:t>
            </a:r>
          </a:p>
          <a:p>
            <a:pPr algn="r"/>
            <a:endParaRPr lang="en-US" dirty="0">
              <a:solidFill>
                <a:srgbClr val="FF0000"/>
              </a:solidFill>
            </a:endParaRPr>
          </a:p>
          <a:p>
            <a:pPr algn="r"/>
            <a:r>
              <a:rPr lang="en-US" dirty="0">
                <a:solidFill>
                  <a:srgbClr val="FF0000"/>
                </a:solidFill>
              </a:rPr>
              <a:t>(still need to figure out how to pick the pivot</a:t>
            </a:r>
            <a:r>
              <a:rPr lang="mr-IN" dirty="0">
                <a:solidFill>
                  <a:srgbClr val="FF0000"/>
                </a:solidFill>
              </a:rPr>
              <a:t>…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09210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090F7-DAA1-F608-9DA6-6B1619C3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ideal pivot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12905D-33EC-F2D9-D8BC-4AE1EE353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5"/>
            <a:ext cx="6231998" cy="5010398"/>
          </a:xfrm>
        </p:spPr>
        <p:txBody>
          <a:bodyPr/>
          <a:lstStyle/>
          <a:p>
            <a:r>
              <a:rPr lang="en-US" altLang="zh-CN" dirty="0"/>
              <a:t>Imagine we split the input exactly in half:</a:t>
            </a:r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len</a:t>
            </a:r>
            <a:r>
              <a:rPr lang="en-US" altLang="zh-CN" dirty="0">
                <a:solidFill>
                  <a:srgbClr val="FF0000"/>
                </a:solidFill>
              </a:rPr>
              <a:t>(L) = </a:t>
            </a:r>
            <a:r>
              <a:rPr lang="en-US" altLang="zh-CN" dirty="0" err="1">
                <a:solidFill>
                  <a:srgbClr val="FF0000"/>
                </a:solidFill>
              </a:rPr>
              <a:t>len</a:t>
            </a:r>
            <a:r>
              <a:rPr lang="en-US" altLang="zh-CN" dirty="0">
                <a:solidFill>
                  <a:srgbClr val="FF0000"/>
                </a:solidFill>
              </a:rPr>
              <a:t>(R) = (n-1)/2</a:t>
            </a:r>
          </a:p>
          <a:p>
            <a:endParaRPr lang="en-US" altLang="zh-CN" dirty="0"/>
          </a:p>
          <a:p>
            <a:r>
              <a:rPr lang="en-US" altLang="zh-CN" dirty="0"/>
              <a:t>Let’s pretend that’s the case and  </a:t>
            </a:r>
            <a:br>
              <a:rPr lang="en-US" altLang="zh-CN" dirty="0"/>
            </a:br>
            <a:r>
              <a:rPr lang="en-US" altLang="zh-CN" dirty="0"/>
              <a:t>use the </a:t>
            </a:r>
            <a:r>
              <a:rPr lang="en-US" altLang="zh-CN" b="1" dirty="0"/>
              <a:t>Master Theorem</a:t>
            </a:r>
            <a:r>
              <a:rPr lang="en-US" altLang="zh-CN" dirty="0"/>
              <a:t>!</a:t>
            </a: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1">
                <a:extLst>
                  <a:ext uri="{FF2B5EF4-FFF2-40B4-BE49-F238E27FC236}">
                    <a16:creationId xmlns:a16="http://schemas.microsoft.com/office/drawing/2014/main" id="{26EBB831-A857-4584-C5C5-FF598F6EB876}"/>
                  </a:ext>
                </a:extLst>
              </p:cNvPr>
              <p:cNvSpPr/>
              <p:nvPr/>
            </p:nvSpPr>
            <p:spPr>
              <a:xfrm>
                <a:off x="1264977" y="3946909"/>
                <a:ext cx="3983265" cy="2042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sz="2400" dirty="0">
                    <a:solidFill>
                      <a:srgbClr val="FF0000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1,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2,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11">
                <a:extLst>
                  <a:ext uri="{FF2B5EF4-FFF2-40B4-BE49-F238E27FC236}">
                    <a16:creationId xmlns:a16="http://schemas.microsoft.com/office/drawing/2014/main" id="{26EBB831-A857-4584-C5C5-FF598F6EB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977" y="3946909"/>
                <a:ext cx="3983265" cy="2042354"/>
              </a:xfrm>
              <a:prstGeom prst="rect">
                <a:avLst/>
              </a:prstGeom>
              <a:blipFill>
                <a:blip r:embed="rId3"/>
                <a:stretch>
                  <a:fillRect l="-2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>
            <a:extLst>
              <a:ext uri="{FF2B5EF4-FFF2-40B4-BE49-F238E27FC236}">
                <a16:creationId xmlns:a16="http://schemas.microsoft.com/office/drawing/2014/main" id="{B06922DE-1A0A-A3D3-F834-8C1CF6D28BA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44550" y="3459643"/>
            <a:ext cx="3519701" cy="301688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CDF263A-358F-84B9-5977-F91B0AAFC512}"/>
              </a:ext>
            </a:extLst>
          </p:cNvPr>
          <p:cNvSpPr txBox="1"/>
          <p:nvPr/>
        </p:nvSpPr>
        <p:spPr>
          <a:xfrm>
            <a:off x="9653902" y="3179258"/>
            <a:ext cx="24272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 bad guy who </a:t>
            </a:r>
            <a:r>
              <a:rPr lang="en-US" altLang="zh-CN" b="1" dirty="0">
                <a:solidFill>
                  <a:srgbClr val="CF6E6C"/>
                </a:solidFill>
              </a:rPr>
              <a:t>knows what pivots we will choose</a:t>
            </a:r>
            <a:r>
              <a:rPr lang="en-US" altLang="zh-CN" dirty="0"/>
              <a:t> gets to come up with A.  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87F92838-3703-0B42-84CA-2E4A25B1F152}"/>
              </a:ext>
            </a:extLst>
          </p:cNvPr>
          <p:cNvGrpSpPr/>
          <p:nvPr/>
        </p:nvGrpSpPr>
        <p:grpSpPr>
          <a:xfrm>
            <a:off x="6857151" y="1812951"/>
            <a:ext cx="5040183" cy="705201"/>
            <a:chOff x="1573619" y="3296093"/>
            <a:chExt cx="5040183" cy="705201"/>
          </a:xfrm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F7CA32D8-E706-9C48-85D7-5650B67E51C3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002313ED-4FC2-1D46-936E-1745A7C335E7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64D472C7-8798-3148-94EA-05940A60773D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51AA3773-F757-AE45-9120-F5664F1AEF0B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33FF1865-E3DB-854B-9A91-C2D4F2250F50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A691F643-EF98-034F-BA7B-CD40B2193B12}"/>
                </a:ext>
              </a:extLst>
            </p:cNvPr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89DE0A40-1914-434A-B15B-9E252F6F3781}"/>
                </a:ext>
              </a:extLst>
            </p:cNvPr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19">
            <a:extLst>
              <a:ext uri="{FF2B5EF4-FFF2-40B4-BE49-F238E27FC236}">
                <a16:creationId xmlns:a16="http://schemas.microsoft.com/office/drawing/2014/main" id="{FE05EFD4-FAFF-E34A-A65B-3AFA75298512}"/>
              </a:ext>
            </a:extLst>
          </p:cNvPr>
          <p:cNvGrpSpPr/>
          <p:nvPr/>
        </p:nvGrpSpPr>
        <p:grpSpPr>
          <a:xfrm>
            <a:off x="9022190" y="2602156"/>
            <a:ext cx="912159" cy="630882"/>
            <a:chOff x="3019384" y="4069582"/>
            <a:chExt cx="912159" cy="630882"/>
          </a:xfrm>
        </p:grpSpPr>
        <p:sp>
          <p:nvSpPr>
            <p:cNvPr id="13" name="Triangle 13">
              <a:extLst>
                <a:ext uri="{FF2B5EF4-FFF2-40B4-BE49-F238E27FC236}">
                  <a16:creationId xmlns:a16="http://schemas.microsoft.com/office/drawing/2014/main" id="{60C5AB0B-3E17-2F47-BF92-435B198BA753}"/>
                </a:ext>
              </a:extLst>
            </p:cNvPr>
            <p:cNvSpPr/>
            <p:nvPr/>
          </p:nvSpPr>
          <p:spPr>
            <a:xfrm>
              <a:off x="3158868" y="4069582"/>
              <a:ext cx="403898" cy="26155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F22B42F-965F-9040-85F8-64705AC27577}"/>
                </a:ext>
              </a:extLst>
            </p:cNvPr>
            <p:cNvSpPr txBox="1"/>
            <p:nvPr/>
          </p:nvSpPr>
          <p:spPr>
            <a:xfrm>
              <a:off x="3019384" y="4331132"/>
              <a:ext cx="912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accent3">
                      <a:lumMod val="75000"/>
                    </a:schemeClr>
                  </a:solidFill>
                </a:rPr>
                <a:t>pivot</a:t>
              </a:r>
            </a:p>
          </p:txBody>
        </p:sp>
      </p:grpSp>
      <p:sp>
        <p:nvSpPr>
          <p:cNvPr id="10" name="TextBox 18">
            <a:extLst>
              <a:ext uri="{FF2B5EF4-FFF2-40B4-BE49-F238E27FC236}">
                <a16:creationId xmlns:a16="http://schemas.microsoft.com/office/drawing/2014/main" id="{0DFDCD39-61B6-154A-A956-461E2CDB37FF}"/>
              </a:ext>
            </a:extLst>
          </p:cNvPr>
          <p:cNvSpPr txBox="1"/>
          <p:nvPr/>
        </p:nvSpPr>
        <p:spPr>
          <a:xfrm>
            <a:off x="9171862" y="1842385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1</a:t>
            </a:r>
            <a:endParaRPr lang="en-US" dirty="0"/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FD16EED5-298F-BB40-925E-25D7BBD42060}"/>
              </a:ext>
            </a:extLst>
          </p:cNvPr>
          <p:cNvSpPr txBox="1"/>
          <p:nvPr/>
        </p:nvSpPr>
        <p:spPr>
          <a:xfrm>
            <a:off x="7765482" y="1842385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2</a:t>
            </a:r>
            <a:endParaRPr lang="en-US" dirty="0"/>
          </a:p>
        </p:txBody>
      </p:sp>
      <p:sp>
        <p:nvSpPr>
          <p:cNvPr id="12" name="TextBox 21">
            <a:extLst>
              <a:ext uri="{FF2B5EF4-FFF2-40B4-BE49-F238E27FC236}">
                <a16:creationId xmlns:a16="http://schemas.microsoft.com/office/drawing/2014/main" id="{019E0268-F06A-D742-BF5F-C95B2F045AAA}"/>
              </a:ext>
            </a:extLst>
          </p:cNvPr>
          <p:cNvSpPr txBox="1"/>
          <p:nvPr/>
        </p:nvSpPr>
        <p:spPr>
          <a:xfrm>
            <a:off x="11342784" y="1842384"/>
            <a:ext cx="403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26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D7ABB-9332-0F1D-5676-B646CAA7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good enough pivot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19600-DD5A-7764-D882-2F1358D0F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Imagine we split the input not quite in half: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3n/10 &lt; </a:t>
            </a:r>
            <a:r>
              <a:rPr lang="en-US" altLang="zh-CN" dirty="0" err="1">
                <a:solidFill>
                  <a:srgbClr val="FF0000"/>
                </a:solidFill>
              </a:rPr>
              <a:t>len</a:t>
            </a:r>
            <a:r>
              <a:rPr lang="en-US" altLang="zh-CN" dirty="0">
                <a:solidFill>
                  <a:srgbClr val="FF0000"/>
                </a:solidFill>
              </a:rPr>
              <a:t>(L) &lt; 7n/10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3n/10 &lt; </a:t>
            </a:r>
            <a:r>
              <a:rPr lang="en-US" altLang="zh-CN" dirty="0" err="1">
                <a:solidFill>
                  <a:srgbClr val="FF0000"/>
                </a:solidFill>
              </a:rPr>
              <a:t>len</a:t>
            </a:r>
            <a:r>
              <a:rPr lang="en-US" altLang="zh-CN" dirty="0">
                <a:solidFill>
                  <a:srgbClr val="FF0000"/>
                </a:solidFill>
              </a:rPr>
              <a:t>(R) &lt; 7n/10</a:t>
            </a:r>
          </a:p>
          <a:p>
            <a:pPr lvl="1"/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dirty="0"/>
              <a:t>If we could do that (let’s say, in time O(n)), the </a:t>
            </a:r>
            <a:r>
              <a:rPr lang="en-US" altLang="zh-CN" b="1" dirty="0"/>
              <a:t>Master Theorem</a:t>
            </a:r>
            <a:r>
              <a:rPr lang="en-US" altLang="zh-CN" dirty="0"/>
              <a:t> would say:</a:t>
            </a: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2">
                <a:extLst>
                  <a:ext uri="{FF2B5EF4-FFF2-40B4-BE49-F238E27FC236}">
                    <a16:creationId xmlns:a16="http://schemas.microsoft.com/office/drawing/2014/main" id="{0B2D6C74-5136-9843-B17A-18D906009E89}"/>
                  </a:ext>
                </a:extLst>
              </p:cNvPr>
              <p:cNvSpPr/>
              <p:nvPr/>
            </p:nvSpPr>
            <p:spPr>
              <a:xfrm>
                <a:off x="1274535" y="4008023"/>
                <a:ext cx="5219398" cy="20423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en-US" sz="2400" dirty="0">
                    <a:solidFill>
                      <a:srgbClr val="FF0000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1,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10/7,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12">
                <a:extLst>
                  <a:ext uri="{FF2B5EF4-FFF2-40B4-BE49-F238E27FC236}">
                    <a16:creationId xmlns:a16="http://schemas.microsoft.com/office/drawing/2014/main" id="{0B2D6C74-5136-9843-B17A-18D906009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535" y="4008023"/>
                <a:ext cx="5219398" cy="2042354"/>
              </a:xfrm>
              <a:prstGeom prst="rect">
                <a:avLst/>
              </a:prstGeom>
              <a:blipFill>
                <a:blip r:embed="rId3"/>
                <a:stretch>
                  <a:fillRect l="-1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6494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8F2B1-97D0-D83D-9746-ED72525E9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Goal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2A41D-B5F2-4DFA-8A2A-C193EFC20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Efficiently pick the pivot so that</a:t>
            </a:r>
          </a:p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B32F3-1397-E153-FE2F-AC4D50685787}"/>
              </a:ext>
            </a:extLst>
          </p:cNvPr>
          <p:cNvSpPr/>
          <p:nvPr/>
        </p:nvSpPr>
        <p:spPr>
          <a:xfrm>
            <a:off x="7699152" y="343563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B1C52-62E6-AAC2-8A36-817FAC8725FE}"/>
              </a:ext>
            </a:extLst>
          </p:cNvPr>
          <p:cNvSpPr/>
          <p:nvPr/>
        </p:nvSpPr>
        <p:spPr>
          <a:xfrm>
            <a:off x="8433975" y="343563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87AF4B-1D1E-E9DF-B1A7-E4069AF96595}"/>
              </a:ext>
            </a:extLst>
          </p:cNvPr>
          <p:cNvSpPr/>
          <p:nvPr/>
        </p:nvSpPr>
        <p:spPr>
          <a:xfrm>
            <a:off x="2500468" y="3435634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C7C1AB-6F0E-F206-656C-5E87D7412C75}"/>
              </a:ext>
            </a:extLst>
          </p:cNvPr>
          <p:cNvSpPr/>
          <p:nvPr/>
        </p:nvSpPr>
        <p:spPr>
          <a:xfrm>
            <a:off x="5955903" y="2431906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91C321-024F-2336-5873-C868E541D80A}"/>
              </a:ext>
            </a:extLst>
          </p:cNvPr>
          <p:cNvSpPr/>
          <p:nvPr/>
        </p:nvSpPr>
        <p:spPr>
          <a:xfrm>
            <a:off x="3205669" y="3435635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856C29-92D7-5FA2-1780-527812055A32}"/>
              </a:ext>
            </a:extLst>
          </p:cNvPr>
          <p:cNvSpPr/>
          <p:nvPr/>
        </p:nvSpPr>
        <p:spPr>
          <a:xfrm>
            <a:off x="3916455" y="343355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4420F6-28B0-37C7-3FC1-5D35DB293D01}"/>
              </a:ext>
            </a:extLst>
          </p:cNvPr>
          <p:cNvSpPr/>
          <p:nvPr/>
        </p:nvSpPr>
        <p:spPr>
          <a:xfrm>
            <a:off x="4649432" y="3433557"/>
            <a:ext cx="763959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1EAA0E8F-0542-6085-4215-BA0CFED21424}"/>
              </a:ext>
            </a:extLst>
          </p:cNvPr>
          <p:cNvSpPr/>
          <p:nvPr/>
        </p:nvSpPr>
        <p:spPr>
          <a:xfrm>
            <a:off x="6095387" y="3172007"/>
            <a:ext cx="403898" cy="2615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B7388-5DB6-C174-87A8-580395137512}"/>
              </a:ext>
            </a:extLst>
          </p:cNvPr>
          <p:cNvSpPr txBox="1"/>
          <p:nvPr/>
        </p:nvSpPr>
        <p:spPr>
          <a:xfrm>
            <a:off x="5955903" y="3433557"/>
            <a:ext cx="912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pivot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26D973-AA97-AE9E-3A59-02FD9F7CD9F8}"/>
              </a:ext>
            </a:extLst>
          </p:cNvPr>
          <p:cNvSpPr txBox="1"/>
          <p:nvPr/>
        </p:nvSpPr>
        <p:spPr>
          <a:xfrm>
            <a:off x="2886632" y="4138758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604321-7788-76F0-8BA3-D155887CD884}"/>
              </a:ext>
            </a:extLst>
          </p:cNvPr>
          <p:cNvSpPr txBox="1"/>
          <p:nvPr/>
        </p:nvSpPr>
        <p:spPr>
          <a:xfrm>
            <a:off x="7344309" y="4138757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DB6C037-4E1D-4E39-5353-FA6BF3C3DB48}"/>
                  </a:ext>
                </a:extLst>
              </p:cNvPr>
              <p:cNvSpPr/>
              <p:nvPr/>
            </p:nvSpPr>
            <p:spPr>
              <a:xfrm>
                <a:off x="1202683" y="5073735"/>
                <a:ext cx="5394339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𝟑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&lt; </m:t>
                      </m:r>
                      <m:r>
                        <a:rPr lang="en-US" sz="2800" b="1" i="0" dirty="0" err="1">
                          <a:solidFill>
                            <a:srgbClr val="FF0000"/>
                          </a:solidFill>
                          <a:latin typeface="Cambria Math" charset="0"/>
                        </a:rPr>
                        <m:t>𝐥𝐞𝐧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𝑳</m:t>
                          </m:r>
                        </m:e>
                      </m:d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𝟕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DB6C037-4E1D-4E39-5353-FA6BF3C3DB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683" y="5073735"/>
                <a:ext cx="5394339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6">
                <a:extLst>
                  <a:ext uri="{FF2B5EF4-FFF2-40B4-BE49-F238E27FC236}">
                    <a16:creationId xmlns:a16="http://schemas.microsoft.com/office/drawing/2014/main" id="{FAB96B71-C0F6-D36F-D87D-2820945C35A7}"/>
                  </a:ext>
                </a:extLst>
              </p:cNvPr>
              <p:cNvSpPr/>
              <p:nvPr/>
            </p:nvSpPr>
            <p:spPr>
              <a:xfrm>
                <a:off x="5905743" y="5084184"/>
                <a:ext cx="5056464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𝟑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&lt; </m:t>
                      </m:r>
                      <m:r>
                        <a:rPr lang="en-US" sz="2800" b="1" i="0" dirty="0" err="1">
                          <a:solidFill>
                            <a:srgbClr val="FF0000"/>
                          </a:solidFill>
                          <a:latin typeface="Cambria Math" charset="0"/>
                        </a:rPr>
                        <m:t>𝐥𝐞𝐧</m:t>
                      </m:r>
                      <m:d>
                        <m:dPr>
                          <m:ctrlPr>
                            <a:rPr lang="en-US" sz="28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𝑹</m:t>
                          </m:r>
                        </m:e>
                      </m:d>
                      <m:r>
                        <a:rPr lang="en-US" sz="2800" b="1" i="1" dirty="0">
                          <a:solidFill>
                            <a:srgbClr val="FF0000"/>
                          </a:solidFill>
                          <a:latin typeface="Cambria Math" charset="0"/>
                        </a:rPr>
                        <m:t>&lt;</m:t>
                      </m:r>
                      <m:f>
                        <m:fPr>
                          <m:ctrlP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𝟕</m:t>
                          </m:r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800" b="1" i="1" dirty="0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𝟏𝟎</m:t>
                          </m:r>
                        </m:den>
                      </m:f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Rectangle 16">
                <a:extLst>
                  <a:ext uri="{FF2B5EF4-FFF2-40B4-BE49-F238E27FC236}">
                    <a16:creationId xmlns:a16="http://schemas.microsoft.com/office/drawing/2014/main" id="{FAB96B71-C0F6-D36F-D87D-2820945C35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743" y="5084184"/>
                <a:ext cx="5056464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711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2EC8C-0BC1-9E2E-9B77-E6AFB57CC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Another divide-and-conquer Alg.!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BCFC2-7F8D-7533-CCDD-E1C0C15E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We can’t solve </a:t>
            </a:r>
            <a:r>
              <a:rPr lang="en-US" altLang="zh-CN" sz="2800" dirty="0">
                <a:solidFill>
                  <a:srgbClr val="FF0000"/>
                </a:solidFill>
                <a:ea typeface="Courier" charset="0"/>
                <a:cs typeface="Courier" charset="0"/>
              </a:rPr>
              <a:t>SELECT(</a:t>
            </a:r>
            <a:r>
              <a:rPr lang="en-US" altLang="zh-CN" sz="2800" dirty="0" err="1">
                <a:solidFill>
                  <a:srgbClr val="FF0000"/>
                </a:solidFill>
                <a:ea typeface="Courier" charset="0"/>
                <a:cs typeface="Courier" charset="0"/>
              </a:rPr>
              <a:t>A,n</a:t>
            </a:r>
            <a:r>
              <a:rPr lang="en-US" altLang="zh-CN" sz="2800" dirty="0">
                <a:solidFill>
                  <a:srgbClr val="FF0000"/>
                </a:solidFill>
                <a:ea typeface="Courier" charset="0"/>
                <a:cs typeface="Courier" charset="0"/>
              </a:rPr>
              <a:t>/2)</a:t>
            </a:r>
            <a:r>
              <a:rPr lang="en-US" altLang="zh-CN" sz="2800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800" dirty="0">
                <a:ea typeface="Courier" charset="0"/>
                <a:cs typeface="Courier" charset="0"/>
              </a:rPr>
              <a:t>(yet)</a:t>
            </a:r>
          </a:p>
          <a:p>
            <a:r>
              <a:rPr lang="en-US" altLang="zh-CN" sz="2800" dirty="0">
                <a:ea typeface="Courier" charset="0"/>
                <a:cs typeface="Courier" charset="0"/>
              </a:rPr>
              <a:t>But we can divide and conquer and solve </a:t>
            </a:r>
            <a:r>
              <a:rPr lang="en-US" altLang="zh-CN" sz="2800" dirty="0">
                <a:solidFill>
                  <a:srgbClr val="FF0000"/>
                </a:solidFill>
                <a:ea typeface="Courier" charset="0"/>
                <a:cs typeface="Courier" charset="0"/>
              </a:rPr>
              <a:t>SELECT(</a:t>
            </a:r>
            <a:r>
              <a:rPr lang="en-US" altLang="zh-CN" sz="2800" dirty="0" err="1">
                <a:solidFill>
                  <a:srgbClr val="FF0000"/>
                </a:solidFill>
                <a:ea typeface="Courier" charset="0"/>
                <a:cs typeface="Courier" charset="0"/>
              </a:rPr>
              <a:t>B,m</a:t>
            </a:r>
            <a:r>
              <a:rPr lang="en-US" altLang="zh-CN" sz="2800" dirty="0">
                <a:solidFill>
                  <a:srgbClr val="FF0000"/>
                </a:solidFill>
                <a:ea typeface="Courier" charset="0"/>
                <a:cs typeface="Courier" charset="0"/>
              </a:rPr>
              <a:t>/2) </a:t>
            </a:r>
            <a:r>
              <a:rPr lang="en-US" altLang="zh-CN" sz="2800" dirty="0">
                <a:ea typeface="Courier" charset="0"/>
                <a:cs typeface="Courier" charset="0"/>
              </a:rPr>
              <a:t>for smaller values of m (where </a:t>
            </a:r>
            <a:r>
              <a:rPr lang="en-US" altLang="zh-CN" sz="2800" dirty="0" err="1">
                <a:ea typeface="Courier" charset="0"/>
                <a:cs typeface="Courier" charset="0"/>
              </a:rPr>
              <a:t>len</a:t>
            </a:r>
            <a:r>
              <a:rPr lang="en-US" altLang="zh-CN" sz="2800" dirty="0">
                <a:ea typeface="Courier" charset="0"/>
                <a:cs typeface="Courier" charset="0"/>
              </a:rPr>
              <a:t>(B) = m). </a:t>
            </a:r>
          </a:p>
          <a:p>
            <a:r>
              <a:rPr lang="en-US" altLang="zh-CN" sz="2800" b="1" u="sng" dirty="0">
                <a:solidFill>
                  <a:schemeClr val="accent6">
                    <a:lumMod val="75000"/>
                  </a:schemeClr>
                </a:solidFill>
                <a:ea typeface="Courier" charset="0"/>
                <a:cs typeface="Courier" charset="0"/>
              </a:rPr>
              <a:t>Lemma*: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  <a:ea typeface="Courier" charset="0"/>
                <a:cs typeface="Courier" charset="0"/>
              </a:rPr>
              <a:t>The median of sub-medians is close to the median.</a:t>
            </a:r>
          </a:p>
          <a:p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FAC90-D26A-CEDF-DF45-48B7F8626CA4}"/>
              </a:ext>
            </a:extLst>
          </p:cNvPr>
          <p:cNvSpPr txBox="1"/>
          <p:nvPr/>
        </p:nvSpPr>
        <p:spPr>
          <a:xfrm>
            <a:off x="1656137" y="7014205"/>
            <a:ext cx="889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66FF"/>
                </a:solidFill>
              </a:rPr>
              <a:t>*we will make this a bit more precise.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DECF5F-B222-B14B-709F-46EA7483C960}"/>
              </a:ext>
            </a:extLst>
          </p:cNvPr>
          <p:cNvSpPr/>
          <p:nvPr/>
        </p:nvSpPr>
        <p:spPr>
          <a:xfrm>
            <a:off x="2527415" y="6037776"/>
            <a:ext cx="7384819" cy="5153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476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586D3F85-630B-D6E7-38BD-12A323BE5401}"/>
              </a:ext>
            </a:extLst>
          </p:cNvPr>
          <p:cNvCxnSpPr/>
          <p:nvPr/>
        </p:nvCxnSpPr>
        <p:spPr>
          <a:xfrm>
            <a:off x="4091767" y="5705267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17380FF2-25EE-A406-426C-2DCC5B0ED3A0}"/>
              </a:ext>
            </a:extLst>
          </p:cNvPr>
          <p:cNvCxnSpPr/>
          <p:nvPr/>
        </p:nvCxnSpPr>
        <p:spPr>
          <a:xfrm>
            <a:off x="5561907" y="5705267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0F2692A7-E0F6-0043-2EF9-EF2FAED7A342}"/>
              </a:ext>
            </a:extLst>
          </p:cNvPr>
          <p:cNvCxnSpPr/>
          <p:nvPr/>
        </p:nvCxnSpPr>
        <p:spPr>
          <a:xfrm>
            <a:off x="7087120" y="5705267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A3751E25-6C2F-5771-B336-346711F3A770}"/>
              </a:ext>
            </a:extLst>
          </p:cNvPr>
          <p:cNvCxnSpPr/>
          <p:nvPr/>
        </p:nvCxnSpPr>
        <p:spPr>
          <a:xfrm>
            <a:off x="8583411" y="5705267"/>
            <a:ext cx="0" cy="1230283"/>
          </a:xfrm>
          <a:prstGeom prst="line">
            <a:avLst/>
          </a:prstGeom>
          <a:ln w="28575"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e 10">
            <a:extLst>
              <a:ext uri="{FF2B5EF4-FFF2-40B4-BE49-F238E27FC236}">
                <a16:creationId xmlns:a16="http://schemas.microsoft.com/office/drawing/2014/main" id="{87061111-9678-73C4-8D2C-E543789B04EC}"/>
              </a:ext>
            </a:extLst>
          </p:cNvPr>
          <p:cNvSpPr/>
          <p:nvPr/>
        </p:nvSpPr>
        <p:spPr>
          <a:xfrm rot="5400000">
            <a:off x="7639337" y="4718884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Left Brace 11">
            <a:extLst>
              <a:ext uri="{FF2B5EF4-FFF2-40B4-BE49-F238E27FC236}">
                <a16:creationId xmlns:a16="http://schemas.microsoft.com/office/drawing/2014/main" id="{D9454437-7776-16D7-0BC2-FCE17BFD3638}"/>
              </a:ext>
            </a:extLst>
          </p:cNvPr>
          <p:cNvSpPr/>
          <p:nvPr/>
        </p:nvSpPr>
        <p:spPr>
          <a:xfrm rot="5400000">
            <a:off x="6095333" y="4737675"/>
            <a:ext cx="391857" cy="145871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Left Brace 12">
            <a:extLst>
              <a:ext uri="{FF2B5EF4-FFF2-40B4-BE49-F238E27FC236}">
                <a16:creationId xmlns:a16="http://schemas.microsoft.com/office/drawing/2014/main" id="{97A27C9E-78E6-BE48-AE83-4D7A2FA24E7B}"/>
              </a:ext>
            </a:extLst>
          </p:cNvPr>
          <p:cNvSpPr/>
          <p:nvPr/>
        </p:nvSpPr>
        <p:spPr>
          <a:xfrm rot="5400000">
            <a:off x="3147693" y="4718885"/>
            <a:ext cx="391856" cy="1496291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Left Brace 13">
            <a:extLst>
              <a:ext uri="{FF2B5EF4-FFF2-40B4-BE49-F238E27FC236}">
                <a16:creationId xmlns:a16="http://schemas.microsoft.com/office/drawing/2014/main" id="{7A0F39CC-9D12-BB77-0321-2E1A7A0A84DA}"/>
              </a:ext>
            </a:extLst>
          </p:cNvPr>
          <p:cNvSpPr/>
          <p:nvPr/>
        </p:nvSpPr>
        <p:spPr>
          <a:xfrm rot="5400000">
            <a:off x="4621202" y="4759837"/>
            <a:ext cx="373687" cy="1432559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Left Brace 14">
            <a:extLst>
              <a:ext uri="{FF2B5EF4-FFF2-40B4-BE49-F238E27FC236}">
                <a16:creationId xmlns:a16="http://schemas.microsoft.com/office/drawing/2014/main" id="{63116F61-F57A-734B-CB4A-F6189BB1D1A5}"/>
              </a:ext>
            </a:extLst>
          </p:cNvPr>
          <p:cNvSpPr/>
          <p:nvPr/>
        </p:nvSpPr>
        <p:spPr>
          <a:xfrm rot="5400000">
            <a:off x="9051895" y="4802617"/>
            <a:ext cx="391854" cy="1328823"/>
          </a:xfrm>
          <a:prstGeom prst="leftBrace">
            <a:avLst/>
          </a:prstGeom>
          <a:ln w="28575">
            <a:solidFill>
              <a:srgbClr val="FF7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A03B1A7-E547-1335-23E8-8A08BDF95A48}"/>
              </a:ext>
            </a:extLst>
          </p:cNvPr>
          <p:cNvSpPr txBox="1"/>
          <p:nvPr/>
        </p:nvSpPr>
        <p:spPr>
          <a:xfrm>
            <a:off x="8649913" y="4901769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sub-median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34CD5A8-C14A-7755-D839-8F65662A57DF}"/>
              </a:ext>
            </a:extLst>
          </p:cNvPr>
          <p:cNvSpPr txBox="1"/>
          <p:nvPr/>
        </p:nvSpPr>
        <p:spPr>
          <a:xfrm>
            <a:off x="7140113" y="4919941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sub-median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3D834B9-8DBC-6FD1-9EFD-BD2ED3E1EC5A}"/>
              </a:ext>
            </a:extLst>
          </p:cNvPr>
          <p:cNvSpPr txBox="1"/>
          <p:nvPr/>
        </p:nvSpPr>
        <p:spPr>
          <a:xfrm>
            <a:off x="5613344" y="4919941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sub-median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4F1568C-E0D5-F092-EFE0-9A7008FF6DC5}"/>
              </a:ext>
            </a:extLst>
          </p:cNvPr>
          <p:cNvSpPr txBox="1"/>
          <p:nvPr/>
        </p:nvSpPr>
        <p:spPr>
          <a:xfrm>
            <a:off x="4187194" y="493405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sub-median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D34F2AD-2509-9527-2662-EABD4B91ABB0}"/>
              </a:ext>
            </a:extLst>
          </p:cNvPr>
          <p:cNvSpPr txBox="1"/>
          <p:nvPr/>
        </p:nvSpPr>
        <p:spPr>
          <a:xfrm>
            <a:off x="2708566" y="4888717"/>
            <a:ext cx="139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sub-median</a:t>
            </a:r>
          </a:p>
        </p:txBody>
      </p:sp>
      <p:sp>
        <p:nvSpPr>
          <p:cNvPr id="20" name="Left Brace 20">
            <a:extLst>
              <a:ext uri="{FF2B5EF4-FFF2-40B4-BE49-F238E27FC236}">
                <a16:creationId xmlns:a16="http://schemas.microsoft.com/office/drawing/2014/main" id="{3DB30F3C-3527-E32F-AEEB-FE68F23DFA36}"/>
              </a:ext>
            </a:extLst>
          </p:cNvPr>
          <p:cNvSpPr/>
          <p:nvPr/>
        </p:nvSpPr>
        <p:spPr>
          <a:xfrm rot="5400000">
            <a:off x="6089862" y="1195777"/>
            <a:ext cx="525932" cy="6886055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2EBC1AF-F2EE-8D68-364F-FCD8D1EB1D76}"/>
              </a:ext>
            </a:extLst>
          </p:cNvPr>
          <p:cNvSpPr txBox="1"/>
          <p:nvPr/>
        </p:nvSpPr>
        <p:spPr>
          <a:xfrm>
            <a:off x="5521374" y="3714448"/>
            <a:ext cx="1499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median of sub-medians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3C63096-8A9D-6B0A-450C-1E197D26BCD2}"/>
              </a:ext>
            </a:extLst>
          </p:cNvPr>
          <p:cNvSpPr txBox="1"/>
          <p:nvPr/>
        </p:nvSpPr>
        <p:spPr>
          <a:xfrm>
            <a:off x="7157213" y="3671911"/>
            <a:ext cx="172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median of the whole 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217448E4-6DE7-62F0-E18C-0C239AE6D866}"/>
                  </a:ext>
                </a:extLst>
              </p:cNvPr>
              <p:cNvSpPr txBox="1"/>
              <p:nvPr/>
            </p:nvSpPr>
            <p:spPr>
              <a:xfrm>
                <a:off x="6974204" y="3794186"/>
                <a:ext cx="3660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F6E6C"/>
                          </a:solidFill>
                          <a:latin typeface="Cambria Math" charset="0"/>
                        </a:rPr>
                        <m:t>≈</m:t>
                      </m:r>
                    </m:oMath>
                  </m:oMathPara>
                </a14:m>
                <a:endParaRPr lang="en-US" dirty="0">
                  <a:solidFill>
                    <a:srgbClr val="CF6E6C"/>
                  </a:solidFill>
                </a:endParaRPr>
              </a:p>
            </p:txBody>
          </p:sp>
        </mc:Choice>
        <mc:Fallback xmlns=""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217448E4-6DE7-62F0-E18C-0C239AE6D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204" y="3794186"/>
                <a:ext cx="36601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5">
            <a:extLst>
              <a:ext uri="{FF2B5EF4-FFF2-40B4-BE49-F238E27FC236}">
                <a16:creationId xmlns:a16="http://schemas.microsoft.com/office/drawing/2014/main" id="{6F87D430-C659-86BB-D1D4-658D61EA77FA}"/>
              </a:ext>
            </a:extLst>
          </p:cNvPr>
          <p:cNvSpPr txBox="1"/>
          <p:nvPr/>
        </p:nvSpPr>
        <p:spPr>
          <a:xfrm>
            <a:off x="1636585" y="3656584"/>
            <a:ext cx="289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i="1" dirty="0">
                <a:solidFill>
                  <a:srgbClr val="CF6E6C"/>
                </a:solidFill>
              </a:rPr>
              <a:t>What we’ll use as the pivot</a:t>
            </a:r>
          </a:p>
        </p:txBody>
      </p:sp>
      <p:cxnSp>
        <p:nvCxnSpPr>
          <p:cNvPr id="25" name="Straight Arrow Connector 25">
            <a:extLst>
              <a:ext uri="{FF2B5EF4-FFF2-40B4-BE49-F238E27FC236}">
                <a16:creationId xmlns:a16="http://schemas.microsoft.com/office/drawing/2014/main" id="{D582E386-E76A-AA47-62A9-C62ADC22B05F}"/>
              </a:ext>
            </a:extLst>
          </p:cNvPr>
          <p:cNvCxnSpPr>
            <a:cxnSpLocks/>
            <a:stCxn id="24" idx="3"/>
            <a:endCxn id="21" idx="1"/>
          </p:cNvCxnSpPr>
          <p:nvPr/>
        </p:nvCxnSpPr>
        <p:spPr>
          <a:xfrm>
            <a:off x="4533054" y="3841250"/>
            <a:ext cx="988320" cy="196364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6">
            <a:extLst>
              <a:ext uri="{FF2B5EF4-FFF2-40B4-BE49-F238E27FC236}">
                <a16:creationId xmlns:a16="http://schemas.microsoft.com/office/drawing/2014/main" id="{1A70E721-06C9-962D-DC0B-FEA329D3E39B}"/>
              </a:ext>
            </a:extLst>
          </p:cNvPr>
          <p:cNvSpPr txBox="1"/>
          <p:nvPr/>
        </p:nvSpPr>
        <p:spPr>
          <a:xfrm>
            <a:off x="9246525" y="3462270"/>
            <a:ext cx="130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i="1">
                <a:solidFill>
                  <a:srgbClr val="CF6E6C"/>
                </a:solidFill>
              </a:rPr>
              <a:t>Ideal </a:t>
            </a:r>
            <a:r>
              <a:rPr lang="en-US" i="1" dirty="0">
                <a:solidFill>
                  <a:srgbClr val="CF6E6C"/>
                </a:solidFill>
              </a:rPr>
              <a:t>pivot</a:t>
            </a:r>
          </a:p>
        </p:txBody>
      </p:sp>
      <p:cxnSp>
        <p:nvCxnSpPr>
          <p:cNvPr id="27" name="Straight Arrow Connector 27">
            <a:extLst>
              <a:ext uri="{FF2B5EF4-FFF2-40B4-BE49-F238E27FC236}">
                <a16:creationId xmlns:a16="http://schemas.microsoft.com/office/drawing/2014/main" id="{5E749A64-2318-ABEF-52E1-EB1C1E4FD35D}"/>
              </a:ext>
            </a:extLst>
          </p:cNvPr>
          <p:cNvCxnSpPr>
            <a:stCxn id="26" idx="2"/>
            <a:endCxn id="22" idx="3"/>
          </p:cNvCxnSpPr>
          <p:nvPr/>
        </p:nvCxnSpPr>
        <p:spPr>
          <a:xfrm flipH="1">
            <a:off x="8880767" y="3831602"/>
            <a:ext cx="1020203" cy="163475"/>
          </a:xfrm>
          <a:prstGeom prst="straightConnector1">
            <a:avLst/>
          </a:prstGeom>
          <a:ln>
            <a:solidFill>
              <a:srgbClr val="CF6E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425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5EFAC-8A78-F97F-EF1F-5FF415FB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How to pick the pivot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D628EC-8012-4F92-B23A-50D9319BC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2F9CC8F-693A-3C3A-CCAB-705DC6E8B4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60133" y="2305504"/>
                <a:ext cx="6807200" cy="2825296"/>
              </a:xfrm>
              <a:prstGeom prst="rect">
                <a:avLst/>
              </a:prstGeom>
              <a:ln w="28575">
                <a:solidFill>
                  <a:srgbClr val="7030A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rgbClr val="7030A0"/>
                    </a:solidFill>
                  </a:rPr>
                  <a:t>CHOOSEPIVOT(A):</a:t>
                </a:r>
              </a:p>
              <a:p>
                <a:pPr lvl="1"/>
                <a:r>
                  <a:rPr lang="en-US" dirty="0"/>
                  <a:t>Split A into m =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groups, of size &lt;=5 each.</a:t>
                </a:r>
              </a:p>
              <a:p>
                <a:pPr lvl="1"/>
                <a:r>
                  <a:rPr lang="en-US" b="1" dirty="0"/>
                  <a:t>For</a:t>
                </a:r>
                <a:r>
                  <a:rPr lang="en-US" dirty="0"/>
                  <a:t> </a:t>
                </a:r>
                <a:r>
                  <a:rPr lang="en-US" dirty="0" err="1"/>
                  <a:t>i</a:t>
                </a:r>
                <a:r>
                  <a:rPr lang="en-US" dirty="0"/>
                  <a:t>=1, .., m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Find the median within the </a:t>
                </a:r>
                <a:r>
                  <a:rPr lang="en-US" dirty="0" err="1"/>
                  <a:t>i’th</a:t>
                </a:r>
                <a:r>
                  <a:rPr lang="en-US" dirty="0"/>
                  <a:t> group, call it </a:t>
                </a:r>
                <a:r>
                  <a:rPr lang="en-US" dirty="0">
                    <a:solidFill>
                      <a:srgbClr val="FF0000"/>
                    </a:solidFill>
                  </a:rPr>
                  <a:t>p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i</a:t>
                </a:r>
              </a:p>
              <a:p>
                <a:pPr lvl="1"/>
                <a:r>
                  <a:rPr lang="en-US" dirty="0"/>
                  <a:t>p = SELECT</a:t>
                </a:r>
                <a:r>
                  <a:rPr lang="en-US" dirty="0">
                    <a:solidFill>
                      <a:srgbClr val="FF0000"/>
                    </a:solidFill>
                  </a:rPr>
                  <a:t>( [ p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1, </a:t>
                </a:r>
                <a:r>
                  <a:rPr lang="en-US" dirty="0">
                    <a:solidFill>
                      <a:srgbClr val="FF0000"/>
                    </a:solidFill>
                  </a:rPr>
                  <a:t>p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, p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3</a:t>
                </a:r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:r>
                  <a:rPr lang="mr-IN" dirty="0">
                    <a:solidFill>
                      <a:srgbClr val="FF0000"/>
                    </a:solidFill>
                  </a:rPr>
                  <a:t>…</a:t>
                </a:r>
                <a:r>
                  <a:rPr lang="en-US" dirty="0">
                    <a:solidFill>
                      <a:srgbClr val="FF0000"/>
                    </a:solidFill>
                  </a:rPr>
                  <a:t>, p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m</a:t>
                </a:r>
                <a:r>
                  <a:rPr lang="en-US" dirty="0">
                    <a:solidFill>
                      <a:srgbClr val="FF0000"/>
                    </a:solidFill>
                  </a:rPr>
                  <a:t> ] , </a:t>
                </a:r>
                <a:r>
                  <a:rPr lang="en-US" dirty="0"/>
                  <a:t>m/2</a:t>
                </a:r>
                <a:r>
                  <a:rPr lang="en-US" dirty="0">
                    <a:solidFill>
                      <a:schemeClr val="accent4"/>
                    </a:solidFill>
                  </a:rPr>
                  <a:t> </a:t>
                </a:r>
                <a:r>
                  <a:rPr lang="en-US" dirty="0"/>
                  <a:t>) </a:t>
                </a:r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the index of p in A</a:t>
                </a:r>
              </a:p>
              <a:p>
                <a:pPr lvl="1"/>
                <a:endParaRPr lang="en-US" dirty="0">
                  <a:solidFill>
                    <a:schemeClr val="accent1"/>
                  </a:solidFill>
                </a:endParaRP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2F9CC8F-693A-3C3A-CCAB-705DC6E8B4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133" y="2305504"/>
                <a:ext cx="6807200" cy="2825296"/>
              </a:xfrm>
              <a:prstGeom prst="rect">
                <a:avLst/>
              </a:prstGeom>
              <a:blipFill>
                <a:blip r:embed="rId3"/>
                <a:stretch>
                  <a:fillRect l="-1427" t="-3412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C7171F3-5994-09E6-742E-27DDD248AB4E}"/>
              </a:ext>
            </a:extLst>
          </p:cNvPr>
          <p:cNvSpPr txBox="1"/>
          <p:nvPr/>
        </p:nvSpPr>
        <p:spPr>
          <a:xfrm>
            <a:off x="4572000" y="54344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C1515"/>
                </a:solidFill>
              </a:rPr>
              <a:t>This takes time O(1) for each group, since each group has size 5.  So that’s O(m)=O(n) total in the for loop.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3F5159A-E03B-8F79-1743-B120F902CDF6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5359400" y="3925455"/>
            <a:ext cx="2260600" cy="1509037"/>
          </a:xfrm>
          <a:prstGeom prst="straightConnector1">
            <a:avLst/>
          </a:prstGeom>
          <a:ln w="38100">
            <a:solidFill>
              <a:srgbClr val="8C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51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64EA46-B265-837F-835C-E2EC5210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it works (formally)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ACEA99-7D8A-781D-01CF-1EDF8045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9577F99A-4387-6A4A-29BF-6623948E4232}"/>
                  </a:ext>
                </a:extLst>
              </p:cNvPr>
              <p:cNvSpPr/>
              <p:nvPr/>
            </p:nvSpPr>
            <p:spPr>
              <a:xfrm>
                <a:off x="2396836" y="2145316"/>
                <a:ext cx="7398328" cy="2567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b="1" dirty="0">
                    <a:solidFill>
                      <a:schemeClr val="accent6">
                        <a:lumMod val="50000"/>
                      </a:schemeClr>
                    </a:solidFill>
                  </a:rPr>
                  <a:t>Lemma: </a:t>
                </a:r>
                <a:r>
                  <a:rPr lang="en-US" sz="2800" dirty="0">
                    <a:solidFill>
                      <a:schemeClr val="accent6">
                        <a:lumMod val="50000"/>
                      </a:schemeClr>
                    </a:solidFill>
                  </a:rPr>
                  <a:t>If we choose the pivots like this,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𝐿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sz="28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sz="280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en-US" sz="2800" dirty="0">
                    <a:solidFill>
                      <a:schemeClr val="accent6">
                        <a:lumMod val="50000"/>
                      </a:schemeClr>
                    </a:solidFill>
                  </a:rPr>
                  <a:t>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𝑅</m:t>
                          </m:r>
                        </m:e>
                      </m:d>
                      <m:r>
                        <a:rPr lang="en-US" sz="28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7</m:t>
                          </m:r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en-US" sz="2800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charset="0"/>
                        </a:rPr>
                        <m:t>+5</m:t>
                      </m:r>
                    </m:oMath>
                  </m:oMathPara>
                </a14:m>
                <a:endParaRPr lang="en-US" sz="28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9577F99A-4387-6A4A-29BF-6623948E42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836" y="2145316"/>
                <a:ext cx="7398328" cy="2567369"/>
              </a:xfrm>
              <a:prstGeom prst="rect">
                <a:avLst/>
              </a:prstGeom>
              <a:blipFill>
                <a:blip r:embed="rId3"/>
                <a:stretch>
                  <a:fillRect l="-1647" t="-2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366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4CE3A-7387-3E8D-D1BB-58449FA0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Proof By Picture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7E208-4174-3449-02F2-B290081EB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AF325C-AE60-0B87-1282-BAD925B8AA5C}"/>
              </a:ext>
            </a:extLst>
          </p:cNvPr>
          <p:cNvSpPr/>
          <p:nvPr/>
        </p:nvSpPr>
        <p:spPr>
          <a:xfrm>
            <a:off x="7808721" y="1486469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397DC3-5D10-D395-BC31-29C972D2E48A}"/>
              </a:ext>
            </a:extLst>
          </p:cNvPr>
          <p:cNvSpPr/>
          <p:nvPr/>
        </p:nvSpPr>
        <p:spPr>
          <a:xfrm>
            <a:off x="7808721" y="2129177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D05C48-7843-7223-19C0-044245EE6702}"/>
              </a:ext>
            </a:extLst>
          </p:cNvPr>
          <p:cNvSpPr/>
          <p:nvPr/>
        </p:nvSpPr>
        <p:spPr>
          <a:xfrm>
            <a:off x="7808721" y="2771885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BDDB60-E64A-BB13-05AC-B9E99B59815E}"/>
              </a:ext>
            </a:extLst>
          </p:cNvPr>
          <p:cNvSpPr/>
          <p:nvPr/>
        </p:nvSpPr>
        <p:spPr>
          <a:xfrm>
            <a:off x="7808721" y="3414593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250ACA3A-3DD0-37C5-F206-1B87385DA32B}"/>
              </a:ext>
            </a:extLst>
          </p:cNvPr>
          <p:cNvSpPr/>
          <p:nvPr/>
        </p:nvSpPr>
        <p:spPr>
          <a:xfrm>
            <a:off x="7808721" y="4057301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25555F58-D0F5-65A3-DC4F-749F29A2127C}"/>
              </a:ext>
            </a:extLst>
          </p:cNvPr>
          <p:cNvSpPr/>
          <p:nvPr/>
        </p:nvSpPr>
        <p:spPr>
          <a:xfrm>
            <a:off x="4267142" y="1510643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0E69272-B728-8ACB-76F0-F2E2D82418EC}"/>
              </a:ext>
            </a:extLst>
          </p:cNvPr>
          <p:cNvSpPr/>
          <p:nvPr/>
        </p:nvSpPr>
        <p:spPr>
          <a:xfrm>
            <a:off x="4267142" y="2153351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7DA891B7-3719-8C03-81B0-06E882E756AE}"/>
              </a:ext>
            </a:extLst>
          </p:cNvPr>
          <p:cNvSpPr/>
          <p:nvPr/>
        </p:nvSpPr>
        <p:spPr>
          <a:xfrm>
            <a:off x="4267142" y="2796059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24241C18-AB13-07C3-B9E8-22B09B795116}"/>
              </a:ext>
            </a:extLst>
          </p:cNvPr>
          <p:cNvSpPr/>
          <p:nvPr/>
        </p:nvSpPr>
        <p:spPr>
          <a:xfrm>
            <a:off x="4267142" y="3438767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9761347C-7E59-9C40-4FE2-2DC086EB18C8}"/>
              </a:ext>
            </a:extLst>
          </p:cNvPr>
          <p:cNvSpPr/>
          <p:nvPr/>
        </p:nvSpPr>
        <p:spPr>
          <a:xfrm>
            <a:off x="4267142" y="4081475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EC4637FA-7162-01F2-7DDF-9DC073612471}"/>
              </a:ext>
            </a:extLst>
          </p:cNvPr>
          <p:cNvSpPr/>
          <p:nvPr/>
        </p:nvSpPr>
        <p:spPr>
          <a:xfrm>
            <a:off x="9455859" y="1486469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2A581379-2F42-C1C2-C811-7C88E4771709}"/>
              </a:ext>
            </a:extLst>
          </p:cNvPr>
          <p:cNvSpPr/>
          <p:nvPr/>
        </p:nvSpPr>
        <p:spPr>
          <a:xfrm>
            <a:off x="9455859" y="2129177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4432B3CD-EE65-B2CA-47D0-0D80ED60A072}"/>
              </a:ext>
            </a:extLst>
          </p:cNvPr>
          <p:cNvSpPr/>
          <p:nvPr/>
        </p:nvSpPr>
        <p:spPr>
          <a:xfrm>
            <a:off x="9455859" y="2771885"/>
            <a:ext cx="632908" cy="6427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879A18BA-15C5-B571-AA60-4E84B229C56E}"/>
              </a:ext>
            </a:extLst>
          </p:cNvPr>
          <p:cNvSpPr/>
          <p:nvPr/>
        </p:nvSpPr>
        <p:spPr>
          <a:xfrm>
            <a:off x="9455859" y="3414593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B2E43DAE-BE92-3196-A79B-9B6CB54E3874}"/>
              </a:ext>
            </a:extLst>
          </p:cNvPr>
          <p:cNvSpPr/>
          <p:nvPr/>
        </p:nvSpPr>
        <p:spPr>
          <a:xfrm>
            <a:off x="9455859" y="4057301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2855AE25-4B92-4C68-ED43-60F50B3B3812}"/>
              </a:ext>
            </a:extLst>
          </p:cNvPr>
          <p:cNvSpPr/>
          <p:nvPr/>
        </p:nvSpPr>
        <p:spPr>
          <a:xfrm>
            <a:off x="2724178" y="1514305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599EDAA4-D2A0-A5DB-6D20-78020B2D9E29}"/>
              </a:ext>
            </a:extLst>
          </p:cNvPr>
          <p:cNvSpPr/>
          <p:nvPr/>
        </p:nvSpPr>
        <p:spPr>
          <a:xfrm>
            <a:off x="2724178" y="2157013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25A737AA-0CD6-DDE7-69ED-660FE8F793D6}"/>
              </a:ext>
            </a:extLst>
          </p:cNvPr>
          <p:cNvSpPr/>
          <p:nvPr/>
        </p:nvSpPr>
        <p:spPr>
          <a:xfrm>
            <a:off x="2724178" y="2799721"/>
            <a:ext cx="632908" cy="642708"/>
          </a:xfrm>
          <a:prstGeom prst="rect">
            <a:avLst/>
          </a:prstGeom>
          <a:pattFill prst="wdDn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 w="22225">
            <a:solidFill>
              <a:srgbClr val="8B1B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6619D872-312A-37AD-7C78-4F3BBD9DBC1B}"/>
              </a:ext>
            </a:extLst>
          </p:cNvPr>
          <p:cNvSpPr/>
          <p:nvPr/>
        </p:nvSpPr>
        <p:spPr>
          <a:xfrm>
            <a:off x="2724178" y="3442429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3" name="Rectangle 26">
            <a:extLst>
              <a:ext uri="{FF2B5EF4-FFF2-40B4-BE49-F238E27FC236}">
                <a16:creationId xmlns:a16="http://schemas.microsoft.com/office/drawing/2014/main" id="{B68030D8-DF88-0C6B-82D1-0ED2FD8CCDC3}"/>
              </a:ext>
            </a:extLst>
          </p:cNvPr>
          <p:cNvSpPr/>
          <p:nvPr/>
        </p:nvSpPr>
        <p:spPr>
          <a:xfrm>
            <a:off x="2724178" y="4085137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70</a:t>
            </a:r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873E8896-E7FD-1155-4D6A-E39DBA327E33}"/>
              </a:ext>
            </a:extLst>
          </p:cNvPr>
          <p:cNvSpPr/>
          <p:nvPr/>
        </p:nvSpPr>
        <p:spPr>
          <a:xfrm>
            <a:off x="6117643" y="2153351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5" name="Rectangle 29">
            <a:extLst>
              <a:ext uri="{FF2B5EF4-FFF2-40B4-BE49-F238E27FC236}">
                <a16:creationId xmlns:a16="http://schemas.microsoft.com/office/drawing/2014/main" id="{AB222CC6-0323-6BA7-7295-D4B6E9669F9F}"/>
              </a:ext>
            </a:extLst>
          </p:cNvPr>
          <p:cNvSpPr/>
          <p:nvPr/>
        </p:nvSpPr>
        <p:spPr>
          <a:xfrm>
            <a:off x="6117643" y="2796059"/>
            <a:ext cx="632908" cy="642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6" name="Rectangle 30">
            <a:extLst>
              <a:ext uri="{FF2B5EF4-FFF2-40B4-BE49-F238E27FC236}">
                <a16:creationId xmlns:a16="http://schemas.microsoft.com/office/drawing/2014/main" id="{66764C7C-DB7F-278C-EF0B-2209D4176264}"/>
              </a:ext>
            </a:extLst>
          </p:cNvPr>
          <p:cNvSpPr/>
          <p:nvPr/>
        </p:nvSpPr>
        <p:spPr>
          <a:xfrm>
            <a:off x="6117643" y="3438767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7" name="Rectangle 31">
            <a:extLst>
              <a:ext uri="{FF2B5EF4-FFF2-40B4-BE49-F238E27FC236}">
                <a16:creationId xmlns:a16="http://schemas.microsoft.com/office/drawing/2014/main" id="{B2A794B6-10A9-76D6-0CF6-C9DF5446A29B}"/>
              </a:ext>
            </a:extLst>
          </p:cNvPr>
          <p:cNvSpPr/>
          <p:nvPr/>
        </p:nvSpPr>
        <p:spPr>
          <a:xfrm>
            <a:off x="6117643" y="4081475"/>
            <a:ext cx="632908" cy="6427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28" name="TextBox 32">
            <a:extLst>
              <a:ext uri="{FF2B5EF4-FFF2-40B4-BE49-F238E27FC236}">
                <a16:creationId xmlns:a16="http://schemas.microsoft.com/office/drawing/2014/main" id="{D21CB529-5F40-AA73-3A8E-5F9A39925BFB}"/>
              </a:ext>
            </a:extLst>
          </p:cNvPr>
          <p:cNvSpPr txBox="1"/>
          <p:nvPr/>
        </p:nvSpPr>
        <p:spPr>
          <a:xfrm>
            <a:off x="1630994" y="2862278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9" name="Right Brace 33">
            <a:extLst>
              <a:ext uri="{FF2B5EF4-FFF2-40B4-BE49-F238E27FC236}">
                <a16:creationId xmlns:a16="http://schemas.microsoft.com/office/drawing/2014/main" id="{39DCED99-536C-524F-20C2-7C3283510940}"/>
              </a:ext>
            </a:extLst>
          </p:cNvPr>
          <p:cNvSpPr/>
          <p:nvPr/>
        </p:nvSpPr>
        <p:spPr>
          <a:xfrm rot="5400000">
            <a:off x="6112628" y="1056361"/>
            <a:ext cx="642938" cy="8253815"/>
          </a:xfrm>
          <a:prstGeom prst="rightBrace">
            <a:avLst>
              <a:gd name="adj1" fmla="val 8333"/>
              <a:gd name="adj2" fmla="val 26285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Left Brace 34">
            <a:extLst>
              <a:ext uri="{FF2B5EF4-FFF2-40B4-BE49-F238E27FC236}">
                <a16:creationId xmlns:a16="http://schemas.microsoft.com/office/drawing/2014/main" id="{46854190-E580-480E-7C01-E9BF98FCDC8A}"/>
              </a:ext>
            </a:extLst>
          </p:cNvPr>
          <p:cNvSpPr/>
          <p:nvPr/>
        </p:nvSpPr>
        <p:spPr>
          <a:xfrm>
            <a:off x="1957150" y="1510643"/>
            <a:ext cx="446759" cy="3213540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TextBox 35">
            <a:extLst>
              <a:ext uri="{FF2B5EF4-FFF2-40B4-BE49-F238E27FC236}">
                <a16:creationId xmlns:a16="http://schemas.microsoft.com/office/drawing/2014/main" id="{F9E7689E-F3BE-4239-D593-6D34C7EAB944}"/>
              </a:ext>
            </a:extLst>
          </p:cNvPr>
          <p:cNvSpPr txBox="1"/>
          <p:nvPr/>
        </p:nvSpPr>
        <p:spPr>
          <a:xfrm>
            <a:off x="8146555" y="5407859"/>
            <a:ext cx="697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1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6">
                <a:extLst>
                  <a:ext uri="{FF2B5EF4-FFF2-40B4-BE49-F238E27FC236}">
                    <a16:creationId xmlns:a16="http://schemas.microsoft.com/office/drawing/2014/main" id="{17FF6221-4854-31C5-A64C-9AFC053C5DBE}"/>
                  </a:ext>
                </a:extLst>
              </p:cNvPr>
              <p:cNvSpPr txBox="1"/>
              <p:nvPr/>
            </p:nvSpPr>
            <p:spPr>
              <a:xfrm>
                <a:off x="1855004" y="5446639"/>
                <a:ext cx="8706001" cy="1168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/>
                  <a:t>How many of those are there?</a:t>
                </a:r>
              </a:p>
              <a:p>
                <a:r>
                  <a:rPr lang="en-US" sz="2800" b="0" dirty="0"/>
                  <a:t>                             at least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charset="0"/>
                      </a:rPr>
                      <m:t>3⋅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latin typeface="Cambria Math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sz="2800" b="0" i="1" smtClean="0">
                            <a:latin typeface="Cambria Math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6">
                <a:extLst>
                  <a:ext uri="{FF2B5EF4-FFF2-40B4-BE49-F238E27FC236}">
                    <a16:creationId xmlns:a16="http://schemas.microsoft.com/office/drawing/2014/main" id="{17FF6221-4854-31C5-A64C-9AFC053C5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004" y="5446639"/>
                <a:ext cx="8706001" cy="1168077"/>
              </a:xfrm>
              <a:prstGeom prst="rect">
                <a:avLst/>
              </a:prstGeom>
              <a:blipFill>
                <a:blip r:embed="rId3"/>
                <a:stretch>
                  <a:fillRect l="-1401" t="-5729" b="-4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6427E447-DB45-3232-56CB-14BC2A7AFF48}"/>
                  </a:ext>
                </a:extLst>
              </p:cNvPr>
              <p:cNvSpPr/>
              <p:nvPr/>
            </p:nvSpPr>
            <p:spPr>
              <a:xfrm>
                <a:off x="6900340" y="243285"/>
                <a:ext cx="2997774" cy="10608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F6E6C"/>
                        </a:solidFill>
                        <a:latin typeface="Cambria Math" charset="0"/>
                      </a:rPr>
                      <m:t>3⋅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F6E6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b="0" i="1" smtClean="0">
                                <a:solidFill>
                                  <a:srgbClr val="CF6E6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CF6E6C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solidFill>
                              <a:srgbClr val="CF6E6C"/>
                            </a:solidFill>
                            <a:latin typeface="Cambria Math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CF6E6C"/>
                    </a:solidFill>
                  </a:rPr>
                  <a:t> of these, but then one of them could have been the “leftovers” group.</a:t>
                </a:r>
              </a:p>
            </p:txBody>
          </p:sp>
        </mc:Choice>
        <mc:Fallback xmlns=""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6427E447-DB45-3232-56CB-14BC2A7AFF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340" y="243285"/>
                <a:ext cx="2997774" cy="1060868"/>
              </a:xfrm>
              <a:prstGeom prst="rect">
                <a:avLst/>
              </a:prstGeom>
              <a:blipFill>
                <a:blip r:embed="rId4"/>
                <a:stretch>
                  <a:fillRect l="-1829" b="-339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9">
            <a:extLst>
              <a:ext uri="{FF2B5EF4-FFF2-40B4-BE49-F238E27FC236}">
                <a16:creationId xmlns:a16="http://schemas.microsoft.com/office/drawing/2014/main" id="{81B9071F-8000-6217-6B33-6BC14275267C}"/>
              </a:ext>
            </a:extLst>
          </p:cNvPr>
          <p:cNvCxnSpPr>
            <a:stCxn id="33" idx="1"/>
          </p:cNvCxnSpPr>
          <p:nvPr/>
        </p:nvCxnSpPr>
        <p:spPr>
          <a:xfrm flipH="1">
            <a:off x="3314684" y="773719"/>
            <a:ext cx="3585656" cy="617598"/>
          </a:xfrm>
          <a:prstGeom prst="line">
            <a:avLst/>
          </a:prstGeom>
          <a:ln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7">
            <a:extLst>
              <a:ext uri="{FF2B5EF4-FFF2-40B4-BE49-F238E27FC236}">
                <a16:creationId xmlns:a16="http://schemas.microsoft.com/office/drawing/2014/main" id="{D29C6971-ADD5-26CF-DE05-F09589767342}"/>
              </a:ext>
            </a:extLst>
          </p:cNvPr>
          <p:cNvCxnSpPr>
            <a:stCxn id="33" idx="1"/>
          </p:cNvCxnSpPr>
          <p:nvPr/>
        </p:nvCxnSpPr>
        <p:spPr>
          <a:xfrm flipH="1">
            <a:off x="4857648" y="773719"/>
            <a:ext cx="2042692" cy="649096"/>
          </a:xfrm>
          <a:prstGeom prst="line">
            <a:avLst/>
          </a:prstGeom>
          <a:ln>
            <a:solidFill>
              <a:srgbClr val="CF6E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0997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495C1-CA83-15DD-D69D-E7B1F80A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about the running time?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2FF4C7-C85F-EEE7-04BD-3B7708869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Recurrence relation: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≤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7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  <m:t>10</m:t>
                            </m:r>
                          </m:den>
                        </m:f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+5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E2FF4C7-C85F-EEE7-04BD-3B7708869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B0D5DD-52B6-BCFC-0765-D858266A0FB4}"/>
              </a:ext>
            </a:extLst>
          </p:cNvPr>
          <p:cNvSpPr>
            <a:spLocks noGrp="1"/>
          </p:cNvSpPr>
          <p:nvPr/>
        </p:nvSpPr>
        <p:spPr>
          <a:xfrm rot="21307387">
            <a:off x="1821633" y="3373577"/>
            <a:ext cx="8237220" cy="2607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400" i="1" dirty="0">
                <a:solidFill>
                  <a:srgbClr val="CF6E6C"/>
                </a:solidFill>
                <a:latin typeface="Bernard MT Condensed" charset="0"/>
                <a:ea typeface="Bernard MT Condensed" charset="0"/>
                <a:cs typeface="Bernard MT Condensed" charset="0"/>
              </a:rPr>
              <a:t>The Substitution Method!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4692D1E-B422-13F1-C735-7DFFDF733E73}"/>
              </a:ext>
            </a:extLst>
          </p:cNvPr>
          <p:cNvSpPr/>
          <p:nvPr/>
        </p:nvSpPr>
        <p:spPr>
          <a:xfrm>
            <a:off x="6096000" y="4179504"/>
            <a:ext cx="4775200" cy="9233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1: generate a guess</a:t>
            </a:r>
          </a:p>
          <a:p>
            <a:r>
              <a:rPr lang="en-US" dirty="0"/>
              <a:t>Step 2: try to prove that your guess is correct</a:t>
            </a:r>
          </a:p>
          <a:p>
            <a:r>
              <a:rPr lang="en-US" dirty="0"/>
              <a:t>Step 3: profit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C9FD9583-F2D2-3E91-74C5-ABF0C39F0FF6}"/>
                  </a:ext>
                </a:extLst>
              </p:cNvPr>
              <p:cNvSpPr/>
              <p:nvPr/>
            </p:nvSpPr>
            <p:spPr>
              <a:xfrm>
                <a:off x="868286" y="5588173"/>
                <a:ext cx="428085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solidFill>
                      <a:schemeClr val="accent6">
                        <a:lumMod val="50000"/>
                      </a:schemeClr>
                    </a:solidFill>
                  </a:rPr>
                  <a:t>Conclusion: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charset="0"/>
                      </a:rPr>
                      <m:t>𝑻</m:t>
                    </m:r>
                    <m:d>
                      <m:dPr>
                        <m:ctrlPr>
                          <a:rPr lang="en-US" sz="28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𝒏</m:t>
                        </m:r>
                      </m:e>
                    </m:d>
                    <m:r>
                      <a:rPr lang="en-US" sz="28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charset="0"/>
                      </a:rPr>
                      <m:t>=</m:t>
                    </m:r>
                    <m:r>
                      <a:rPr lang="en-US" sz="28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charset="0"/>
                      </a:rPr>
                      <m:t>𝑶</m:t>
                    </m:r>
                    <m:d>
                      <m:dPr>
                        <m:ctrlPr>
                          <a:rPr lang="en-US" sz="28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sz="28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C9FD9583-F2D2-3E91-74C5-ABF0C39F0F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86" y="5588173"/>
                <a:ext cx="4280852" cy="523220"/>
              </a:xfrm>
              <a:prstGeom prst="rect">
                <a:avLst/>
              </a:prstGeom>
              <a:blipFill>
                <a:blip r:embed="rId4"/>
                <a:stretch>
                  <a:fillRect l="-2418"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81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B8C506D-9740-2B43-0ED9-DB3EFA24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 – Multiple k-SELECT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26DF73-5432-17AE-AE94-C4B0437A7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890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99F79-E25A-FB1A-B0DC-76876698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 Description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F2AE87-E7E7-094D-9A41-C979322584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Input:</a:t>
                </a:r>
              </a:p>
              <a:p>
                <a:pPr lvl="1"/>
                <a:r>
                  <a:rPr lang="en-US" altLang="zh-CN" dirty="0"/>
                  <a:t>Array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 containing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distinct integers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 different ranks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Output:</a:t>
                </a:r>
              </a:p>
              <a:p>
                <a:pPr lvl="1"/>
                <a:r>
                  <a:rPr lang="en-US" altLang="zh-CN" dirty="0"/>
                  <a:t>For each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smallest element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Requirement:</a:t>
                </a:r>
              </a:p>
              <a:p>
                <a:pPr lvl="1"/>
                <a:r>
                  <a:rPr lang="en-US" altLang="zh-CN" dirty="0"/>
                  <a:t>An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0" dirty="0" err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 time algorithm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F2AE87-E7E7-094D-9A41-C97932258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349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FBC00B-53A6-D3AE-5F17-4BA0ABEB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60822D-FBD4-60B6-04D9-9CD24210C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5000722"/>
              </a:xfrm>
            </p:spPr>
            <p:txBody>
              <a:bodyPr/>
              <a:lstStyle/>
              <a:p>
                <a:r>
                  <a:rPr lang="en-US" altLang="zh-CN" dirty="0"/>
                  <a:t>Pick the median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among the ranks</a:t>
                </a:r>
              </a:p>
              <a:p>
                <a:pPr lvl="1"/>
                <a:r>
                  <a:rPr lang="en-US" altLang="zh-CN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smallest element</a:t>
                </a:r>
              </a:p>
              <a:p>
                <a:pPr lvl="1"/>
                <a:r>
                  <a:rPr lang="en-US" altLang="zh-CN" dirty="0"/>
                  <a:t>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dirty="0"/>
                  <a:t>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time using k-SELECT </a:t>
                </a:r>
              </a:p>
              <a:p>
                <a:r>
                  <a:rPr lang="en-US" altLang="zh-CN" dirty="0"/>
                  <a:t>Consider the following two recursions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All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dirty="0"/>
                  <a:t> and all ranks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altLang="zh-CN" dirty="0"/>
                  <a:t>All elements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dirty="0"/>
                  <a:t> and all ranks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lim>
                        </m:limLow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zh-CN" b="0" dirty="0"/>
              </a:p>
              <a:p>
                <a:pPr lvl="1"/>
                <a:r>
                  <a:rPr lang="en-US" altLang="zh-CN" dirty="0"/>
                  <a:t>The recurrence tree has depth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, and on each level the total work is at most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Total time: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660822D-FBD4-60B6-04D9-9CD24210C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5000722"/>
              </a:xfrm>
              <a:blipFill>
                <a:blip r:embed="rId3"/>
                <a:stretch>
                  <a:fillRect l="-1043" t="-2071" r="-15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68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01BF739-902F-306E-2570-D25ED073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Sorting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3C04DB-70BE-6563-60DB-F9B4F9A2E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146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AD2C4-4D59-9233-49A8-34CEC5001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we have learned for sorting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858458-2B52-5A4A-5851-CF3B95118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5"/>
            <a:ext cx="4682924" cy="4597545"/>
          </a:xfrm>
        </p:spPr>
        <p:txBody>
          <a:bodyPr/>
          <a:lstStyle/>
          <a:p>
            <a:r>
              <a:rPr lang="en-US" altLang="zh-CN" dirty="0"/>
              <a:t>Merge Sort</a:t>
            </a:r>
          </a:p>
          <a:p>
            <a:r>
              <a:rPr lang="en-US" altLang="zh-CN" dirty="0"/>
              <a:t>Insertion Sort</a:t>
            </a:r>
          </a:p>
          <a:p>
            <a:r>
              <a:rPr lang="en-US" altLang="zh-CN" dirty="0"/>
              <a:t>Quick Sort</a:t>
            </a:r>
          </a:p>
          <a:p>
            <a:pPr lvl="1"/>
            <a:r>
              <a:rPr lang="en-US" altLang="zh-CN" dirty="0"/>
              <a:t>A randomized algorithm</a:t>
            </a:r>
          </a:p>
          <a:p>
            <a:r>
              <a:rPr lang="en-US" altLang="zh-CN" dirty="0"/>
              <a:t>Counting Sort</a:t>
            </a:r>
          </a:p>
          <a:p>
            <a:r>
              <a:rPr lang="en-US" altLang="zh-CN" dirty="0"/>
              <a:t>Radix Sort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Sorting lower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4F160E7-0329-1136-F74C-293E9254EE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586345"/>
                <a:ext cx="5257800" cy="459754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lang="zh-CN" altLang="en-US" sz="2800" b="1" kern="1200" dirty="0">
                    <a:solidFill>
                      <a:srgbClr val="009AB4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time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time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CN" b="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expected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for the worst case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time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time</a:t>
                </a:r>
                <a:br>
                  <a:rPr lang="en-US" altLang="zh-CN" dirty="0">
                    <a:solidFill>
                      <a:srgbClr val="FF0000"/>
                    </a:solidFill>
                  </a:rPr>
                </a:br>
                <a:endParaRPr lang="en-US" altLang="zh-CN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for comparison-based algorithms 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24F160E7-0329-1136-F74C-293E9254E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86345"/>
                <a:ext cx="5257800" cy="4597545"/>
              </a:xfrm>
              <a:prstGeom prst="rect">
                <a:avLst/>
              </a:prstGeom>
              <a:blipFill>
                <a:blip r:embed="rId3"/>
                <a:stretch>
                  <a:fillRect t="-2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3782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F9C2A-DE56-7F02-F3EE-8A63F9BB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QuickSort</a:t>
            </a:r>
            <a:r>
              <a:rPr lang="en-US" altLang="zh-CN" dirty="0"/>
              <a:t> vs </a:t>
            </a:r>
            <a:r>
              <a:rPr lang="en-US" altLang="zh-CN" dirty="0" err="1"/>
              <a:t>MergeSort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CFAE1-288F-AFB1-EC8A-F9F7C19E7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94" y="1736816"/>
            <a:ext cx="10515600" cy="4597545"/>
          </a:xfrm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74B6ECF5-9C4B-FE0E-8332-0D3C81911A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2317096"/>
              </p:ext>
            </p:extLst>
          </p:nvPr>
        </p:nvGraphicFramePr>
        <p:xfrm>
          <a:off x="1253425" y="1246590"/>
          <a:ext cx="7095867" cy="55929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7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1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5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QuickSort</a:t>
                      </a:r>
                      <a:r>
                        <a:rPr lang="en-US" dirty="0"/>
                        <a:t> (random pivot)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MergeSort</a:t>
                      </a:r>
                      <a:r>
                        <a:rPr lang="en-US" dirty="0"/>
                        <a:t> (deterministic)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Running</a:t>
                      </a:r>
                      <a:r>
                        <a:rPr lang="en-US" baseline="0" dirty="0"/>
                        <a:t> time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Worst-case: O(n</a:t>
                      </a:r>
                      <a:r>
                        <a:rPr lang="en-US" baseline="30000" dirty="0"/>
                        <a:t>2</a:t>
                      </a:r>
                      <a:r>
                        <a:rPr lang="en-US" baseline="0" dirty="0"/>
                        <a:t>)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Expected: O(n log(n))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Worst-case:</a:t>
                      </a:r>
                      <a:r>
                        <a:rPr lang="en-US" baseline="0" dirty="0"/>
                        <a:t> O(n log(n))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Java</a:t>
                      </a:r>
                      <a:r>
                        <a:rPr lang="en-US" baseline="0" dirty="0"/>
                        <a:t> for primitive types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C </a:t>
                      </a:r>
                      <a:r>
                        <a:rPr lang="en-US" baseline="0" dirty="0" err="1"/>
                        <a:t>qsort</a:t>
                      </a:r>
                      <a:endParaRPr lang="en-US" baseline="0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Unix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baseline="0" dirty="0"/>
                        <a:t>g++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Java for objects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Perl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Python (variant of it called </a:t>
                      </a:r>
                      <a:r>
                        <a:rPr lang="en-US" dirty="0" err="1"/>
                        <a:t>Timsort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In-Place?</a:t>
                      </a:r>
                    </a:p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sz="1400" dirty="0"/>
                        <a:t>(With</a:t>
                      </a:r>
                      <a:r>
                        <a:rPr lang="en-US" sz="1400" baseline="0" dirty="0"/>
                        <a:t> O(log(n)) extra bits of memory)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Yes, pretty easily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easily* if you want to maintain</a:t>
                      </a:r>
                      <a:r>
                        <a:rPr lang="en-US" baseline="0" dirty="0"/>
                        <a:t> both stability and runtime.</a:t>
                      </a:r>
                    </a:p>
                    <a:p>
                      <a:r>
                        <a:rPr lang="en-US" sz="1400" baseline="0" dirty="0"/>
                        <a:t>(But pretty easily if you can sacrifice runtime).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Stable?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68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Other Pros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cache locality if implemented for arrays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Merge step is really</a:t>
                      </a:r>
                      <a:r>
                        <a:rPr lang="en-US" baseline="0" dirty="0"/>
                        <a:t> efficient with linked lists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Left Brace 5">
            <a:extLst>
              <a:ext uri="{FF2B5EF4-FFF2-40B4-BE49-F238E27FC236}">
                <a16:creationId xmlns:a16="http://schemas.microsoft.com/office/drawing/2014/main" id="{ECB62EFB-CEDE-5856-5E2C-8CBB46C95387}"/>
              </a:ext>
            </a:extLst>
          </p:cNvPr>
          <p:cNvSpPr/>
          <p:nvPr/>
        </p:nvSpPr>
        <p:spPr>
          <a:xfrm rot="10800000">
            <a:off x="8349291" y="1899445"/>
            <a:ext cx="715148" cy="741405"/>
          </a:xfrm>
          <a:prstGeom prst="leftBrac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5E2F2D-A72C-649B-2735-82229A880716}"/>
              </a:ext>
            </a:extLst>
          </p:cNvPr>
          <p:cNvSpPr txBox="1"/>
          <p:nvPr/>
        </p:nvSpPr>
        <p:spPr>
          <a:xfrm>
            <a:off x="9193414" y="2068804"/>
            <a:ext cx="192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Understand this</a:t>
            </a:r>
          </a:p>
        </p:txBody>
      </p:sp>
      <p:sp>
        <p:nvSpPr>
          <p:cNvPr id="7" name="Left Brace 7">
            <a:extLst>
              <a:ext uri="{FF2B5EF4-FFF2-40B4-BE49-F238E27FC236}">
                <a16:creationId xmlns:a16="http://schemas.microsoft.com/office/drawing/2014/main" id="{A03CBF35-3C37-D8CD-A7C3-A19152A7651C}"/>
              </a:ext>
            </a:extLst>
          </p:cNvPr>
          <p:cNvSpPr/>
          <p:nvPr/>
        </p:nvSpPr>
        <p:spPr>
          <a:xfrm rot="10800000">
            <a:off x="8349291" y="2640849"/>
            <a:ext cx="680388" cy="4254639"/>
          </a:xfrm>
          <a:prstGeom prst="leftBrac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D0E7D93-A695-58FC-25A7-6E72163BD976}"/>
              </a:ext>
            </a:extLst>
          </p:cNvPr>
          <p:cNvSpPr txBox="1"/>
          <p:nvPr/>
        </p:nvSpPr>
        <p:spPr>
          <a:xfrm>
            <a:off x="9121985" y="4397641"/>
            <a:ext cx="2322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These are just for fun. (Not on exam).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B150021-BFA2-C5C5-22F2-B05FFCBC82D8}"/>
              </a:ext>
            </a:extLst>
          </p:cNvPr>
          <p:cNvSpPr txBox="1"/>
          <p:nvPr/>
        </p:nvSpPr>
        <p:spPr>
          <a:xfrm>
            <a:off x="8747350" y="28255"/>
            <a:ext cx="29263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*What if you want O(n log(n)) worst-case runtime and stability?  Check out “Block Sort” on Wikipedia!</a:t>
            </a:r>
          </a:p>
        </p:txBody>
      </p:sp>
    </p:spTree>
    <p:extLst>
      <p:ext uri="{BB962C8B-B14F-4D97-AF65-F5344CB8AC3E}">
        <p14:creationId xmlns:p14="http://schemas.microsoft.com/office/powerpoint/2010/main" val="10493533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185EF-95F6-3586-B160-622C055BC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Quicksort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32FF04-44AC-BAAC-E40A-25AD523A8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6" name="Group 5"/>
          <p:cNvGrpSpPr/>
          <p:nvPr/>
        </p:nvGrpSpPr>
        <p:grpSpPr>
          <a:xfrm>
            <a:off x="5212216" y="1694612"/>
            <a:ext cx="5040183" cy="718565"/>
            <a:chOff x="1573619" y="3296093"/>
            <a:chExt cx="5040183" cy="705201"/>
          </a:xfrm>
        </p:grpSpPr>
        <p:sp>
          <p:nvSpPr>
            <p:cNvPr id="7" name="Rectangle 6"/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867702" y="544384"/>
            <a:ext cx="60703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want to sort this array.</a:t>
            </a:r>
            <a:r>
              <a:rPr lang="en-US" altLang="zh-CN" sz="2400" dirty="0">
                <a:solidFill>
                  <a:srgbClr val="CF6E6C"/>
                </a:solidFill>
              </a:rPr>
              <a:t> </a:t>
            </a:r>
          </a:p>
          <a:p>
            <a:r>
              <a:rPr lang="en-US" altLang="zh-CN" dirty="0">
                <a:solidFill>
                  <a:srgbClr val="CF6E6C"/>
                </a:solidFill>
              </a:rPr>
              <a:t>assume all elements of A are distinct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3031" y="1671349"/>
            <a:ext cx="2715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First, pick a “</a:t>
            </a:r>
            <a:r>
              <a:rPr lang="en-US" sz="2400" dirty="0">
                <a:solidFill>
                  <a:schemeClr val="accent1"/>
                </a:solidFill>
              </a:rPr>
              <a:t>pivot</a:t>
            </a:r>
            <a:r>
              <a:rPr lang="en-US" sz="2400" dirty="0"/>
              <a:t>.”</a:t>
            </a:r>
          </a:p>
          <a:p>
            <a:r>
              <a:rPr lang="en-US" sz="2400" b="1" dirty="0">
                <a:solidFill>
                  <a:srgbClr val="CF6E6C"/>
                </a:solidFill>
              </a:rPr>
              <a:t>Do it at random.</a:t>
            </a:r>
          </a:p>
        </p:txBody>
      </p:sp>
      <p:grpSp>
        <p:nvGrpSpPr>
          <p:cNvPr id="4" name="Group 2"/>
          <p:cNvGrpSpPr/>
          <p:nvPr/>
        </p:nvGrpSpPr>
        <p:grpSpPr>
          <a:xfrm>
            <a:off x="7018444" y="2564599"/>
            <a:ext cx="1549878" cy="1244305"/>
            <a:chOff x="5494444" y="2564598"/>
            <a:chExt cx="1549878" cy="1244305"/>
          </a:xfrm>
        </p:grpSpPr>
        <p:sp>
          <p:nvSpPr>
            <p:cNvPr id="17" name="Triangle 16"/>
            <p:cNvSpPr/>
            <p:nvPr/>
          </p:nvSpPr>
          <p:spPr>
            <a:xfrm>
              <a:off x="5782025" y="2564598"/>
              <a:ext cx="857471" cy="61415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94444" y="3162572"/>
              <a:ext cx="15498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chemeClr val="accent1"/>
                  </a:solidFill>
                </a:rPr>
                <a:t>random pivot!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64746" y="2858093"/>
            <a:ext cx="41071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Next, partition the array into “bigger than 5” or “less than 5”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385" y="1718282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44588" y="170797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65845" y="170797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38578" y="2611870"/>
            <a:ext cx="21994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This PARTITION step takes time O(n).  (Notice that we don’t sort each half).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[same as in SELECT]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9708" y="170797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11078" y="170797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806312" y="1715507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535559" y="1694612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822086" y="4792898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L = array with things smaller than A[pivot]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3227" y="4792898"/>
            <a:ext cx="2661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R = array with things larger than A[pivot]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3032" y="4285069"/>
            <a:ext cx="1780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Arrange them like so: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953031" y="5712045"/>
            <a:ext cx="2058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Recurse</a:t>
            </a:r>
            <a:r>
              <a:rPr lang="en-US" sz="2400" dirty="0"/>
              <a:t> on </a:t>
            </a:r>
          </a:p>
          <a:p>
            <a:r>
              <a:rPr lang="en-US" sz="2400" dirty="0"/>
              <a:t>L and R: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69879" y="5712044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423227" y="571204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570822" y="5702724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377254" y="5702723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091801" y="5702724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22071" y="5702724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841576" y="5712044"/>
            <a:ext cx="705201" cy="7052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B97CDE4-7723-2E47-8815-B1086480FFAC}"/>
              </a:ext>
            </a:extLst>
          </p:cNvPr>
          <p:cNvSpPr txBox="1"/>
          <p:nvPr/>
        </p:nvSpPr>
        <p:spPr>
          <a:xfrm>
            <a:off x="6953204" y="121872"/>
            <a:ext cx="3645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F6E6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833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4.44444E-6 C 0.02882 -0.0155 0.05903 -0.03101 0.1 -0.04236 C 0.14097 -0.05393 0.21319 -0.07291 0.24444 -0.06828 C 0.27569 -0.06365 0.28785 -0.02986 0.2875 -0.01458 C 0.28733 0.00047 0.26441 0.02084 0.24306 0.02223 C 0.22188 0.02385 0.19167 0.00625 0.15972 -0.00555 C 0.12778 -0.01713 0.10122 -0.03495 0.05139 -0.04791 C 0.00174 -0.06088 -0.07986 -0.07986 -0.13889 -0.0831 C -0.19792 -0.08657 -0.27049 -0.08287 -0.30278 -0.06828 C -0.3349 -0.05393 -0.33299 -0.01134 -0.33194 0.00371 C -0.33073 0.01899 -0.31493 0.02084 -0.29583 0.02223 C -0.27656 0.02385 -0.25781 0.02315 -0.21667 0.01297 C -0.17535 0.00278 -0.12187 -0.02338 -0.04861 -0.03865 C 0.02483 -0.05416 0.17222 -0.09004 0.22361 -0.07939 C 0.275 -0.06898 0.27882 0.0044 0.25972 0.02408 C 0.2408 0.04399 0.1526 0.04445 0.10972 0.03889 C 0.06701 0.03334 0.00278 -0.00902 0.00278 -0.00879 " pathEditMode="relative" rAng="0" ptsTypes="AAAAAAAAAAAAAAA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8" y="-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139 L 0.39271 0.3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18" y="1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51 -2.96296E-6 L 0.39878 0.34954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05" y="17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89 0.00139 L -0.32587 0.34213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97" y="1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96296E-6 L -0.37995 0.33912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97" y="1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1181 L -0.36841 0.34398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59" y="1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0.00139 L -0.35313 0.33843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674" y="1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0.0176 L 0.0066 0.32824 " pathEditMode="relative" ptsTypes="AA">
                                      <p:cBhvr>
                                        <p:cTn id="5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5" grpId="0" animBg="1"/>
      <p:bldP spid="26" grpId="0" animBg="1"/>
      <p:bldP spid="27" grpId="0" animBg="1"/>
      <p:bldP spid="34" grpId="0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5" grpId="0"/>
      <p:bldP spid="36" grpId="0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34ABA-B577-669D-19F2-5431451D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Expected Running Time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7D2A63-27CF-D515-AA2C-A1FC8211F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will count the number of </a:t>
            </a:r>
            <a:r>
              <a:rPr lang="en-US" altLang="zh-CN" dirty="0">
                <a:solidFill>
                  <a:srgbClr val="CF6E6C"/>
                </a:solidFill>
              </a:rPr>
              <a:t>comparisons</a:t>
            </a:r>
            <a:r>
              <a:rPr lang="en-US" altLang="zh-CN" dirty="0"/>
              <a:t> that the algorithm does.</a:t>
            </a:r>
          </a:p>
          <a:p>
            <a:pPr lvl="1"/>
            <a:r>
              <a:rPr lang="en-US" altLang="zh-CN" dirty="0"/>
              <a:t>This turns out to give us a good idea of the runtime.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How many times are any two items compared?</a:t>
            </a:r>
          </a:p>
          <a:p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0A8297-EC6F-566D-9A0F-56119317A139}"/>
              </a:ext>
            </a:extLst>
          </p:cNvPr>
          <p:cNvGrpSpPr/>
          <p:nvPr/>
        </p:nvGrpSpPr>
        <p:grpSpPr>
          <a:xfrm>
            <a:off x="1852950" y="3770891"/>
            <a:ext cx="3055481" cy="573347"/>
            <a:chOff x="1573619" y="3296093"/>
            <a:chExt cx="5040183" cy="705201"/>
          </a:xfrm>
        </p:grpSpPr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F7C02F4F-1B3C-CDE8-5C83-70AA01181717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5">
              <a:extLst>
                <a:ext uri="{FF2B5EF4-FFF2-40B4-BE49-F238E27FC236}">
                  <a16:creationId xmlns:a16="http://schemas.microsoft.com/office/drawing/2014/main" id="{72B249FD-C04F-27BB-F4C0-D2857580C629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6">
              <a:extLst>
                <a:ext uri="{FF2B5EF4-FFF2-40B4-BE49-F238E27FC236}">
                  <a16:creationId xmlns:a16="http://schemas.microsoft.com/office/drawing/2014/main" id="{30DBEBFB-8613-E622-6649-E7C9AE09E08E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7">
              <a:extLst>
                <a:ext uri="{FF2B5EF4-FFF2-40B4-BE49-F238E27FC236}">
                  <a16:creationId xmlns:a16="http://schemas.microsoft.com/office/drawing/2014/main" id="{994833D3-3BF5-52EE-E8FE-F149F5C2C60E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508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8">
              <a:extLst>
                <a:ext uri="{FF2B5EF4-FFF2-40B4-BE49-F238E27FC236}">
                  <a16:creationId xmlns:a16="http://schemas.microsoft.com/office/drawing/2014/main" id="{A2F28C5D-BA80-ACD1-C85C-67822EE1F00B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9">
              <a:extLst>
                <a:ext uri="{FF2B5EF4-FFF2-40B4-BE49-F238E27FC236}">
                  <a16:creationId xmlns:a16="http://schemas.microsoft.com/office/drawing/2014/main" id="{FA8D7B15-E3A7-4FF7-F89F-900C3952D0A6}"/>
                </a:ext>
              </a:extLst>
            </p:cNvPr>
            <p:cNvSpPr/>
            <p:nvPr/>
          </p:nvSpPr>
          <p:spPr>
            <a:xfrm>
              <a:off x="517868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10">
              <a:extLst>
                <a:ext uri="{FF2B5EF4-FFF2-40B4-BE49-F238E27FC236}">
                  <a16:creationId xmlns:a16="http://schemas.microsoft.com/office/drawing/2014/main" id="{980BD349-FC1B-FB5E-7747-2A7E39B858D7}"/>
                </a:ext>
              </a:extLst>
            </p:cNvPr>
            <p:cNvSpPr/>
            <p:nvPr/>
          </p:nvSpPr>
          <p:spPr>
            <a:xfrm>
              <a:off x="5908601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Rectangle 19">
            <a:extLst>
              <a:ext uri="{FF2B5EF4-FFF2-40B4-BE49-F238E27FC236}">
                <a16:creationId xmlns:a16="http://schemas.microsoft.com/office/drawing/2014/main" id="{4A3E3800-C69F-322B-5C71-651004855857}"/>
              </a:ext>
            </a:extLst>
          </p:cNvPr>
          <p:cNvSpPr/>
          <p:nvPr/>
        </p:nvSpPr>
        <p:spPr>
          <a:xfrm>
            <a:off x="3808203" y="455851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90E6B03E-CCBA-D117-8B54-F79AE4FE982D}"/>
              </a:ext>
            </a:extLst>
          </p:cNvPr>
          <p:cNvSpPr/>
          <p:nvPr/>
        </p:nvSpPr>
        <p:spPr>
          <a:xfrm>
            <a:off x="4250698" y="455851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2D137CAB-DC9E-88F5-2D98-0509EF49EE29}"/>
              </a:ext>
            </a:extLst>
          </p:cNvPr>
          <p:cNvSpPr/>
          <p:nvPr/>
        </p:nvSpPr>
        <p:spPr>
          <a:xfrm>
            <a:off x="1372936" y="4558512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686ED1D2-FB22-C739-497D-2C36EC516165}"/>
              </a:ext>
            </a:extLst>
          </p:cNvPr>
          <p:cNvSpPr/>
          <p:nvPr/>
        </p:nvSpPr>
        <p:spPr>
          <a:xfrm>
            <a:off x="3232297" y="4558513"/>
            <a:ext cx="427510" cy="573347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BA45EF36-FE93-9474-05CF-4A12207BEB2E}"/>
              </a:ext>
            </a:extLst>
          </p:cNvPr>
          <p:cNvSpPr/>
          <p:nvPr/>
        </p:nvSpPr>
        <p:spPr>
          <a:xfrm>
            <a:off x="1784292" y="455851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BE760924-C8B9-9AB2-5EA7-183408315263}"/>
              </a:ext>
            </a:extLst>
          </p:cNvPr>
          <p:cNvSpPr/>
          <p:nvPr/>
        </p:nvSpPr>
        <p:spPr>
          <a:xfrm>
            <a:off x="2213895" y="455851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355E9053-FF01-7AE8-1EB0-6D21395EF313}"/>
              </a:ext>
            </a:extLst>
          </p:cNvPr>
          <p:cNvSpPr/>
          <p:nvPr/>
        </p:nvSpPr>
        <p:spPr>
          <a:xfrm>
            <a:off x="2656391" y="4558513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4FD0E4B4-F152-C4FD-BC1C-A811D45B5AB5}"/>
              </a:ext>
            </a:extLst>
          </p:cNvPr>
          <p:cNvSpPr txBox="1"/>
          <p:nvPr/>
        </p:nvSpPr>
        <p:spPr>
          <a:xfrm>
            <a:off x="1871669" y="5456851"/>
            <a:ext cx="2806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the example before, everything was compared to 5 once in the first step</a:t>
            </a:r>
            <a:r>
              <a:rPr lang="mr-IN" dirty="0"/>
              <a:t>…</a:t>
            </a:r>
            <a:r>
              <a:rPr lang="en-US" dirty="0"/>
              <a:t>.and never again.</a:t>
            </a:r>
          </a:p>
        </p:txBody>
      </p:sp>
      <p:sp>
        <p:nvSpPr>
          <p:cNvPr id="13" name="Rectangle 27">
            <a:extLst>
              <a:ext uri="{FF2B5EF4-FFF2-40B4-BE49-F238E27FC236}">
                <a16:creationId xmlns:a16="http://schemas.microsoft.com/office/drawing/2014/main" id="{630ACCDA-3052-EFCD-C260-A6CC20088035}"/>
              </a:ext>
            </a:extLst>
          </p:cNvPr>
          <p:cNvSpPr/>
          <p:nvPr/>
        </p:nvSpPr>
        <p:spPr>
          <a:xfrm>
            <a:off x="7199088" y="3674963"/>
            <a:ext cx="427510" cy="515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28">
            <a:extLst>
              <a:ext uri="{FF2B5EF4-FFF2-40B4-BE49-F238E27FC236}">
                <a16:creationId xmlns:a16="http://schemas.microsoft.com/office/drawing/2014/main" id="{F6306F2F-FFEB-A4CA-F3B4-686A9C30FC23}"/>
              </a:ext>
            </a:extLst>
          </p:cNvPr>
          <p:cNvSpPr/>
          <p:nvPr/>
        </p:nvSpPr>
        <p:spPr>
          <a:xfrm>
            <a:off x="7626598" y="3674963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29">
            <a:extLst>
              <a:ext uri="{FF2B5EF4-FFF2-40B4-BE49-F238E27FC236}">
                <a16:creationId xmlns:a16="http://schemas.microsoft.com/office/drawing/2014/main" id="{C6ABCD8D-887E-2D15-A0EB-ED0C449CFE9A}"/>
              </a:ext>
            </a:extLst>
          </p:cNvPr>
          <p:cNvSpPr/>
          <p:nvPr/>
        </p:nvSpPr>
        <p:spPr>
          <a:xfrm>
            <a:off x="8056201" y="3674963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CD99380E-F07B-4A2B-6C7C-D0A8267D7EC1}"/>
              </a:ext>
            </a:extLst>
          </p:cNvPr>
          <p:cNvSpPr/>
          <p:nvPr/>
        </p:nvSpPr>
        <p:spPr>
          <a:xfrm>
            <a:off x="8498697" y="3674963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31">
            <a:extLst>
              <a:ext uri="{FF2B5EF4-FFF2-40B4-BE49-F238E27FC236}">
                <a16:creationId xmlns:a16="http://schemas.microsoft.com/office/drawing/2014/main" id="{918E636D-A09D-EF63-2762-3489CD369636}"/>
              </a:ext>
            </a:extLst>
          </p:cNvPr>
          <p:cNvSpPr/>
          <p:nvPr/>
        </p:nvSpPr>
        <p:spPr>
          <a:xfrm>
            <a:off x="9665495" y="3683346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32">
            <a:extLst>
              <a:ext uri="{FF2B5EF4-FFF2-40B4-BE49-F238E27FC236}">
                <a16:creationId xmlns:a16="http://schemas.microsoft.com/office/drawing/2014/main" id="{4065BBA0-7A0A-87BB-E598-A0AA18BC9A7C}"/>
              </a:ext>
            </a:extLst>
          </p:cNvPr>
          <p:cNvSpPr/>
          <p:nvPr/>
        </p:nvSpPr>
        <p:spPr>
          <a:xfrm>
            <a:off x="10107990" y="3683346"/>
            <a:ext cx="427510" cy="5157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33">
            <a:extLst>
              <a:ext uri="{FF2B5EF4-FFF2-40B4-BE49-F238E27FC236}">
                <a16:creationId xmlns:a16="http://schemas.microsoft.com/office/drawing/2014/main" id="{C2D2A7DB-9BEA-1637-97CF-23415AD5B8C9}"/>
              </a:ext>
            </a:extLst>
          </p:cNvPr>
          <p:cNvSpPr/>
          <p:nvPr/>
        </p:nvSpPr>
        <p:spPr>
          <a:xfrm>
            <a:off x="7158549" y="4499321"/>
            <a:ext cx="427510" cy="515725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34">
            <a:extLst>
              <a:ext uri="{FF2B5EF4-FFF2-40B4-BE49-F238E27FC236}">
                <a16:creationId xmlns:a16="http://schemas.microsoft.com/office/drawing/2014/main" id="{EC1A02A4-E7AA-BE26-7827-14E02D07DB77}"/>
              </a:ext>
            </a:extLst>
          </p:cNvPr>
          <p:cNvSpPr/>
          <p:nvPr/>
        </p:nvSpPr>
        <p:spPr>
          <a:xfrm>
            <a:off x="6096000" y="4499321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35">
            <a:extLst>
              <a:ext uri="{FF2B5EF4-FFF2-40B4-BE49-F238E27FC236}">
                <a16:creationId xmlns:a16="http://schemas.microsoft.com/office/drawing/2014/main" id="{C0333FF4-6F85-BDE9-73DB-A00B7C3D3ACA}"/>
              </a:ext>
            </a:extLst>
          </p:cNvPr>
          <p:cNvSpPr/>
          <p:nvPr/>
        </p:nvSpPr>
        <p:spPr>
          <a:xfrm>
            <a:off x="7691756" y="4499321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A08C2329-FA5C-7F51-F6D4-494AA7223EBC}"/>
              </a:ext>
            </a:extLst>
          </p:cNvPr>
          <p:cNvSpPr/>
          <p:nvPr/>
        </p:nvSpPr>
        <p:spPr>
          <a:xfrm>
            <a:off x="6576252" y="4499321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37">
            <a:extLst>
              <a:ext uri="{FF2B5EF4-FFF2-40B4-BE49-F238E27FC236}">
                <a16:creationId xmlns:a16="http://schemas.microsoft.com/office/drawing/2014/main" id="{BD2534AB-77E1-6798-1A84-E6C2D739A543}"/>
              </a:ext>
            </a:extLst>
          </p:cNvPr>
          <p:cNvSpPr/>
          <p:nvPr/>
        </p:nvSpPr>
        <p:spPr>
          <a:xfrm>
            <a:off x="9089589" y="3694110"/>
            <a:ext cx="427510" cy="515725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38">
            <a:extLst>
              <a:ext uri="{FF2B5EF4-FFF2-40B4-BE49-F238E27FC236}">
                <a16:creationId xmlns:a16="http://schemas.microsoft.com/office/drawing/2014/main" id="{3CA5677B-5CB5-DC8D-EA77-5FBA3488F456}"/>
              </a:ext>
            </a:extLst>
          </p:cNvPr>
          <p:cNvSpPr/>
          <p:nvPr/>
        </p:nvSpPr>
        <p:spPr>
          <a:xfrm>
            <a:off x="9102176" y="4499321"/>
            <a:ext cx="427510" cy="515725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39">
            <a:extLst>
              <a:ext uri="{FF2B5EF4-FFF2-40B4-BE49-F238E27FC236}">
                <a16:creationId xmlns:a16="http://schemas.microsoft.com/office/drawing/2014/main" id="{60C6DFFD-8780-00BC-2294-437451EA8DA6}"/>
              </a:ext>
            </a:extLst>
          </p:cNvPr>
          <p:cNvSpPr/>
          <p:nvPr/>
        </p:nvSpPr>
        <p:spPr>
          <a:xfrm>
            <a:off x="10631987" y="4499321"/>
            <a:ext cx="427510" cy="515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E227D521-1F79-9FF9-2FC5-9F8346713AC4}"/>
              </a:ext>
            </a:extLst>
          </p:cNvPr>
          <p:cNvSpPr/>
          <p:nvPr/>
        </p:nvSpPr>
        <p:spPr>
          <a:xfrm>
            <a:off x="10085086" y="4499321"/>
            <a:ext cx="427510" cy="515725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TextBox 44">
            <a:extLst>
              <a:ext uri="{FF2B5EF4-FFF2-40B4-BE49-F238E27FC236}">
                <a16:creationId xmlns:a16="http://schemas.microsoft.com/office/drawing/2014/main" id="{9B8D0536-3AA9-F8F4-BA2B-BC4AE0AE6C5D}"/>
              </a:ext>
            </a:extLst>
          </p:cNvPr>
          <p:cNvSpPr txBox="1"/>
          <p:nvPr/>
        </p:nvSpPr>
        <p:spPr>
          <a:xfrm>
            <a:off x="7412843" y="5393158"/>
            <a:ext cx="3130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But not everything was compared to 3.  </a:t>
            </a:r>
          </a:p>
          <a:p>
            <a:r>
              <a:rPr lang="en-US" dirty="0"/>
              <a:t>5 was, and so were 1,2 and 4.  </a:t>
            </a:r>
          </a:p>
          <a:p>
            <a:r>
              <a:rPr lang="en-US" dirty="0"/>
              <a:t>But not 6 or 7.</a:t>
            </a:r>
          </a:p>
        </p:txBody>
      </p:sp>
    </p:spTree>
    <p:extLst>
      <p:ext uri="{BB962C8B-B14F-4D97-AF65-F5344CB8AC3E}">
        <p14:creationId xmlns:p14="http://schemas.microsoft.com/office/powerpoint/2010/main" val="31713557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D11C2-D220-529A-4BC6-1A2B1DCEB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311A8-434C-3D5A-4062-D18714440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altLang="zh-CN" sz="2800" b="1" dirty="0">
                    <a:solidFill>
                      <a:schemeClr val="accent4"/>
                    </a:solidFill>
                  </a:rPr>
                  <a:t>Whether or not a, b are compared </a:t>
                </a:r>
                <a:r>
                  <a:rPr lang="en-US" altLang="zh-CN" sz="2800" dirty="0"/>
                  <a:t>is a random variable, that depends on the choice of pivots.  Let’s say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𝒂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  <m:t>𝒃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mr-IN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mr-IN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ever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compared</m:t>
                              </m:r>
                            </m:e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 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𝟎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if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𝒂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and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𝒃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never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1" i="0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compared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spcBef>
                    <a:spcPts val="1800"/>
                  </a:spcBef>
                </a:pPr>
                <a:r>
                  <a:rPr lang="en-US" altLang="zh-CN" dirty="0"/>
                  <a:t>The expected running time </a:t>
                </a:r>
              </a:p>
              <a:p>
                <a:pPr lvl="1"/>
                <a:r>
                  <a:rPr lang="en-US" altLang="zh-CN" dirty="0"/>
                  <a:t>Due to the linearity of expectation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0,1}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comparisions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=1]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altLang="zh-CN" dirty="0"/>
                  <a:t>We only need to calculate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=1]</m:t>
                        </m:r>
                      </m:e>
                    </m:func>
                  </m:oMath>
                </a14:m>
                <a:r>
                  <a:rPr lang="en-US" altLang="zh-CN" dirty="0"/>
                  <a:t> for each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b="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/>
                  <a:t>separately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B311A8-434C-3D5A-4062-D18714440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81158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915B1-5861-5349-9072-1F80B214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– cont’d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66C6E1-43A1-D973-1116-17AE2BF95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Let’s consider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If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dirty="0"/>
                  <a:t> or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dirty="0"/>
                  <a:t> is chosen as the pivot,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 both to the right side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If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7</a:t>
                </a:r>
                <a:r>
                  <a:rPr lang="en-US" altLang="zh-CN" dirty="0"/>
                  <a:t> is chosen as the pivot,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 both to the left side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If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4,5</a:t>
                </a:r>
                <a:r>
                  <a:rPr lang="en-US" altLang="zh-CN" dirty="0"/>
                  <a:t> is chosen as the pivot,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 to different sides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)</a:t>
                </a:r>
                <a:endParaRPr lang="zh-CN" altLang="en-US" dirty="0">
                  <a:solidFill>
                    <a:srgbClr val="FF0000"/>
                  </a:solidFill>
                </a:endParaRPr>
              </a:p>
              <a:p>
                <a:r>
                  <a:rPr lang="en-US" altLang="zh-CN" dirty="0"/>
                  <a:t>If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3,6</a:t>
                </a:r>
                <a:r>
                  <a:rPr lang="en-US" altLang="zh-CN" dirty="0"/>
                  <a:t> is chosen as the pivot,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dirty="0"/>
                  <a:t> are compared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)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  <a:p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66C6E1-43A1-D973-1116-17AE2BF95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55" b="-2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C4D460A-CC65-6157-D183-B0025BCC581F}"/>
              </a:ext>
            </a:extLst>
          </p:cNvPr>
          <p:cNvGrpSpPr/>
          <p:nvPr/>
        </p:nvGrpSpPr>
        <p:grpSpPr>
          <a:xfrm>
            <a:off x="1753684" y="2761327"/>
            <a:ext cx="3096626" cy="573347"/>
            <a:chOff x="1573619" y="3296093"/>
            <a:chExt cx="5108054" cy="7052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395BEC-A65C-9E31-BBCE-937C1419E397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F1C22D8-5CAE-3F47-D76A-8BDDA84A8281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D18705-686F-420E-AB93-D4CB62986AA6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FE1B85-DD68-0FA3-EB93-6B2B4A6AD7A9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88167F-0467-00BC-B00E-4C1B916F0B68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FF6CBB-E678-83AE-802F-EE038EEBC56F}"/>
                </a:ext>
              </a:extLst>
            </p:cNvPr>
            <p:cNvSpPr/>
            <p:nvPr/>
          </p:nvSpPr>
          <p:spPr>
            <a:xfrm>
              <a:off x="5976473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38A0AE-3929-CE6E-35F7-79CD43AB116C}"/>
                </a:ext>
              </a:extLst>
            </p:cNvPr>
            <p:cNvSpPr/>
            <p:nvPr/>
          </p:nvSpPr>
          <p:spPr>
            <a:xfrm>
              <a:off x="5217276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EFE813F5-0A32-056D-B85C-23322BE5B760}"/>
              </a:ext>
            </a:extLst>
          </p:cNvPr>
          <p:cNvSpPr/>
          <p:nvPr/>
        </p:nvSpPr>
        <p:spPr>
          <a:xfrm>
            <a:off x="6096000" y="2761327"/>
            <a:ext cx="4004733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9676FA-B446-B0AD-11DE-F72DCC4D5923}"/>
              </a:ext>
            </a:extLst>
          </p:cNvPr>
          <p:cNvSpPr/>
          <p:nvPr/>
        </p:nvSpPr>
        <p:spPr>
          <a:xfrm>
            <a:off x="6588260" y="2761327"/>
            <a:ext cx="573347" cy="573347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C82BADC-D0D9-F7ED-9A41-35552EBB005F}"/>
                  </a:ext>
                </a:extLst>
              </p:cNvPr>
              <p:cNvSpPr txBox="1"/>
              <p:nvPr/>
            </p:nvSpPr>
            <p:spPr>
              <a:xfrm>
                <a:off x="8194541" y="2832556"/>
                <a:ext cx="6423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C82BADC-D0D9-F7ED-9A41-35552EBB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4541" y="2832556"/>
                <a:ext cx="64235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7B61EC4-DCD4-3108-E022-04A0BA9E8F77}"/>
              </a:ext>
            </a:extLst>
          </p:cNvPr>
          <p:cNvCxnSpPr/>
          <p:nvPr/>
        </p:nvCxnSpPr>
        <p:spPr>
          <a:xfrm>
            <a:off x="5198533" y="3047999"/>
            <a:ext cx="5842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3">
            <a:extLst>
              <a:ext uri="{FF2B5EF4-FFF2-40B4-BE49-F238E27FC236}">
                <a16:creationId xmlns:a16="http://schemas.microsoft.com/office/drawing/2014/main" id="{4FF82618-D753-C111-24FF-6900D782ACA6}"/>
              </a:ext>
            </a:extLst>
          </p:cNvPr>
          <p:cNvGrpSpPr/>
          <p:nvPr/>
        </p:nvGrpSpPr>
        <p:grpSpPr>
          <a:xfrm>
            <a:off x="1753684" y="4185934"/>
            <a:ext cx="3096626" cy="573347"/>
            <a:chOff x="1573619" y="3296093"/>
            <a:chExt cx="5108054" cy="705201"/>
          </a:xfrm>
        </p:grpSpPr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ADFBCBB6-FED9-20C6-B96F-4CC9DCCC70B2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327839EC-4C4E-4D20-C1F0-03E0A9DA9465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1E2DEC72-5A3B-2857-7B1F-2302D7CC9842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B7308971-7300-5CDF-25B2-956DE40205FA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1937BEA5-E006-F9A3-54D6-57CA3E9EE4B9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0A6FA828-3415-2A49-08C6-9E9FA0FF7F14}"/>
                </a:ext>
              </a:extLst>
            </p:cNvPr>
            <p:cNvSpPr/>
            <p:nvPr/>
          </p:nvSpPr>
          <p:spPr>
            <a:xfrm>
              <a:off x="5976473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903CAED3-CE6B-F603-F8C3-90BA0734F567}"/>
                </a:ext>
              </a:extLst>
            </p:cNvPr>
            <p:cNvSpPr/>
            <p:nvPr/>
          </p:nvSpPr>
          <p:spPr>
            <a:xfrm>
              <a:off x="5217276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4C52022C-8F72-8320-A56F-299A784EA2E4}"/>
              </a:ext>
            </a:extLst>
          </p:cNvPr>
          <p:cNvSpPr/>
          <p:nvPr/>
        </p:nvSpPr>
        <p:spPr>
          <a:xfrm>
            <a:off x="6096000" y="4185934"/>
            <a:ext cx="4004733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EE6A14-50C8-E87E-B73B-B169AE54B056}"/>
              </a:ext>
            </a:extLst>
          </p:cNvPr>
          <p:cNvSpPr/>
          <p:nvPr/>
        </p:nvSpPr>
        <p:spPr>
          <a:xfrm>
            <a:off x="9527386" y="4185932"/>
            <a:ext cx="573347" cy="573347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5D288E1-C51C-5D72-7F64-FCA39752E69E}"/>
                  </a:ext>
                </a:extLst>
              </p:cNvPr>
              <p:cNvSpPr txBox="1"/>
              <p:nvPr/>
            </p:nvSpPr>
            <p:spPr>
              <a:xfrm>
                <a:off x="7528414" y="4257161"/>
                <a:ext cx="6423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A5D288E1-C51C-5D72-7F64-FCA39752E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414" y="4257161"/>
                <a:ext cx="642355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0077777-A2E6-FE4A-9855-3DD96C0A572A}"/>
              </a:ext>
            </a:extLst>
          </p:cNvPr>
          <p:cNvCxnSpPr/>
          <p:nvPr/>
        </p:nvCxnSpPr>
        <p:spPr>
          <a:xfrm>
            <a:off x="5198533" y="4472606"/>
            <a:ext cx="584200" cy="0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EE5F6F2-263E-FC65-DBD1-3FA560B4E9E9}"/>
              </a:ext>
            </a:extLst>
          </p:cNvPr>
          <p:cNvCxnSpPr>
            <a:cxnSpLocks/>
          </p:cNvCxnSpPr>
          <p:nvPr/>
        </p:nvCxnSpPr>
        <p:spPr>
          <a:xfrm flipH="1" flipV="1">
            <a:off x="10329333" y="2396067"/>
            <a:ext cx="774701" cy="558800"/>
          </a:xfrm>
          <a:prstGeom prst="straightConnector1">
            <a:avLst/>
          </a:prstGeom>
          <a:ln w="57150">
            <a:solidFill>
              <a:srgbClr val="8C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256CDCEA-FB0A-EC01-48DB-1334BF4A5626}"/>
              </a:ext>
            </a:extLst>
          </p:cNvPr>
          <p:cNvCxnSpPr>
            <a:cxnSpLocks/>
          </p:cNvCxnSpPr>
          <p:nvPr/>
        </p:nvCxnSpPr>
        <p:spPr>
          <a:xfrm flipH="1">
            <a:off x="10320866" y="4004732"/>
            <a:ext cx="825501" cy="467872"/>
          </a:xfrm>
          <a:prstGeom prst="straightConnector1">
            <a:avLst/>
          </a:prstGeom>
          <a:ln w="57150">
            <a:solidFill>
              <a:srgbClr val="8C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670CA82-47DC-EAFE-BEFE-CBEEAC0B3782}"/>
                  </a:ext>
                </a:extLst>
              </p:cNvPr>
              <p:cNvSpPr txBox="1"/>
              <p:nvPr/>
            </p:nvSpPr>
            <p:spPr>
              <a:xfrm>
                <a:off x="10793935" y="3150542"/>
                <a:ext cx="1282804" cy="658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8C1515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8C1515"/>
                    </a:solidFill>
                  </a:rPr>
                  <a:t>is not decided</a:t>
                </a:r>
                <a:endParaRPr lang="zh-CN" altLang="en-US" b="1" dirty="0">
                  <a:solidFill>
                    <a:srgbClr val="8C1515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670CA82-47DC-EAFE-BEFE-CBEEAC0B3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3935" y="3150542"/>
                <a:ext cx="1282804" cy="658514"/>
              </a:xfrm>
              <a:prstGeom prst="rect">
                <a:avLst/>
              </a:prstGeom>
              <a:blipFill>
                <a:blip r:embed="rId6"/>
                <a:stretch>
                  <a:fillRect l="-4286" t="-4630" r="-3810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14C1BD9-54CE-6584-E70B-0643C8630BC3}"/>
              </a:ext>
            </a:extLst>
          </p:cNvPr>
          <p:cNvCxnSpPr>
            <a:cxnSpLocks/>
          </p:cNvCxnSpPr>
          <p:nvPr/>
        </p:nvCxnSpPr>
        <p:spPr>
          <a:xfrm flipH="1" flipV="1">
            <a:off x="10579099" y="5358525"/>
            <a:ext cx="748820" cy="163944"/>
          </a:xfrm>
          <a:prstGeom prst="straightConnector1">
            <a:avLst/>
          </a:prstGeom>
          <a:ln w="57150">
            <a:solidFill>
              <a:srgbClr val="8C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6197209-9E16-F06F-907E-C8DBA17967C3}"/>
              </a:ext>
            </a:extLst>
          </p:cNvPr>
          <p:cNvCxnSpPr>
            <a:cxnSpLocks/>
          </p:cNvCxnSpPr>
          <p:nvPr/>
        </p:nvCxnSpPr>
        <p:spPr>
          <a:xfrm flipH="1">
            <a:off x="10579099" y="5854700"/>
            <a:ext cx="748820" cy="150185"/>
          </a:xfrm>
          <a:prstGeom prst="straightConnector1">
            <a:avLst/>
          </a:prstGeom>
          <a:ln w="57150">
            <a:solidFill>
              <a:srgbClr val="8C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48031270-4650-70CF-5012-C7CFC042C31F}"/>
                  </a:ext>
                </a:extLst>
              </p:cNvPr>
              <p:cNvSpPr txBox="1"/>
              <p:nvPr/>
            </p:nvSpPr>
            <p:spPr>
              <a:xfrm>
                <a:off x="11293674" y="5346371"/>
                <a:ext cx="1282804" cy="658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smtClean="0">
                            <a:solidFill>
                              <a:srgbClr val="8C151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8C1515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8C1515"/>
                    </a:solidFill>
                  </a:rPr>
                  <a:t>is decided</a:t>
                </a:r>
                <a:endParaRPr lang="zh-CN" altLang="en-US" b="1" dirty="0">
                  <a:solidFill>
                    <a:srgbClr val="8C1515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48031270-4650-70CF-5012-C7CFC042C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3674" y="5346371"/>
                <a:ext cx="1282804" cy="658514"/>
              </a:xfrm>
              <a:prstGeom prst="rect">
                <a:avLst/>
              </a:prstGeom>
              <a:blipFill>
                <a:blip r:embed="rId7"/>
                <a:stretch>
                  <a:fillRect l="-4286" t="-3704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299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57C70E-FB07-4AF0-DD99-4F0822804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– cont’d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8A6A79-825C-7E75-3DBF-A44BB48E11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513513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|"/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decided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0" dirty="0"/>
                  <a:t>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by the following rules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pPr lvl="1"/>
                <a:r>
                  <a:rPr lang="en-US" altLang="zh-CN" dirty="0"/>
                  <a:t>probability that one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are picked first out of all of the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+1 </m:t>
                    </m:r>
                  </m:oMath>
                </a14:m>
                <a:r>
                  <a:rPr lang="en-US" altLang="zh-CN" dirty="0"/>
                  <a:t>numbers between them.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i="1" dirty="0" err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i="1" dirty="0" err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 err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altLang="zh-CN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8A6A79-825C-7E75-3DBF-A44BB48E1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5135130"/>
              </a:xfrm>
              <a:blipFill>
                <a:blip r:embed="rId3"/>
                <a:stretch>
                  <a:fillRect t="-1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4EBD0C0-544F-6584-9924-791B653ABE72}"/>
              </a:ext>
            </a:extLst>
          </p:cNvPr>
          <p:cNvGrpSpPr/>
          <p:nvPr/>
        </p:nvGrpSpPr>
        <p:grpSpPr>
          <a:xfrm>
            <a:off x="1955697" y="2569118"/>
            <a:ext cx="3096626" cy="573347"/>
            <a:chOff x="1573619" y="3296093"/>
            <a:chExt cx="5108054" cy="705201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50DCF7E3-D35A-7274-FFBF-6D4A9CD496F8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5">
              <a:extLst>
                <a:ext uri="{FF2B5EF4-FFF2-40B4-BE49-F238E27FC236}">
                  <a16:creationId xmlns:a16="http://schemas.microsoft.com/office/drawing/2014/main" id="{BF249E96-E0D6-C73A-854A-63A008C332CC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6">
              <a:extLst>
                <a:ext uri="{FF2B5EF4-FFF2-40B4-BE49-F238E27FC236}">
                  <a16:creationId xmlns:a16="http://schemas.microsoft.com/office/drawing/2014/main" id="{C344AAFC-A1CA-B6E6-C31F-9AD207B6CD2A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7">
              <a:extLst>
                <a:ext uri="{FF2B5EF4-FFF2-40B4-BE49-F238E27FC236}">
                  <a16:creationId xmlns:a16="http://schemas.microsoft.com/office/drawing/2014/main" id="{7BA99C65-527C-B56D-6B3C-FC54FCF4D340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8">
              <a:extLst>
                <a:ext uri="{FF2B5EF4-FFF2-40B4-BE49-F238E27FC236}">
                  <a16:creationId xmlns:a16="http://schemas.microsoft.com/office/drawing/2014/main" id="{D385654C-2332-ECCD-CCA6-1E13E9930C70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9">
              <a:extLst>
                <a:ext uri="{FF2B5EF4-FFF2-40B4-BE49-F238E27FC236}">
                  <a16:creationId xmlns:a16="http://schemas.microsoft.com/office/drawing/2014/main" id="{29D8D104-CCB9-3CDD-2FD7-D5BA08F1BD38}"/>
                </a:ext>
              </a:extLst>
            </p:cNvPr>
            <p:cNvSpPr/>
            <p:nvPr/>
          </p:nvSpPr>
          <p:spPr>
            <a:xfrm>
              <a:off x="5976473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10">
              <a:extLst>
                <a:ext uri="{FF2B5EF4-FFF2-40B4-BE49-F238E27FC236}">
                  <a16:creationId xmlns:a16="http://schemas.microsoft.com/office/drawing/2014/main" id="{CDAE45F9-4AB5-282F-4572-FB3EC1A59AF3}"/>
                </a:ext>
              </a:extLst>
            </p:cNvPr>
            <p:cNvSpPr/>
            <p:nvPr/>
          </p:nvSpPr>
          <p:spPr>
            <a:xfrm>
              <a:off x="5217276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11">
            <a:extLst>
              <a:ext uri="{FF2B5EF4-FFF2-40B4-BE49-F238E27FC236}">
                <a16:creationId xmlns:a16="http://schemas.microsoft.com/office/drawing/2014/main" id="{8CB943CB-09BF-397F-E622-042907E6ED64}"/>
              </a:ext>
            </a:extLst>
          </p:cNvPr>
          <p:cNvSpPr txBox="1"/>
          <p:nvPr/>
        </p:nvSpPr>
        <p:spPr>
          <a:xfrm>
            <a:off x="5479333" y="2532625"/>
            <a:ext cx="476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Say that a = 3 and b = 6.  What is the probability that 3 and 6 are ever compared?</a:t>
            </a: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1D5B0CFF-4E28-B9AA-2323-F974962BCE86}"/>
              </a:ext>
            </a:extLst>
          </p:cNvPr>
          <p:cNvGrpSpPr/>
          <p:nvPr/>
        </p:nvGrpSpPr>
        <p:grpSpPr>
          <a:xfrm>
            <a:off x="1954212" y="3395129"/>
            <a:ext cx="3110819" cy="573347"/>
            <a:chOff x="1573619" y="3296093"/>
            <a:chExt cx="5131455" cy="705201"/>
          </a:xfrm>
        </p:grpSpPr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E9F13136-3A65-1C70-4CA1-F4DDB24F6B96}"/>
                </a:ext>
              </a:extLst>
            </p:cNvPr>
            <p:cNvSpPr/>
            <p:nvPr/>
          </p:nvSpPr>
          <p:spPr>
            <a:xfrm>
              <a:off x="1573619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7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DCA2ED50-0564-13A1-3B4B-B3E4F09776BC}"/>
                </a:ext>
              </a:extLst>
            </p:cNvPr>
            <p:cNvSpPr/>
            <p:nvPr/>
          </p:nvSpPr>
          <p:spPr>
            <a:xfrm>
              <a:off x="2303538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6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5">
              <a:extLst>
                <a:ext uri="{FF2B5EF4-FFF2-40B4-BE49-F238E27FC236}">
                  <a16:creationId xmlns:a16="http://schemas.microsoft.com/office/drawing/2014/main" id="{E322D2E0-C0CB-B114-A798-345B1527F69D}"/>
                </a:ext>
              </a:extLst>
            </p:cNvPr>
            <p:cNvSpPr/>
            <p:nvPr/>
          </p:nvSpPr>
          <p:spPr>
            <a:xfrm>
              <a:off x="3012192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16">
              <a:extLst>
                <a:ext uri="{FF2B5EF4-FFF2-40B4-BE49-F238E27FC236}">
                  <a16:creationId xmlns:a16="http://schemas.microsoft.com/office/drawing/2014/main" id="{7BE483FE-2C52-8189-857B-D3ABDAD0950D}"/>
                </a:ext>
              </a:extLst>
            </p:cNvPr>
            <p:cNvSpPr/>
            <p:nvPr/>
          </p:nvSpPr>
          <p:spPr>
            <a:xfrm>
              <a:off x="3738658" y="3296093"/>
              <a:ext cx="705201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5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D3D5EA9D-EA89-BF06-F12D-8F2A6572F4E1}"/>
                </a:ext>
              </a:extLst>
            </p:cNvPr>
            <p:cNvSpPr/>
            <p:nvPr/>
          </p:nvSpPr>
          <p:spPr>
            <a:xfrm>
              <a:off x="4470028" y="3296093"/>
              <a:ext cx="705201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1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18">
              <a:extLst>
                <a:ext uri="{FF2B5EF4-FFF2-40B4-BE49-F238E27FC236}">
                  <a16:creationId xmlns:a16="http://schemas.microsoft.com/office/drawing/2014/main" id="{5E2B6BB9-E282-5456-9B15-AC77DA018F16}"/>
                </a:ext>
              </a:extLst>
            </p:cNvPr>
            <p:cNvSpPr/>
            <p:nvPr/>
          </p:nvSpPr>
          <p:spPr>
            <a:xfrm>
              <a:off x="5999874" y="3296093"/>
              <a:ext cx="705200" cy="705201"/>
            </a:xfrm>
            <a:prstGeom prst="rect">
              <a:avLst/>
            </a:prstGeom>
            <a:solidFill>
              <a:srgbClr val="FDFFC2"/>
            </a:solidFill>
            <a:ln w="508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9C891307-8C09-3588-DDBE-F85E7D88D63C}"/>
                </a:ext>
              </a:extLst>
            </p:cNvPr>
            <p:cNvSpPr/>
            <p:nvPr/>
          </p:nvSpPr>
          <p:spPr>
            <a:xfrm>
              <a:off x="5257844" y="3296093"/>
              <a:ext cx="705200" cy="7052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508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7" name="TextBox 20">
            <a:extLst>
              <a:ext uri="{FF2B5EF4-FFF2-40B4-BE49-F238E27FC236}">
                <a16:creationId xmlns:a16="http://schemas.microsoft.com/office/drawing/2014/main" id="{8FD3A7C7-FFDA-5A5E-8DDF-4CE30E443CAB}"/>
              </a:ext>
            </a:extLst>
          </p:cNvPr>
          <p:cNvSpPr txBox="1"/>
          <p:nvPr/>
        </p:nvSpPr>
        <p:spPr>
          <a:xfrm>
            <a:off x="5479333" y="3322145"/>
            <a:ext cx="5143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exactly the probability that either 3 or 6 is first picked to be a pivot out of the highlighted entries.</a:t>
            </a: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FA25F986-7072-C175-31A9-A47CA960F6DE}"/>
              </a:ext>
            </a:extLst>
          </p:cNvPr>
          <p:cNvSpPr txBox="1"/>
          <p:nvPr/>
        </p:nvSpPr>
        <p:spPr>
          <a:xfrm>
            <a:off x="5496828" y="4175165"/>
            <a:ext cx="5108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If, say, 5 were picked first, then 3 and 6 would be separated and never see each other again.</a:t>
            </a:r>
          </a:p>
        </p:txBody>
      </p:sp>
      <p:sp>
        <p:nvSpPr>
          <p:cNvPr id="9" name="Triangle 22">
            <a:extLst>
              <a:ext uri="{FF2B5EF4-FFF2-40B4-BE49-F238E27FC236}">
                <a16:creationId xmlns:a16="http://schemas.microsoft.com/office/drawing/2014/main" id="{0922FBBC-1C80-8406-8D86-6F6110E9E4B1}"/>
              </a:ext>
            </a:extLst>
          </p:cNvPr>
          <p:cNvSpPr/>
          <p:nvPr/>
        </p:nvSpPr>
        <p:spPr>
          <a:xfrm rot="10800000">
            <a:off x="2396706" y="2188905"/>
            <a:ext cx="329012" cy="28553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Triangle 23">
            <a:extLst>
              <a:ext uri="{FF2B5EF4-FFF2-40B4-BE49-F238E27FC236}">
                <a16:creationId xmlns:a16="http://schemas.microsoft.com/office/drawing/2014/main" id="{E26A3A6B-9BEF-C085-D132-2210F43ECCFE}"/>
              </a:ext>
            </a:extLst>
          </p:cNvPr>
          <p:cNvSpPr/>
          <p:nvPr/>
        </p:nvSpPr>
        <p:spPr>
          <a:xfrm rot="10800000">
            <a:off x="2875558" y="2188905"/>
            <a:ext cx="329012" cy="28553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B8A576B2-EE99-2809-1858-F4BDE931B2B0}"/>
              </a:ext>
            </a:extLst>
          </p:cNvPr>
          <p:cNvSpPr/>
          <p:nvPr/>
        </p:nvSpPr>
        <p:spPr>
          <a:xfrm>
            <a:off x="4206862" y="4233147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F5BDC4EF-8867-3F09-53C6-F6989EC503A3}"/>
              </a:ext>
            </a:extLst>
          </p:cNvPr>
          <p:cNvSpPr/>
          <p:nvPr/>
        </p:nvSpPr>
        <p:spPr>
          <a:xfrm>
            <a:off x="4649357" y="4233147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796A0158-1C44-C5A2-A17C-4CFFFC3C84B8}"/>
              </a:ext>
            </a:extLst>
          </p:cNvPr>
          <p:cNvSpPr/>
          <p:nvPr/>
        </p:nvSpPr>
        <p:spPr>
          <a:xfrm>
            <a:off x="1755441" y="4233147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37">
            <a:extLst>
              <a:ext uri="{FF2B5EF4-FFF2-40B4-BE49-F238E27FC236}">
                <a16:creationId xmlns:a16="http://schemas.microsoft.com/office/drawing/2014/main" id="{A057B684-878F-74D0-21B5-BBBA7C49418F}"/>
              </a:ext>
            </a:extLst>
          </p:cNvPr>
          <p:cNvSpPr/>
          <p:nvPr/>
        </p:nvSpPr>
        <p:spPr>
          <a:xfrm>
            <a:off x="3630956" y="4233147"/>
            <a:ext cx="427510" cy="573347"/>
          </a:xfrm>
          <a:prstGeom prst="rect">
            <a:avLst/>
          </a:prstGeom>
          <a:solidFill>
            <a:schemeClr val="bg2"/>
          </a:solidFill>
          <a:ln w="508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38">
            <a:extLst>
              <a:ext uri="{FF2B5EF4-FFF2-40B4-BE49-F238E27FC236}">
                <a16:creationId xmlns:a16="http://schemas.microsoft.com/office/drawing/2014/main" id="{32A5C55A-0970-73F3-31F0-EF913A9F8D19}"/>
              </a:ext>
            </a:extLst>
          </p:cNvPr>
          <p:cNvSpPr/>
          <p:nvPr/>
        </p:nvSpPr>
        <p:spPr>
          <a:xfrm>
            <a:off x="2182951" y="4233147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39">
            <a:extLst>
              <a:ext uri="{FF2B5EF4-FFF2-40B4-BE49-F238E27FC236}">
                <a16:creationId xmlns:a16="http://schemas.microsoft.com/office/drawing/2014/main" id="{A85CA7D4-0F11-47B3-82BD-CA7C6E7ABA95}"/>
              </a:ext>
            </a:extLst>
          </p:cNvPr>
          <p:cNvSpPr/>
          <p:nvPr/>
        </p:nvSpPr>
        <p:spPr>
          <a:xfrm>
            <a:off x="2612554" y="4233147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40">
            <a:extLst>
              <a:ext uri="{FF2B5EF4-FFF2-40B4-BE49-F238E27FC236}">
                <a16:creationId xmlns:a16="http://schemas.microsoft.com/office/drawing/2014/main" id="{2907541A-2AEB-A4ED-89EE-D9BB19497178}"/>
              </a:ext>
            </a:extLst>
          </p:cNvPr>
          <p:cNvSpPr/>
          <p:nvPr/>
        </p:nvSpPr>
        <p:spPr>
          <a:xfrm>
            <a:off x="3055050" y="4233147"/>
            <a:ext cx="427510" cy="5733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dirty="0">
                <a:solidFill>
                  <a:schemeClr val="tx1"/>
                </a:solidFill>
              </a:rPr>
              <a:t>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118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C1951-1A61-0156-94F5-1F4A5127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 – cont’d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B376F1-F1B1-784E-0F62-43B1E6F765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1146"/>
                <a:ext cx="10515600" cy="459754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altLang="zh-CN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altLang="zh-CN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B376F1-F1B1-784E-0F62-43B1E6F76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1146"/>
                <a:ext cx="10515600" cy="459754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8704649-6A81-916A-C6F1-B5DEF6D812D6}"/>
              </a:ext>
            </a:extLst>
          </p:cNvPr>
          <p:cNvCxnSpPr>
            <a:cxnSpLocks/>
          </p:cNvCxnSpPr>
          <p:nvPr/>
        </p:nvCxnSpPr>
        <p:spPr>
          <a:xfrm flipH="1">
            <a:off x="8144933" y="4250268"/>
            <a:ext cx="990600" cy="600050"/>
          </a:xfrm>
          <a:prstGeom prst="straightConnector1">
            <a:avLst/>
          </a:prstGeom>
          <a:ln w="76200">
            <a:solidFill>
              <a:srgbClr val="009A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65C1D31-9606-CA73-CD2C-9ECC5D63C36C}"/>
              </a:ext>
            </a:extLst>
          </p:cNvPr>
          <p:cNvSpPr txBox="1"/>
          <p:nvPr/>
        </p:nvSpPr>
        <p:spPr>
          <a:xfrm>
            <a:off x="9237133" y="3649989"/>
            <a:ext cx="248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9AB4"/>
                </a:solidFill>
              </a:rPr>
              <a:t>Upper-bounded by the harmonic number</a:t>
            </a:r>
            <a:endParaRPr lang="zh-CN" altLang="en-US" sz="2400" b="1" dirty="0">
              <a:solidFill>
                <a:srgbClr val="009A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8302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91B59F-245D-5BFC-1257-534E764EB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Lower bound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663314-2CDF-DB95-764B-19F654B8C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10515600" cy="513513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Theorem:</a:t>
                </a:r>
              </a:p>
              <a:p>
                <a:pPr lvl="1"/>
                <a:r>
                  <a:rPr lang="en-US" altLang="zh-CN" dirty="0"/>
                  <a:t>Any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deterministic comparison-based sorting algorithm</a:t>
                </a:r>
                <a:r>
                  <a:rPr lang="en-US" altLang="zh-CN" dirty="0">
                    <a:solidFill>
                      <a:schemeClr val="accent4"/>
                    </a:solidFill>
                  </a:rPr>
                  <a:t> </a:t>
                </a:r>
                <a:r>
                  <a:rPr lang="en-US" altLang="zh-CN" dirty="0"/>
                  <a:t>must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altLang="zh-CN" dirty="0"/>
                  <a:t>steps.</a:t>
                </a:r>
              </a:p>
              <a:p>
                <a:pPr lvl="1"/>
                <a:r>
                  <a:rPr lang="en-US" altLang="zh-CN" dirty="0"/>
                  <a:t>Any 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randomized comparison-based sorting algorithm </a:t>
                </a:r>
                <a:r>
                  <a:rPr lang="en-US" altLang="zh-CN" dirty="0"/>
                  <a:t>must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dirty="0"/>
                  <a:t> steps in expectation.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altLang="zh-CN" dirty="0"/>
                  <a:t>Proof recap: </a:t>
                </a:r>
              </a:p>
              <a:p>
                <a:pPr marL="457200" lvl="1" indent="0">
                  <a:spcBef>
                    <a:spcPts val="600"/>
                  </a:spcBef>
                  <a:buNone/>
                </a:pPr>
                <a:r>
                  <a:rPr lang="en-US" altLang="zh-CN" dirty="0"/>
                  <a:t>1. </a:t>
                </a:r>
                <a:r>
                  <a:rPr lang="en-US" altLang="zh-CN" b="1" dirty="0"/>
                  <a:t>Any</a:t>
                </a:r>
                <a:r>
                  <a:rPr lang="en-US" altLang="zh-CN" dirty="0"/>
                  <a:t> deterministic comparison-based </a:t>
                </a:r>
                <a:r>
                  <a:rPr lang="en-US" altLang="zh-CN" b="1" dirty="0"/>
                  <a:t>algorithm</a:t>
                </a:r>
                <a:r>
                  <a:rPr lang="en-US" altLang="zh-CN" dirty="0"/>
                  <a:t> can be represented as a </a:t>
                </a:r>
                <a:r>
                  <a:rPr lang="en-US" altLang="zh-CN" b="1" dirty="0"/>
                  <a:t>decision tree </a:t>
                </a:r>
                <a:r>
                  <a:rPr lang="en-US" altLang="zh-CN" dirty="0"/>
                  <a:t>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altLang="zh-CN" dirty="0"/>
                  <a:t> leaves. </a:t>
                </a:r>
              </a:p>
              <a:p>
                <a:pPr marL="457200" lvl="1" indent="0">
                  <a:spcBef>
                    <a:spcPts val="600"/>
                  </a:spcBef>
                  <a:buNone/>
                </a:pPr>
                <a:r>
                  <a:rPr lang="en-US" altLang="zh-CN" dirty="0"/>
                  <a:t>2. The </a:t>
                </a:r>
                <a:r>
                  <a:rPr lang="en-US" altLang="zh-CN" b="1" dirty="0"/>
                  <a:t>worst-case running time </a:t>
                </a:r>
                <a:r>
                  <a:rPr lang="en-US" altLang="zh-CN" dirty="0"/>
                  <a:t>is at least </a:t>
                </a:r>
                <a:r>
                  <a:rPr lang="en-US" altLang="zh-CN" b="1" dirty="0"/>
                  <a:t>the depth of the decision tree</a:t>
                </a:r>
                <a:r>
                  <a:rPr lang="en-US" altLang="zh-CN" dirty="0"/>
                  <a:t>. </a:t>
                </a:r>
              </a:p>
              <a:p>
                <a:pPr marL="457200" lvl="1" indent="0">
                  <a:spcBef>
                    <a:spcPts val="600"/>
                  </a:spcBef>
                  <a:buNone/>
                </a:pPr>
                <a:r>
                  <a:rPr lang="en-US" altLang="zh-CN" dirty="0"/>
                  <a:t>3. All decision trees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! </m:t>
                    </m:r>
                  </m:oMath>
                </a14:m>
                <a:r>
                  <a:rPr lang="en-US" altLang="zh-CN" dirty="0"/>
                  <a:t>leaves have depth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457200" lvl="1" indent="0">
                  <a:spcBef>
                    <a:spcPts val="600"/>
                  </a:spcBef>
                  <a:buNone/>
                </a:pPr>
                <a:r>
                  <a:rPr lang="en-US" altLang="zh-CN" dirty="0"/>
                  <a:t>4. So any comparison-based sorting algorithm must have worst-case running time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9663314-2CDF-DB95-764B-19F654B8C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10515600" cy="5135130"/>
              </a:xfrm>
              <a:blipFill>
                <a:blip r:embed="rId3"/>
                <a:stretch>
                  <a:fillRect l="-1043" t="-2135" r="-1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AE329AE5-A943-DBA5-B926-F8468F636108}"/>
              </a:ext>
            </a:extLst>
          </p:cNvPr>
          <p:cNvSpPr txBox="1"/>
          <p:nvPr/>
        </p:nvSpPr>
        <p:spPr>
          <a:xfrm rot="208096">
            <a:off x="8877854" y="3158420"/>
            <a:ext cx="24474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7030A0"/>
                </a:solidFill>
              </a:rPr>
              <a:t>This covers all the sorting algorithms we know!!!</a:t>
            </a:r>
          </a:p>
        </p:txBody>
      </p:sp>
    </p:spTree>
    <p:extLst>
      <p:ext uri="{BB962C8B-B14F-4D97-AF65-F5344CB8AC3E}">
        <p14:creationId xmlns:p14="http://schemas.microsoft.com/office/powerpoint/2010/main" val="53084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451A9-4D42-855D-7223-FD8158B0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Decision Tree</a:t>
            </a:r>
            <a:endParaRPr lang="zh-CN" altLang="en-US" dirty="0"/>
          </a:p>
        </p:txBody>
      </p:sp>
      <p:grpSp>
        <p:nvGrpSpPr>
          <p:cNvPr id="4" name="Group 35">
            <a:extLst>
              <a:ext uri="{FF2B5EF4-FFF2-40B4-BE49-F238E27FC236}">
                <a16:creationId xmlns:a16="http://schemas.microsoft.com/office/drawing/2014/main" id="{582CDA9F-0169-EFDA-A51A-3D26D0F68302}"/>
              </a:ext>
            </a:extLst>
          </p:cNvPr>
          <p:cNvGrpSpPr/>
          <p:nvPr/>
        </p:nvGrpSpPr>
        <p:grpSpPr>
          <a:xfrm>
            <a:off x="3841809" y="1516242"/>
            <a:ext cx="4125533" cy="2655277"/>
            <a:chOff x="2084198" y="1903075"/>
            <a:chExt cx="4672399" cy="3164587"/>
          </a:xfrm>
        </p:grpSpPr>
        <p:cxnSp>
          <p:nvCxnSpPr>
            <p:cNvPr id="5" name="Straight Connector 3">
              <a:extLst>
                <a:ext uri="{FF2B5EF4-FFF2-40B4-BE49-F238E27FC236}">
                  <a16:creationId xmlns:a16="http://schemas.microsoft.com/office/drawing/2014/main" id="{4A736C21-476B-3A12-0AB4-0EEA7A0E5DBA}"/>
                </a:ext>
              </a:extLst>
            </p:cNvPr>
            <p:cNvCxnSpPr/>
            <p:nvPr/>
          </p:nvCxnSpPr>
          <p:spPr>
            <a:xfrm flipH="1">
              <a:off x="3602851" y="2515571"/>
              <a:ext cx="557548" cy="67833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4">
              <a:extLst>
                <a:ext uri="{FF2B5EF4-FFF2-40B4-BE49-F238E27FC236}">
                  <a16:creationId xmlns:a16="http://schemas.microsoft.com/office/drawing/2014/main" id="{A20F756B-DEFE-D863-AF0E-580CC7AF9CAF}"/>
                </a:ext>
              </a:extLst>
            </p:cNvPr>
            <p:cNvCxnSpPr/>
            <p:nvPr/>
          </p:nvCxnSpPr>
          <p:spPr>
            <a:xfrm>
              <a:off x="4560997" y="2515571"/>
              <a:ext cx="538919" cy="67833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9765CE0A-146D-29AD-9EEF-CDEF3EB62C11}"/>
                </a:ext>
              </a:extLst>
            </p:cNvPr>
            <p:cNvSpPr txBox="1"/>
            <p:nvPr/>
          </p:nvSpPr>
          <p:spPr>
            <a:xfrm>
              <a:off x="3055907" y="2561843"/>
              <a:ext cx="904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4"/>
                  </a:solidFill>
                  <a:latin typeface="Gill Sans Ultra Bold" charset="0"/>
                  <a:ea typeface="Gill Sans Ultra Bold" charset="0"/>
                  <a:cs typeface="Gill Sans Ultra Bold" charset="0"/>
                </a:rPr>
                <a:t>YES</a:t>
              </a:r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8B337A87-7175-DE9A-F82F-E8BD8BB26F94}"/>
                </a:ext>
              </a:extLst>
            </p:cNvPr>
            <p:cNvSpPr txBox="1"/>
            <p:nvPr/>
          </p:nvSpPr>
          <p:spPr>
            <a:xfrm>
              <a:off x="4830456" y="2561843"/>
              <a:ext cx="774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4"/>
                  </a:solidFill>
                  <a:latin typeface="Gill Sans Ultra Bold" charset="0"/>
                  <a:ea typeface="Gill Sans Ultra Bold" charset="0"/>
                  <a:cs typeface="Gill Sans Ultra Bold" charset="0"/>
                </a:rPr>
                <a:t>NO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A300CF-C869-30F4-1EB5-7EFFEB548964}"/>
                </a:ext>
              </a:extLst>
            </p:cNvPr>
            <p:cNvSpPr/>
            <p:nvPr/>
          </p:nvSpPr>
          <p:spPr>
            <a:xfrm>
              <a:off x="4032471" y="1903075"/>
              <a:ext cx="671097" cy="6587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?</a:t>
              </a:r>
              <a:endParaRPr lang="en-US" dirty="0"/>
            </a:p>
          </p:txBody>
        </p:sp>
        <p:sp>
          <p:nvSpPr>
            <p:cNvPr id="10" name="Oval 11">
              <a:extLst>
                <a:ext uri="{FF2B5EF4-FFF2-40B4-BE49-F238E27FC236}">
                  <a16:creationId xmlns:a16="http://schemas.microsoft.com/office/drawing/2014/main" id="{12167D77-E4FF-8416-AB8A-1A63F5A853DA}"/>
                </a:ext>
              </a:extLst>
            </p:cNvPr>
            <p:cNvSpPr/>
            <p:nvPr/>
          </p:nvSpPr>
          <p:spPr>
            <a:xfrm>
              <a:off x="4882120" y="3159311"/>
              <a:ext cx="671097" cy="6587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?</a:t>
              </a:r>
              <a:endParaRPr lang="en-US" dirty="0"/>
            </a:p>
          </p:txBody>
        </p:sp>
        <p:sp>
          <p:nvSpPr>
            <p:cNvPr id="11" name="Oval 12">
              <a:extLst>
                <a:ext uri="{FF2B5EF4-FFF2-40B4-BE49-F238E27FC236}">
                  <a16:creationId xmlns:a16="http://schemas.microsoft.com/office/drawing/2014/main" id="{82B7747E-C848-1D5B-141B-1E0431E86FF2}"/>
                </a:ext>
              </a:extLst>
            </p:cNvPr>
            <p:cNvSpPr/>
            <p:nvPr/>
          </p:nvSpPr>
          <p:spPr>
            <a:xfrm>
              <a:off x="3158288" y="3159311"/>
              <a:ext cx="671097" cy="6587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?</a:t>
              </a:r>
              <a:endParaRPr lang="en-US" dirty="0"/>
            </a:p>
          </p:txBody>
        </p:sp>
        <p:cxnSp>
          <p:nvCxnSpPr>
            <p:cNvPr id="12" name="Straight Connector 17">
              <a:extLst>
                <a:ext uri="{FF2B5EF4-FFF2-40B4-BE49-F238E27FC236}">
                  <a16:creationId xmlns:a16="http://schemas.microsoft.com/office/drawing/2014/main" id="{C493AF5E-DA0A-9D0C-8171-59FF08251412}"/>
                </a:ext>
              </a:extLst>
            </p:cNvPr>
            <p:cNvCxnSpPr/>
            <p:nvPr/>
          </p:nvCxnSpPr>
          <p:spPr>
            <a:xfrm flipH="1">
              <a:off x="4972802" y="3771807"/>
              <a:ext cx="104369" cy="678334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8">
              <a:extLst>
                <a:ext uri="{FF2B5EF4-FFF2-40B4-BE49-F238E27FC236}">
                  <a16:creationId xmlns:a16="http://schemas.microsoft.com/office/drawing/2014/main" id="{A573E928-F53A-A4F1-857C-D1E7F32FC42B}"/>
                </a:ext>
              </a:extLst>
            </p:cNvPr>
            <p:cNvCxnSpPr/>
            <p:nvPr/>
          </p:nvCxnSpPr>
          <p:spPr>
            <a:xfrm>
              <a:off x="5433722" y="3676270"/>
              <a:ext cx="863639" cy="773871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9">
              <a:extLst>
                <a:ext uri="{FF2B5EF4-FFF2-40B4-BE49-F238E27FC236}">
                  <a16:creationId xmlns:a16="http://schemas.microsoft.com/office/drawing/2014/main" id="{8E0EE941-4647-6295-D349-B02CA7F72D7D}"/>
                </a:ext>
              </a:extLst>
            </p:cNvPr>
            <p:cNvSpPr txBox="1"/>
            <p:nvPr/>
          </p:nvSpPr>
          <p:spPr>
            <a:xfrm>
              <a:off x="4438494" y="3899241"/>
              <a:ext cx="904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4"/>
                  </a:solidFill>
                  <a:latin typeface="Gill Sans Ultra Bold" charset="0"/>
                  <a:ea typeface="Gill Sans Ultra Bold" charset="0"/>
                  <a:cs typeface="Gill Sans Ultra Bold" charset="0"/>
                </a:rPr>
                <a:t>YES</a:t>
              </a:r>
            </a:p>
          </p:txBody>
        </p:sp>
        <p:sp>
          <p:nvSpPr>
            <p:cNvPr id="15" name="TextBox 20">
              <a:extLst>
                <a:ext uri="{FF2B5EF4-FFF2-40B4-BE49-F238E27FC236}">
                  <a16:creationId xmlns:a16="http://schemas.microsoft.com/office/drawing/2014/main" id="{CB4CC861-832E-5FDA-EBBC-0C7A85F92DA9}"/>
                </a:ext>
              </a:extLst>
            </p:cNvPr>
            <p:cNvSpPr txBox="1"/>
            <p:nvPr/>
          </p:nvSpPr>
          <p:spPr>
            <a:xfrm>
              <a:off x="5821315" y="3782161"/>
              <a:ext cx="774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4"/>
                  </a:solidFill>
                  <a:latin typeface="Gill Sans Ultra Bold" charset="0"/>
                  <a:ea typeface="Gill Sans Ultra Bold" charset="0"/>
                  <a:cs typeface="Gill Sans Ultra Bold" charset="0"/>
                </a:rPr>
                <a:t>NO</a:t>
              </a:r>
            </a:p>
          </p:txBody>
        </p:sp>
        <p:cxnSp>
          <p:nvCxnSpPr>
            <p:cNvPr id="16" name="Straight Connector 21">
              <a:extLst>
                <a:ext uri="{FF2B5EF4-FFF2-40B4-BE49-F238E27FC236}">
                  <a16:creationId xmlns:a16="http://schemas.microsoft.com/office/drawing/2014/main" id="{B4312205-05B9-EA05-1ED5-99A60EA836A0}"/>
                </a:ext>
              </a:extLst>
            </p:cNvPr>
            <p:cNvCxnSpPr/>
            <p:nvPr/>
          </p:nvCxnSpPr>
          <p:spPr>
            <a:xfrm flipH="1">
              <a:off x="2601274" y="3760129"/>
              <a:ext cx="679466" cy="69001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22">
              <a:extLst>
                <a:ext uri="{FF2B5EF4-FFF2-40B4-BE49-F238E27FC236}">
                  <a16:creationId xmlns:a16="http://schemas.microsoft.com/office/drawing/2014/main" id="{1F4264E4-A98A-7EBE-6FF5-BA51D34A6331}"/>
                </a:ext>
              </a:extLst>
            </p:cNvPr>
            <p:cNvCxnSpPr/>
            <p:nvPr/>
          </p:nvCxnSpPr>
          <p:spPr>
            <a:xfrm>
              <a:off x="3681337" y="3760129"/>
              <a:ext cx="264944" cy="690012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23">
              <a:extLst>
                <a:ext uri="{FF2B5EF4-FFF2-40B4-BE49-F238E27FC236}">
                  <a16:creationId xmlns:a16="http://schemas.microsoft.com/office/drawing/2014/main" id="{19E1B52B-DF34-F7B2-0403-15B9B48FE264}"/>
                </a:ext>
              </a:extLst>
            </p:cNvPr>
            <p:cNvSpPr txBox="1"/>
            <p:nvPr/>
          </p:nvSpPr>
          <p:spPr>
            <a:xfrm>
              <a:off x="2229533" y="3782161"/>
              <a:ext cx="9045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4"/>
                  </a:solidFill>
                  <a:latin typeface="Gill Sans Ultra Bold" charset="0"/>
                  <a:ea typeface="Gill Sans Ultra Bold" charset="0"/>
                  <a:cs typeface="Gill Sans Ultra Bold" charset="0"/>
                </a:rPr>
                <a:t>YES</a:t>
              </a:r>
            </a:p>
          </p:txBody>
        </p:sp>
        <p:sp>
          <p:nvSpPr>
            <p:cNvPr id="19" name="TextBox 24">
              <a:extLst>
                <a:ext uri="{FF2B5EF4-FFF2-40B4-BE49-F238E27FC236}">
                  <a16:creationId xmlns:a16="http://schemas.microsoft.com/office/drawing/2014/main" id="{F148D3BD-F234-1FC8-8605-A2A360A8A2DA}"/>
                </a:ext>
              </a:extLst>
            </p:cNvPr>
            <p:cNvSpPr txBox="1"/>
            <p:nvPr/>
          </p:nvSpPr>
          <p:spPr>
            <a:xfrm>
              <a:off x="3332886" y="3928216"/>
              <a:ext cx="774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4"/>
                  </a:solidFill>
                  <a:latin typeface="Gill Sans Ultra Bold" charset="0"/>
                  <a:ea typeface="Gill Sans Ultra Bold" charset="0"/>
                  <a:cs typeface="Gill Sans Ultra Bold" charset="0"/>
                </a:rPr>
                <a:t>NO</a:t>
              </a:r>
            </a:p>
          </p:txBody>
        </p:sp>
        <p:sp>
          <p:nvSpPr>
            <p:cNvPr id="20" name="Oval 30">
              <a:extLst>
                <a:ext uri="{FF2B5EF4-FFF2-40B4-BE49-F238E27FC236}">
                  <a16:creationId xmlns:a16="http://schemas.microsoft.com/office/drawing/2014/main" id="{00491238-7D25-7FF5-2E14-974E6044A081}"/>
                </a:ext>
              </a:extLst>
            </p:cNvPr>
            <p:cNvSpPr/>
            <p:nvPr/>
          </p:nvSpPr>
          <p:spPr>
            <a:xfrm>
              <a:off x="6085500" y="4386727"/>
              <a:ext cx="671097" cy="6587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?</a:t>
              </a:r>
              <a:endParaRPr lang="en-US" dirty="0"/>
            </a:p>
          </p:txBody>
        </p:sp>
        <p:sp>
          <p:nvSpPr>
            <p:cNvPr id="21" name="Oval 31">
              <a:extLst>
                <a:ext uri="{FF2B5EF4-FFF2-40B4-BE49-F238E27FC236}">
                  <a16:creationId xmlns:a16="http://schemas.microsoft.com/office/drawing/2014/main" id="{617E6FC3-6342-07D3-FF15-29D615C17532}"/>
                </a:ext>
              </a:extLst>
            </p:cNvPr>
            <p:cNvSpPr/>
            <p:nvPr/>
          </p:nvSpPr>
          <p:spPr>
            <a:xfrm>
              <a:off x="4603069" y="4369256"/>
              <a:ext cx="671097" cy="6587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?</a:t>
              </a:r>
              <a:endParaRPr lang="en-US" dirty="0"/>
            </a:p>
          </p:txBody>
        </p:sp>
        <p:sp>
          <p:nvSpPr>
            <p:cNvPr id="22" name="Oval 32">
              <a:extLst>
                <a:ext uri="{FF2B5EF4-FFF2-40B4-BE49-F238E27FC236}">
                  <a16:creationId xmlns:a16="http://schemas.microsoft.com/office/drawing/2014/main" id="{BB2E490B-A716-4704-E696-224514E567DD}"/>
                </a:ext>
              </a:extLst>
            </p:cNvPr>
            <p:cNvSpPr/>
            <p:nvPr/>
          </p:nvSpPr>
          <p:spPr>
            <a:xfrm>
              <a:off x="3584050" y="4403869"/>
              <a:ext cx="671097" cy="6587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?</a:t>
              </a:r>
              <a:endParaRPr lang="en-US" dirty="0"/>
            </a:p>
          </p:txBody>
        </p:sp>
        <p:sp>
          <p:nvSpPr>
            <p:cNvPr id="23" name="Oval 33">
              <a:extLst>
                <a:ext uri="{FF2B5EF4-FFF2-40B4-BE49-F238E27FC236}">
                  <a16:creationId xmlns:a16="http://schemas.microsoft.com/office/drawing/2014/main" id="{1DEC045F-310E-56CF-E105-7D071A6F8A39}"/>
                </a:ext>
              </a:extLst>
            </p:cNvPr>
            <p:cNvSpPr/>
            <p:nvPr/>
          </p:nvSpPr>
          <p:spPr>
            <a:xfrm>
              <a:off x="2084198" y="4408894"/>
              <a:ext cx="671097" cy="6587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?</a:t>
              </a:r>
              <a:endParaRPr lang="en-US" dirty="0"/>
            </a:p>
          </p:txBody>
        </p:sp>
      </p:grpSp>
      <p:cxnSp>
        <p:nvCxnSpPr>
          <p:cNvPr id="24" name="Straight Connector 57">
            <a:extLst>
              <a:ext uri="{FF2B5EF4-FFF2-40B4-BE49-F238E27FC236}">
                <a16:creationId xmlns:a16="http://schemas.microsoft.com/office/drawing/2014/main" id="{662AAD9E-5C76-CEFA-DAE5-EBB7DF940822}"/>
              </a:ext>
            </a:extLst>
          </p:cNvPr>
          <p:cNvCxnSpPr>
            <a:cxnSpLocks/>
          </p:cNvCxnSpPr>
          <p:nvPr/>
        </p:nvCxnSpPr>
        <p:spPr>
          <a:xfrm flipH="1">
            <a:off x="3571973" y="4104568"/>
            <a:ext cx="404343" cy="829523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58">
            <a:extLst>
              <a:ext uri="{FF2B5EF4-FFF2-40B4-BE49-F238E27FC236}">
                <a16:creationId xmlns:a16="http://schemas.microsoft.com/office/drawing/2014/main" id="{7433545C-BFEF-9D17-E2A8-FCA30BA78016}"/>
              </a:ext>
            </a:extLst>
          </p:cNvPr>
          <p:cNvCxnSpPr>
            <a:cxnSpLocks/>
          </p:cNvCxnSpPr>
          <p:nvPr/>
        </p:nvCxnSpPr>
        <p:spPr>
          <a:xfrm>
            <a:off x="7797405" y="4118678"/>
            <a:ext cx="614769" cy="1566934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60">
            <a:extLst>
              <a:ext uri="{FF2B5EF4-FFF2-40B4-BE49-F238E27FC236}">
                <a16:creationId xmlns:a16="http://schemas.microsoft.com/office/drawing/2014/main" id="{49C8E187-615B-19CC-2F7D-8231804EB2D1}"/>
              </a:ext>
            </a:extLst>
          </p:cNvPr>
          <p:cNvSpPr/>
          <p:nvPr/>
        </p:nvSpPr>
        <p:spPr>
          <a:xfrm>
            <a:off x="3259399" y="4954634"/>
            <a:ext cx="1173708" cy="4913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63">
            <a:extLst>
              <a:ext uri="{FF2B5EF4-FFF2-40B4-BE49-F238E27FC236}">
                <a16:creationId xmlns:a16="http://schemas.microsoft.com/office/drawing/2014/main" id="{EDF4AEAD-ED53-CDF1-7423-32D944A5B8D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8590" y="5075563"/>
            <a:ext cx="287594" cy="300200"/>
          </a:xfrm>
          <a:prstGeom prst="rect">
            <a:avLst/>
          </a:prstGeom>
        </p:spPr>
      </p:pic>
      <p:pic>
        <p:nvPicPr>
          <p:cNvPr id="28" name="Picture 67">
            <a:extLst>
              <a:ext uri="{FF2B5EF4-FFF2-40B4-BE49-F238E27FC236}">
                <a16:creationId xmlns:a16="http://schemas.microsoft.com/office/drawing/2014/main" id="{B3DDE458-6F8A-6F03-E4CD-795002F34C6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6932" y="5001206"/>
            <a:ext cx="384394" cy="401243"/>
          </a:xfrm>
          <a:prstGeom prst="rect">
            <a:avLst/>
          </a:prstGeom>
        </p:spPr>
      </p:pic>
      <p:pic>
        <p:nvPicPr>
          <p:cNvPr id="29" name="Picture 68">
            <a:extLst>
              <a:ext uri="{FF2B5EF4-FFF2-40B4-BE49-F238E27FC236}">
                <a16:creationId xmlns:a16="http://schemas.microsoft.com/office/drawing/2014/main" id="{C2DD7F9A-F11E-EA0D-C8F4-918166801C3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1332" y="5011125"/>
            <a:ext cx="342770" cy="357795"/>
          </a:xfrm>
          <a:prstGeom prst="rect">
            <a:avLst/>
          </a:prstGeom>
        </p:spPr>
      </p:pic>
      <p:sp>
        <p:nvSpPr>
          <p:cNvPr id="30" name="Rectangle 74">
            <a:extLst>
              <a:ext uri="{FF2B5EF4-FFF2-40B4-BE49-F238E27FC236}">
                <a16:creationId xmlns:a16="http://schemas.microsoft.com/office/drawing/2014/main" id="{118B266E-BFAD-3841-7947-BD6FD319849D}"/>
              </a:ext>
            </a:extLst>
          </p:cNvPr>
          <p:cNvSpPr/>
          <p:nvPr/>
        </p:nvSpPr>
        <p:spPr>
          <a:xfrm>
            <a:off x="4186815" y="5730428"/>
            <a:ext cx="1173708" cy="4913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75">
            <a:extLst>
              <a:ext uri="{FF2B5EF4-FFF2-40B4-BE49-F238E27FC236}">
                <a16:creationId xmlns:a16="http://schemas.microsoft.com/office/drawing/2014/main" id="{5B0C0C92-9369-A23F-8BB6-2E7233BEB05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9872" y="5838290"/>
            <a:ext cx="287594" cy="300200"/>
          </a:xfrm>
          <a:prstGeom prst="rect">
            <a:avLst/>
          </a:prstGeom>
        </p:spPr>
      </p:pic>
      <p:pic>
        <p:nvPicPr>
          <p:cNvPr id="32" name="Picture 76">
            <a:extLst>
              <a:ext uri="{FF2B5EF4-FFF2-40B4-BE49-F238E27FC236}">
                <a16:creationId xmlns:a16="http://schemas.microsoft.com/office/drawing/2014/main" id="{1C9FED3E-156A-A84B-CC49-FC86431D2A0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4348" y="5777000"/>
            <a:ext cx="384394" cy="401243"/>
          </a:xfrm>
          <a:prstGeom prst="rect">
            <a:avLst/>
          </a:prstGeom>
        </p:spPr>
      </p:pic>
      <p:pic>
        <p:nvPicPr>
          <p:cNvPr id="33" name="Picture 77">
            <a:extLst>
              <a:ext uri="{FF2B5EF4-FFF2-40B4-BE49-F238E27FC236}">
                <a16:creationId xmlns:a16="http://schemas.microsoft.com/office/drawing/2014/main" id="{40EF6A69-73BF-1626-B370-A683627ECD9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0808" y="5786919"/>
            <a:ext cx="342770" cy="357795"/>
          </a:xfrm>
          <a:prstGeom prst="rect">
            <a:avLst/>
          </a:prstGeom>
        </p:spPr>
      </p:pic>
      <p:sp>
        <p:nvSpPr>
          <p:cNvPr id="34" name="Rectangle 78">
            <a:extLst>
              <a:ext uri="{FF2B5EF4-FFF2-40B4-BE49-F238E27FC236}">
                <a16:creationId xmlns:a16="http://schemas.microsoft.com/office/drawing/2014/main" id="{504ABF9E-866C-B5D8-782C-EB9213CD8377}"/>
              </a:ext>
            </a:extLst>
          </p:cNvPr>
          <p:cNvSpPr/>
          <p:nvPr/>
        </p:nvSpPr>
        <p:spPr>
          <a:xfrm>
            <a:off x="5564078" y="5740347"/>
            <a:ext cx="1173708" cy="4913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79">
            <a:extLst>
              <a:ext uri="{FF2B5EF4-FFF2-40B4-BE49-F238E27FC236}">
                <a16:creationId xmlns:a16="http://schemas.microsoft.com/office/drawing/2014/main" id="{8E56091F-F1E6-F0DA-C39E-D58B2227F77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7408" y="5878043"/>
            <a:ext cx="287594" cy="300200"/>
          </a:xfrm>
          <a:prstGeom prst="rect">
            <a:avLst/>
          </a:prstGeom>
        </p:spPr>
      </p:pic>
      <p:pic>
        <p:nvPicPr>
          <p:cNvPr id="36" name="Picture 80">
            <a:extLst>
              <a:ext uri="{FF2B5EF4-FFF2-40B4-BE49-F238E27FC236}">
                <a16:creationId xmlns:a16="http://schemas.microsoft.com/office/drawing/2014/main" id="{476F5362-9E26-2313-EDCF-35DE7997549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3256" y="5786919"/>
            <a:ext cx="384394" cy="401243"/>
          </a:xfrm>
          <a:prstGeom prst="rect">
            <a:avLst/>
          </a:prstGeom>
        </p:spPr>
      </p:pic>
      <p:pic>
        <p:nvPicPr>
          <p:cNvPr id="37" name="Picture 81">
            <a:extLst>
              <a:ext uri="{FF2B5EF4-FFF2-40B4-BE49-F238E27FC236}">
                <a16:creationId xmlns:a16="http://schemas.microsoft.com/office/drawing/2014/main" id="{FB540BB6-5777-59B9-DFAA-9C5DF65C0A3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7282" y="5809250"/>
            <a:ext cx="342770" cy="357795"/>
          </a:xfrm>
          <a:prstGeom prst="rect">
            <a:avLst/>
          </a:prstGeom>
        </p:spPr>
      </p:pic>
      <p:sp>
        <p:nvSpPr>
          <p:cNvPr id="38" name="Rectangle 82">
            <a:extLst>
              <a:ext uri="{FF2B5EF4-FFF2-40B4-BE49-F238E27FC236}">
                <a16:creationId xmlns:a16="http://schemas.microsoft.com/office/drawing/2014/main" id="{2F9F91F2-870F-4EAA-2F4F-29F851FD1110}"/>
              </a:ext>
            </a:extLst>
          </p:cNvPr>
          <p:cNvSpPr/>
          <p:nvPr/>
        </p:nvSpPr>
        <p:spPr>
          <a:xfrm>
            <a:off x="6715411" y="4939907"/>
            <a:ext cx="1173708" cy="4913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83">
            <a:extLst>
              <a:ext uri="{FF2B5EF4-FFF2-40B4-BE49-F238E27FC236}">
                <a16:creationId xmlns:a16="http://schemas.microsoft.com/office/drawing/2014/main" id="{CBF67EFB-73FE-112B-2B43-C724DCE6A54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9612" y="5073441"/>
            <a:ext cx="287594" cy="300200"/>
          </a:xfrm>
          <a:prstGeom prst="rect">
            <a:avLst/>
          </a:prstGeom>
        </p:spPr>
      </p:pic>
      <p:pic>
        <p:nvPicPr>
          <p:cNvPr id="40" name="Picture 84">
            <a:extLst>
              <a:ext uri="{FF2B5EF4-FFF2-40B4-BE49-F238E27FC236}">
                <a16:creationId xmlns:a16="http://schemas.microsoft.com/office/drawing/2014/main" id="{0D97D572-95C8-063E-7C5E-9FBC4A87EE6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9043" y="5001206"/>
            <a:ext cx="384394" cy="401243"/>
          </a:xfrm>
          <a:prstGeom prst="rect">
            <a:avLst/>
          </a:prstGeom>
        </p:spPr>
      </p:pic>
      <p:pic>
        <p:nvPicPr>
          <p:cNvPr id="41" name="Picture 85">
            <a:extLst>
              <a:ext uri="{FF2B5EF4-FFF2-40B4-BE49-F238E27FC236}">
                <a16:creationId xmlns:a16="http://schemas.microsoft.com/office/drawing/2014/main" id="{7C3F5C86-82C9-3E70-2013-64738657F30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7344" y="4996398"/>
            <a:ext cx="342770" cy="357795"/>
          </a:xfrm>
          <a:prstGeom prst="rect">
            <a:avLst/>
          </a:prstGeom>
        </p:spPr>
      </p:pic>
      <p:sp>
        <p:nvSpPr>
          <p:cNvPr id="42" name="Rectangle 86">
            <a:extLst>
              <a:ext uri="{FF2B5EF4-FFF2-40B4-BE49-F238E27FC236}">
                <a16:creationId xmlns:a16="http://schemas.microsoft.com/office/drawing/2014/main" id="{F278FEC0-2C31-D232-1498-EF5FA8B20827}"/>
              </a:ext>
            </a:extLst>
          </p:cNvPr>
          <p:cNvSpPr/>
          <p:nvPr/>
        </p:nvSpPr>
        <p:spPr>
          <a:xfrm>
            <a:off x="7639214" y="5676455"/>
            <a:ext cx="1173708" cy="49132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87">
            <a:extLst>
              <a:ext uri="{FF2B5EF4-FFF2-40B4-BE49-F238E27FC236}">
                <a16:creationId xmlns:a16="http://schemas.microsoft.com/office/drawing/2014/main" id="{200416D1-437B-DF69-27A9-29786BCD668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6654" y="5809980"/>
            <a:ext cx="287594" cy="300200"/>
          </a:xfrm>
          <a:prstGeom prst="rect">
            <a:avLst/>
          </a:prstGeom>
        </p:spPr>
      </p:pic>
      <p:pic>
        <p:nvPicPr>
          <p:cNvPr id="44" name="Picture 88">
            <a:extLst>
              <a:ext uri="{FF2B5EF4-FFF2-40B4-BE49-F238E27FC236}">
                <a16:creationId xmlns:a16="http://schemas.microsoft.com/office/drawing/2014/main" id="{62B4B68D-06E4-5068-1BE3-6F6663AFA1C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5737" y="5743207"/>
            <a:ext cx="384394" cy="401243"/>
          </a:xfrm>
          <a:prstGeom prst="rect">
            <a:avLst/>
          </a:prstGeom>
        </p:spPr>
      </p:pic>
      <p:pic>
        <p:nvPicPr>
          <p:cNvPr id="45" name="Picture 89">
            <a:extLst>
              <a:ext uri="{FF2B5EF4-FFF2-40B4-BE49-F238E27FC236}">
                <a16:creationId xmlns:a16="http://schemas.microsoft.com/office/drawing/2014/main" id="{C2F3E70C-EF12-BB24-48BD-8F1F3652DC8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174" y="5748681"/>
            <a:ext cx="342770" cy="357795"/>
          </a:xfrm>
          <a:prstGeom prst="rect">
            <a:avLst/>
          </a:prstGeom>
        </p:spPr>
      </p:pic>
      <p:cxnSp>
        <p:nvCxnSpPr>
          <p:cNvPr id="46" name="Straight Connector 91">
            <a:extLst>
              <a:ext uri="{FF2B5EF4-FFF2-40B4-BE49-F238E27FC236}">
                <a16:creationId xmlns:a16="http://schemas.microsoft.com/office/drawing/2014/main" id="{5354ABEE-CDC8-BC0D-7690-4088A61FE10C}"/>
              </a:ext>
            </a:extLst>
          </p:cNvPr>
          <p:cNvCxnSpPr/>
          <p:nvPr/>
        </p:nvCxnSpPr>
        <p:spPr>
          <a:xfrm>
            <a:off x="6512186" y="4091414"/>
            <a:ext cx="252244" cy="231208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93">
            <a:extLst>
              <a:ext uri="{FF2B5EF4-FFF2-40B4-BE49-F238E27FC236}">
                <a16:creationId xmlns:a16="http://schemas.microsoft.com/office/drawing/2014/main" id="{99A8FF71-9A35-3442-28EA-C9D5AF794CB6}"/>
              </a:ext>
            </a:extLst>
          </p:cNvPr>
          <p:cNvCxnSpPr/>
          <p:nvPr/>
        </p:nvCxnSpPr>
        <p:spPr>
          <a:xfrm>
            <a:off x="5545468" y="4120984"/>
            <a:ext cx="252244" cy="231208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94">
            <a:extLst>
              <a:ext uri="{FF2B5EF4-FFF2-40B4-BE49-F238E27FC236}">
                <a16:creationId xmlns:a16="http://schemas.microsoft.com/office/drawing/2014/main" id="{E3E423D6-D25B-C7E3-269C-FAEC2E819AC5}"/>
              </a:ext>
            </a:extLst>
          </p:cNvPr>
          <p:cNvCxnSpPr/>
          <p:nvPr/>
        </p:nvCxnSpPr>
        <p:spPr>
          <a:xfrm>
            <a:off x="4401326" y="4041370"/>
            <a:ext cx="252244" cy="231208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95">
            <a:extLst>
              <a:ext uri="{FF2B5EF4-FFF2-40B4-BE49-F238E27FC236}">
                <a16:creationId xmlns:a16="http://schemas.microsoft.com/office/drawing/2014/main" id="{175CEFD2-9ABD-62A5-80B2-BD675CA1C672}"/>
              </a:ext>
            </a:extLst>
          </p:cNvPr>
          <p:cNvCxnSpPr/>
          <p:nvPr/>
        </p:nvCxnSpPr>
        <p:spPr>
          <a:xfrm flipH="1">
            <a:off x="5086461" y="4111883"/>
            <a:ext cx="258838" cy="240309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97">
            <a:extLst>
              <a:ext uri="{FF2B5EF4-FFF2-40B4-BE49-F238E27FC236}">
                <a16:creationId xmlns:a16="http://schemas.microsoft.com/office/drawing/2014/main" id="{1CF4BA0F-2663-EF78-821E-8B3D7A396D8B}"/>
              </a:ext>
            </a:extLst>
          </p:cNvPr>
          <p:cNvCxnSpPr/>
          <p:nvPr/>
        </p:nvCxnSpPr>
        <p:spPr>
          <a:xfrm flipH="1">
            <a:off x="6030434" y="4086862"/>
            <a:ext cx="258838" cy="240309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98">
            <a:extLst>
              <a:ext uri="{FF2B5EF4-FFF2-40B4-BE49-F238E27FC236}">
                <a16:creationId xmlns:a16="http://schemas.microsoft.com/office/drawing/2014/main" id="{C738F0D5-C1A8-C55B-D3D7-04A83C6A71E5}"/>
              </a:ext>
            </a:extLst>
          </p:cNvPr>
          <p:cNvCxnSpPr/>
          <p:nvPr/>
        </p:nvCxnSpPr>
        <p:spPr>
          <a:xfrm flipH="1">
            <a:off x="7340619" y="4114157"/>
            <a:ext cx="258838" cy="240309"/>
          </a:xfrm>
          <a:prstGeom prst="line">
            <a:avLst/>
          </a:prstGeom>
          <a:ln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 104">
            <a:extLst>
              <a:ext uri="{FF2B5EF4-FFF2-40B4-BE49-F238E27FC236}">
                <a16:creationId xmlns:a16="http://schemas.microsoft.com/office/drawing/2014/main" id="{5EB79E62-BE9B-EBDB-1F6B-4B9E0479B93B}"/>
              </a:ext>
            </a:extLst>
          </p:cNvPr>
          <p:cNvSpPr/>
          <p:nvPr/>
        </p:nvSpPr>
        <p:spPr>
          <a:xfrm>
            <a:off x="4717727" y="2063786"/>
            <a:ext cx="1582891" cy="3684895"/>
          </a:xfrm>
          <a:custGeom>
            <a:avLst/>
            <a:gdLst>
              <a:gd name="connsiteX0" fmla="*/ 1050371 w 1582891"/>
              <a:gd name="connsiteY0" fmla="*/ 0 h 3684895"/>
              <a:gd name="connsiteX1" fmla="*/ 559052 w 1582891"/>
              <a:gd name="connsiteY1" fmla="*/ 354842 h 3684895"/>
              <a:gd name="connsiteX2" fmla="*/ 367983 w 1582891"/>
              <a:gd name="connsiteY2" fmla="*/ 791570 h 3684895"/>
              <a:gd name="connsiteX3" fmla="*/ 736473 w 1582891"/>
              <a:gd name="connsiteY3" fmla="*/ 1501254 h 3684895"/>
              <a:gd name="connsiteX4" fmla="*/ 818359 w 1582891"/>
              <a:gd name="connsiteY4" fmla="*/ 2006221 h 3684895"/>
              <a:gd name="connsiteX5" fmla="*/ 395279 w 1582891"/>
              <a:gd name="connsiteY5" fmla="*/ 2306471 h 3684895"/>
              <a:gd name="connsiteX6" fmla="*/ 40437 w 1582891"/>
              <a:gd name="connsiteY6" fmla="*/ 2606722 h 3684895"/>
              <a:gd name="connsiteX7" fmla="*/ 176915 w 1582891"/>
              <a:gd name="connsiteY7" fmla="*/ 2893325 h 3684895"/>
              <a:gd name="connsiteX8" fmla="*/ 1541691 w 1582891"/>
              <a:gd name="connsiteY8" fmla="*/ 3316406 h 3684895"/>
              <a:gd name="connsiteX9" fmla="*/ 1255088 w 1582891"/>
              <a:gd name="connsiteY9" fmla="*/ 3684895 h 3684895"/>
              <a:gd name="connsiteX10" fmla="*/ 1255088 w 1582891"/>
              <a:gd name="connsiteY10" fmla="*/ 3684895 h 3684895"/>
              <a:gd name="connsiteX11" fmla="*/ 1268736 w 1582891"/>
              <a:gd name="connsiteY11" fmla="*/ 3657600 h 368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82891" h="3684895">
                <a:moveTo>
                  <a:pt x="1050371" y="0"/>
                </a:moveTo>
                <a:cubicBezTo>
                  <a:pt x="861577" y="111457"/>
                  <a:pt x="672783" y="222914"/>
                  <a:pt x="559052" y="354842"/>
                </a:cubicBezTo>
                <a:cubicBezTo>
                  <a:pt x="445321" y="486770"/>
                  <a:pt x="338413" y="600502"/>
                  <a:pt x="367983" y="791570"/>
                </a:cubicBezTo>
                <a:cubicBezTo>
                  <a:pt x="397553" y="982638"/>
                  <a:pt x="661410" y="1298812"/>
                  <a:pt x="736473" y="1501254"/>
                </a:cubicBezTo>
                <a:cubicBezTo>
                  <a:pt x="811536" y="1703696"/>
                  <a:pt x="875225" y="1872018"/>
                  <a:pt x="818359" y="2006221"/>
                </a:cubicBezTo>
                <a:cubicBezTo>
                  <a:pt x="761493" y="2140424"/>
                  <a:pt x="524933" y="2206388"/>
                  <a:pt x="395279" y="2306471"/>
                </a:cubicBezTo>
                <a:cubicBezTo>
                  <a:pt x="265625" y="2406554"/>
                  <a:pt x="76831" y="2508913"/>
                  <a:pt x="40437" y="2606722"/>
                </a:cubicBezTo>
                <a:cubicBezTo>
                  <a:pt x="4043" y="2704531"/>
                  <a:pt x="-73294" y="2775044"/>
                  <a:pt x="176915" y="2893325"/>
                </a:cubicBezTo>
                <a:cubicBezTo>
                  <a:pt x="427124" y="3011606"/>
                  <a:pt x="1361996" y="3184478"/>
                  <a:pt x="1541691" y="3316406"/>
                </a:cubicBezTo>
                <a:cubicBezTo>
                  <a:pt x="1721386" y="3448334"/>
                  <a:pt x="1255088" y="3684895"/>
                  <a:pt x="1255088" y="3684895"/>
                </a:cubicBezTo>
                <a:lnTo>
                  <a:pt x="1255088" y="3684895"/>
                </a:lnTo>
                <a:lnTo>
                  <a:pt x="1268736" y="3657600"/>
                </a:lnTo>
              </a:path>
            </a:pathLst>
          </a:custGeom>
          <a:noFill/>
          <a:ln w="73025">
            <a:solidFill>
              <a:srgbClr val="DE676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97EDF16-8435-8FA8-3517-C3A20A95EC4F}"/>
              </a:ext>
            </a:extLst>
          </p:cNvPr>
          <p:cNvCxnSpPr>
            <a:cxnSpLocks/>
          </p:cNvCxnSpPr>
          <p:nvPr/>
        </p:nvCxnSpPr>
        <p:spPr>
          <a:xfrm flipH="1">
            <a:off x="6484479" y="4687747"/>
            <a:ext cx="2270465" cy="10892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156AB2B1-8ED0-AAF5-16CB-3F00ED7F901D}"/>
              </a:ext>
            </a:extLst>
          </p:cNvPr>
          <p:cNvSpPr txBox="1"/>
          <p:nvPr/>
        </p:nvSpPr>
        <p:spPr>
          <a:xfrm>
            <a:off x="8834442" y="3577047"/>
            <a:ext cx="32263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If we take this path through the tree, the runtime is </a:t>
            </a:r>
            <a:r>
              <a:rPr lang="en-US" altLang="zh-CN" sz="2400" b="1" dirty="0">
                <a:solidFill>
                  <a:srgbClr val="FF0000"/>
                </a:solidFill>
              </a:rPr>
              <a:t>Ω(length of the path)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93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6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966" y="211377"/>
            <a:ext cx="9129360" cy="927577"/>
          </a:xfrm>
        </p:spPr>
        <p:txBody>
          <a:bodyPr>
            <a:normAutofit/>
          </a:bodyPr>
          <a:lstStyle/>
          <a:p>
            <a:r>
              <a:rPr lang="en-US" dirty="0"/>
              <a:t>How long is the longest path?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1715626" y="1690690"/>
            <a:ext cx="4994524" cy="3672881"/>
            <a:chOff x="382694" y="1690689"/>
            <a:chExt cx="7672018" cy="4715425"/>
          </a:xfrm>
        </p:grpSpPr>
        <p:grpSp>
          <p:nvGrpSpPr>
            <p:cNvPr id="4" name="Group 3"/>
            <p:cNvGrpSpPr/>
            <p:nvPr/>
          </p:nvGrpSpPr>
          <p:grpSpPr>
            <a:xfrm>
              <a:off x="2509233" y="1690689"/>
              <a:ext cx="4125533" cy="2655277"/>
              <a:chOff x="2084198" y="1903075"/>
              <a:chExt cx="4672399" cy="3164587"/>
            </a:xfrm>
          </p:grpSpPr>
          <p:cxnSp>
            <p:nvCxnSpPr>
              <p:cNvPr id="5" name="Straight Connector 4"/>
              <p:cNvCxnSpPr/>
              <p:nvPr/>
            </p:nvCxnSpPr>
            <p:spPr>
              <a:xfrm flipH="1">
                <a:off x="3602851" y="2515571"/>
                <a:ext cx="557548" cy="678334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4560997" y="2515571"/>
                <a:ext cx="538919" cy="678334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3229064" y="2686219"/>
                <a:ext cx="904545" cy="400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accent4"/>
                    </a:solidFill>
                    <a:latin typeface="Gill Sans Ultra Bold" charset="0"/>
                    <a:ea typeface="Gill Sans Ultra Bold" charset="0"/>
                    <a:cs typeface="Gill Sans Ultra Bold" charset="0"/>
                  </a:rPr>
                  <a:t>YES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830456" y="2561846"/>
                <a:ext cx="1073893" cy="423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4"/>
                    </a:solidFill>
                    <a:latin typeface="Gill Sans Ultra Bold" charset="0"/>
                    <a:ea typeface="Gill Sans Ultra Bold" charset="0"/>
                    <a:cs typeface="Gill Sans Ultra Bold" charset="0"/>
                  </a:rPr>
                  <a:t>NO</a:t>
                </a: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4032471" y="1903075"/>
                <a:ext cx="671097" cy="6587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?</a:t>
                </a:r>
                <a:endParaRPr lang="en-US" dirty="0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4882120" y="3159311"/>
                <a:ext cx="671097" cy="6587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?</a:t>
                </a:r>
                <a:endParaRPr lang="en-US" dirty="0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158288" y="3159311"/>
                <a:ext cx="671097" cy="6587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?</a:t>
                </a:r>
                <a:endParaRPr lang="en-US" dirty="0"/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 flipH="1">
                <a:off x="4972802" y="3771807"/>
                <a:ext cx="104369" cy="678334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433722" y="3676270"/>
                <a:ext cx="863639" cy="773871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4438494" y="3899240"/>
                <a:ext cx="904545" cy="400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accent4"/>
                    </a:solidFill>
                    <a:latin typeface="Gill Sans Ultra Bold" charset="0"/>
                    <a:ea typeface="Gill Sans Ultra Bold" charset="0"/>
                    <a:cs typeface="Gill Sans Ultra Bold" charset="0"/>
                  </a:rPr>
                  <a:t>YES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821317" y="3782161"/>
                <a:ext cx="774426" cy="400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accent4"/>
                    </a:solidFill>
                    <a:latin typeface="Gill Sans Ultra Bold" charset="0"/>
                    <a:ea typeface="Gill Sans Ultra Bold" charset="0"/>
                    <a:cs typeface="Gill Sans Ultra Bold" charset="0"/>
                  </a:rPr>
                  <a:t>NO</a:t>
                </a:r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 flipH="1">
                <a:off x="2601274" y="3760129"/>
                <a:ext cx="679466" cy="69001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3681337" y="3760129"/>
                <a:ext cx="264944" cy="69001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2229533" y="3782161"/>
                <a:ext cx="1290773" cy="423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accent4"/>
                    </a:solidFill>
                    <a:latin typeface="Gill Sans Ultra Bold" charset="0"/>
                    <a:ea typeface="Gill Sans Ultra Bold" charset="0"/>
                    <a:cs typeface="Gill Sans Ultra Bold" charset="0"/>
                  </a:rPr>
                  <a:t>YES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332886" y="3928216"/>
                <a:ext cx="774426" cy="400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accent4"/>
                    </a:solidFill>
                    <a:latin typeface="Gill Sans Ultra Bold" charset="0"/>
                    <a:ea typeface="Gill Sans Ultra Bold" charset="0"/>
                    <a:cs typeface="Gill Sans Ultra Bold" charset="0"/>
                  </a:rPr>
                  <a:t>NO</a:t>
                </a: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6085500" y="4386727"/>
                <a:ext cx="671097" cy="6587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?</a:t>
                </a:r>
                <a:endParaRPr lang="en-US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4603069" y="4369256"/>
                <a:ext cx="671097" cy="6587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?</a:t>
                </a:r>
                <a:endParaRPr lang="en-US" dirty="0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584050" y="4403869"/>
                <a:ext cx="671097" cy="6587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?</a:t>
                </a:r>
                <a:endParaRPr lang="en-US" dirty="0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2084198" y="4408894"/>
                <a:ext cx="671097" cy="6587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?</a:t>
                </a:r>
                <a:endParaRPr lang="en-US" dirty="0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 flipH="1">
              <a:off x="969548" y="4157737"/>
              <a:ext cx="1463246" cy="1357860"/>
            </a:xfrm>
            <a:prstGeom prst="line">
              <a:avLst/>
            </a:prstGeom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6464829" y="4293125"/>
              <a:ext cx="798108" cy="636868"/>
            </a:xfrm>
            <a:prstGeom prst="line">
              <a:avLst/>
            </a:prstGeom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382694" y="5515597"/>
              <a:ext cx="1173708" cy="49132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885" y="5636526"/>
              <a:ext cx="287594" cy="300200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0227" y="5562169"/>
              <a:ext cx="384394" cy="401243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4627" y="5572088"/>
              <a:ext cx="342770" cy="357795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1959857" y="4956679"/>
              <a:ext cx="1173708" cy="49132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29048" y="5077608"/>
              <a:ext cx="287594" cy="300200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6598" y="5020070"/>
              <a:ext cx="384394" cy="401243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60483" y="5063518"/>
              <a:ext cx="342770" cy="357795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2854239" y="5904875"/>
              <a:ext cx="1173708" cy="49132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97296" y="6012737"/>
              <a:ext cx="287594" cy="300200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11772" y="5951447"/>
              <a:ext cx="384394" cy="401243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8232" y="5961366"/>
              <a:ext cx="342770" cy="357795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4231502" y="5914794"/>
              <a:ext cx="1173708" cy="49132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64832" y="6052490"/>
              <a:ext cx="287594" cy="300200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20680" y="5961366"/>
              <a:ext cx="384394" cy="401243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54706" y="5983697"/>
              <a:ext cx="342770" cy="357795"/>
            </a:xfrm>
            <a:prstGeom prst="rect">
              <a:avLst/>
            </a:prstGeom>
          </p:spPr>
        </p:pic>
        <p:sp>
          <p:nvSpPr>
            <p:cNvPr id="42" name="Rectangle 41"/>
            <p:cNvSpPr/>
            <p:nvPr/>
          </p:nvSpPr>
          <p:spPr>
            <a:xfrm>
              <a:off x="5382835" y="5114354"/>
              <a:ext cx="1173708" cy="49132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87036" y="5247888"/>
              <a:ext cx="287594" cy="300200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86467" y="5175653"/>
              <a:ext cx="384394" cy="401243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64768" y="5170845"/>
              <a:ext cx="342770" cy="357795"/>
            </a:xfrm>
            <a:prstGeom prst="rect">
              <a:avLst/>
            </a:prstGeom>
          </p:spPr>
        </p:pic>
        <p:sp>
          <p:nvSpPr>
            <p:cNvPr id="46" name="Rectangle 45"/>
            <p:cNvSpPr/>
            <p:nvPr/>
          </p:nvSpPr>
          <p:spPr>
            <a:xfrm>
              <a:off x="6881004" y="4929993"/>
              <a:ext cx="1173708" cy="49132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8444" y="5063518"/>
              <a:ext cx="287594" cy="300200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7527" y="4996745"/>
              <a:ext cx="384394" cy="401243"/>
            </a:xfrm>
            <a:prstGeom prst="rect">
              <a:avLst/>
            </a:prstGeom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53964" y="5002219"/>
              <a:ext cx="342770" cy="357795"/>
            </a:xfrm>
            <a:prstGeom prst="rect">
              <a:avLst/>
            </a:prstGeom>
          </p:spPr>
        </p:pic>
        <p:cxnSp>
          <p:nvCxnSpPr>
            <p:cNvPr id="50" name="Straight Connector 49"/>
            <p:cNvCxnSpPr/>
            <p:nvPr/>
          </p:nvCxnSpPr>
          <p:spPr>
            <a:xfrm>
              <a:off x="5179610" y="4265861"/>
              <a:ext cx="252244" cy="231208"/>
            </a:xfrm>
            <a:prstGeom prst="line">
              <a:avLst/>
            </a:prstGeom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4212892" y="4295431"/>
              <a:ext cx="252244" cy="231208"/>
            </a:xfrm>
            <a:prstGeom prst="line">
              <a:avLst/>
            </a:prstGeom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3068750" y="4215817"/>
              <a:ext cx="252244" cy="231208"/>
            </a:xfrm>
            <a:prstGeom prst="line">
              <a:avLst/>
            </a:prstGeom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3753885" y="4286330"/>
              <a:ext cx="258838" cy="240309"/>
            </a:xfrm>
            <a:prstGeom prst="line">
              <a:avLst/>
            </a:prstGeom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4697858" y="4261309"/>
              <a:ext cx="258838" cy="240309"/>
            </a:xfrm>
            <a:prstGeom prst="line">
              <a:avLst/>
            </a:prstGeom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6008043" y="4288604"/>
              <a:ext cx="258838" cy="240309"/>
            </a:xfrm>
            <a:prstGeom prst="line">
              <a:avLst/>
            </a:prstGeom>
            <a:ln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6599150" y="1841308"/>
            <a:ext cx="50643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This is a binary tree with at least _____ leaves.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The shallowest tree with </a:t>
            </a:r>
            <a:r>
              <a:rPr lang="en-US" sz="2800" dirty="0">
                <a:solidFill>
                  <a:srgbClr val="DE6769"/>
                </a:solidFill>
              </a:rPr>
              <a:t>n! </a:t>
            </a:r>
            <a:r>
              <a:rPr lang="en-US" sz="2800" dirty="0"/>
              <a:t>leaves is the completely balanced one, which has depth ______.</a:t>
            </a:r>
          </a:p>
          <a:p>
            <a:pPr marL="285750" indent="-285750">
              <a:buFont typeface="Arial" charset="0"/>
              <a:buChar char="•"/>
            </a:pPr>
            <a:endParaRPr lang="en-US" sz="20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/>
              <a:t>So in all such trees, the longest path is at least </a:t>
            </a:r>
            <a:r>
              <a:rPr lang="en-US" sz="2800" dirty="0">
                <a:solidFill>
                  <a:srgbClr val="DE6769"/>
                </a:solidFill>
              </a:rPr>
              <a:t>log(n!).</a:t>
            </a:r>
          </a:p>
          <a:p>
            <a:pPr marL="285750" indent="-285750">
              <a:buFont typeface="Arial" charset="0"/>
              <a:buChar char="•"/>
            </a:pPr>
            <a:endParaRPr lang="en-US" sz="2400" dirty="0"/>
          </a:p>
          <a:p>
            <a:pPr marL="285750" indent="-285750">
              <a:buFont typeface="Arial" charset="0"/>
              <a:buChar char="•"/>
            </a:pPr>
            <a:endParaRPr lang="en-US" sz="2400" dirty="0"/>
          </a:p>
        </p:txBody>
      </p:sp>
      <p:sp>
        <p:nvSpPr>
          <p:cNvPr id="58" name="TextBox 57"/>
          <p:cNvSpPr txBox="1"/>
          <p:nvPr/>
        </p:nvSpPr>
        <p:spPr>
          <a:xfrm>
            <a:off x="7929173" y="2280870"/>
            <a:ext cx="586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E6769"/>
                </a:solidFill>
              </a:rPr>
              <a:t>n!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41613" y="4217549"/>
            <a:ext cx="12488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DE6769"/>
                </a:solidFill>
              </a:rPr>
              <a:t>log(n!)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681121" y="5651852"/>
                <a:ext cx="533355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!∼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(Stirling’s approx.).</a:t>
                </a:r>
              </a:p>
              <a:p>
                <a:pPr marL="285750" indent="-285750">
                  <a:buFont typeface="Arial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=</m:t>
                    </m:r>
                    <m:r>
                      <m:rPr>
                        <m:sty m:val="p"/>
                      </m:rPr>
                      <a:rPr lang="en-US" sz="2400" i="0" dirty="0" err="1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121" y="5651852"/>
                <a:ext cx="5333555" cy="830997"/>
              </a:xfrm>
              <a:prstGeom prst="rect">
                <a:avLst/>
              </a:prstGeom>
              <a:blipFill>
                <a:blip r:embed="rId6"/>
                <a:stretch>
                  <a:fillRect l="-1600" t="-5147" b="-13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8396614" y="6144295"/>
                <a:ext cx="3795386" cy="707886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7030A0"/>
                    </a:solidFill>
                  </a:rPr>
                  <a:t>Conclusion</a:t>
                </a:r>
                <a:r>
                  <a:rPr lang="en-US" sz="2000" dirty="0">
                    <a:solidFill>
                      <a:srgbClr val="7030A0"/>
                    </a:solidFill>
                  </a:rPr>
                  <a:t>: the longest path has length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)).</m:t>
                    </m:r>
                  </m:oMath>
                </a14:m>
                <a:endParaRPr lang="en-US" sz="20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614" y="6144295"/>
                <a:ext cx="3795386" cy="707886"/>
              </a:xfrm>
              <a:prstGeom prst="rect">
                <a:avLst/>
              </a:prstGeom>
              <a:blipFill>
                <a:blip r:embed="rId7"/>
                <a:stretch>
                  <a:fillRect l="-1440" t="-4237" b="-13559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/>
          <p:cNvSpPr txBox="1"/>
          <p:nvPr/>
        </p:nvSpPr>
        <p:spPr>
          <a:xfrm>
            <a:off x="5902450" y="1043349"/>
            <a:ext cx="5322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We want a statement: in all such trees, the longest path is at least _____</a:t>
            </a:r>
          </a:p>
        </p:txBody>
      </p:sp>
    </p:spTree>
    <p:extLst>
      <p:ext uri="{BB962C8B-B14F-4D97-AF65-F5344CB8AC3E}">
        <p14:creationId xmlns:p14="http://schemas.microsoft.com/office/powerpoint/2010/main" val="116586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uiExpand="1" build="p" bldLvl="2"/>
      <p:bldP spid="58" grpId="0"/>
      <p:bldP spid="59" grpId="0"/>
      <p:bldP spid="60" grpId="0" uiExpand="1" build="p"/>
      <p:bldP spid="6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768280F-8C70-1298-727E-7808EA42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 – Adaptivity for Sorting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D62406-2D7A-7A00-BCCA-F48310184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Section 3 Problem 3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380464"/>
      </p:ext>
    </p:extLst>
  </p:cSld>
  <p:clrMapOvr>
    <a:masterClrMapping/>
  </p:clrMapOvr>
  <p:transition spd="slow">
    <p:strips dir="r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43746-2162-589B-BCE6-4D00CA7DC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02F766-6423-C909-E20D-A7B6F1507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Adaptivity </a:t>
            </a:r>
          </a:p>
          <a:p>
            <a:pPr lvl="1"/>
            <a:r>
              <a:rPr lang="en-US" altLang="zh-CN" dirty="0"/>
              <a:t># rounds </a:t>
            </a:r>
            <a:r>
              <a:rPr lang="en-US" altLang="zh-CN"/>
              <a:t>(depth) of </a:t>
            </a:r>
            <a:r>
              <a:rPr lang="en-US" altLang="zh-CN" dirty="0"/>
              <a:t>queries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For comparison-based problems (e.g. sorting)</a:t>
            </a:r>
          </a:p>
          <a:p>
            <a:pPr lvl="1"/>
            <a:r>
              <a:rPr lang="en-US" altLang="zh-CN" dirty="0"/>
              <a:t>Query = Comparisons</a:t>
            </a:r>
          </a:p>
          <a:p>
            <a:pPr lvl="1"/>
            <a:r>
              <a:rPr lang="en-US" altLang="zh-CN" dirty="0"/>
              <a:t>Adaptivity: # rounds of comparisons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2375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90B6C2-5480-199C-4F69-3E9E2CCF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Adaptivity – Warmup Examples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33F7685-5FE4-2637-520D-6470894F09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Computing the maximum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lim>
                    </m:limLow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zh-CN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33F7685-5FE4-2637-520D-6470894F0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oogle Shape;765;g32e3c3536b7_0_1918">
            <a:extLst>
              <a:ext uri="{FF2B5EF4-FFF2-40B4-BE49-F238E27FC236}">
                <a16:creationId xmlns:a16="http://schemas.microsoft.com/office/drawing/2014/main" id="{5C0EAF63-A34B-D1DF-0813-2C60D46F1A73}"/>
              </a:ext>
            </a:extLst>
          </p:cNvPr>
          <p:cNvGrpSpPr/>
          <p:nvPr/>
        </p:nvGrpSpPr>
        <p:grpSpPr>
          <a:xfrm>
            <a:off x="1314028" y="2380927"/>
            <a:ext cx="375337" cy="3927220"/>
            <a:chOff x="1302794" y="2294334"/>
            <a:chExt cx="375450" cy="3927220"/>
          </a:xfrm>
        </p:grpSpPr>
        <p:grpSp>
          <p:nvGrpSpPr>
            <p:cNvPr id="6" name="Google Shape;766;g32e3c3536b7_0_1918">
              <a:extLst>
                <a:ext uri="{FF2B5EF4-FFF2-40B4-BE49-F238E27FC236}">
                  <a16:creationId xmlns:a16="http://schemas.microsoft.com/office/drawing/2014/main" id="{DB2B5F89-C178-521B-7F85-238F8670E3E8}"/>
                </a:ext>
              </a:extLst>
            </p:cNvPr>
            <p:cNvGrpSpPr/>
            <p:nvPr/>
          </p:nvGrpSpPr>
          <p:grpSpPr>
            <a:xfrm>
              <a:off x="1302794" y="2316211"/>
              <a:ext cx="375450" cy="3879568"/>
              <a:chOff x="2563799" y="1840527"/>
              <a:chExt cx="331875" cy="4907739"/>
            </a:xfrm>
          </p:grpSpPr>
          <p:grpSp>
            <p:nvGrpSpPr>
              <p:cNvPr id="19" name="Google Shape;767;g32e3c3536b7_0_1918">
                <a:extLst>
                  <a:ext uri="{FF2B5EF4-FFF2-40B4-BE49-F238E27FC236}">
                    <a16:creationId xmlns:a16="http://schemas.microsoft.com/office/drawing/2014/main" id="{0E30916C-8339-73B5-39F3-20D8E1E68470}"/>
                  </a:ext>
                </a:extLst>
              </p:cNvPr>
              <p:cNvGrpSpPr/>
              <p:nvPr/>
            </p:nvGrpSpPr>
            <p:grpSpPr>
              <a:xfrm rot="5400000">
                <a:off x="1299956" y="5152549"/>
                <a:ext cx="2859775" cy="331660"/>
                <a:chOff x="1997317" y="3229162"/>
                <a:chExt cx="5028620" cy="718500"/>
              </a:xfrm>
            </p:grpSpPr>
            <p:sp>
              <p:nvSpPr>
                <p:cNvPr id="26" name="Google Shape;768;g32e3c3536b7_0_1918">
                  <a:extLst>
                    <a:ext uri="{FF2B5EF4-FFF2-40B4-BE49-F238E27FC236}">
                      <a16:creationId xmlns:a16="http://schemas.microsoft.com/office/drawing/2014/main" id="{A412E01B-C8E1-0809-32EC-03ADB064DD37}"/>
                    </a:ext>
                  </a:extLst>
                </p:cNvPr>
                <p:cNvSpPr/>
                <p:nvPr/>
              </p:nvSpPr>
              <p:spPr>
                <a:xfrm>
                  <a:off x="1997317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" name="Google Shape;769;g32e3c3536b7_0_1918">
                  <a:extLst>
                    <a:ext uri="{FF2B5EF4-FFF2-40B4-BE49-F238E27FC236}">
                      <a16:creationId xmlns:a16="http://schemas.microsoft.com/office/drawing/2014/main" id="{CD7443FE-8EFF-1F52-32BE-A6EF8E96A8B0}"/>
                    </a:ext>
                  </a:extLst>
                </p:cNvPr>
                <p:cNvSpPr/>
                <p:nvPr/>
              </p:nvSpPr>
              <p:spPr>
                <a:xfrm>
                  <a:off x="2720303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" name="Google Shape;770;g32e3c3536b7_0_1918">
                  <a:extLst>
                    <a:ext uri="{FF2B5EF4-FFF2-40B4-BE49-F238E27FC236}">
                      <a16:creationId xmlns:a16="http://schemas.microsoft.com/office/drawing/2014/main" id="{96458300-451C-A677-951B-15F59B2795B8}"/>
                    </a:ext>
                  </a:extLst>
                </p:cNvPr>
                <p:cNvSpPr/>
                <p:nvPr/>
              </p:nvSpPr>
              <p:spPr>
                <a:xfrm>
                  <a:off x="3435890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771;g32e3c3536b7_0_1918">
                  <a:extLst>
                    <a:ext uri="{FF2B5EF4-FFF2-40B4-BE49-F238E27FC236}">
                      <a16:creationId xmlns:a16="http://schemas.microsoft.com/office/drawing/2014/main" id="{50782C53-DEF0-26BA-DD8D-F5CBD688A331}"/>
                    </a:ext>
                  </a:extLst>
                </p:cNvPr>
                <p:cNvSpPr/>
                <p:nvPr/>
              </p:nvSpPr>
              <p:spPr>
                <a:xfrm>
                  <a:off x="4162356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772;g32e3c3536b7_0_1918">
                  <a:extLst>
                    <a:ext uri="{FF2B5EF4-FFF2-40B4-BE49-F238E27FC236}">
                      <a16:creationId xmlns:a16="http://schemas.microsoft.com/office/drawing/2014/main" id="{C56D6734-DA1A-5612-9CF2-9D3A7EA8CA0A}"/>
                    </a:ext>
                  </a:extLst>
                </p:cNvPr>
                <p:cNvSpPr/>
                <p:nvPr/>
              </p:nvSpPr>
              <p:spPr>
                <a:xfrm>
                  <a:off x="4893726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" name="Google Shape;773;g32e3c3536b7_0_1918">
                  <a:extLst>
                    <a:ext uri="{FF2B5EF4-FFF2-40B4-BE49-F238E27FC236}">
                      <a16:creationId xmlns:a16="http://schemas.microsoft.com/office/drawing/2014/main" id="{48805F32-1CBC-3274-CF66-3A5B587E6C50}"/>
                    </a:ext>
                  </a:extLst>
                </p:cNvPr>
                <p:cNvSpPr/>
                <p:nvPr/>
              </p:nvSpPr>
              <p:spPr>
                <a:xfrm>
                  <a:off x="5602380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" name="Google Shape;774;g32e3c3536b7_0_1918">
                  <a:extLst>
                    <a:ext uri="{FF2B5EF4-FFF2-40B4-BE49-F238E27FC236}">
                      <a16:creationId xmlns:a16="http://schemas.microsoft.com/office/drawing/2014/main" id="{DF2432C6-8009-AE06-4B2B-A8E741922D8C}"/>
                    </a:ext>
                  </a:extLst>
                </p:cNvPr>
                <p:cNvSpPr/>
                <p:nvPr/>
              </p:nvSpPr>
              <p:spPr>
                <a:xfrm>
                  <a:off x="6348537" y="3229162"/>
                  <a:ext cx="6774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" name="Google Shape;775;g32e3c3536b7_0_1918">
                <a:extLst>
                  <a:ext uri="{FF2B5EF4-FFF2-40B4-BE49-F238E27FC236}">
                    <a16:creationId xmlns:a16="http://schemas.microsoft.com/office/drawing/2014/main" id="{9EEB3262-53CE-74DE-669C-C0498B09B2DE}"/>
                  </a:ext>
                </a:extLst>
              </p:cNvPr>
              <p:cNvGrpSpPr/>
              <p:nvPr/>
            </p:nvGrpSpPr>
            <p:grpSpPr>
              <a:xfrm>
                <a:off x="2563799" y="1840527"/>
                <a:ext cx="331800" cy="2048145"/>
                <a:chOff x="1182152" y="3187006"/>
                <a:chExt cx="331800" cy="2048145"/>
              </a:xfrm>
            </p:grpSpPr>
            <p:sp>
              <p:nvSpPr>
                <p:cNvPr id="21" name="Google Shape;776;g32e3c3536b7_0_1918">
                  <a:extLst>
                    <a:ext uri="{FF2B5EF4-FFF2-40B4-BE49-F238E27FC236}">
                      <a16:creationId xmlns:a16="http://schemas.microsoft.com/office/drawing/2014/main" id="{9E2F0889-993E-10CF-8EB0-27E646008D4D}"/>
                    </a:ext>
                  </a:extLst>
                </p:cNvPr>
                <p:cNvSpPr/>
                <p:nvPr/>
              </p:nvSpPr>
              <p:spPr>
                <a:xfrm rot="5400000">
                  <a:off x="1147502" y="3221656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" name="Google Shape;777;g32e3c3536b7_0_1918">
                  <a:extLst>
                    <a:ext uri="{FF2B5EF4-FFF2-40B4-BE49-F238E27FC236}">
                      <a16:creationId xmlns:a16="http://schemas.microsoft.com/office/drawing/2014/main" id="{50C805F8-2E82-E41B-3A6A-E5284F1418AA}"/>
                    </a:ext>
                  </a:extLst>
                </p:cNvPr>
                <p:cNvSpPr/>
                <p:nvPr/>
              </p:nvSpPr>
              <p:spPr>
                <a:xfrm rot="5400000">
                  <a:off x="1147502" y="3632782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" name="Google Shape;778;g32e3c3536b7_0_1918">
                  <a:extLst>
                    <a:ext uri="{FF2B5EF4-FFF2-40B4-BE49-F238E27FC236}">
                      <a16:creationId xmlns:a16="http://schemas.microsoft.com/office/drawing/2014/main" id="{6BE5D089-4301-25AD-E2D4-AAE7954C9DCF}"/>
                    </a:ext>
                  </a:extLst>
                </p:cNvPr>
                <p:cNvSpPr/>
                <p:nvPr/>
              </p:nvSpPr>
              <p:spPr>
                <a:xfrm rot="5400000">
                  <a:off x="1147502" y="4039702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" name="Google Shape;779;g32e3c3536b7_0_1918">
                  <a:extLst>
                    <a:ext uri="{FF2B5EF4-FFF2-40B4-BE49-F238E27FC236}">
                      <a16:creationId xmlns:a16="http://schemas.microsoft.com/office/drawing/2014/main" id="{E25107EE-F651-EF05-6F2F-6DDFA2E3F7C1}"/>
                    </a:ext>
                  </a:extLst>
                </p:cNvPr>
                <p:cNvSpPr/>
                <p:nvPr/>
              </p:nvSpPr>
              <p:spPr>
                <a:xfrm rot="5400000">
                  <a:off x="1147502" y="4452807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" name="Google Shape;780;g32e3c3536b7_0_1918">
                  <a:extLst>
                    <a:ext uri="{FF2B5EF4-FFF2-40B4-BE49-F238E27FC236}">
                      <a16:creationId xmlns:a16="http://schemas.microsoft.com/office/drawing/2014/main" id="{892493BD-694E-BA74-F01C-6679A3823D9A}"/>
                    </a:ext>
                  </a:extLst>
                </p:cNvPr>
                <p:cNvSpPr/>
                <p:nvPr/>
              </p:nvSpPr>
              <p:spPr>
                <a:xfrm rot="5400000">
                  <a:off x="1147502" y="4868701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7" name="Google Shape;781;g32e3c3536b7_0_1918">
              <a:extLst>
                <a:ext uri="{FF2B5EF4-FFF2-40B4-BE49-F238E27FC236}">
                  <a16:creationId xmlns:a16="http://schemas.microsoft.com/office/drawing/2014/main" id="{57EDDCB1-2574-6560-3BF1-76A11A036923}"/>
                </a:ext>
              </a:extLst>
            </p:cNvPr>
            <p:cNvSpPr txBox="1"/>
            <p:nvPr/>
          </p:nvSpPr>
          <p:spPr>
            <a:xfrm>
              <a:off x="1360348" y="2294334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782;g32e3c3536b7_0_1918">
              <a:extLst>
                <a:ext uri="{FF2B5EF4-FFF2-40B4-BE49-F238E27FC236}">
                  <a16:creationId xmlns:a16="http://schemas.microsoft.com/office/drawing/2014/main" id="{E5BFB4A9-4D2F-4FE0-738D-68792D863459}"/>
                </a:ext>
              </a:extLst>
            </p:cNvPr>
            <p:cNvSpPr txBox="1"/>
            <p:nvPr/>
          </p:nvSpPr>
          <p:spPr>
            <a:xfrm>
              <a:off x="1366577" y="2602256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783;g32e3c3536b7_0_1918">
              <a:extLst>
                <a:ext uri="{FF2B5EF4-FFF2-40B4-BE49-F238E27FC236}">
                  <a16:creationId xmlns:a16="http://schemas.microsoft.com/office/drawing/2014/main" id="{8E39A1F2-B481-9411-60E5-49BFBCD234AB}"/>
                </a:ext>
              </a:extLst>
            </p:cNvPr>
            <p:cNvSpPr txBox="1"/>
            <p:nvPr/>
          </p:nvSpPr>
          <p:spPr>
            <a:xfrm>
              <a:off x="1363725" y="2940358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784;g32e3c3536b7_0_1918">
              <a:extLst>
                <a:ext uri="{FF2B5EF4-FFF2-40B4-BE49-F238E27FC236}">
                  <a16:creationId xmlns:a16="http://schemas.microsoft.com/office/drawing/2014/main" id="{BA10AF00-3329-9FD3-EF01-F852F572A962}"/>
                </a:ext>
              </a:extLst>
            </p:cNvPr>
            <p:cNvSpPr txBox="1"/>
            <p:nvPr/>
          </p:nvSpPr>
          <p:spPr>
            <a:xfrm>
              <a:off x="1359311" y="3233674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785;g32e3c3536b7_0_1918">
              <a:extLst>
                <a:ext uri="{FF2B5EF4-FFF2-40B4-BE49-F238E27FC236}">
                  <a16:creationId xmlns:a16="http://schemas.microsoft.com/office/drawing/2014/main" id="{57EBD11E-B1DC-2E3D-B8DB-178EAF804608}"/>
                </a:ext>
              </a:extLst>
            </p:cNvPr>
            <p:cNvSpPr txBox="1"/>
            <p:nvPr/>
          </p:nvSpPr>
          <p:spPr>
            <a:xfrm>
              <a:off x="1349873" y="3571776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786;g32e3c3536b7_0_1918">
              <a:extLst>
                <a:ext uri="{FF2B5EF4-FFF2-40B4-BE49-F238E27FC236}">
                  <a16:creationId xmlns:a16="http://schemas.microsoft.com/office/drawing/2014/main" id="{4C6CFF38-A79B-19B6-E714-4A395711AE0F}"/>
                </a:ext>
              </a:extLst>
            </p:cNvPr>
            <p:cNvSpPr txBox="1"/>
            <p:nvPr/>
          </p:nvSpPr>
          <p:spPr>
            <a:xfrm>
              <a:off x="1354898" y="3887865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787;g32e3c3536b7_0_1918">
              <a:extLst>
                <a:ext uri="{FF2B5EF4-FFF2-40B4-BE49-F238E27FC236}">
                  <a16:creationId xmlns:a16="http://schemas.microsoft.com/office/drawing/2014/main" id="{76DCAA4F-F24E-7C42-C776-86A9EB4F7710}"/>
                </a:ext>
              </a:extLst>
            </p:cNvPr>
            <p:cNvSpPr txBox="1"/>
            <p:nvPr/>
          </p:nvSpPr>
          <p:spPr>
            <a:xfrm>
              <a:off x="1358497" y="4206729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788;g32e3c3536b7_0_1918">
              <a:extLst>
                <a:ext uri="{FF2B5EF4-FFF2-40B4-BE49-F238E27FC236}">
                  <a16:creationId xmlns:a16="http://schemas.microsoft.com/office/drawing/2014/main" id="{E7D99E22-A959-F192-C660-54970F61DE68}"/>
                </a:ext>
              </a:extLst>
            </p:cNvPr>
            <p:cNvSpPr txBox="1"/>
            <p:nvPr/>
          </p:nvSpPr>
          <p:spPr>
            <a:xfrm>
              <a:off x="1365372" y="4539728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789;g32e3c3536b7_0_1918">
              <a:extLst>
                <a:ext uri="{FF2B5EF4-FFF2-40B4-BE49-F238E27FC236}">
                  <a16:creationId xmlns:a16="http://schemas.microsoft.com/office/drawing/2014/main" id="{F45AD48C-0699-2259-C4D2-816FA79735A1}"/>
                </a:ext>
              </a:extLst>
            </p:cNvPr>
            <p:cNvSpPr txBox="1"/>
            <p:nvPr/>
          </p:nvSpPr>
          <p:spPr>
            <a:xfrm>
              <a:off x="1362199" y="486672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790;g32e3c3536b7_0_1918">
              <a:extLst>
                <a:ext uri="{FF2B5EF4-FFF2-40B4-BE49-F238E27FC236}">
                  <a16:creationId xmlns:a16="http://schemas.microsoft.com/office/drawing/2014/main" id="{2E79D547-C464-669A-B0EC-C761EBA388AD}"/>
                </a:ext>
              </a:extLst>
            </p:cNvPr>
            <p:cNvSpPr txBox="1"/>
            <p:nvPr/>
          </p:nvSpPr>
          <p:spPr>
            <a:xfrm>
              <a:off x="1367020" y="518463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791;g32e3c3536b7_0_1918">
              <a:extLst>
                <a:ext uri="{FF2B5EF4-FFF2-40B4-BE49-F238E27FC236}">
                  <a16:creationId xmlns:a16="http://schemas.microsoft.com/office/drawing/2014/main" id="{6C933715-8CD4-E117-1E75-D5EF38852FF2}"/>
                </a:ext>
              </a:extLst>
            </p:cNvPr>
            <p:cNvSpPr txBox="1"/>
            <p:nvPr/>
          </p:nvSpPr>
          <p:spPr>
            <a:xfrm>
              <a:off x="1357175" y="5525400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792;g32e3c3536b7_0_1918">
              <a:extLst>
                <a:ext uri="{FF2B5EF4-FFF2-40B4-BE49-F238E27FC236}">
                  <a16:creationId xmlns:a16="http://schemas.microsoft.com/office/drawing/2014/main" id="{74889B54-B006-05CA-E0EC-026FD8BDC751}"/>
                </a:ext>
              </a:extLst>
            </p:cNvPr>
            <p:cNvSpPr txBox="1"/>
            <p:nvPr/>
          </p:nvSpPr>
          <p:spPr>
            <a:xfrm>
              <a:off x="1373569" y="5852254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095F364A-7C8F-52D5-6572-F71E21386BEE}"/>
              </a:ext>
            </a:extLst>
          </p:cNvPr>
          <p:cNvCxnSpPr>
            <a:stCxn id="21" idx="0"/>
            <a:endCxn id="22" idx="0"/>
          </p:cNvCxnSpPr>
          <p:nvPr/>
        </p:nvCxnSpPr>
        <p:spPr>
          <a:xfrm>
            <a:off x="1689280" y="2561339"/>
            <a:ext cx="12700" cy="324995"/>
          </a:xfrm>
          <a:prstGeom prst="curvedConnector3">
            <a:avLst>
              <a:gd name="adj1" fmla="val 157093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04B83A1-9133-E108-2023-C36A4BB62EAB}"/>
              </a:ext>
            </a:extLst>
          </p:cNvPr>
          <p:cNvSpPr txBox="1"/>
          <p:nvPr/>
        </p:nvSpPr>
        <p:spPr>
          <a:xfrm>
            <a:off x="1864901" y="26605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C489B7AC-2053-EE2E-87BE-B51C4350DAA3}"/>
              </a:ext>
            </a:extLst>
          </p:cNvPr>
          <p:cNvCxnSpPr>
            <a:cxnSpLocks/>
            <a:stCxn id="35" idx="3"/>
            <a:endCxn id="23" idx="0"/>
          </p:cNvCxnSpPr>
          <p:nvPr/>
        </p:nvCxnSpPr>
        <p:spPr>
          <a:xfrm flipH="1">
            <a:off x="1689280" y="2845188"/>
            <a:ext cx="488527" cy="362816"/>
          </a:xfrm>
          <a:prstGeom prst="curvedConnector3">
            <a:avLst>
              <a:gd name="adj1" fmla="val -4679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CC31DC7B-6D4D-98F5-688B-798F35521682}"/>
              </a:ext>
            </a:extLst>
          </p:cNvPr>
          <p:cNvSpPr txBox="1"/>
          <p:nvPr/>
        </p:nvSpPr>
        <p:spPr>
          <a:xfrm>
            <a:off x="2423255" y="29509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629C5723-5E0F-304C-3DCD-1FD6980A3DF7}"/>
              </a:ext>
            </a:extLst>
          </p:cNvPr>
          <p:cNvCxnSpPr>
            <a:cxnSpLocks/>
            <a:stCxn id="39" idx="3"/>
            <a:endCxn id="24" idx="0"/>
          </p:cNvCxnSpPr>
          <p:nvPr/>
        </p:nvCxnSpPr>
        <p:spPr>
          <a:xfrm flipH="1">
            <a:off x="1689280" y="3135601"/>
            <a:ext cx="1046881" cy="398963"/>
          </a:xfrm>
          <a:prstGeom prst="curvedConnector3">
            <a:avLst>
              <a:gd name="adj1" fmla="val -2183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D0DDBB6-0ABA-958E-A19E-839775872CBB}"/>
              </a:ext>
            </a:extLst>
          </p:cNvPr>
          <p:cNvSpPr txBox="1"/>
          <p:nvPr/>
        </p:nvSpPr>
        <p:spPr>
          <a:xfrm>
            <a:off x="2888589" y="33202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D6FC5257-4976-CD5E-2C4F-816F4FB4B043}"/>
              </a:ext>
            </a:extLst>
          </p:cNvPr>
          <p:cNvCxnSpPr>
            <a:stCxn id="43" idx="3"/>
            <a:endCxn id="25" idx="0"/>
          </p:cNvCxnSpPr>
          <p:nvPr/>
        </p:nvCxnSpPr>
        <p:spPr>
          <a:xfrm flipH="1">
            <a:off x="1689280" y="3504901"/>
            <a:ext cx="1512215" cy="358427"/>
          </a:xfrm>
          <a:prstGeom prst="curvedConnector3">
            <a:avLst>
              <a:gd name="adj1" fmla="val -1511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08BF9234-3036-A715-4E6A-9790277C4488}"/>
              </a:ext>
            </a:extLst>
          </p:cNvPr>
          <p:cNvSpPr txBox="1"/>
          <p:nvPr/>
        </p:nvSpPr>
        <p:spPr>
          <a:xfrm>
            <a:off x="3353923" y="365238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EC10A7C-9C66-0A3D-77ED-993D0B7D3A74}"/>
                  </a:ext>
                </a:extLst>
              </p:cNvPr>
              <p:cNvSpPr txBox="1"/>
              <p:nvPr/>
            </p:nvSpPr>
            <p:spPr>
              <a:xfrm>
                <a:off x="3045042" y="4178076"/>
                <a:ext cx="11905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EC10A7C-9C66-0A3D-77ED-993D0B7D3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042" y="4178076"/>
                <a:ext cx="119059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0596088-9FCE-9ADD-4557-202A132DD7C0}"/>
                  </a:ext>
                </a:extLst>
              </p:cNvPr>
              <p:cNvSpPr txBox="1"/>
              <p:nvPr/>
            </p:nvSpPr>
            <p:spPr>
              <a:xfrm>
                <a:off x="2756676" y="5374170"/>
                <a:ext cx="331021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Adaptivity: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sz="2800" dirty="0"/>
              </a:p>
              <a:p>
                <a:r>
                  <a:rPr lang="en-US" altLang="zh-CN" sz="2800" b="1" dirty="0"/>
                  <a:t>Comparisons: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A0596088-9FCE-9ADD-4557-202A132DD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676" y="5374170"/>
                <a:ext cx="3310210" cy="954107"/>
              </a:xfrm>
              <a:prstGeom prst="rect">
                <a:avLst/>
              </a:prstGeom>
              <a:blipFill>
                <a:blip r:embed="rId4"/>
                <a:stretch>
                  <a:fillRect l="-3683" t="-7051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oogle Shape;765;g32e3c3536b7_0_1918">
            <a:extLst>
              <a:ext uri="{FF2B5EF4-FFF2-40B4-BE49-F238E27FC236}">
                <a16:creationId xmlns:a16="http://schemas.microsoft.com/office/drawing/2014/main" id="{DD687A91-80A3-E46B-46B0-0C2428091D7C}"/>
              </a:ext>
            </a:extLst>
          </p:cNvPr>
          <p:cNvGrpSpPr/>
          <p:nvPr/>
        </p:nvGrpSpPr>
        <p:grpSpPr>
          <a:xfrm>
            <a:off x="6761695" y="2383133"/>
            <a:ext cx="375337" cy="3927220"/>
            <a:chOff x="1302794" y="2294334"/>
            <a:chExt cx="375450" cy="3927220"/>
          </a:xfrm>
        </p:grpSpPr>
        <p:grpSp>
          <p:nvGrpSpPr>
            <p:cNvPr id="53" name="Google Shape;766;g32e3c3536b7_0_1918">
              <a:extLst>
                <a:ext uri="{FF2B5EF4-FFF2-40B4-BE49-F238E27FC236}">
                  <a16:creationId xmlns:a16="http://schemas.microsoft.com/office/drawing/2014/main" id="{5D812C02-53DA-10BD-F2B8-5A086A0B0ED0}"/>
                </a:ext>
              </a:extLst>
            </p:cNvPr>
            <p:cNvGrpSpPr/>
            <p:nvPr/>
          </p:nvGrpSpPr>
          <p:grpSpPr>
            <a:xfrm>
              <a:off x="1302794" y="2316211"/>
              <a:ext cx="375450" cy="3879568"/>
              <a:chOff x="2563799" y="1840527"/>
              <a:chExt cx="331875" cy="4907739"/>
            </a:xfrm>
          </p:grpSpPr>
          <p:grpSp>
            <p:nvGrpSpPr>
              <p:cNvPr id="66" name="Google Shape;767;g32e3c3536b7_0_1918">
                <a:extLst>
                  <a:ext uri="{FF2B5EF4-FFF2-40B4-BE49-F238E27FC236}">
                    <a16:creationId xmlns:a16="http://schemas.microsoft.com/office/drawing/2014/main" id="{23E8B3EE-A9D7-9886-26AF-6A9CEECB643C}"/>
                  </a:ext>
                </a:extLst>
              </p:cNvPr>
              <p:cNvGrpSpPr/>
              <p:nvPr/>
            </p:nvGrpSpPr>
            <p:grpSpPr>
              <a:xfrm rot="5400000">
                <a:off x="1299956" y="5152549"/>
                <a:ext cx="2859775" cy="331660"/>
                <a:chOff x="1997317" y="3229162"/>
                <a:chExt cx="5028620" cy="718500"/>
              </a:xfrm>
            </p:grpSpPr>
            <p:sp>
              <p:nvSpPr>
                <p:cNvPr id="73" name="Google Shape;768;g32e3c3536b7_0_1918">
                  <a:extLst>
                    <a:ext uri="{FF2B5EF4-FFF2-40B4-BE49-F238E27FC236}">
                      <a16:creationId xmlns:a16="http://schemas.microsoft.com/office/drawing/2014/main" id="{EA644B75-3247-F77A-CE02-6600D28E8332}"/>
                    </a:ext>
                  </a:extLst>
                </p:cNvPr>
                <p:cNvSpPr/>
                <p:nvPr/>
              </p:nvSpPr>
              <p:spPr>
                <a:xfrm>
                  <a:off x="1997317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" name="Google Shape;769;g32e3c3536b7_0_1918">
                  <a:extLst>
                    <a:ext uri="{FF2B5EF4-FFF2-40B4-BE49-F238E27FC236}">
                      <a16:creationId xmlns:a16="http://schemas.microsoft.com/office/drawing/2014/main" id="{042AC71D-B6D9-6C36-2908-76B947286AE8}"/>
                    </a:ext>
                  </a:extLst>
                </p:cNvPr>
                <p:cNvSpPr/>
                <p:nvPr/>
              </p:nvSpPr>
              <p:spPr>
                <a:xfrm>
                  <a:off x="2720303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" name="Google Shape;770;g32e3c3536b7_0_1918">
                  <a:extLst>
                    <a:ext uri="{FF2B5EF4-FFF2-40B4-BE49-F238E27FC236}">
                      <a16:creationId xmlns:a16="http://schemas.microsoft.com/office/drawing/2014/main" id="{08A8AB27-2A3C-533B-26C6-B4BABA32D39F}"/>
                    </a:ext>
                  </a:extLst>
                </p:cNvPr>
                <p:cNvSpPr/>
                <p:nvPr/>
              </p:nvSpPr>
              <p:spPr>
                <a:xfrm>
                  <a:off x="3435890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" name="Google Shape;771;g32e3c3536b7_0_1918">
                  <a:extLst>
                    <a:ext uri="{FF2B5EF4-FFF2-40B4-BE49-F238E27FC236}">
                      <a16:creationId xmlns:a16="http://schemas.microsoft.com/office/drawing/2014/main" id="{19BBEE58-355C-16A9-E743-D07D6659589A}"/>
                    </a:ext>
                  </a:extLst>
                </p:cNvPr>
                <p:cNvSpPr/>
                <p:nvPr/>
              </p:nvSpPr>
              <p:spPr>
                <a:xfrm>
                  <a:off x="4162356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2;g32e3c3536b7_0_1918">
                  <a:extLst>
                    <a:ext uri="{FF2B5EF4-FFF2-40B4-BE49-F238E27FC236}">
                      <a16:creationId xmlns:a16="http://schemas.microsoft.com/office/drawing/2014/main" id="{5A09BB7D-FD6A-DEB8-3BDB-04957633FA3E}"/>
                    </a:ext>
                  </a:extLst>
                </p:cNvPr>
                <p:cNvSpPr/>
                <p:nvPr/>
              </p:nvSpPr>
              <p:spPr>
                <a:xfrm>
                  <a:off x="4893726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73;g32e3c3536b7_0_1918">
                  <a:extLst>
                    <a:ext uri="{FF2B5EF4-FFF2-40B4-BE49-F238E27FC236}">
                      <a16:creationId xmlns:a16="http://schemas.microsoft.com/office/drawing/2014/main" id="{99E86BC5-1A1B-E306-B169-0C4E19DF735F}"/>
                    </a:ext>
                  </a:extLst>
                </p:cNvPr>
                <p:cNvSpPr/>
                <p:nvPr/>
              </p:nvSpPr>
              <p:spPr>
                <a:xfrm>
                  <a:off x="5602380" y="3229162"/>
                  <a:ext cx="7053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74;g32e3c3536b7_0_1918">
                  <a:extLst>
                    <a:ext uri="{FF2B5EF4-FFF2-40B4-BE49-F238E27FC236}">
                      <a16:creationId xmlns:a16="http://schemas.microsoft.com/office/drawing/2014/main" id="{ED75A344-12EE-D313-F6E2-49B2AF50A217}"/>
                    </a:ext>
                  </a:extLst>
                </p:cNvPr>
                <p:cNvSpPr/>
                <p:nvPr/>
              </p:nvSpPr>
              <p:spPr>
                <a:xfrm>
                  <a:off x="6348537" y="3229162"/>
                  <a:ext cx="677400" cy="7185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775;g32e3c3536b7_0_1918">
                <a:extLst>
                  <a:ext uri="{FF2B5EF4-FFF2-40B4-BE49-F238E27FC236}">
                    <a16:creationId xmlns:a16="http://schemas.microsoft.com/office/drawing/2014/main" id="{37A8DE9D-5D0F-20EE-1C0E-C51FF61C1937}"/>
                  </a:ext>
                </a:extLst>
              </p:cNvPr>
              <p:cNvGrpSpPr/>
              <p:nvPr/>
            </p:nvGrpSpPr>
            <p:grpSpPr>
              <a:xfrm>
                <a:off x="2563799" y="1840527"/>
                <a:ext cx="331800" cy="2048145"/>
                <a:chOff x="1182152" y="3187006"/>
                <a:chExt cx="331800" cy="2048145"/>
              </a:xfrm>
            </p:grpSpPr>
            <p:sp>
              <p:nvSpPr>
                <p:cNvPr id="68" name="Google Shape;776;g32e3c3536b7_0_1918">
                  <a:extLst>
                    <a:ext uri="{FF2B5EF4-FFF2-40B4-BE49-F238E27FC236}">
                      <a16:creationId xmlns:a16="http://schemas.microsoft.com/office/drawing/2014/main" id="{EC57B41E-033C-DBCA-FB06-D750C48D57EB}"/>
                    </a:ext>
                  </a:extLst>
                </p:cNvPr>
                <p:cNvSpPr/>
                <p:nvPr/>
              </p:nvSpPr>
              <p:spPr>
                <a:xfrm rot="5400000">
                  <a:off x="1147502" y="3221656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777;g32e3c3536b7_0_1918">
                  <a:extLst>
                    <a:ext uri="{FF2B5EF4-FFF2-40B4-BE49-F238E27FC236}">
                      <a16:creationId xmlns:a16="http://schemas.microsoft.com/office/drawing/2014/main" id="{FCD07A23-48D2-4637-F666-4A05F17A83D7}"/>
                    </a:ext>
                  </a:extLst>
                </p:cNvPr>
                <p:cNvSpPr/>
                <p:nvPr/>
              </p:nvSpPr>
              <p:spPr>
                <a:xfrm rot="5400000">
                  <a:off x="1147502" y="3632782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78;g32e3c3536b7_0_1918">
                  <a:extLst>
                    <a:ext uri="{FF2B5EF4-FFF2-40B4-BE49-F238E27FC236}">
                      <a16:creationId xmlns:a16="http://schemas.microsoft.com/office/drawing/2014/main" id="{EA4A09B4-9ABD-0DE9-493C-0921731CB8C0}"/>
                    </a:ext>
                  </a:extLst>
                </p:cNvPr>
                <p:cNvSpPr/>
                <p:nvPr/>
              </p:nvSpPr>
              <p:spPr>
                <a:xfrm rot="5400000">
                  <a:off x="1147502" y="4039702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79;g32e3c3536b7_0_1918">
                  <a:extLst>
                    <a:ext uri="{FF2B5EF4-FFF2-40B4-BE49-F238E27FC236}">
                      <a16:creationId xmlns:a16="http://schemas.microsoft.com/office/drawing/2014/main" id="{A7F02B75-49B3-D44A-5673-985A6E11E215}"/>
                    </a:ext>
                  </a:extLst>
                </p:cNvPr>
                <p:cNvSpPr/>
                <p:nvPr/>
              </p:nvSpPr>
              <p:spPr>
                <a:xfrm rot="5400000">
                  <a:off x="1147502" y="4452807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780;g32e3c3536b7_0_1918">
                  <a:extLst>
                    <a:ext uri="{FF2B5EF4-FFF2-40B4-BE49-F238E27FC236}">
                      <a16:creationId xmlns:a16="http://schemas.microsoft.com/office/drawing/2014/main" id="{FB0B7BC1-E01D-B352-9616-9B87F76B1ED2}"/>
                    </a:ext>
                  </a:extLst>
                </p:cNvPr>
                <p:cNvSpPr/>
                <p:nvPr/>
              </p:nvSpPr>
              <p:spPr>
                <a:xfrm rot="5400000">
                  <a:off x="1147502" y="4868701"/>
                  <a:ext cx="401100" cy="331800"/>
                </a:xfrm>
                <a:prstGeom prst="rect">
                  <a:avLst/>
                </a:prstGeom>
                <a:solidFill>
                  <a:srgbClr val="FBE4D4"/>
                </a:solidFill>
                <a:ln w="50800" cap="flat" cmpd="sng">
                  <a:solidFill>
                    <a:schemeClr val="accent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4" name="Google Shape;781;g32e3c3536b7_0_1918">
              <a:extLst>
                <a:ext uri="{FF2B5EF4-FFF2-40B4-BE49-F238E27FC236}">
                  <a16:creationId xmlns:a16="http://schemas.microsoft.com/office/drawing/2014/main" id="{2C1B9EA7-F245-205A-C0DD-833E1E16752D}"/>
                </a:ext>
              </a:extLst>
            </p:cNvPr>
            <p:cNvSpPr txBox="1"/>
            <p:nvPr/>
          </p:nvSpPr>
          <p:spPr>
            <a:xfrm>
              <a:off x="1360348" y="2294334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782;g32e3c3536b7_0_1918">
              <a:extLst>
                <a:ext uri="{FF2B5EF4-FFF2-40B4-BE49-F238E27FC236}">
                  <a16:creationId xmlns:a16="http://schemas.microsoft.com/office/drawing/2014/main" id="{70E92BAA-7B0C-399C-D819-CD628274B360}"/>
                </a:ext>
              </a:extLst>
            </p:cNvPr>
            <p:cNvSpPr txBox="1"/>
            <p:nvPr/>
          </p:nvSpPr>
          <p:spPr>
            <a:xfrm>
              <a:off x="1366577" y="2602256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783;g32e3c3536b7_0_1918">
              <a:extLst>
                <a:ext uri="{FF2B5EF4-FFF2-40B4-BE49-F238E27FC236}">
                  <a16:creationId xmlns:a16="http://schemas.microsoft.com/office/drawing/2014/main" id="{F09FF7F0-6648-3983-72FB-CAE3D26BB729}"/>
                </a:ext>
              </a:extLst>
            </p:cNvPr>
            <p:cNvSpPr txBox="1"/>
            <p:nvPr/>
          </p:nvSpPr>
          <p:spPr>
            <a:xfrm>
              <a:off x="1363725" y="2940358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784;g32e3c3536b7_0_1918">
              <a:extLst>
                <a:ext uri="{FF2B5EF4-FFF2-40B4-BE49-F238E27FC236}">
                  <a16:creationId xmlns:a16="http://schemas.microsoft.com/office/drawing/2014/main" id="{683375DC-6E80-DD52-770B-FDA6A4B20CC1}"/>
                </a:ext>
              </a:extLst>
            </p:cNvPr>
            <p:cNvSpPr txBox="1"/>
            <p:nvPr/>
          </p:nvSpPr>
          <p:spPr>
            <a:xfrm>
              <a:off x="1359311" y="3233674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785;g32e3c3536b7_0_1918">
              <a:extLst>
                <a:ext uri="{FF2B5EF4-FFF2-40B4-BE49-F238E27FC236}">
                  <a16:creationId xmlns:a16="http://schemas.microsoft.com/office/drawing/2014/main" id="{A141323F-A54B-EE2C-7198-C16C41BB7D3D}"/>
                </a:ext>
              </a:extLst>
            </p:cNvPr>
            <p:cNvSpPr txBox="1"/>
            <p:nvPr/>
          </p:nvSpPr>
          <p:spPr>
            <a:xfrm>
              <a:off x="1349873" y="3571776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786;g32e3c3536b7_0_1918">
              <a:extLst>
                <a:ext uri="{FF2B5EF4-FFF2-40B4-BE49-F238E27FC236}">
                  <a16:creationId xmlns:a16="http://schemas.microsoft.com/office/drawing/2014/main" id="{33D65588-9647-DD91-4609-5A7A25E26A01}"/>
                </a:ext>
              </a:extLst>
            </p:cNvPr>
            <p:cNvSpPr txBox="1"/>
            <p:nvPr/>
          </p:nvSpPr>
          <p:spPr>
            <a:xfrm>
              <a:off x="1354898" y="3887865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787;g32e3c3536b7_0_1918">
              <a:extLst>
                <a:ext uri="{FF2B5EF4-FFF2-40B4-BE49-F238E27FC236}">
                  <a16:creationId xmlns:a16="http://schemas.microsoft.com/office/drawing/2014/main" id="{C79FC6D3-FEDF-F8D8-167C-E6D0A4E46B62}"/>
                </a:ext>
              </a:extLst>
            </p:cNvPr>
            <p:cNvSpPr txBox="1"/>
            <p:nvPr/>
          </p:nvSpPr>
          <p:spPr>
            <a:xfrm>
              <a:off x="1358497" y="4206729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788;g32e3c3536b7_0_1918">
              <a:extLst>
                <a:ext uri="{FF2B5EF4-FFF2-40B4-BE49-F238E27FC236}">
                  <a16:creationId xmlns:a16="http://schemas.microsoft.com/office/drawing/2014/main" id="{B9C9C23C-C30C-E9EE-7432-C47392D5AB57}"/>
                </a:ext>
              </a:extLst>
            </p:cNvPr>
            <p:cNvSpPr txBox="1"/>
            <p:nvPr/>
          </p:nvSpPr>
          <p:spPr>
            <a:xfrm>
              <a:off x="1365372" y="4539728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789;g32e3c3536b7_0_1918">
              <a:extLst>
                <a:ext uri="{FF2B5EF4-FFF2-40B4-BE49-F238E27FC236}">
                  <a16:creationId xmlns:a16="http://schemas.microsoft.com/office/drawing/2014/main" id="{CD68F100-6976-D687-781C-AAE3B04CEE27}"/>
                </a:ext>
              </a:extLst>
            </p:cNvPr>
            <p:cNvSpPr txBox="1"/>
            <p:nvPr/>
          </p:nvSpPr>
          <p:spPr>
            <a:xfrm>
              <a:off x="1362199" y="486672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790;g32e3c3536b7_0_1918">
              <a:extLst>
                <a:ext uri="{FF2B5EF4-FFF2-40B4-BE49-F238E27FC236}">
                  <a16:creationId xmlns:a16="http://schemas.microsoft.com/office/drawing/2014/main" id="{18A7D35A-7D6B-3B9E-D3DF-AF96803892BB}"/>
                </a:ext>
              </a:extLst>
            </p:cNvPr>
            <p:cNvSpPr txBox="1"/>
            <p:nvPr/>
          </p:nvSpPr>
          <p:spPr>
            <a:xfrm>
              <a:off x="1367020" y="518463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791;g32e3c3536b7_0_1918">
              <a:extLst>
                <a:ext uri="{FF2B5EF4-FFF2-40B4-BE49-F238E27FC236}">
                  <a16:creationId xmlns:a16="http://schemas.microsoft.com/office/drawing/2014/main" id="{9CC9D80C-78F8-B68A-9B11-065051B141AA}"/>
                </a:ext>
              </a:extLst>
            </p:cNvPr>
            <p:cNvSpPr txBox="1"/>
            <p:nvPr/>
          </p:nvSpPr>
          <p:spPr>
            <a:xfrm>
              <a:off x="1357175" y="5525400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792;g32e3c3536b7_0_1918">
              <a:extLst>
                <a:ext uri="{FF2B5EF4-FFF2-40B4-BE49-F238E27FC236}">
                  <a16:creationId xmlns:a16="http://schemas.microsoft.com/office/drawing/2014/main" id="{E98F37D2-ECE3-6FDF-0B60-54886078896E}"/>
                </a:ext>
              </a:extLst>
            </p:cNvPr>
            <p:cNvSpPr txBox="1"/>
            <p:nvPr/>
          </p:nvSpPr>
          <p:spPr>
            <a:xfrm>
              <a:off x="1373569" y="5852254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0" name="连接符: 曲线 79">
            <a:extLst>
              <a:ext uri="{FF2B5EF4-FFF2-40B4-BE49-F238E27FC236}">
                <a16:creationId xmlns:a16="http://schemas.microsoft.com/office/drawing/2014/main" id="{1C5AF39E-10AF-72C6-5BCB-AACBBCD4FB7D}"/>
              </a:ext>
            </a:extLst>
          </p:cNvPr>
          <p:cNvCxnSpPr>
            <a:stCxn id="68" idx="0"/>
            <a:endCxn id="69" idx="0"/>
          </p:cNvCxnSpPr>
          <p:nvPr/>
        </p:nvCxnSpPr>
        <p:spPr>
          <a:xfrm>
            <a:off x="7136947" y="2563545"/>
            <a:ext cx="12700" cy="324995"/>
          </a:xfrm>
          <a:prstGeom prst="curvedConnector3">
            <a:avLst>
              <a:gd name="adj1" fmla="val 157093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CE77F732-586F-3558-C6AC-977B973E6CCF}"/>
              </a:ext>
            </a:extLst>
          </p:cNvPr>
          <p:cNvSpPr txBox="1"/>
          <p:nvPr/>
        </p:nvSpPr>
        <p:spPr>
          <a:xfrm>
            <a:off x="7312568" y="266272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90" name="连接符: 曲线 89">
            <a:extLst>
              <a:ext uri="{FF2B5EF4-FFF2-40B4-BE49-F238E27FC236}">
                <a16:creationId xmlns:a16="http://schemas.microsoft.com/office/drawing/2014/main" id="{235B5A1F-0768-73D4-2924-E18844E153C0}"/>
              </a:ext>
            </a:extLst>
          </p:cNvPr>
          <p:cNvCxnSpPr>
            <a:cxnSpLocks/>
            <a:stCxn id="70" idx="0"/>
            <a:endCxn id="71" idx="0"/>
          </p:cNvCxnSpPr>
          <p:nvPr/>
        </p:nvCxnSpPr>
        <p:spPr>
          <a:xfrm>
            <a:off x="7136947" y="3210210"/>
            <a:ext cx="12700" cy="326560"/>
          </a:xfrm>
          <a:prstGeom prst="curvedConnector3">
            <a:avLst>
              <a:gd name="adj1" fmla="val 157093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曲线 90">
            <a:extLst>
              <a:ext uri="{FF2B5EF4-FFF2-40B4-BE49-F238E27FC236}">
                <a16:creationId xmlns:a16="http://schemas.microsoft.com/office/drawing/2014/main" id="{1C4E68CF-51CF-CBB5-2B7E-773F31C8804C}"/>
              </a:ext>
            </a:extLst>
          </p:cNvPr>
          <p:cNvCxnSpPr>
            <a:cxnSpLocks/>
            <a:stCxn id="72" idx="0"/>
            <a:endCxn id="73" idx="0"/>
          </p:cNvCxnSpPr>
          <p:nvPr/>
        </p:nvCxnSpPr>
        <p:spPr>
          <a:xfrm>
            <a:off x="7136947" y="3865534"/>
            <a:ext cx="85" cy="316929"/>
          </a:xfrm>
          <a:prstGeom prst="curvedConnector3">
            <a:avLst>
              <a:gd name="adj1" fmla="val 23491058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曲线 95">
            <a:extLst>
              <a:ext uri="{FF2B5EF4-FFF2-40B4-BE49-F238E27FC236}">
                <a16:creationId xmlns:a16="http://schemas.microsoft.com/office/drawing/2014/main" id="{908E0F92-E36A-A15E-9FFB-E6D9DE53E64B}"/>
              </a:ext>
            </a:extLst>
          </p:cNvPr>
          <p:cNvCxnSpPr>
            <a:cxnSpLocks/>
            <a:stCxn id="74" idx="0"/>
            <a:endCxn id="75" idx="0"/>
          </p:cNvCxnSpPr>
          <p:nvPr/>
        </p:nvCxnSpPr>
        <p:spPr>
          <a:xfrm>
            <a:off x="7137032" y="4507487"/>
            <a:ext cx="12700" cy="321697"/>
          </a:xfrm>
          <a:prstGeom prst="curvedConnector3">
            <a:avLst>
              <a:gd name="adj1" fmla="val 157156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曲线 96">
            <a:extLst>
              <a:ext uri="{FF2B5EF4-FFF2-40B4-BE49-F238E27FC236}">
                <a16:creationId xmlns:a16="http://schemas.microsoft.com/office/drawing/2014/main" id="{9DBC7CB4-C722-1480-2B18-FEAEABEF9880}"/>
              </a:ext>
            </a:extLst>
          </p:cNvPr>
          <p:cNvCxnSpPr>
            <a:cxnSpLocks/>
            <a:stCxn id="76" idx="0"/>
            <a:endCxn id="77" idx="0"/>
          </p:cNvCxnSpPr>
          <p:nvPr/>
        </p:nvCxnSpPr>
        <p:spPr>
          <a:xfrm>
            <a:off x="7137032" y="5155772"/>
            <a:ext cx="12700" cy="328793"/>
          </a:xfrm>
          <a:prstGeom prst="curvedConnector3">
            <a:avLst>
              <a:gd name="adj1" fmla="val 157156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曲线 97">
            <a:extLst>
              <a:ext uri="{FF2B5EF4-FFF2-40B4-BE49-F238E27FC236}">
                <a16:creationId xmlns:a16="http://schemas.microsoft.com/office/drawing/2014/main" id="{0890D1CE-E397-4219-AD5F-92343E80082B}"/>
              </a:ext>
            </a:extLst>
          </p:cNvPr>
          <p:cNvCxnSpPr>
            <a:cxnSpLocks/>
            <a:stCxn id="78" idx="0"/>
            <a:endCxn id="79" idx="0"/>
          </p:cNvCxnSpPr>
          <p:nvPr/>
        </p:nvCxnSpPr>
        <p:spPr>
          <a:xfrm flipH="1">
            <a:off x="7137031" y="5803145"/>
            <a:ext cx="1" cy="329168"/>
          </a:xfrm>
          <a:prstGeom prst="curvedConnector3">
            <a:avLst>
              <a:gd name="adj1" fmla="val -199589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BE2EB53C-2246-DAA9-D211-1A8867F05F99}"/>
                  </a:ext>
                </a:extLst>
              </p:cNvPr>
              <p:cNvSpPr txBox="1"/>
              <p:nvPr/>
            </p:nvSpPr>
            <p:spPr>
              <a:xfrm>
                <a:off x="8361089" y="5367095"/>
                <a:ext cx="347936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Adaptivity: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800" dirty="0"/>
              </a:p>
              <a:p>
                <a:r>
                  <a:rPr lang="en-US" altLang="zh-CN" sz="2800" b="1" dirty="0"/>
                  <a:t>Comparisons: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BE2EB53C-2246-DAA9-D211-1A8867F0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1089" y="5367095"/>
                <a:ext cx="3479367" cy="954107"/>
              </a:xfrm>
              <a:prstGeom prst="rect">
                <a:avLst/>
              </a:prstGeom>
              <a:blipFill>
                <a:blip r:embed="rId5"/>
                <a:stretch>
                  <a:fillRect l="-3684" t="-6369" b="-16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文本框 105">
            <a:extLst>
              <a:ext uri="{FF2B5EF4-FFF2-40B4-BE49-F238E27FC236}">
                <a16:creationId xmlns:a16="http://schemas.microsoft.com/office/drawing/2014/main" id="{7575E97C-C12C-E145-E136-7AE6F5BF25DF}"/>
              </a:ext>
            </a:extLst>
          </p:cNvPr>
          <p:cNvSpPr txBox="1"/>
          <p:nvPr/>
        </p:nvSpPr>
        <p:spPr>
          <a:xfrm>
            <a:off x="7312568" y="33173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9088E5D-80B6-BDAA-BE10-E58C7C971899}"/>
              </a:ext>
            </a:extLst>
          </p:cNvPr>
          <p:cNvSpPr txBox="1"/>
          <p:nvPr/>
        </p:nvSpPr>
        <p:spPr>
          <a:xfrm>
            <a:off x="7310783" y="39604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2FA73A8-93FC-B1B5-4871-8F6BEE7493D6}"/>
              </a:ext>
            </a:extLst>
          </p:cNvPr>
          <p:cNvSpPr txBox="1"/>
          <p:nvPr/>
        </p:nvSpPr>
        <p:spPr>
          <a:xfrm>
            <a:off x="7310783" y="46161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EDFF0F3-33E5-C924-3228-C4A9529B9E07}"/>
              </a:ext>
            </a:extLst>
          </p:cNvPr>
          <p:cNvSpPr txBox="1"/>
          <p:nvPr/>
        </p:nvSpPr>
        <p:spPr>
          <a:xfrm>
            <a:off x="7310783" y="529769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9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ED56CBF-617B-4F8A-3FE5-7EA31AFFAE81}"/>
              </a:ext>
            </a:extLst>
          </p:cNvPr>
          <p:cNvSpPr txBox="1"/>
          <p:nvPr/>
        </p:nvSpPr>
        <p:spPr>
          <a:xfrm>
            <a:off x="7310783" y="59113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11" name="连接符: 曲线 110">
            <a:extLst>
              <a:ext uri="{FF2B5EF4-FFF2-40B4-BE49-F238E27FC236}">
                <a16:creationId xmlns:a16="http://schemas.microsoft.com/office/drawing/2014/main" id="{F6F7E3AE-EA83-FFAB-B6C8-CF04C21A7AA8}"/>
              </a:ext>
            </a:extLst>
          </p:cNvPr>
          <p:cNvCxnSpPr>
            <a:cxnSpLocks/>
            <a:stCxn id="81" idx="3"/>
            <a:endCxn id="106" idx="3"/>
          </p:cNvCxnSpPr>
          <p:nvPr/>
        </p:nvCxnSpPr>
        <p:spPr>
          <a:xfrm>
            <a:off x="7625474" y="2847394"/>
            <a:ext cx="12700" cy="654583"/>
          </a:xfrm>
          <a:prstGeom prst="curved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曲线 113">
            <a:extLst>
              <a:ext uri="{FF2B5EF4-FFF2-40B4-BE49-F238E27FC236}">
                <a16:creationId xmlns:a16="http://schemas.microsoft.com/office/drawing/2014/main" id="{4A1D8BCC-2F7F-9D47-229A-650398E07B57}"/>
              </a:ext>
            </a:extLst>
          </p:cNvPr>
          <p:cNvCxnSpPr>
            <a:cxnSpLocks/>
            <a:stCxn id="107" idx="3"/>
            <a:endCxn id="108" idx="3"/>
          </p:cNvCxnSpPr>
          <p:nvPr/>
        </p:nvCxnSpPr>
        <p:spPr>
          <a:xfrm>
            <a:off x="7623689" y="4145160"/>
            <a:ext cx="12700" cy="655688"/>
          </a:xfrm>
          <a:prstGeom prst="curved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曲线 116">
            <a:extLst>
              <a:ext uri="{FF2B5EF4-FFF2-40B4-BE49-F238E27FC236}">
                <a16:creationId xmlns:a16="http://schemas.microsoft.com/office/drawing/2014/main" id="{7FF57477-FCF7-9E16-3701-B02690C4F918}"/>
              </a:ext>
            </a:extLst>
          </p:cNvPr>
          <p:cNvCxnSpPr>
            <a:cxnSpLocks/>
            <a:stCxn id="109" idx="3"/>
            <a:endCxn id="110" idx="3"/>
          </p:cNvCxnSpPr>
          <p:nvPr/>
        </p:nvCxnSpPr>
        <p:spPr>
          <a:xfrm>
            <a:off x="7623689" y="5482358"/>
            <a:ext cx="12700" cy="613626"/>
          </a:xfrm>
          <a:prstGeom prst="curvedConnector3">
            <a:avLst>
              <a:gd name="adj1" fmla="val 180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D6B11D2E-9274-35BA-9CA0-41C7B8B45FE3}"/>
              </a:ext>
            </a:extLst>
          </p:cNvPr>
          <p:cNvSpPr txBox="1"/>
          <p:nvPr/>
        </p:nvSpPr>
        <p:spPr>
          <a:xfrm>
            <a:off x="7813795" y="304215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06768DA-BFFB-EB00-7754-7E66A196D40A}"/>
              </a:ext>
            </a:extLst>
          </p:cNvPr>
          <p:cNvSpPr txBox="1"/>
          <p:nvPr/>
        </p:nvSpPr>
        <p:spPr>
          <a:xfrm>
            <a:off x="7813795" y="43459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0653BAB-CBEA-D04E-3C40-9CDBA0004249}"/>
              </a:ext>
            </a:extLst>
          </p:cNvPr>
          <p:cNvSpPr txBox="1"/>
          <p:nvPr/>
        </p:nvSpPr>
        <p:spPr>
          <a:xfrm>
            <a:off x="7859645" y="560450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9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256BEC93-DA91-EA92-8558-6BB97514E1EF}"/>
                  </a:ext>
                </a:extLst>
              </p:cNvPr>
              <p:cNvSpPr txBox="1"/>
              <p:nvPr/>
            </p:nvSpPr>
            <p:spPr>
              <a:xfrm>
                <a:off x="8284142" y="4233956"/>
                <a:ext cx="119059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256BEC93-DA91-EA92-8558-6BB97514E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142" y="4233956"/>
                <a:ext cx="119059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47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9" grpId="0"/>
      <p:bldP spid="43" grpId="0"/>
      <p:bldP spid="49" grpId="0"/>
      <p:bldP spid="50" grpId="0"/>
      <p:bldP spid="51" grpId="0"/>
      <p:bldP spid="81" grpId="0"/>
      <p:bldP spid="105" grpId="0"/>
      <p:bldP spid="106" grpId="0"/>
      <p:bldP spid="107" grpId="0"/>
      <p:bldP spid="108" grpId="0"/>
      <p:bldP spid="109" grpId="0"/>
      <p:bldP spid="110" grpId="0"/>
      <p:bldP spid="120" grpId="0"/>
      <p:bldP spid="121" grpId="0"/>
      <p:bldP spid="122" grpId="0"/>
      <p:bldP spid="1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2e3c3536b7_0_2086"/>
          <p:cNvSpPr txBox="1">
            <a:spLocks noGrp="1"/>
          </p:cNvSpPr>
          <p:nvPr>
            <p:ph type="title"/>
          </p:nvPr>
        </p:nvSpPr>
        <p:spPr>
          <a:xfrm>
            <a:off x="839578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 dirty="0"/>
              <a:t>Adaptivity for</a:t>
            </a:r>
            <a:r>
              <a:rPr lang="en-US" dirty="0"/>
              <a:t> Insertion Sort</a:t>
            </a:r>
            <a:endParaRPr dirty="0"/>
          </a:p>
        </p:txBody>
      </p:sp>
      <p:sp>
        <p:nvSpPr>
          <p:cNvPr id="931" name="Google Shape;931;g32e3c3536b7_0_2086"/>
          <p:cNvSpPr txBox="1"/>
          <p:nvPr/>
        </p:nvSpPr>
        <p:spPr>
          <a:xfrm>
            <a:off x="1391646" y="2921857"/>
            <a:ext cx="2724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4438" r="-26668" b="-65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2" name="Google Shape;932;g32e3c3536b7_0_2086"/>
          <p:cNvCxnSpPr/>
          <p:nvPr/>
        </p:nvCxnSpPr>
        <p:spPr>
          <a:xfrm>
            <a:off x="1935412" y="4039437"/>
            <a:ext cx="109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33" name="Google Shape;933;g32e3c3536b7_0_2086"/>
          <p:cNvSpPr/>
          <p:nvPr/>
        </p:nvSpPr>
        <p:spPr>
          <a:xfrm>
            <a:off x="3339317" y="2641124"/>
            <a:ext cx="4985100" cy="29076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2e3c3536b7_0_2086"/>
          <p:cNvSpPr txBox="1"/>
          <p:nvPr/>
        </p:nvSpPr>
        <p:spPr>
          <a:xfrm>
            <a:off x="9854461" y="2956968"/>
            <a:ext cx="365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9999" r="-3329" b="-65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5" name="Google Shape;935;g32e3c3536b7_0_2086"/>
          <p:cNvGrpSpPr/>
          <p:nvPr/>
        </p:nvGrpSpPr>
        <p:grpSpPr>
          <a:xfrm>
            <a:off x="1329143" y="3407915"/>
            <a:ext cx="375299" cy="1290294"/>
            <a:chOff x="1182152" y="3187006"/>
            <a:chExt cx="331800" cy="1632251"/>
          </a:xfrm>
        </p:grpSpPr>
        <p:sp>
          <p:nvSpPr>
            <p:cNvPr id="936" name="Google Shape;936;g32e3c3536b7_0_2086"/>
            <p:cNvSpPr/>
            <p:nvPr/>
          </p:nvSpPr>
          <p:spPr>
            <a:xfrm rot="5400000">
              <a:off x="1147502" y="3221656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g32e3c3536b7_0_2086"/>
            <p:cNvSpPr/>
            <p:nvPr/>
          </p:nvSpPr>
          <p:spPr>
            <a:xfrm rot="5400000">
              <a:off x="1147502" y="3632782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g32e3c3536b7_0_2086"/>
            <p:cNvSpPr/>
            <p:nvPr/>
          </p:nvSpPr>
          <p:spPr>
            <a:xfrm rot="5400000">
              <a:off x="1147502" y="4039702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g32e3c3536b7_0_2086"/>
            <p:cNvSpPr/>
            <p:nvPr/>
          </p:nvSpPr>
          <p:spPr>
            <a:xfrm rot="5400000">
              <a:off x="1147502" y="4452807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0" name="Google Shape;940;g32e3c3536b7_0_2086"/>
          <p:cNvSpPr txBox="1"/>
          <p:nvPr/>
        </p:nvSpPr>
        <p:spPr>
          <a:xfrm>
            <a:off x="1386623" y="3385986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2e3c3536b7_0_2086"/>
          <p:cNvSpPr txBox="1"/>
          <p:nvPr/>
        </p:nvSpPr>
        <p:spPr>
          <a:xfrm>
            <a:off x="1392851" y="3693908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2e3c3536b7_0_2086"/>
          <p:cNvSpPr txBox="1"/>
          <p:nvPr/>
        </p:nvSpPr>
        <p:spPr>
          <a:xfrm>
            <a:off x="1390000" y="4032010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2e3c3536b7_0_2086"/>
          <p:cNvSpPr txBox="1"/>
          <p:nvPr/>
        </p:nvSpPr>
        <p:spPr>
          <a:xfrm>
            <a:off x="1385587" y="4325326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4" name="Google Shape;944;g32e3c3536b7_0_2086"/>
          <p:cNvCxnSpPr/>
          <p:nvPr/>
        </p:nvCxnSpPr>
        <p:spPr>
          <a:xfrm>
            <a:off x="8425714" y="3991818"/>
            <a:ext cx="109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45" name="Google Shape;945;g32e3c3536b7_0_2086"/>
          <p:cNvSpPr txBox="1"/>
          <p:nvPr/>
        </p:nvSpPr>
        <p:spPr>
          <a:xfrm>
            <a:off x="4992948" y="2048378"/>
            <a:ext cx="21957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 Sort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32e3c3536b7_0_2086"/>
          <p:cNvSpPr txBox="1"/>
          <p:nvPr/>
        </p:nvSpPr>
        <p:spPr>
          <a:xfrm>
            <a:off x="6663401" y="3783885"/>
            <a:ext cx="4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7" name="Google Shape;947;g32e3c3536b7_0_2086"/>
          <p:cNvGrpSpPr/>
          <p:nvPr/>
        </p:nvGrpSpPr>
        <p:grpSpPr>
          <a:xfrm>
            <a:off x="3458793" y="2956623"/>
            <a:ext cx="815755" cy="2123193"/>
            <a:chOff x="3458241" y="2956622"/>
            <a:chExt cx="816000" cy="21231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8" name="Google Shape;948;g32e3c3536b7_0_2086"/>
                <p:cNvSpPr/>
                <p:nvPr/>
              </p:nvSpPr>
              <p:spPr>
                <a:xfrm>
                  <a:off x="3458241" y="2956622"/>
                  <a:ext cx="816000" cy="551100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</a:pPr>
                  <a:r>
                    <a:rPr lang="en-US" sz="1400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Step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chemeClr val="l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1</m:t>
                      </m:r>
                    </m:oMath>
                  </a14:m>
                  <a:endParaRPr sz="14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948" name="Google Shape;948;g32e3c3536b7_0_20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241" y="2956622"/>
                  <a:ext cx="816000" cy="5511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9" name="Google Shape;949;g32e3c3536b7_0_2086"/>
            <p:cNvSpPr/>
            <p:nvPr/>
          </p:nvSpPr>
          <p:spPr>
            <a:xfrm rot="5400000">
              <a:off x="3673110" y="3724225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g32e3c3536b7_0_2086"/>
            <p:cNvSpPr/>
            <p:nvPr/>
          </p:nvSpPr>
          <p:spPr>
            <a:xfrm rot="5400000">
              <a:off x="3673110" y="4049206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g32e3c3536b7_0_2086"/>
            <p:cNvSpPr/>
            <p:nvPr/>
          </p:nvSpPr>
          <p:spPr>
            <a:xfrm rot="5400000">
              <a:off x="3673110" y="4370860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g32e3c3536b7_0_2086"/>
            <p:cNvSpPr/>
            <p:nvPr/>
          </p:nvSpPr>
          <p:spPr>
            <a:xfrm rot="5400000">
              <a:off x="3673110" y="4697404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g32e3c3536b7_0_2086"/>
            <p:cNvSpPr txBox="1"/>
            <p:nvPr/>
          </p:nvSpPr>
          <p:spPr>
            <a:xfrm>
              <a:off x="3701583" y="3731515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g32e3c3536b7_0_2086"/>
            <p:cNvSpPr txBox="1"/>
            <p:nvPr/>
          </p:nvSpPr>
          <p:spPr>
            <a:xfrm>
              <a:off x="3707812" y="403943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g32e3c3536b7_0_2086"/>
            <p:cNvSpPr txBox="1"/>
            <p:nvPr/>
          </p:nvSpPr>
          <p:spPr>
            <a:xfrm>
              <a:off x="3704960" y="4377539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32e3c3536b7_0_2086"/>
            <p:cNvSpPr txBox="1"/>
            <p:nvPr/>
          </p:nvSpPr>
          <p:spPr>
            <a:xfrm>
              <a:off x="3702700" y="4710515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7" name="Google Shape;957;g32e3c3536b7_0_2086"/>
            <p:cNvCxnSpPr>
              <a:stCxn id="950" idx="0"/>
              <a:endCxn id="953" idx="3"/>
            </p:cNvCxnSpPr>
            <p:nvPr/>
          </p:nvCxnSpPr>
          <p:spPr>
            <a:xfrm rot="10800000">
              <a:off x="4003410" y="3916156"/>
              <a:ext cx="15900" cy="320700"/>
            </a:xfrm>
            <a:prstGeom prst="curvedConnector3">
              <a:avLst>
                <a:gd name="adj1" fmla="val -1325098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58" name="Google Shape;958;g32e3c3536b7_0_2086"/>
          <p:cNvGrpSpPr/>
          <p:nvPr/>
        </p:nvGrpSpPr>
        <p:grpSpPr>
          <a:xfrm>
            <a:off x="4526002" y="2956621"/>
            <a:ext cx="815755" cy="2127436"/>
            <a:chOff x="4525771" y="2956621"/>
            <a:chExt cx="816000" cy="21274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9" name="Google Shape;959;g32e3c3536b7_0_2086"/>
                <p:cNvSpPr/>
                <p:nvPr/>
              </p:nvSpPr>
              <p:spPr>
                <a:xfrm>
                  <a:off x="4525771" y="2956621"/>
                  <a:ext cx="816000" cy="551100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</a:pPr>
                  <a:r>
                    <a:rPr lang="en-US" sz="1400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Step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chemeClr val="l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2</m:t>
                      </m:r>
                    </m:oMath>
                  </a14:m>
                  <a:endParaRPr sz="14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959" name="Google Shape;959;g32e3c3536b7_0_20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5771" y="2956621"/>
                  <a:ext cx="816000" cy="5511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0" name="Google Shape;960;g32e3c3536b7_0_2086"/>
            <p:cNvSpPr/>
            <p:nvPr/>
          </p:nvSpPr>
          <p:spPr>
            <a:xfrm rot="5400000">
              <a:off x="4742321" y="3728468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g32e3c3536b7_0_2086"/>
            <p:cNvSpPr/>
            <p:nvPr/>
          </p:nvSpPr>
          <p:spPr>
            <a:xfrm rot="5400000">
              <a:off x="4742321" y="4053448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F7CA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rgbClr val="FBE4D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g32e3c3536b7_0_2086"/>
            <p:cNvSpPr/>
            <p:nvPr/>
          </p:nvSpPr>
          <p:spPr>
            <a:xfrm rot="5400000">
              <a:off x="4742321" y="4375102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g32e3c3536b7_0_2086"/>
            <p:cNvSpPr/>
            <p:nvPr/>
          </p:nvSpPr>
          <p:spPr>
            <a:xfrm rot="5400000">
              <a:off x="4742321" y="4701646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g32e3c3536b7_0_2086"/>
            <p:cNvSpPr txBox="1"/>
            <p:nvPr/>
          </p:nvSpPr>
          <p:spPr>
            <a:xfrm>
              <a:off x="4770794" y="3735757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32e3c3536b7_0_2086"/>
            <p:cNvSpPr txBox="1"/>
            <p:nvPr/>
          </p:nvSpPr>
          <p:spPr>
            <a:xfrm>
              <a:off x="4777023" y="4043679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32e3c3536b7_0_2086"/>
            <p:cNvSpPr txBox="1"/>
            <p:nvPr/>
          </p:nvSpPr>
          <p:spPr>
            <a:xfrm>
              <a:off x="4774171" y="4381781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32e3c3536b7_0_2086"/>
            <p:cNvSpPr txBox="1"/>
            <p:nvPr/>
          </p:nvSpPr>
          <p:spPr>
            <a:xfrm>
              <a:off x="4771911" y="471475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8" name="Google Shape;968;g32e3c3536b7_0_2086"/>
            <p:cNvCxnSpPr>
              <a:cxnSpLocks/>
              <a:stCxn id="962" idx="0"/>
              <a:endCxn id="961" idx="0"/>
            </p:cNvCxnSpPr>
            <p:nvPr/>
          </p:nvCxnSpPr>
          <p:spPr>
            <a:xfrm flipV="1">
              <a:off x="5088521" y="4241098"/>
              <a:ext cx="12704" cy="321654"/>
            </a:xfrm>
            <a:prstGeom prst="curvedConnector3">
              <a:avLst>
                <a:gd name="adj1" fmla="val 1571307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69" name="Google Shape;969;g32e3c3536b7_0_2086"/>
          <p:cNvGrpSpPr/>
          <p:nvPr/>
        </p:nvGrpSpPr>
        <p:grpSpPr>
          <a:xfrm>
            <a:off x="5596375" y="2941980"/>
            <a:ext cx="815755" cy="2156561"/>
            <a:chOff x="5596465" y="2941979"/>
            <a:chExt cx="816000" cy="21565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0" name="Google Shape;970;g32e3c3536b7_0_2086"/>
                <p:cNvSpPr/>
                <p:nvPr/>
              </p:nvSpPr>
              <p:spPr>
                <a:xfrm>
                  <a:off x="5596465" y="2941979"/>
                  <a:ext cx="816000" cy="551100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</a:pPr>
                  <a:r>
                    <a:rPr lang="en-US" sz="1400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Step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chemeClr val="l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3</m:t>
                      </m:r>
                    </m:oMath>
                  </a14:m>
                  <a:endParaRPr sz="14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970" name="Google Shape;970;g32e3c3536b7_0_20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6465" y="2941979"/>
                  <a:ext cx="816000" cy="5511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1" name="Google Shape;971;g32e3c3536b7_0_2086"/>
            <p:cNvSpPr/>
            <p:nvPr/>
          </p:nvSpPr>
          <p:spPr>
            <a:xfrm rot="5400000">
              <a:off x="5812492" y="3742950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F7CAA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g32e3c3536b7_0_2086"/>
            <p:cNvSpPr/>
            <p:nvPr/>
          </p:nvSpPr>
          <p:spPr>
            <a:xfrm rot="5400000">
              <a:off x="5812492" y="4067931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rgbClr val="FBE4D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g32e3c3536b7_0_2086"/>
            <p:cNvSpPr/>
            <p:nvPr/>
          </p:nvSpPr>
          <p:spPr>
            <a:xfrm rot="5400000">
              <a:off x="5812492" y="4389585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C4E0B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g32e3c3536b7_0_2086"/>
            <p:cNvSpPr/>
            <p:nvPr/>
          </p:nvSpPr>
          <p:spPr>
            <a:xfrm rot="5400000">
              <a:off x="5812492" y="4716129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g32e3c3536b7_0_2086"/>
            <p:cNvSpPr txBox="1"/>
            <p:nvPr/>
          </p:nvSpPr>
          <p:spPr>
            <a:xfrm>
              <a:off x="5840965" y="3750240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g32e3c3536b7_0_2086"/>
            <p:cNvSpPr txBox="1"/>
            <p:nvPr/>
          </p:nvSpPr>
          <p:spPr>
            <a:xfrm>
              <a:off x="5847194" y="4058162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g32e3c3536b7_0_2086"/>
            <p:cNvSpPr txBox="1"/>
            <p:nvPr/>
          </p:nvSpPr>
          <p:spPr>
            <a:xfrm>
              <a:off x="5844342" y="4396264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g32e3c3536b7_0_2086"/>
            <p:cNvSpPr txBox="1"/>
            <p:nvPr/>
          </p:nvSpPr>
          <p:spPr>
            <a:xfrm>
              <a:off x="5842082" y="4729240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9" name="Google Shape;979;g32e3c3536b7_0_2086"/>
            <p:cNvCxnSpPr>
              <a:cxnSpLocks/>
              <a:stCxn id="972" idx="0"/>
              <a:endCxn id="971" idx="0"/>
            </p:cNvCxnSpPr>
            <p:nvPr/>
          </p:nvCxnSpPr>
          <p:spPr>
            <a:xfrm flipV="1">
              <a:off x="6158693" y="3930600"/>
              <a:ext cx="12704" cy="324981"/>
            </a:xfrm>
            <a:prstGeom prst="curvedConnector3">
              <a:avLst>
                <a:gd name="adj1" fmla="val 1571307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80" name="Google Shape;980;g32e3c3536b7_0_2086"/>
          <p:cNvGrpSpPr/>
          <p:nvPr/>
        </p:nvGrpSpPr>
        <p:grpSpPr>
          <a:xfrm>
            <a:off x="7318366" y="2921857"/>
            <a:ext cx="815755" cy="2184010"/>
            <a:chOff x="7318973" y="2921857"/>
            <a:chExt cx="816000" cy="21840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1" name="Google Shape;981;g32e3c3536b7_0_2086"/>
                <p:cNvSpPr/>
                <p:nvPr/>
              </p:nvSpPr>
              <p:spPr>
                <a:xfrm>
                  <a:off x="7318973" y="2921857"/>
                  <a:ext cx="816000" cy="551100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</a:pPr>
                  <a:r>
                    <a:rPr lang="en-US" sz="1400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Step </a:t>
                  </a:r>
                  <a14:m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l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𝐾</m:t>
                      </m:r>
                    </m:oMath>
                  </a14:m>
                  <a:endParaRPr sz="14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981" name="Google Shape;981;g32e3c3536b7_0_20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8973" y="2921857"/>
                  <a:ext cx="816000" cy="5511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2" name="Google Shape;982;g32e3c3536b7_0_2086"/>
            <p:cNvSpPr/>
            <p:nvPr/>
          </p:nvSpPr>
          <p:spPr>
            <a:xfrm rot="5400000">
              <a:off x="7588370" y="3750278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g32e3c3536b7_0_2086"/>
            <p:cNvSpPr/>
            <p:nvPr/>
          </p:nvSpPr>
          <p:spPr>
            <a:xfrm rot="5400000">
              <a:off x="7588370" y="4075258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rgbClr val="FBE4D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g32e3c3536b7_0_2086"/>
            <p:cNvSpPr/>
            <p:nvPr/>
          </p:nvSpPr>
          <p:spPr>
            <a:xfrm rot="5400000">
              <a:off x="7588370" y="4396912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g32e3c3536b7_0_2086"/>
            <p:cNvSpPr/>
            <p:nvPr/>
          </p:nvSpPr>
          <p:spPr>
            <a:xfrm rot="5400000">
              <a:off x="7588370" y="4723456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g32e3c3536b7_0_2086"/>
            <p:cNvSpPr txBox="1"/>
            <p:nvPr/>
          </p:nvSpPr>
          <p:spPr>
            <a:xfrm>
              <a:off x="7616843" y="3757567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32e3c3536b7_0_2086"/>
            <p:cNvSpPr txBox="1"/>
            <p:nvPr/>
          </p:nvSpPr>
          <p:spPr>
            <a:xfrm>
              <a:off x="7623072" y="4065489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g32e3c3536b7_0_2086"/>
            <p:cNvSpPr txBox="1"/>
            <p:nvPr/>
          </p:nvSpPr>
          <p:spPr>
            <a:xfrm>
              <a:off x="7620220" y="4403591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g32e3c3536b7_0_2086"/>
            <p:cNvSpPr txBox="1"/>
            <p:nvPr/>
          </p:nvSpPr>
          <p:spPr>
            <a:xfrm>
              <a:off x="7617960" y="473656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0" name="Google Shape;990;g32e3c3536b7_0_2086"/>
          <p:cNvGrpSpPr/>
          <p:nvPr/>
        </p:nvGrpSpPr>
        <p:grpSpPr>
          <a:xfrm>
            <a:off x="9814450" y="3430207"/>
            <a:ext cx="375299" cy="1290294"/>
            <a:chOff x="1182152" y="3187006"/>
            <a:chExt cx="331800" cy="1632251"/>
          </a:xfrm>
        </p:grpSpPr>
        <p:sp>
          <p:nvSpPr>
            <p:cNvPr id="991" name="Google Shape;991;g32e3c3536b7_0_2086"/>
            <p:cNvSpPr/>
            <p:nvPr/>
          </p:nvSpPr>
          <p:spPr>
            <a:xfrm rot="5400000">
              <a:off x="1147502" y="3221656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g32e3c3536b7_0_2086"/>
            <p:cNvSpPr/>
            <p:nvPr/>
          </p:nvSpPr>
          <p:spPr>
            <a:xfrm rot="5400000">
              <a:off x="1147502" y="3632782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g32e3c3536b7_0_2086"/>
            <p:cNvSpPr/>
            <p:nvPr/>
          </p:nvSpPr>
          <p:spPr>
            <a:xfrm rot="5400000">
              <a:off x="1147502" y="4039702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g32e3c3536b7_0_2086"/>
            <p:cNvSpPr/>
            <p:nvPr/>
          </p:nvSpPr>
          <p:spPr>
            <a:xfrm rot="5400000">
              <a:off x="1147502" y="4452807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5" name="Google Shape;995;g32e3c3536b7_0_2086"/>
          <p:cNvSpPr txBox="1"/>
          <p:nvPr/>
        </p:nvSpPr>
        <p:spPr>
          <a:xfrm>
            <a:off x="9871931" y="3408278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g32e3c3536b7_0_2086"/>
          <p:cNvSpPr txBox="1"/>
          <p:nvPr/>
        </p:nvSpPr>
        <p:spPr>
          <a:xfrm>
            <a:off x="9878159" y="3716200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2e3c3536b7_0_2086"/>
          <p:cNvSpPr txBox="1"/>
          <p:nvPr/>
        </p:nvSpPr>
        <p:spPr>
          <a:xfrm>
            <a:off x="9875307" y="4054302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g32e3c3536b7_0_2086"/>
          <p:cNvSpPr txBox="1"/>
          <p:nvPr/>
        </p:nvSpPr>
        <p:spPr>
          <a:xfrm>
            <a:off x="9870894" y="4347618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0DA766-115F-73BF-CE90-99C2BEC724B8}"/>
                  </a:ext>
                </a:extLst>
              </p:cNvPr>
              <p:cNvSpPr txBox="1"/>
              <p:nvPr/>
            </p:nvSpPr>
            <p:spPr>
              <a:xfrm>
                <a:off x="5127675" y="6013367"/>
                <a:ext cx="2086917" cy="555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sz="32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30DA766-115F-73BF-CE90-99C2BEC72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675" y="6013367"/>
                <a:ext cx="2086917" cy="55585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>
          <a:extLst>
            <a:ext uri="{FF2B5EF4-FFF2-40B4-BE49-F238E27FC236}">
              <a16:creationId xmlns:a16="http://schemas.microsoft.com/office/drawing/2014/main" id="{282475B2-9178-CAE9-9AAA-24E7E20C9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2e3c3536b7_0_2086">
            <a:extLst>
              <a:ext uri="{FF2B5EF4-FFF2-40B4-BE49-F238E27FC236}">
                <a16:creationId xmlns:a16="http://schemas.microsoft.com/office/drawing/2014/main" id="{95BD7287-D36F-A4B6-DC1C-1FA05AE101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578" y="365125"/>
            <a:ext cx="10512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 dirty="0"/>
              <a:t>Adaptivity for</a:t>
            </a:r>
            <a:r>
              <a:rPr lang="en-US" dirty="0"/>
              <a:t> Quick Sort</a:t>
            </a:r>
            <a:endParaRPr dirty="0"/>
          </a:p>
        </p:txBody>
      </p:sp>
      <p:sp>
        <p:nvSpPr>
          <p:cNvPr id="931" name="Google Shape;931;g32e3c3536b7_0_2086">
            <a:extLst>
              <a:ext uri="{FF2B5EF4-FFF2-40B4-BE49-F238E27FC236}">
                <a16:creationId xmlns:a16="http://schemas.microsoft.com/office/drawing/2014/main" id="{0ADB200F-7405-3090-1B17-962BDC1B0D9D}"/>
              </a:ext>
            </a:extLst>
          </p:cNvPr>
          <p:cNvSpPr txBox="1"/>
          <p:nvPr/>
        </p:nvSpPr>
        <p:spPr>
          <a:xfrm>
            <a:off x="1391646" y="2921857"/>
            <a:ext cx="272400" cy="369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24438" r="-26668" b="-65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2" name="Google Shape;932;g32e3c3536b7_0_2086">
            <a:extLst>
              <a:ext uri="{FF2B5EF4-FFF2-40B4-BE49-F238E27FC236}">
                <a16:creationId xmlns:a16="http://schemas.microsoft.com/office/drawing/2014/main" id="{65DBD492-E79A-B8BF-B0B4-3220A74A7953}"/>
              </a:ext>
            </a:extLst>
          </p:cNvPr>
          <p:cNvCxnSpPr/>
          <p:nvPr/>
        </p:nvCxnSpPr>
        <p:spPr>
          <a:xfrm>
            <a:off x="1935412" y="4039437"/>
            <a:ext cx="109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33" name="Google Shape;933;g32e3c3536b7_0_2086">
            <a:extLst>
              <a:ext uri="{FF2B5EF4-FFF2-40B4-BE49-F238E27FC236}">
                <a16:creationId xmlns:a16="http://schemas.microsoft.com/office/drawing/2014/main" id="{B2BCF442-F1CB-11E0-3E8D-F833BFCAB82C}"/>
              </a:ext>
            </a:extLst>
          </p:cNvPr>
          <p:cNvSpPr/>
          <p:nvPr/>
        </p:nvSpPr>
        <p:spPr>
          <a:xfrm>
            <a:off x="3339317" y="2641124"/>
            <a:ext cx="4985100" cy="29076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2e3c3536b7_0_2086">
            <a:extLst>
              <a:ext uri="{FF2B5EF4-FFF2-40B4-BE49-F238E27FC236}">
                <a16:creationId xmlns:a16="http://schemas.microsoft.com/office/drawing/2014/main" id="{6F3F255E-F4AC-EDB9-97C3-26EAAC2A3BAD}"/>
              </a:ext>
            </a:extLst>
          </p:cNvPr>
          <p:cNvSpPr txBox="1"/>
          <p:nvPr/>
        </p:nvSpPr>
        <p:spPr>
          <a:xfrm>
            <a:off x="9854461" y="2956968"/>
            <a:ext cx="365400" cy="369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9999" r="-3329" b="-65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5" name="Google Shape;935;g32e3c3536b7_0_2086">
            <a:extLst>
              <a:ext uri="{FF2B5EF4-FFF2-40B4-BE49-F238E27FC236}">
                <a16:creationId xmlns:a16="http://schemas.microsoft.com/office/drawing/2014/main" id="{28E7E553-59D9-6FA1-23DD-A39BD0A31728}"/>
              </a:ext>
            </a:extLst>
          </p:cNvPr>
          <p:cNvGrpSpPr/>
          <p:nvPr/>
        </p:nvGrpSpPr>
        <p:grpSpPr>
          <a:xfrm>
            <a:off x="1329143" y="3407915"/>
            <a:ext cx="375299" cy="1290294"/>
            <a:chOff x="1182152" y="3187006"/>
            <a:chExt cx="331800" cy="1632251"/>
          </a:xfrm>
        </p:grpSpPr>
        <p:sp>
          <p:nvSpPr>
            <p:cNvPr id="936" name="Google Shape;936;g32e3c3536b7_0_2086">
              <a:extLst>
                <a:ext uri="{FF2B5EF4-FFF2-40B4-BE49-F238E27FC236}">
                  <a16:creationId xmlns:a16="http://schemas.microsoft.com/office/drawing/2014/main" id="{EAC387DC-9345-EC9B-DC3B-7BD23332F500}"/>
                </a:ext>
              </a:extLst>
            </p:cNvPr>
            <p:cNvSpPr/>
            <p:nvPr/>
          </p:nvSpPr>
          <p:spPr>
            <a:xfrm rot="5400000">
              <a:off x="1147502" y="3221656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g32e3c3536b7_0_2086">
              <a:extLst>
                <a:ext uri="{FF2B5EF4-FFF2-40B4-BE49-F238E27FC236}">
                  <a16:creationId xmlns:a16="http://schemas.microsoft.com/office/drawing/2014/main" id="{0929EB03-29B8-AC79-2230-DB3D8A9A519A}"/>
                </a:ext>
              </a:extLst>
            </p:cNvPr>
            <p:cNvSpPr/>
            <p:nvPr/>
          </p:nvSpPr>
          <p:spPr>
            <a:xfrm rot="5400000">
              <a:off x="1147502" y="3632782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g32e3c3536b7_0_2086">
              <a:extLst>
                <a:ext uri="{FF2B5EF4-FFF2-40B4-BE49-F238E27FC236}">
                  <a16:creationId xmlns:a16="http://schemas.microsoft.com/office/drawing/2014/main" id="{39F90536-FC04-822C-B691-C75521890D87}"/>
                </a:ext>
              </a:extLst>
            </p:cNvPr>
            <p:cNvSpPr/>
            <p:nvPr/>
          </p:nvSpPr>
          <p:spPr>
            <a:xfrm rot="5400000">
              <a:off x="1147502" y="4039702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g32e3c3536b7_0_2086">
              <a:extLst>
                <a:ext uri="{FF2B5EF4-FFF2-40B4-BE49-F238E27FC236}">
                  <a16:creationId xmlns:a16="http://schemas.microsoft.com/office/drawing/2014/main" id="{A3507B58-53E2-0E34-A78B-3D23AC0B465A}"/>
                </a:ext>
              </a:extLst>
            </p:cNvPr>
            <p:cNvSpPr/>
            <p:nvPr/>
          </p:nvSpPr>
          <p:spPr>
            <a:xfrm rot="5400000">
              <a:off x="1147502" y="4452807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0" name="Google Shape;940;g32e3c3536b7_0_2086">
            <a:extLst>
              <a:ext uri="{FF2B5EF4-FFF2-40B4-BE49-F238E27FC236}">
                <a16:creationId xmlns:a16="http://schemas.microsoft.com/office/drawing/2014/main" id="{7F05AC87-0A47-C76E-8819-98FE79772444}"/>
              </a:ext>
            </a:extLst>
          </p:cNvPr>
          <p:cNvSpPr txBox="1"/>
          <p:nvPr/>
        </p:nvSpPr>
        <p:spPr>
          <a:xfrm>
            <a:off x="1386623" y="3385986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g32e3c3536b7_0_2086">
            <a:extLst>
              <a:ext uri="{FF2B5EF4-FFF2-40B4-BE49-F238E27FC236}">
                <a16:creationId xmlns:a16="http://schemas.microsoft.com/office/drawing/2014/main" id="{81912573-66BA-C21D-6A35-A07DA187FA72}"/>
              </a:ext>
            </a:extLst>
          </p:cNvPr>
          <p:cNvSpPr txBox="1"/>
          <p:nvPr/>
        </p:nvSpPr>
        <p:spPr>
          <a:xfrm>
            <a:off x="1392851" y="3693908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g32e3c3536b7_0_2086">
            <a:extLst>
              <a:ext uri="{FF2B5EF4-FFF2-40B4-BE49-F238E27FC236}">
                <a16:creationId xmlns:a16="http://schemas.microsoft.com/office/drawing/2014/main" id="{EDE1AFC8-B2AC-D153-98A6-3724DB7E3D52}"/>
              </a:ext>
            </a:extLst>
          </p:cNvPr>
          <p:cNvSpPr txBox="1"/>
          <p:nvPr/>
        </p:nvSpPr>
        <p:spPr>
          <a:xfrm>
            <a:off x="1390000" y="4032010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g32e3c3536b7_0_2086">
            <a:extLst>
              <a:ext uri="{FF2B5EF4-FFF2-40B4-BE49-F238E27FC236}">
                <a16:creationId xmlns:a16="http://schemas.microsoft.com/office/drawing/2014/main" id="{68265A20-DA1B-ED5C-94FF-D83107D84C7C}"/>
              </a:ext>
            </a:extLst>
          </p:cNvPr>
          <p:cNvSpPr txBox="1"/>
          <p:nvPr/>
        </p:nvSpPr>
        <p:spPr>
          <a:xfrm>
            <a:off x="1385587" y="4325326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4" name="Google Shape;944;g32e3c3536b7_0_2086">
            <a:extLst>
              <a:ext uri="{FF2B5EF4-FFF2-40B4-BE49-F238E27FC236}">
                <a16:creationId xmlns:a16="http://schemas.microsoft.com/office/drawing/2014/main" id="{75066EAB-DDA2-53CB-845C-2259E43FEA43}"/>
              </a:ext>
            </a:extLst>
          </p:cNvPr>
          <p:cNvCxnSpPr/>
          <p:nvPr/>
        </p:nvCxnSpPr>
        <p:spPr>
          <a:xfrm>
            <a:off x="8425714" y="3991818"/>
            <a:ext cx="109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45" name="Google Shape;945;g32e3c3536b7_0_2086">
            <a:extLst>
              <a:ext uri="{FF2B5EF4-FFF2-40B4-BE49-F238E27FC236}">
                <a16:creationId xmlns:a16="http://schemas.microsoft.com/office/drawing/2014/main" id="{DBB2C955-E664-3BFB-0B6B-FB3F8CE5D08B}"/>
              </a:ext>
            </a:extLst>
          </p:cNvPr>
          <p:cNvSpPr txBox="1"/>
          <p:nvPr/>
        </p:nvSpPr>
        <p:spPr>
          <a:xfrm>
            <a:off x="5061188" y="2117944"/>
            <a:ext cx="1883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Sort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7" name="Google Shape;947;g32e3c3536b7_0_2086">
            <a:extLst>
              <a:ext uri="{FF2B5EF4-FFF2-40B4-BE49-F238E27FC236}">
                <a16:creationId xmlns:a16="http://schemas.microsoft.com/office/drawing/2014/main" id="{0A90EB33-959D-EF03-58F4-463D1681068E}"/>
              </a:ext>
            </a:extLst>
          </p:cNvPr>
          <p:cNvGrpSpPr/>
          <p:nvPr/>
        </p:nvGrpSpPr>
        <p:grpSpPr>
          <a:xfrm>
            <a:off x="3458793" y="2956623"/>
            <a:ext cx="815755" cy="2123193"/>
            <a:chOff x="3458241" y="2956622"/>
            <a:chExt cx="816000" cy="21231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8" name="Google Shape;948;g32e3c3536b7_0_2086">
                  <a:extLst>
                    <a:ext uri="{FF2B5EF4-FFF2-40B4-BE49-F238E27FC236}">
                      <a16:creationId xmlns:a16="http://schemas.microsoft.com/office/drawing/2014/main" id="{72A2C8D3-EF33-3E31-CC4E-C9C3E0951B0F}"/>
                    </a:ext>
                  </a:extLst>
                </p:cNvPr>
                <p:cNvSpPr/>
                <p:nvPr/>
              </p:nvSpPr>
              <p:spPr>
                <a:xfrm>
                  <a:off x="3458241" y="2956622"/>
                  <a:ext cx="816000" cy="551100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</a:pPr>
                  <a:r>
                    <a:rPr lang="en-US" sz="1400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Step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chemeClr val="l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1</m:t>
                      </m:r>
                    </m:oMath>
                  </a14:m>
                  <a:endParaRPr sz="14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948" name="Google Shape;948;g32e3c3536b7_0_2086">
                  <a:extLst>
                    <a:ext uri="{FF2B5EF4-FFF2-40B4-BE49-F238E27FC236}">
                      <a16:creationId xmlns:a16="http://schemas.microsoft.com/office/drawing/2014/main" id="{72A2C8D3-EF33-3E31-CC4E-C9C3E0951B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241" y="2956622"/>
                  <a:ext cx="816000" cy="5511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9" name="Google Shape;949;g32e3c3536b7_0_2086">
              <a:extLst>
                <a:ext uri="{FF2B5EF4-FFF2-40B4-BE49-F238E27FC236}">
                  <a16:creationId xmlns:a16="http://schemas.microsoft.com/office/drawing/2014/main" id="{09323A26-AE6A-C8DD-7CE2-F42B26EF0887}"/>
                </a:ext>
              </a:extLst>
            </p:cNvPr>
            <p:cNvSpPr/>
            <p:nvPr/>
          </p:nvSpPr>
          <p:spPr>
            <a:xfrm rot="5400000">
              <a:off x="3673110" y="3724225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g32e3c3536b7_0_2086">
              <a:extLst>
                <a:ext uri="{FF2B5EF4-FFF2-40B4-BE49-F238E27FC236}">
                  <a16:creationId xmlns:a16="http://schemas.microsoft.com/office/drawing/2014/main" id="{6FF32623-153D-804D-23F5-2A304194C871}"/>
                </a:ext>
              </a:extLst>
            </p:cNvPr>
            <p:cNvSpPr/>
            <p:nvPr/>
          </p:nvSpPr>
          <p:spPr>
            <a:xfrm rot="5400000">
              <a:off x="3673110" y="4049206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g32e3c3536b7_0_2086">
              <a:extLst>
                <a:ext uri="{FF2B5EF4-FFF2-40B4-BE49-F238E27FC236}">
                  <a16:creationId xmlns:a16="http://schemas.microsoft.com/office/drawing/2014/main" id="{54B4A5FC-2385-0D62-681D-15F27EC148AF}"/>
                </a:ext>
              </a:extLst>
            </p:cNvPr>
            <p:cNvSpPr/>
            <p:nvPr/>
          </p:nvSpPr>
          <p:spPr>
            <a:xfrm rot="5400000">
              <a:off x="3673110" y="4370860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g32e3c3536b7_0_2086">
              <a:extLst>
                <a:ext uri="{FF2B5EF4-FFF2-40B4-BE49-F238E27FC236}">
                  <a16:creationId xmlns:a16="http://schemas.microsoft.com/office/drawing/2014/main" id="{1828DFD6-574C-1695-7F4C-0E28B4DD1747}"/>
                </a:ext>
              </a:extLst>
            </p:cNvPr>
            <p:cNvSpPr/>
            <p:nvPr/>
          </p:nvSpPr>
          <p:spPr>
            <a:xfrm rot="5400000">
              <a:off x="3673110" y="4697404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g32e3c3536b7_0_2086">
              <a:extLst>
                <a:ext uri="{FF2B5EF4-FFF2-40B4-BE49-F238E27FC236}">
                  <a16:creationId xmlns:a16="http://schemas.microsoft.com/office/drawing/2014/main" id="{C3DE2FD9-CD6B-E89A-A67B-325017AF5B6A}"/>
                </a:ext>
              </a:extLst>
            </p:cNvPr>
            <p:cNvSpPr txBox="1"/>
            <p:nvPr/>
          </p:nvSpPr>
          <p:spPr>
            <a:xfrm>
              <a:off x="3701583" y="3731515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g32e3c3536b7_0_2086">
              <a:extLst>
                <a:ext uri="{FF2B5EF4-FFF2-40B4-BE49-F238E27FC236}">
                  <a16:creationId xmlns:a16="http://schemas.microsoft.com/office/drawing/2014/main" id="{DE5EDD6D-6E9E-5269-76B4-8386FA564C8B}"/>
                </a:ext>
              </a:extLst>
            </p:cNvPr>
            <p:cNvSpPr txBox="1"/>
            <p:nvPr/>
          </p:nvSpPr>
          <p:spPr>
            <a:xfrm>
              <a:off x="3707812" y="403943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g32e3c3536b7_0_2086">
              <a:extLst>
                <a:ext uri="{FF2B5EF4-FFF2-40B4-BE49-F238E27FC236}">
                  <a16:creationId xmlns:a16="http://schemas.microsoft.com/office/drawing/2014/main" id="{463E84D3-7A67-9E13-582A-38473DD263F3}"/>
                </a:ext>
              </a:extLst>
            </p:cNvPr>
            <p:cNvSpPr txBox="1"/>
            <p:nvPr/>
          </p:nvSpPr>
          <p:spPr>
            <a:xfrm>
              <a:off x="3704960" y="4377539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g32e3c3536b7_0_2086">
              <a:extLst>
                <a:ext uri="{FF2B5EF4-FFF2-40B4-BE49-F238E27FC236}">
                  <a16:creationId xmlns:a16="http://schemas.microsoft.com/office/drawing/2014/main" id="{A4E7A319-3F1D-1321-3939-DAAB57C76EFE}"/>
                </a:ext>
              </a:extLst>
            </p:cNvPr>
            <p:cNvSpPr txBox="1"/>
            <p:nvPr/>
          </p:nvSpPr>
          <p:spPr>
            <a:xfrm>
              <a:off x="3702700" y="4710515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7" name="Google Shape;957;g32e3c3536b7_0_2086">
              <a:extLst>
                <a:ext uri="{FF2B5EF4-FFF2-40B4-BE49-F238E27FC236}">
                  <a16:creationId xmlns:a16="http://schemas.microsoft.com/office/drawing/2014/main" id="{E89BAEE1-5339-9663-5E24-85CE1D3E16A0}"/>
                </a:ext>
              </a:extLst>
            </p:cNvPr>
            <p:cNvCxnSpPr>
              <a:stCxn id="950" idx="0"/>
              <a:endCxn id="953" idx="3"/>
            </p:cNvCxnSpPr>
            <p:nvPr/>
          </p:nvCxnSpPr>
          <p:spPr>
            <a:xfrm rot="10800000">
              <a:off x="4003410" y="3916156"/>
              <a:ext cx="15900" cy="320700"/>
            </a:xfrm>
            <a:prstGeom prst="curvedConnector3">
              <a:avLst>
                <a:gd name="adj1" fmla="val -1325098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58" name="Google Shape;958;g32e3c3536b7_0_2086">
            <a:extLst>
              <a:ext uri="{FF2B5EF4-FFF2-40B4-BE49-F238E27FC236}">
                <a16:creationId xmlns:a16="http://schemas.microsoft.com/office/drawing/2014/main" id="{74F01769-505B-C81B-DCCD-113F94064307}"/>
              </a:ext>
            </a:extLst>
          </p:cNvPr>
          <p:cNvGrpSpPr/>
          <p:nvPr/>
        </p:nvGrpSpPr>
        <p:grpSpPr>
          <a:xfrm>
            <a:off x="5428473" y="2942220"/>
            <a:ext cx="815755" cy="2127436"/>
            <a:chOff x="4525771" y="2956621"/>
            <a:chExt cx="816000" cy="21274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9" name="Google Shape;959;g32e3c3536b7_0_2086">
                  <a:extLst>
                    <a:ext uri="{FF2B5EF4-FFF2-40B4-BE49-F238E27FC236}">
                      <a16:creationId xmlns:a16="http://schemas.microsoft.com/office/drawing/2014/main" id="{81D6A887-5024-5FD9-A70A-8FB084755809}"/>
                    </a:ext>
                  </a:extLst>
                </p:cNvPr>
                <p:cNvSpPr/>
                <p:nvPr/>
              </p:nvSpPr>
              <p:spPr>
                <a:xfrm>
                  <a:off x="4525771" y="2956621"/>
                  <a:ext cx="816000" cy="551100"/>
                </a:xfrm>
                <a:prstGeom prst="ellipse">
                  <a:avLst/>
                </a:prstGeom>
                <a:solidFill>
                  <a:schemeClr val="accent1"/>
                </a:solid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</a:pPr>
                  <a:r>
                    <a:rPr lang="en-US" sz="1400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Step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chemeClr val="lt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  <a:sym typeface="Calibri"/>
                        </a:rPr>
                        <m:t>2</m:t>
                      </m:r>
                    </m:oMath>
                  </a14:m>
                  <a:endParaRPr sz="140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959" name="Google Shape;959;g32e3c3536b7_0_2086">
                  <a:extLst>
                    <a:ext uri="{FF2B5EF4-FFF2-40B4-BE49-F238E27FC236}">
                      <a16:creationId xmlns:a16="http://schemas.microsoft.com/office/drawing/2014/main" id="{81D6A887-5024-5FD9-A70A-8FB0847558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5771" y="2956621"/>
                  <a:ext cx="816000" cy="5511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 cmpd="sng">
                  <a:solidFill>
                    <a:srgbClr val="1C305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0" name="Google Shape;960;g32e3c3536b7_0_2086">
              <a:extLst>
                <a:ext uri="{FF2B5EF4-FFF2-40B4-BE49-F238E27FC236}">
                  <a16:creationId xmlns:a16="http://schemas.microsoft.com/office/drawing/2014/main" id="{FC03FC8F-BF0D-A5B2-19C8-F9151BE91ABB}"/>
                </a:ext>
              </a:extLst>
            </p:cNvPr>
            <p:cNvSpPr/>
            <p:nvPr/>
          </p:nvSpPr>
          <p:spPr>
            <a:xfrm rot="5400000">
              <a:off x="4742321" y="3728468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g32e3c3536b7_0_2086">
              <a:extLst>
                <a:ext uri="{FF2B5EF4-FFF2-40B4-BE49-F238E27FC236}">
                  <a16:creationId xmlns:a16="http://schemas.microsoft.com/office/drawing/2014/main" id="{CCCCEB33-BC48-60BE-881D-070D28CC292F}"/>
                </a:ext>
              </a:extLst>
            </p:cNvPr>
            <p:cNvSpPr/>
            <p:nvPr/>
          </p:nvSpPr>
          <p:spPr>
            <a:xfrm rot="5400000">
              <a:off x="4742321" y="4053448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g32e3c3536b7_0_2086">
              <a:extLst>
                <a:ext uri="{FF2B5EF4-FFF2-40B4-BE49-F238E27FC236}">
                  <a16:creationId xmlns:a16="http://schemas.microsoft.com/office/drawing/2014/main" id="{54080C31-8D29-2319-2FA0-03F389E68A1A}"/>
                </a:ext>
              </a:extLst>
            </p:cNvPr>
            <p:cNvSpPr/>
            <p:nvPr/>
          </p:nvSpPr>
          <p:spPr>
            <a:xfrm rot="5400000">
              <a:off x="4742321" y="4375102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g32e3c3536b7_0_2086">
              <a:extLst>
                <a:ext uri="{FF2B5EF4-FFF2-40B4-BE49-F238E27FC236}">
                  <a16:creationId xmlns:a16="http://schemas.microsoft.com/office/drawing/2014/main" id="{12559D4E-F9DE-4CAF-04D1-00D158405BEB}"/>
                </a:ext>
              </a:extLst>
            </p:cNvPr>
            <p:cNvSpPr/>
            <p:nvPr/>
          </p:nvSpPr>
          <p:spPr>
            <a:xfrm rot="5400000">
              <a:off x="4742321" y="4701646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g32e3c3536b7_0_2086">
              <a:extLst>
                <a:ext uri="{FF2B5EF4-FFF2-40B4-BE49-F238E27FC236}">
                  <a16:creationId xmlns:a16="http://schemas.microsoft.com/office/drawing/2014/main" id="{B7CBE7F9-44D2-D148-7701-0A5FD939B070}"/>
                </a:ext>
              </a:extLst>
            </p:cNvPr>
            <p:cNvSpPr txBox="1"/>
            <p:nvPr/>
          </p:nvSpPr>
          <p:spPr>
            <a:xfrm>
              <a:off x="4770794" y="3735757"/>
              <a:ext cx="30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g32e3c3536b7_0_2086">
              <a:extLst>
                <a:ext uri="{FF2B5EF4-FFF2-40B4-BE49-F238E27FC236}">
                  <a16:creationId xmlns:a16="http://schemas.microsoft.com/office/drawing/2014/main" id="{9F877DF1-751F-38B9-FA79-ED4F92B8AAE8}"/>
                </a:ext>
              </a:extLst>
            </p:cNvPr>
            <p:cNvSpPr txBox="1"/>
            <p:nvPr/>
          </p:nvSpPr>
          <p:spPr>
            <a:xfrm>
              <a:off x="4777023" y="4043679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g32e3c3536b7_0_2086">
              <a:extLst>
                <a:ext uri="{FF2B5EF4-FFF2-40B4-BE49-F238E27FC236}">
                  <a16:creationId xmlns:a16="http://schemas.microsoft.com/office/drawing/2014/main" id="{786B1BFA-5E90-AC97-91F5-9E8B1D849728}"/>
                </a:ext>
              </a:extLst>
            </p:cNvPr>
            <p:cNvSpPr txBox="1"/>
            <p:nvPr/>
          </p:nvSpPr>
          <p:spPr>
            <a:xfrm>
              <a:off x="4774171" y="4381781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g32e3c3536b7_0_2086">
              <a:extLst>
                <a:ext uri="{FF2B5EF4-FFF2-40B4-BE49-F238E27FC236}">
                  <a16:creationId xmlns:a16="http://schemas.microsoft.com/office/drawing/2014/main" id="{0CFC6789-2371-9841-E948-10AC570A0E0B}"/>
                </a:ext>
              </a:extLst>
            </p:cNvPr>
            <p:cNvSpPr txBox="1"/>
            <p:nvPr/>
          </p:nvSpPr>
          <p:spPr>
            <a:xfrm>
              <a:off x="4771911" y="471475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8" name="Google Shape;968;g32e3c3536b7_0_2086">
              <a:extLst>
                <a:ext uri="{FF2B5EF4-FFF2-40B4-BE49-F238E27FC236}">
                  <a16:creationId xmlns:a16="http://schemas.microsoft.com/office/drawing/2014/main" id="{363418DD-CBE7-D41A-44F4-CAF5C6DD5150}"/>
                </a:ext>
              </a:extLst>
            </p:cNvPr>
            <p:cNvCxnSpPr>
              <a:cxnSpLocks/>
              <a:stCxn id="961" idx="0"/>
              <a:endCxn id="960" idx="0"/>
            </p:cNvCxnSpPr>
            <p:nvPr/>
          </p:nvCxnSpPr>
          <p:spPr>
            <a:xfrm flipV="1">
              <a:off x="5088521" y="3916118"/>
              <a:ext cx="12704" cy="324980"/>
            </a:xfrm>
            <a:prstGeom prst="curvedConnector3">
              <a:avLst>
                <a:gd name="adj1" fmla="val 1571307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80" name="Google Shape;980;g32e3c3536b7_0_2086">
            <a:extLst>
              <a:ext uri="{FF2B5EF4-FFF2-40B4-BE49-F238E27FC236}">
                <a16:creationId xmlns:a16="http://schemas.microsoft.com/office/drawing/2014/main" id="{031AE1B9-92C0-341A-0D2E-F034146843B5}"/>
              </a:ext>
            </a:extLst>
          </p:cNvPr>
          <p:cNvGrpSpPr/>
          <p:nvPr/>
        </p:nvGrpSpPr>
        <p:grpSpPr>
          <a:xfrm>
            <a:off x="7318366" y="2921857"/>
            <a:ext cx="815755" cy="2184010"/>
            <a:chOff x="7318973" y="2921857"/>
            <a:chExt cx="816000" cy="2184010"/>
          </a:xfrm>
        </p:grpSpPr>
        <p:sp>
          <p:nvSpPr>
            <p:cNvPr id="981" name="Google Shape;981;g32e3c3536b7_0_2086">
              <a:extLst>
                <a:ext uri="{FF2B5EF4-FFF2-40B4-BE49-F238E27FC236}">
                  <a16:creationId xmlns:a16="http://schemas.microsoft.com/office/drawing/2014/main" id="{E7F92418-9C77-3DA1-00DC-C40A8DF78908}"/>
                </a:ext>
              </a:extLst>
            </p:cNvPr>
            <p:cNvSpPr/>
            <p:nvPr/>
          </p:nvSpPr>
          <p:spPr>
            <a:xfrm>
              <a:off x="7318973" y="2921857"/>
              <a:ext cx="816000" cy="5511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4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Step 3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g32e3c3536b7_0_2086">
              <a:extLst>
                <a:ext uri="{FF2B5EF4-FFF2-40B4-BE49-F238E27FC236}">
                  <a16:creationId xmlns:a16="http://schemas.microsoft.com/office/drawing/2014/main" id="{76201270-8A2A-27F7-3C1A-E2D7DCBCB735}"/>
                </a:ext>
              </a:extLst>
            </p:cNvPr>
            <p:cNvSpPr/>
            <p:nvPr/>
          </p:nvSpPr>
          <p:spPr>
            <a:xfrm rot="5400000">
              <a:off x="7588370" y="3750278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g32e3c3536b7_0_2086">
              <a:extLst>
                <a:ext uri="{FF2B5EF4-FFF2-40B4-BE49-F238E27FC236}">
                  <a16:creationId xmlns:a16="http://schemas.microsoft.com/office/drawing/2014/main" id="{C5ECBA14-FC61-F5AE-C7E0-F6A7A23B6C69}"/>
                </a:ext>
              </a:extLst>
            </p:cNvPr>
            <p:cNvSpPr/>
            <p:nvPr/>
          </p:nvSpPr>
          <p:spPr>
            <a:xfrm rot="5400000">
              <a:off x="7588370" y="4075258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rgbClr val="FBE4D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g32e3c3536b7_0_2086">
              <a:extLst>
                <a:ext uri="{FF2B5EF4-FFF2-40B4-BE49-F238E27FC236}">
                  <a16:creationId xmlns:a16="http://schemas.microsoft.com/office/drawing/2014/main" id="{007758FF-5A38-7B0D-1DD1-358F1FCCA5C5}"/>
                </a:ext>
              </a:extLst>
            </p:cNvPr>
            <p:cNvSpPr/>
            <p:nvPr/>
          </p:nvSpPr>
          <p:spPr>
            <a:xfrm rot="5400000">
              <a:off x="7588370" y="4396912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g32e3c3536b7_0_2086">
              <a:extLst>
                <a:ext uri="{FF2B5EF4-FFF2-40B4-BE49-F238E27FC236}">
                  <a16:creationId xmlns:a16="http://schemas.microsoft.com/office/drawing/2014/main" id="{8D5D50AA-A764-18CF-0ED6-B945DBBCB88B}"/>
                </a:ext>
              </a:extLst>
            </p:cNvPr>
            <p:cNvSpPr/>
            <p:nvPr/>
          </p:nvSpPr>
          <p:spPr>
            <a:xfrm rot="5400000">
              <a:off x="7588370" y="4723456"/>
              <a:ext cx="317100" cy="3753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rgbClr val="A8D0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g32e3c3536b7_0_2086">
              <a:extLst>
                <a:ext uri="{FF2B5EF4-FFF2-40B4-BE49-F238E27FC236}">
                  <a16:creationId xmlns:a16="http://schemas.microsoft.com/office/drawing/2014/main" id="{52856E96-C1E7-6DED-27F1-E09D03982BD3}"/>
                </a:ext>
              </a:extLst>
            </p:cNvPr>
            <p:cNvSpPr txBox="1"/>
            <p:nvPr/>
          </p:nvSpPr>
          <p:spPr>
            <a:xfrm>
              <a:off x="7616843" y="3757567"/>
              <a:ext cx="3018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altLang="zh-CN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lang="en-US" altLang="zh-CN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>
                <a:buClr>
                  <a:srgbClr val="000000"/>
                </a:buClr>
                <a:buSzPts val="1800"/>
              </a:pP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g32e3c3536b7_0_2086">
              <a:extLst>
                <a:ext uri="{FF2B5EF4-FFF2-40B4-BE49-F238E27FC236}">
                  <a16:creationId xmlns:a16="http://schemas.microsoft.com/office/drawing/2014/main" id="{5DB92451-8CB0-CE53-2B15-CD50E73DFA6E}"/>
                </a:ext>
              </a:extLst>
            </p:cNvPr>
            <p:cNvSpPr txBox="1"/>
            <p:nvPr/>
          </p:nvSpPr>
          <p:spPr>
            <a:xfrm>
              <a:off x="7623072" y="4065489"/>
              <a:ext cx="2490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altLang="zh-CN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Arial"/>
                </a:rPr>
                <a:t>3</a:t>
              </a:r>
              <a:endParaRPr lang="zh-CN" altLang="en-US" dirty="0">
                <a:solidFill>
                  <a:schemeClr val="dk1"/>
                </a:solidFill>
                <a:latin typeface="Calibri"/>
                <a:cs typeface="Calibri"/>
                <a:sym typeface="Arial"/>
              </a:endParaRPr>
            </a:p>
          </p:txBody>
        </p:sp>
        <p:sp>
          <p:nvSpPr>
            <p:cNvPr id="988" name="Google Shape;988;g32e3c3536b7_0_2086">
              <a:extLst>
                <a:ext uri="{FF2B5EF4-FFF2-40B4-BE49-F238E27FC236}">
                  <a16:creationId xmlns:a16="http://schemas.microsoft.com/office/drawing/2014/main" id="{2C72E4E1-A506-AC58-D4F1-28667AEA5B40}"/>
                </a:ext>
              </a:extLst>
            </p:cNvPr>
            <p:cNvSpPr txBox="1"/>
            <p:nvPr/>
          </p:nvSpPr>
          <p:spPr>
            <a:xfrm>
              <a:off x="7620220" y="4403591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g32e3c3536b7_0_2086">
              <a:extLst>
                <a:ext uri="{FF2B5EF4-FFF2-40B4-BE49-F238E27FC236}">
                  <a16:creationId xmlns:a16="http://schemas.microsoft.com/office/drawing/2014/main" id="{77D7FDD1-7A52-1BA2-A16D-459E4253313E}"/>
                </a:ext>
              </a:extLst>
            </p:cNvPr>
            <p:cNvSpPr txBox="1"/>
            <p:nvPr/>
          </p:nvSpPr>
          <p:spPr>
            <a:xfrm>
              <a:off x="7617960" y="4736567"/>
              <a:ext cx="249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buClr>
                  <a:srgbClr val="000000"/>
                </a:buClr>
                <a:buSzPts val="1800"/>
              </a:pP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0" name="Google Shape;990;g32e3c3536b7_0_2086">
            <a:extLst>
              <a:ext uri="{FF2B5EF4-FFF2-40B4-BE49-F238E27FC236}">
                <a16:creationId xmlns:a16="http://schemas.microsoft.com/office/drawing/2014/main" id="{B3FE442F-5388-7D4C-1721-64C4FF531539}"/>
              </a:ext>
            </a:extLst>
          </p:cNvPr>
          <p:cNvGrpSpPr/>
          <p:nvPr/>
        </p:nvGrpSpPr>
        <p:grpSpPr>
          <a:xfrm>
            <a:off x="9814450" y="3430207"/>
            <a:ext cx="375299" cy="1290294"/>
            <a:chOff x="1182152" y="3187006"/>
            <a:chExt cx="331800" cy="1632251"/>
          </a:xfrm>
        </p:grpSpPr>
        <p:sp>
          <p:nvSpPr>
            <p:cNvPr id="991" name="Google Shape;991;g32e3c3536b7_0_2086">
              <a:extLst>
                <a:ext uri="{FF2B5EF4-FFF2-40B4-BE49-F238E27FC236}">
                  <a16:creationId xmlns:a16="http://schemas.microsoft.com/office/drawing/2014/main" id="{C8DB45D4-EA61-1E6E-8335-0426BBCCC167}"/>
                </a:ext>
              </a:extLst>
            </p:cNvPr>
            <p:cNvSpPr/>
            <p:nvPr/>
          </p:nvSpPr>
          <p:spPr>
            <a:xfrm rot="5400000">
              <a:off x="1147502" y="3221656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g32e3c3536b7_0_2086">
              <a:extLst>
                <a:ext uri="{FF2B5EF4-FFF2-40B4-BE49-F238E27FC236}">
                  <a16:creationId xmlns:a16="http://schemas.microsoft.com/office/drawing/2014/main" id="{46BAF5F8-AFA0-83D8-1328-E108498F8052}"/>
                </a:ext>
              </a:extLst>
            </p:cNvPr>
            <p:cNvSpPr/>
            <p:nvPr/>
          </p:nvSpPr>
          <p:spPr>
            <a:xfrm rot="5400000">
              <a:off x="1147502" y="3632782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g32e3c3536b7_0_2086">
              <a:extLst>
                <a:ext uri="{FF2B5EF4-FFF2-40B4-BE49-F238E27FC236}">
                  <a16:creationId xmlns:a16="http://schemas.microsoft.com/office/drawing/2014/main" id="{FC27B4A3-1CE0-BFEE-7A31-4CA1DE0745F0}"/>
                </a:ext>
              </a:extLst>
            </p:cNvPr>
            <p:cNvSpPr/>
            <p:nvPr/>
          </p:nvSpPr>
          <p:spPr>
            <a:xfrm rot="5400000">
              <a:off x="1147502" y="4039702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g32e3c3536b7_0_2086">
              <a:extLst>
                <a:ext uri="{FF2B5EF4-FFF2-40B4-BE49-F238E27FC236}">
                  <a16:creationId xmlns:a16="http://schemas.microsoft.com/office/drawing/2014/main" id="{7544FC5E-51AC-3987-D81D-852D21B7BD8C}"/>
                </a:ext>
              </a:extLst>
            </p:cNvPr>
            <p:cNvSpPr/>
            <p:nvPr/>
          </p:nvSpPr>
          <p:spPr>
            <a:xfrm rot="5400000">
              <a:off x="1147502" y="4452807"/>
              <a:ext cx="401100" cy="331800"/>
            </a:xfrm>
            <a:prstGeom prst="rect">
              <a:avLst/>
            </a:prstGeom>
            <a:solidFill>
              <a:srgbClr val="FBE4D4"/>
            </a:solidFill>
            <a:ln w="508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5" name="Google Shape;995;g32e3c3536b7_0_2086">
            <a:extLst>
              <a:ext uri="{FF2B5EF4-FFF2-40B4-BE49-F238E27FC236}">
                <a16:creationId xmlns:a16="http://schemas.microsoft.com/office/drawing/2014/main" id="{1E9AEE2E-01B9-3AEF-C374-02B116965184}"/>
              </a:ext>
            </a:extLst>
          </p:cNvPr>
          <p:cNvSpPr txBox="1"/>
          <p:nvPr/>
        </p:nvSpPr>
        <p:spPr>
          <a:xfrm>
            <a:off x="9871931" y="3408278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g32e3c3536b7_0_2086">
            <a:extLst>
              <a:ext uri="{FF2B5EF4-FFF2-40B4-BE49-F238E27FC236}">
                <a16:creationId xmlns:a16="http://schemas.microsoft.com/office/drawing/2014/main" id="{834CA23E-4230-AB1B-7253-BEE9C282F7A1}"/>
              </a:ext>
            </a:extLst>
          </p:cNvPr>
          <p:cNvSpPr txBox="1"/>
          <p:nvPr/>
        </p:nvSpPr>
        <p:spPr>
          <a:xfrm>
            <a:off x="9878159" y="3716200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g32e3c3536b7_0_2086">
            <a:extLst>
              <a:ext uri="{FF2B5EF4-FFF2-40B4-BE49-F238E27FC236}">
                <a16:creationId xmlns:a16="http://schemas.microsoft.com/office/drawing/2014/main" id="{D8223B54-D4F2-9348-50B1-2212A01F6D94}"/>
              </a:ext>
            </a:extLst>
          </p:cNvPr>
          <p:cNvSpPr txBox="1"/>
          <p:nvPr/>
        </p:nvSpPr>
        <p:spPr>
          <a:xfrm>
            <a:off x="9875307" y="4054302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g32e3c3536b7_0_2086">
            <a:extLst>
              <a:ext uri="{FF2B5EF4-FFF2-40B4-BE49-F238E27FC236}">
                <a16:creationId xmlns:a16="http://schemas.microsoft.com/office/drawing/2014/main" id="{CB76F22C-CB05-6AD5-570A-CE726C329CCB}"/>
              </a:ext>
            </a:extLst>
          </p:cNvPr>
          <p:cNvSpPr txBox="1"/>
          <p:nvPr/>
        </p:nvSpPr>
        <p:spPr>
          <a:xfrm>
            <a:off x="9870894" y="4347618"/>
            <a:ext cx="2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536A41-CE13-6DEF-E9AD-70C1C16037AB}"/>
                  </a:ext>
                </a:extLst>
              </p:cNvPr>
              <p:cNvSpPr txBox="1"/>
              <p:nvPr/>
            </p:nvSpPr>
            <p:spPr>
              <a:xfrm>
                <a:off x="4538559" y="5986245"/>
                <a:ext cx="310456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32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536A41-CE13-6DEF-E9AD-70C1C1603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559" y="5986245"/>
                <a:ext cx="3104568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Google Shape;957;g32e3c3536b7_0_2086">
            <a:extLst>
              <a:ext uri="{FF2B5EF4-FFF2-40B4-BE49-F238E27FC236}">
                <a16:creationId xmlns:a16="http://schemas.microsoft.com/office/drawing/2014/main" id="{F1B21644-0377-3310-BE8B-24975F93C17B}"/>
              </a:ext>
            </a:extLst>
          </p:cNvPr>
          <p:cNvCxnSpPr>
            <a:cxnSpLocks/>
            <a:stCxn id="951" idx="0"/>
            <a:endCxn id="953" idx="3"/>
          </p:cNvCxnSpPr>
          <p:nvPr/>
        </p:nvCxnSpPr>
        <p:spPr>
          <a:xfrm flipH="1" flipV="1">
            <a:off x="4003771" y="3916166"/>
            <a:ext cx="15923" cy="642345"/>
          </a:xfrm>
          <a:prstGeom prst="curvedConnector3">
            <a:avLst>
              <a:gd name="adj1" fmla="val -2176047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957;g32e3c3536b7_0_2086">
            <a:extLst>
              <a:ext uri="{FF2B5EF4-FFF2-40B4-BE49-F238E27FC236}">
                <a16:creationId xmlns:a16="http://schemas.microsoft.com/office/drawing/2014/main" id="{0C20DDA6-8F5B-0073-5804-34873EAFACB8}"/>
              </a:ext>
            </a:extLst>
          </p:cNvPr>
          <p:cNvCxnSpPr>
            <a:cxnSpLocks/>
            <a:stCxn id="952" idx="0"/>
            <a:endCxn id="953" idx="3"/>
          </p:cNvCxnSpPr>
          <p:nvPr/>
        </p:nvCxnSpPr>
        <p:spPr>
          <a:xfrm flipH="1" flipV="1">
            <a:off x="4003771" y="3916166"/>
            <a:ext cx="15923" cy="968889"/>
          </a:xfrm>
          <a:prstGeom prst="curvedConnector3">
            <a:avLst>
              <a:gd name="adj1" fmla="val -2876368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35673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8AC08B8-4C39-6909-7F86-DB47EDD8E0FD}"/>
                  </a:ext>
                </a:extLst>
              </p:cNvPr>
              <p:cNvSpPr txBox="1"/>
              <p:nvPr/>
            </p:nvSpPr>
            <p:spPr>
              <a:xfrm>
                <a:off x="838199" y="4407749"/>
                <a:ext cx="11307061" cy="2762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800" b="1" dirty="0">
                    <a:solidFill>
                      <a:srgbClr val="009AB4"/>
                    </a:solidFill>
                  </a:rPr>
                  <a:t>Analysis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With probability ½,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≤ 3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/4</m:t>
                    </m:r>
                  </m:oMath>
                </a14:m>
                <a:r>
                  <a:rPr lang="en-US" altLang="zh-C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/4−1</m:t>
                            </m:r>
                          </m:e>
                        </m:d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marL="612000" lvl="1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pPr marL="612000" lvl="1" indent="0">
                  <a:spcBef>
                    <a:spcPts val="1200"/>
                  </a:spcBef>
                  <a:buNone/>
                </a:pPr>
                <a:r>
                  <a:rPr lang="en-US" altLang="zh-CN" sz="2400" dirty="0"/>
                  <a:t>Similarly, we have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dirty="0"/>
                  <a:t>and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(1/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b="1" dirty="0"/>
                  <a:t>for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8AC08B8-4C39-6909-7F86-DB47EDD8E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407749"/>
                <a:ext cx="11307061" cy="2762423"/>
              </a:xfrm>
              <a:prstGeom prst="rect">
                <a:avLst/>
              </a:prstGeom>
              <a:blipFill>
                <a:blip r:embed="rId2"/>
                <a:stretch>
                  <a:fillRect l="-916" t="-3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8D0983-FB57-EEEF-1736-A43022B6C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344"/>
            <a:ext cx="10515600" cy="5485787"/>
          </a:xfrm>
        </p:spPr>
        <p:txBody>
          <a:bodyPr>
            <a:normAutofit/>
          </a:bodyPr>
          <a:lstStyle/>
          <a:p>
            <a:r>
              <a:rPr lang="en-US" altLang="zh-CN" dirty="0"/>
              <a:t>Number of remaining comparisons</a:t>
            </a:r>
          </a:p>
          <a:p>
            <a:pPr lvl="1"/>
            <a:r>
              <a:rPr lang="en-US" altLang="zh-CN" dirty="0"/>
              <a:t># pairs whose order is unknown </a:t>
            </a:r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  <a:p>
            <a:endParaRPr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AC4E7E-127D-3EE1-5110-A40832616545}"/>
              </a:ext>
            </a:extLst>
          </p:cNvPr>
          <p:cNvSpPr/>
          <p:nvPr/>
        </p:nvSpPr>
        <p:spPr>
          <a:xfrm>
            <a:off x="4553170" y="3741664"/>
            <a:ext cx="815075" cy="390525"/>
          </a:xfrm>
          <a:prstGeom prst="rect">
            <a:avLst/>
          </a:prstGeom>
          <a:noFill/>
          <a:ln w="38100">
            <a:solidFill>
              <a:srgbClr val="2F62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BDA8E4-2CA6-3CE4-717A-57D7D9E0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Adaptivity for</a:t>
            </a:r>
            <a:r>
              <a:rPr lang="en-US" altLang="zh-CN" dirty="0"/>
              <a:t> Quick Sort -Analysis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747A658-8469-006D-8920-612568D8E09E}"/>
                  </a:ext>
                </a:extLst>
              </p:cNvPr>
              <p:cNvSpPr/>
              <p:nvPr/>
            </p:nvSpPr>
            <p:spPr>
              <a:xfrm>
                <a:off x="2047875" y="2668083"/>
                <a:ext cx="4286250" cy="390525"/>
              </a:xfrm>
              <a:prstGeom prst="rect">
                <a:avLst/>
              </a:prstGeom>
              <a:noFill/>
              <a:ln w="38100">
                <a:solidFill>
                  <a:srgbClr val="2F62B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elements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747A658-8469-006D-8920-612568D8E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875" y="2668083"/>
                <a:ext cx="4286250" cy="390525"/>
              </a:xfrm>
              <a:prstGeom prst="rect">
                <a:avLst/>
              </a:prstGeom>
              <a:blipFill>
                <a:blip r:embed="rId3"/>
                <a:stretch>
                  <a:fillRect t="-1429" b="-15714"/>
                </a:stretch>
              </a:blipFill>
              <a:ln w="38100">
                <a:solidFill>
                  <a:srgbClr val="2F62BB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87AE53F-2582-CC16-C71B-966BFB8AC790}"/>
                  </a:ext>
                </a:extLst>
              </p:cNvPr>
              <p:cNvSpPr/>
              <p:nvPr/>
            </p:nvSpPr>
            <p:spPr>
              <a:xfrm>
                <a:off x="2047875" y="3182865"/>
                <a:ext cx="2228850" cy="390525"/>
              </a:xfrm>
              <a:prstGeom prst="rect">
                <a:avLst/>
              </a:prstGeom>
              <a:noFill/>
              <a:ln w="38100">
                <a:solidFill>
                  <a:srgbClr val="2F62B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elements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87AE53F-2582-CC16-C71B-966BFB8AC7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875" y="3182865"/>
                <a:ext cx="2228850" cy="390525"/>
              </a:xfrm>
              <a:prstGeom prst="rect">
                <a:avLst/>
              </a:prstGeom>
              <a:blipFill>
                <a:blip r:embed="rId4"/>
                <a:stretch>
                  <a:fillRect b="-15714"/>
                </a:stretch>
              </a:blipFill>
              <a:ln w="38100">
                <a:solidFill>
                  <a:srgbClr val="2F62BB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1C7560E-1EBA-2014-9E9A-75DC97CBB7A5}"/>
                  </a:ext>
                </a:extLst>
              </p:cNvPr>
              <p:cNvSpPr/>
              <p:nvPr/>
            </p:nvSpPr>
            <p:spPr>
              <a:xfrm>
                <a:off x="4562475" y="3182865"/>
                <a:ext cx="1771650" cy="390525"/>
              </a:xfrm>
              <a:prstGeom prst="rect">
                <a:avLst/>
              </a:prstGeom>
              <a:noFill/>
              <a:ln w="38100">
                <a:solidFill>
                  <a:srgbClr val="2F62B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elements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1C7560E-1EBA-2014-9E9A-75DC97CBB7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475" y="3182865"/>
                <a:ext cx="1771650" cy="390525"/>
              </a:xfrm>
              <a:prstGeom prst="rect">
                <a:avLst/>
              </a:prstGeom>
              <a:blipFill>
                <a:blip r:embed="rId5"/>
                <a:stretch>
                  <a:fillRect b="-15714"/>
                </a:stretch>
              </a:blipFill>
              <a:ln w="38100">
                <a:solidFill>
                  <a:srgbClr val="2F62BB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D73E64FF-CC32-FFB4-F58E-F424A326A7B7}"/>
              </a:ext>
            </a:extLst>
          </p:cNvPr>
          <p:cNvSpPr/>
          <p:nvPr/>
        </p:nvSpPr>
        <p:spPr>
          <a:xfrm>
            <a:off x="4276725" y="3182865"/>
            <a:ext cx="285750" cy="390525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7099F56-9850-3FB3-9ECB-AFDE65FFDE58}"/>
                  </a:ext>
                </a:extLst>
              </p:cNvPr>
              <p:cNvSpPr txBox="1"/>
              <p:nvPr/>
            </p:nvSpPr>
            <p:spPr>
              <a:xfrm>
                <a:off x="6361793" y="2554832"/>
                <a:ext cx="5210175" cy="566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7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−1)/2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7099F56-9850-3FB3-9ECB-AFDE65FFD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793" y="2554832"/>
                <a:ext cx="5210175" cy="566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475214B-0146-A25B-2E16-B2A1CD83AA53}"/>
                  </a:ext>
                </a:extLst>
              </p:cNvPr>
              <p:cNvSpPr txBox="1"/>
              <p:nvPr/>
            </p:nvSpPr>
            <p:spPr>
              <a:xfrm>
                <a:off x="6505575" y="3096336"/>
                <a:ext cx="5639685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/2+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−1)/2</m:t>
                      </m:r>
                    </m:oMath>
                  </m:oMathPara>
                </a14:m>
                <a:endParaRPr lang="zh-CN" altLang="en-US" sz="2800" dirty="0"/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475214B-0146-A25B-2E16-B2A1CD83A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575" y="3096336"/>
                <a:ext cx="5639685" cy="9541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B3B9308B-78DB-4213-85D1-5892A8262F58}"/>
              </a:ext>
            </a:extLst>
          </p:cNvPr>
          <p:cNvSpPr/>
          <p:nvPr/>
        </p:nvSpPr>
        <p:spPr>
          <a:xfrm>
            <a:off x="2040618" y="3741664"/>
            <a:ext cx="818696" cy="390525"/>
          </a:xfrm>
          <a:prstGeom prst="rect">
            <a:avLst/>
          </a:prstGeom>
          <a:noFill/>
          <a:ln w="38100">
            <a:solidFill>
              <a:srgbClr val="2F62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8E2DDA-62D0-E52B-2112-6D040187C171}"/>
              </a:ext>
            </a:extLst>
          </p:cNvPr>
          <p:cNvSpPr/>
          <p:nvPr/>
        </p:nvSpPr>
        <p:spPr>
          <a:xfrm>
            <a:off x="5680300" y="3741664"/>
            <a:ext cx="646568" cy="390525"/>
          </a:xfrm>
          <a:prstGeom prst="rect">
            <a:avLst/>
          </a:prstGeom>
          <a:noFill/>
          <a:ln w="38100">
            <a:solidFill>
              <a:srgbClr val="2F62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80A435-987F-1313-E948-712BA0D9F1CF}"/>
              </a:ext>
            </a:extLst>
          </p:cNvPr>
          <p:cNvSpPr/>
          <p:nvPr/>
        </p:nvSpPr>
        <p:spPr>
          <a:xfrm>
            <a:off x="3140073" y="3740015"/>
            <a:ext cx="1130073" cy="390525"/>
          </a:xfrm>
          <a:prstGeom prst="rect">
            <a:avLst/>
          </a:prstGeom>
          <a:noFill/>
          <a:ln w="38100">
            <a:solidFill>
              <a:srgbClr val="2F62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4C1415-A28C-310F-1249-3512644584A2}"/>
              </a:ext>
            </a:extLst>
          </p:cNvPr>
          <p:cNvSpPr/>
          <p:nvPr/>
        </p:nvSpPr>
        <p:spPr>
          <a:xfrm>
            <a:off x="4269468" y="3741664"/>
            <a:ext cx="285750" cy="390525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ED76BB-E6B6-919A-549F-1ACE1A62B274}"/>
              </a:ext>
            </a:extLst>
          </p:cNvPr>
          <p:cNvSpPr/>
          <p:nvPr/>
        </p:nvSpPr>
        <p:spPr>
          <a:xfrm>
            <a:off x="2854323" y="3740757"/>
            <a:ext cx="285750" cy="390525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6937F7-AF0F-C2DA-6B3E-BF56AE47CA50}"/>
              </a:ext>
            </a:extLst>
          </p:cNvPr>
          <p:cNvSpPr/>
          <p:nvPr/>
        </p:nvSpPr>
        <p:spPr>
          <a:xfrm>
            <a:off x="5392283" y="3738444"/>
            <a:ext cx="285750" cy="390525"/>
          </a:xfrm>
          <a:prstGeom prst="rect">
            <a:avLst/>
          </a:prstGeom>
          <a:noFill/>
          <a:ln w="38100">
            <a:solidFill>
              <a:srgbClr val="70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8AB60EBB-1981-E92A-26C6-71B580C2CD7C}"/>
              </a:ext>
            </a:extLst>
          </p:cNvPr>
          <p:cNvCxnSpPr>
            <a:cxnSpLocks/>
            <a:stCxn id="4" idx="1"/>
            <a:endCxn id="5" idx="1"/>
          </p:cNvCxnSpPr>
          <p:nvPr/>
        </p:nvCxnSpPr>
        <p:spPr>
          <a:xfrm rot="10800000" flipV="1">
            <a:off x="2047875" y="2863346"/>
            <a:ext cx="12700" cy="51478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6B8D4F85-FF1A-BBC6-B98B-7E2DE1FB7BA7}"/>
              </a:ext>
            </a:extLst>
          </p:cNvPr>
          <p:cNvCxnSpPr>
            <a:cxnSpLocks/>
            <a:stCxn id="5" idx="1"/>
            <a:endCxn id="10" idx="1"/>
          </p:cNvCxnSpPr>
          <p:nvPr/>
        </p:nvCxnSpPr>
        <p:spPr>
          <a:xfrm rot="10800000" flipV="1">
            <a:off x="2040619" y="3378127"/>
            <a:ext cx="7257" cy="558799"/>
          </a:xfrm>
          <a:prstGeom prst="curvedConnector3">
            <a:avLst>
              <a:gd name="adj1" fmla="val 32500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7C3E8E4-E7BD-8D44-DF0A-64EB588CEEB1}"/>
                  </a:ext>
                </a:extLst>
              </p:cNvPr>
              <p:cNvSpPr txBox="1"/>
              <p:nvPr/>
            </p:nvSpPr>
            <p:spPr>
              <a:xfrm>
                <a:off x="8120490" y="3691607"/>
                <a:ext cx="14396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7C3E8E4-E7BD-8D44-DF0A-64EB588CE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490" y="3691607"/>
                <a:ext cx="143968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流程图: 可选过程 16">
                <a:extLst>
                  <a:ext uri="{FF2B5EF4-FFF2-40B4-BE49-F238E27FC236}">
                    <a16:creationId xmlns:a16="http://schemas.microsoft.com/office/drawing/2014/main" id="{D86F1919-15CC-3713-70DD-A630ED6D56B4}"/>
                  </a:ext>
                </a:extLst>
              </p:cNvPr>
              <p:cNvSpPr/>
              <p:nvPr/>
            </p:nvSpPr>
            <p:spPr>
              <a:xfrm>
                <a:off x="8692587" y="4407749"/>
                <a:ext cx="2986269" cy="1659566"/>
              </a:xfrm>
              <a:prstGeom prst="flowChartAlternateProcess">
                <a:avLst/>
              </a:prstGeom>
              <a:solidFill>
                <a:schemeClr val="bg1"/>
              </a:solidFill>
              <a:ln w="57150">
                <a:solidFill>
                  <a:srgbClr val="70AD47"/>
                </a:solidFill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dirty="0">
                    <a:solidFill>
                      <a:schemeClr val="tx1"/>
                    </a:solidFill>
                  </a:rPr>
                  <a:t>At level t: 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A is sorted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A is unsorted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is</m:t>
                          </m:r>
                          <m:r>
                            <a:rPr lang="en-US" altLang="zh-CN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unsorted</m:t>
                          </m:r>
                          <m:r>
                            <a:rPr lang="en-US" altLang="zh-CN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流程图: 可选过程 16">
                <a:extLst>
                  <a:ext uri="{FF2B5EF4-FFF2-40B4-BE49-F238E27FC236}">
                    <a16:creationId xmlns:a16="http://schemas.microsoft.com/office/drawing/2014/main" id="{D86F1919-15CC-3713-70DD-A630ED6D5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2587" y="4407749"/>
                <a:ext cx="2986269" cy="1659566"/>
              </a:xfrm>
              <a:prstGeom prst="flowChartAlternateProcess">
                <a:avLst/>
              </a:prstGeom>
              <a:blipFill>
                <a:blip r:embed="rId9"/>
                <a:stretch>
                  <a:fillRect/>
                </a:stretch>
              </a:blipFill>
              <a:ln w="57150">
                <a:solidFill>
                  <a:srgbClr val="70AD47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73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5" grpId="0" animBg="1"/>
      <p:bldP spid="6" grpId="0" animBg="1"/>
      <p:bldP spid="7" grpId="0" animBg="1"/>
      <p:bldP spid="9" grpId="0"/>
      <p:bldP spid="10" grpId="0" animBg="1"/>
      <p:bldP spid="11" grpId="0" animBg="1"/>
      <p:bldP spid="13" grpId="0" animBg="1"/>
      <p:bldP spid="12" grpId="0" animBg="1"/>
      <p:bldP spid="14" grpId="0" animBg="1"/>
      <p:bldP spid="16" grpId="0" animBg="1"/>
      <p:bldP spid="24" grpId="0"/>
      <p:bldP spid="1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843A3A7-AA96-2033-177A-BC2DC5CA1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 Search Trees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FADAF4-463C-CA78-79C2-5B2CF3149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513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4F01F-C4AB-B7CC-E015-7E33981F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 Search Trees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F3C1FE-ED3E-62D4-81A8-8B63BE6E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charset="0"/>
              <a:buChar char="•"/>
            </a:pPr>
            <a:r>
              <a:rPr lang="en-US" altLang="zh-CN" sz="2800" dirty="0"/>
              <a:t>A BST is a binary tree so that: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/>
              <a:t>Every LEFT descendant of a node has key less than that node.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altLang="zh-CN" sz="2000" dirty="0"/>
              <a:t>Every RIGHT descendant of a node has key larger than that node.</a:t>
            </a:r>
          </a:p>
          <a:p>
            <a:endParaRPr lang="zh-CN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31F66E-D556-24A5-C134-9A74D147EC74}"/>
              </a:ext>
            </a:extLst>
          </p:cNvPr>
          <p:cNvSpPr/>
          <p:nvPr/>
        </p:nvSpPr>
        <p:spPr>
          <a:xfrm>
            <a:off x="3257303" y="4947563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1A016E-DB68-8318-F5B0-AB3A5483ADA4}"/>
              </a:ext>
            </a:extLst>
          </p:cNvPr>
          <p:cNvSpPr/>
          <p:nvPr/>
        </p:nvSpPr>
        <p:spPr>
          <a:xfrm>
            <a:off x="2079828" y="4947563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A2417D-68BC-2EB5-C8D5-F21ADF1D0E32}"/>
              </a:ext>
            </a:extLst>
          </p:cNvPr>
          <p:cNvSpPr/>
          <p:nvPr/>
        </p:nvSpPr>
        <p:spPr>
          <a:xfrm>
            <a:off x="4961709" y="4852691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13A7A81-CF8A-9A97-7267-316B122B8681}"/>
              </a:ext>
            </a:extLst>
          </p:cNvPr>
          <p:cNvSpPr/>
          <p:nvPr/>
        </p:nvSpPr>
        <p:spPr>
          <a:xfrm>
            <a:off x="4311166" y="3870760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1C5B0DE1-9FD9-00E1-7849-BFF0751B4DDB}"/>
              </a:ext>
            </a:extLst>
          </p:cNvPr>
          <p:cNvSpPr/>
          <p:nvPr/>
        </p:nvSpPr>
        <p:spPr>
          <a:xfrm>
            <a:off x="1675014" y="6022763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FE38591-F8A5-E8CB-E356-3351A6579EA1}"/>
              </a:ext>
            </a:extLst>
          </p:cNvPr>
          <p:cNvSpPr/>
          <p:nvPr/>
        </p:nvSpPr>
        <p:spPr>
          <a:xfrm>
            <a:off x="2637042" y="3856969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5E4FBA52-24F0-B226-3A89-F0E058BF16D2}"/>
              </a:ext>
            </a:extLst>
          </p:cNvPr>
          <p:cNvSpPr/>
          <p:nvPr/>
        </p:nvSpPr>
        <p:spPr>
          <a:xfrm>
            <a:off x="3428611" y="2789361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DC84A302-5937-B6D2-07E4-2A54A62C5FA1}"/>
              </a:ext>
            </a:extLst>
          </p:cNvPr>
          <p:cNvSpPr/>
          <p:nvPr/>
        </p:nvSpPr>
        <p:spPr>
          <a:xfrm>
            <a:off x="7771514" y="4947563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E51FCE74-B420-E8C1-9CA7-7A5758FAF543}"/>
              </a:ext>
            </a:extLst>
          </p:cNvPr>
          <p:cNvSpPr/>
          <p:nvPr/>
        </p:nvSpPr>
        <p:spPr>
          <a:xfrm>
            <a:off x="6500710" y="4947563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A092707-9B36-F2E3-BB79-FEE42A3D7DE4}"/>
              </a:ext>
            </a:extLst>
          </p:cNvPr>
          <p:cNvSpPr/>
          <p:nvPr/>
        </p:nvSpPr>
        <p:spPr>
          <a:xfrm>
            <a:off x="9475920" y="4852691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2BBB7363-00CB-6BFA-EFA1-07915355445D}"/>
              </a:ext>
            </a:extLst>
          </p:cNvPr>
          <p:cNvSpPr/>
          <p:nvPr/>
        </p:nvSpPr>
        <p:spPr>
          <a:xfrm>
            <a:off x="8825377" y="3870760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54A82E38-5DC9-3336-5209-FE51AEBE8F35}"/>
              </a:ext>
            </a:extLst>
          </p:cNvPr>
          <p:cNvSpPr/>
          <p:nvPr/>
        </p:nvSpPr>
        <p:spPr>
          <a:xfrm>
            <a:off x="7446242" y="6015171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1210E081-9487-4FE3-9556-2E52F2D3FD76}"/>
              </a:ext>
            </a:extLst>
          </p:cNvPr>
          <p:cNvSpPr/>
          <p:nvPr/>
        </p:nvSpPr>
        <p:spPr>
          <a:xfrm>
            <a:off x="7151253" y="3856969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3E69D210-FDA5-E602-4C36-ACFC1315D7C9}"/>
              </a:ext>
            </a:extLst>
          </p:cNvPr>
          <p:cNvSpPr/>
          <p:nvPr/>
        </p:nvSpPr>
        <p:spPr>
          <a:xfrm>
            <a:off x="7942822" y="2789361"/>
            <a:ext cx="576710" cy="5673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8" name="Straight Connector 20">
            <a:extLst>
              <a:ext uri="{FF2B5EF4-FFF2-40B4-BE49-F238E27FC236}">
                <a16:creationId xmlns:a16="http://schemas.microsoft.com/office/drawing/2014/main" id="{28D718FA-FEE1-B25B-0122-A562D3941F6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753882" y="3390161"/>
            <a:ext cx="845639" cy="480599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C2CF3805-D123-074B-5DDB-5916551F205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556825" y="4410125"/>
            <a:ext cx="693239" cy="442566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2">
            <a:extLst>
              <a:ext uri="{FF2B5EF4-FFF2-40B4-BE49-F238E27FC236}">
                <a16:creationId xmlns:a16="http://schemas.microsoft.com/office/drawing/2014/main" id="{75636E88-B5A1-BCFE-9EE9-91D4BBE391B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228287" y="3356662"/>
            <a:ext cx="885445" cy="51409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3">
            <a:extLst>
              <a:ext uri="{FF2B5EF4-FFF2-40B4-BE49-F238E27FC236}">
                <a16:creationId xmlns:a16="http://schemas.microsoft.com/office/drawing/2014/main" id="{5008CA4F-282B-EA5B-7E01-92CD7F76983A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9110842" y="4438061"/>
            <a:ext cx="653433" cy="41463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4">
            <a:extLst>
              <a:ext uri="{FF2B5EF4-FFF2-40B4-BE49-F238E27FC236}">
                <a16:creationId xmlns:a16="http://schemas.microsoft.com/office/drawing/2014/main" id="{DADDC7AA-39B3-DBBD-8AC7-611AB3014FA8}"/>
              </a:ext>
            </a:extLst>
          </p:cNvPr>
          <p:cNvCxnSpPr>
            <a:cxnSpLocks/>
            <a:stCxn id="16" idx="2"/>
            <a:endCxn id="11" idx="0"/>
          </p:cNvCxnSpPr>
          <p:nvPr/>
        </p:nvCxnSpPr>
        <p:spPr>
          <a:xfrm>
            <a:off x="7439608" y="4424270"/>
            <a:ext cx="620261" cy="523293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5">
            <a:extLst>
              <a:ext uri="{FF2B5EF4-FFF2-40B4-BE49-F238E27FC236}">
                <a16:creationId xmlns:a16="http://schemas.microsoft.com/office/drawing/2014/main" id="{E5EE1F82-2F3F-4C6F-D101-2B9B33B80364}"/>
              </a:ext>
            </a:extLst>
          </p:cNvPr>
          <p:cNvCxnSpPr>
            <a:endCxn id="4" idx="0"/>
          </p:cNvCxnSpPr>
          <p:nvPr/>
        </p:nvCxnSpPr>
        <p:spPr>
          <a:xfrm>
            <a:off x="2934340" y="4438061"/>
            <a:ext cx="611318" cy="509502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6">
            <a:extLst>
              <a:ext uri="{FF2B5EF4-FFF2-40B4-BE49-F238E27FC236}">
                <a16:creationId xmlns:a16="http://schemas.microsoft.com/office/drawing/2014/main" id="{402E0CED-0EE0-F615-8C9A-3C83F0FFC419}"/>
              </a:ext>
            </a:extLst>
          </p:cNvPr>
          <p:cNvCxnSpPr>
            <a:stCxn id="10" idx="2"/>
            <a:endCxn id="9" idx="0"/>
          </p:cNvCxnSpPr>
          <p:nvPr/>
        </p:nvCxnSpPr>
        <p:spPr>
          <a:xfrm flipH="1">
            <a:off x="2925397" y="3356662"/>
            <a:ext cx="791569" cy="50030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9">
            <a:extLst>
              <a:ext uri="{FF2B5EF4-FFF2-40B4-BE49-F238E27FC236}">
                <a16:creationId xmlns:a16="http://schemas.microsoft.com/office/drawing/2014/main" id="{C762CDB8-CAEB-F2BF-15D9-751802C23292}"/>
              </a:ext>
            </a:extLst>
          </p:cNvPr>
          <p:cNvCxnSpPr>
            <a:endCxn id="5" idx="0"/>
          </p:cNvCxnSpPr>
          <p:nvPr/>
        </p:nvCxnSpPr>
        <p:spPr>
          <a:xfrm flipH="1">
            <a:off x="2368183" y="4450197"/>
            <a:ext cx="570673" cy="497366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31">
            <a:extLst>
              <a:ext uri="{FF2B5EF4-FFF2-40B4-BE49-F238E27FC236}">
                <a16:creationId xmlns:a16="http://schemas.microsoft.com/office/drawing/2014/main" id="{8C88B061-AD06-4608-85D0-395FCB56EF3C}"/>
              </a:ext>
            </a:extLst>
          </p:cNvPr>
          <p:cNvCxnSpPr>
            <a:endCxn id="8" idx="0"/>
          </p:cNvCxnSpPr>
          <p:nvPr/>
        </p:nvCxnSpPr>
        <p:spPr>
          <a:xfrm flipH="1">
            <a:off x="1963369" y="5504144"/>
            <a:ext cx="439455" cy="518619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3">
            <a:extLst>
              <a:ext uri="{FF2B5EF4-FFF2-40B4-BE49-F238E27FC236}">
                <a16:creationId xmlns:a16="http://schemas.microsoft.com/office/drawing/2014/main" id="{07653903-4EA1-DB34-4E16-4DAA45ED6DC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7734597" y="5504144"/>
            <a:ext cx="409494" cy="51102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34">
            <a:extLst>
              <a:ext uri="{FF2B5EF4-FFF2-40B4-BE49-F238E27FC236}">
                <a16:creationId xmlns:a16="http://schemas.microsoft.com/office/drawing/2014/main" id="{F2D66EE0-E54B-982F-718C-0BF5DF524E85}"/>
              </a:ext>
            </a:extLst>
          </p:cNvPr>
          <p:cNvCxnSpPr>
            <a:stCxn id="16" idx="2"/>
            <a:endCxn id="12" idx="0"/>
          </p:cNvCxnSpPr>
          <p:nvPr/>
        </p:nvCxnSpPr>
        <p:spPr>
          <a:xfrm flipH="1">
            <a:off x="6789065" y="4424270"/>
            <a:ext cx="650543" cy="523293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37">
            <a:extLst>
              <a:ext uri="{FF2B5EF4-FFF2-40B4-BE49-F238E27FC236}">
                <a16:creationId xmlns:a16="http://schemas.microsoft.com/office/drawing/2014/main" id="{D956C172-3610-6442-FE32-8C3FC0E186DF}"/>
              </a:ext>
            </a:extLst>
          </p:cNvPr>
          <p:cNvCxnSpPr>
            <a:endCxn id="16" idx="0"/>
          </p:cNvCxnSpPr>
          <p:nvPr/>
        </p:nvCxnSpPr>
        <p:spPr>
          <a:xfrm flipH="1">
            <a:off x="7439608" y="3345169"/>
            <a:ext cx="808584" cy="51180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39">
            <a:extLst>
              <a:ext uri="{FF2B5EF4-FFF2-40B4-BE49-F238E27FC236}">
                <a16:creationId xmlns:a16="http://schemas.microsoft.com/office/drawing/2014/main" id="{3EA0C281-3801-5932-93CA-49039179F486}"/>
              </a:ext>
            </a:extLst>
          </p:cNvPr>
          <p:cNvSpPr txBox="1"/>
          <p:nvPr/>
        </p:nvSpPr>
        <p:spPr>
          <a:xfrm>
            <a:off x="2637042" y="6065873"/>
            <a:ext cx="3272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0B050"/>
                </a:solidFill>
              </a:rPr>
              <a:t>Binary Search Tree</a:t>
            </a:r>
          </a:p>
        </p:txBody>
      </p:sp>
      <p:sp>
        <p:nvSpPr>
          <p:cNvPr id="31" name="TextBox 40">
            <a:extLst>
              <a:ext uri="{FF2B5EF4-FFF2-40B4-BE49-F238E27FC236}">
                <a16:creationId xmlns:a16="http://schemas.microsoft.com/office/drawing/2014/main" id="{5035F191-B239-BD07-06A6-C4472DE4659D}"/>
              </a:ext>
            </a:extLst>
          </p:cNvPr>
          <p:cNvSpPr txBox="1"/>
          <p:nvPr/>
        </p:nvSpPr>
        <p:spPr>
          <a:xfrm>
            <a:off x="8608483" y="5903386"/>
            <a:ext cx="25984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</a:rPr>
              <a:t>NOT a Binary Search Tree</a:t>
            </a:r>
          </a:p>
        </p:txBody>
      </p:sp>
      <p:cxnSp>
        <p:nvCxnSpPr>
          <p:cNvPr id="32" name="Straight Connector 42">
            <a:extLst>
              <a:ext uri="{FF2B5EF4-FFF2-40B4-BE49-F238E27FC236}">
                <a16:creationId xmlns:a16="http://schemas.microsoft.com/office/drawing/2014/main" id="{6B4C3112-D484-8535-1265-E5DB306F65A3}"/>
              </a:ext>
            </a:extLst>
          </p:cNvPr>
          <p:cNvCxnSpPr>
            <a:cxnSpLocks/>
          </p:cNvCxnSpPr>
          <p:nvPr/>
        </p:nvCxnSpPr>
        <p:spPr>
          <a:xfrm flipV="1">
            <a:off x="6060652" y="2877013"/>
            <a:ext cx="0" cy="4070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椭圆 64">
            <a:extLst>
              <a:ext uri="{FF2B5EF4-FFF2-40B4-BE49-F238E27FC236}">
                <a16:creationId xmlns:a16="http://schemas.microsoft.com/office/drawing/2014/main" id="{B0D8F4FE-6DFD-F64E-6599-272A0D58EDE3}"/>
              </a:ext>
            </a:extLst>
          </p:cNvPr>
          <p:cNvSpPr/>
          <p:nvPr/>
        </p:nvSpPr>
        <p:spPr>
          <a:xfrm>
            <a:off x="7077420" y="5631366"/>
            <a:ext cx="1315842" cy="1315842"/>
          </a:xfrm>
          <a:prstGeom prst="ellipse">
            <a:avLst/>
          </a:prstGeom>
          <a:noFill/>
          <a:ln w="762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7104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65272-0BAF-BAA6-EE7F-CD5B45FD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Operations on BST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B5B2085-D7D8-6C73-F901-77D44F2B4B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In-order Traversal</a:t>
                </a:r>
              </a:p>
              <a:p>
                <a:pPr lvl="1"/>
                <a:r>
                  <a:rPr lang="en-US" altLang="zh-CN" dirty="0"/>
                  <a:t>Output all the elements in sorted order!</a:t>
                </a:r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Search</a:t>
                </a:r>
              </a:p>
              <a:p>
                <a:pPr lvl="1"/>
                <a:r>
                  <a:rPr lang="en-US" altLang="zh-CN" dirty="0"/>
                  <a:t>Time =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altLang="zh-CN" dirty="0"/>
                  <a:t>height of tree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Height could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endParaRPr lang="en-US" altLang="zh-CN" dirty="0"/>
              </a:p>
              <a:p>
                <a:r>
                  <a:rPr lang="en-US" altLang="zh-CN" dirty="0"/>
                  <a:t>Insertion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Deletion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B5B2085-D7D8-6C73-F901-77D44F2B4B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7" b="-1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5BF4B55-E357-2CF3-40F0-5C0600656093}"/>
              </a:ext>
            </a:extLst>
          </p:cNvPr>
          <p:cNvSpPr/>
          <p:nvPr/>
        </p:nvSpPr>
        <p:spPr>
          <a:xfrm>
            <a:off x="8162938" y="4359917"/>
            <a:ext cx="650543" cy="668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8E985-33DE-AEEB-7E90-F215ED46F863}"/>
              </a:ext>
            </a:extLst>
          </p:cNvPr>
          <p:cNvSpPr/>
          <p:nvPr/>
        </p:nvSpPr>
        <p:spPr>
          <a:xfrm>
            <a:off x="6985463" y="4359917"/>
            <a:ext cx="650543" cy="668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71F44-8ADC-480C-332E-68A0DAAB6A13}"/>
              </a:ext>
            </a:extLst>
          </p:cNvPr>
          <p:cNvSpPr/>
          <p:nvPr/>
        </p:nvSpPr>
        <p:spPr>
          <a:xfrm>
            <a:off x="9867344" y="4265045"/>
            <a:ext cx="650543" cy="668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84118-3A7B-8A47-0292-E9C611237E14}"/>
              </a:ext>
            </a:extLst>
          </p:cNvPr>
          <p:cNvSpPr/>
          <p:nvPr/>
        </p:nvSpPr>
        <p:spPr>
          <a:xfrm>
            <a:off x="9216801" y="3283114"/>
            <a:ext cx="650543" cy="668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74647-9104-09E7-F291-A481B9E9B7DE}"/>
              </a:ext>
            </a:extLst>
          </p:cNvPr>
          <p:cNvSpPr/>
          <p:nvPr/>
        </p:nvSpPr>
        <p:spPr>
          <a:xfrm>
            <a:off x="6580649" y="5435117"/>
            <a:ext cx="650543" cy="668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5F48FB-19BB-4F4D-08DC-E296A099B0D3}"/>
              </a:ext>
            </a:extLst>
          </p:cNvPr>
          <p:cNvSpPr/>
          <p:nvPr/>
        </p:nvSpPr>
        <p:spPr>
          <a:xfrm>
            <a:off x="7542677" y="3269323"/>
            <a:ext cx="650543" cy="668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68858D-735A-3063-D02D-29AD357FD20C}"/>
              </a:ext>
            </a:extLst>
          </p:cNvPr>
          <p:cNvSpPr/>
          <p:nvPr/>
        </p:nvSpPr>
        <p:spPr>
          <a:xfrm>
            <a:off x="8334246" y="2201715"/>
            <a:ext cx="650543" cy="6688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825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0A69A-3D71-E5C6-9C6F-8ACE2ECC38AB}"/>
              </a:ext>
            </a:extLst>
          </p:cNvPr>
          <p:cNvCxnSpPr/>
          <p:nvPr/>
        </p:nvCxnSpPr>
        <p:spPr>
          <a:xfrm>
            <a:off x="8659517" y="2904051"/>
            <a:ext cx="730155" cy="361864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7A271-19D4-1C53-C1A7-B9ADDC8B7C80}"/>
              </a:ext>
            </a:extLst>
          </p:cNvPr>
          <p:cNvCxnSpPr/>
          <p:nvPr/>
        </p:nvCxnSpPr>
        <p:spPr>
          <a:xfrm>
            <a:off x="9462460" y="3924015"/>
            <a:ext cx="730155" cy="361864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912C4-C65C-68D4-7E32-391C5285C852}"/>
              </a:ext>
            </a:extLst>
          </p:cNvPr>
          <p:cNvCxnSpPr>
            <a:endCxn id="7" idx="0"/>
          </p:cNvCxnSpPr>
          <p:nvPr/>
        </p:nvCxnSpPr>
        <p:spPr>
          <a:xfrm>
            <a:off x="7839975" y="3951951"/>
            <a:ext cx="648235" cy="407966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5B29E7-9CFB-5C3A-1655-2A04A14A8B8A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flipH="1">
            <a:off x="7867949" y="2870552"/>
            <a:ext cx="791569" cy="39877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B62979-72CF-9E23-FFF4-D6F6486A5BE4}"/>
              </a:ext>
            </a:extLst>
          </p:cNvPr>
          <p:cNvCxnSpPr>
            <a:endCxn id="8" idx="0"/>
          </p:cNvCxnSpPr>
          <p:nvPr/>
        </p:nvCxnSpPr>
        <p:spPr>
          <a:xfrm flipH="1">
            <a:off x="7310735" y="3964087"/>
            <a:ext cx="533756" cy="39583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9E754A-F4C4-237F-5BC5-7A44C80A061A}"/>
              </a:ext>
            </a:extLst>
          </p:cNvPr>
          <p:cNvCxnSpPr>
            <a:endCxn id="11" idx="0"/>
          </p:cNvCxnSpPr>
          <p:nvPr/>
        </p:nvCxnSpPr>
        <p:spPr>
          <a:xfrm flipH="1">
            <a:off x="6905921" y="5018034"/>
            <a:ext cx="402538" cy="417083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riangle 21">
            <a:extLst>
              <a:ext uri="{FF2B5EF4-FFF2-40B4-BE49-F238E27FC236}">
                <a16:creationId xmlns:a16="http://schemas.microsoft.com/office/drawing/2014/main" id="{CD6E1F22-4F98-9EC1-44D0-695E5E77534E}"/>
              </a:ext>
            </a:extLst>
          </p:cNvPr>
          <p:cNvSpPr/>
          <p:nvPr/>
        </p:nvSpPr>
        <p:spPr>
          <a:xfrm rot="10800000">
            <a:off x="8462260" y="1795349"/>
            <a:ext cx="351221" cy="474592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3C025CD8-6391-A820-6D1E-CB1279F19DA8}"/>
              </a:ext>
            </a:extLst>
          </p:cNvPr>
          <p:cNvSpPr txBox="1"/>
          <p:nvPr/>
        </p:nvSpPr>
        <p:spPr>
          <a:xfrm rot="1670226">
            <a:off x="8618702" y="3995329"/>
            <a:ext cx="882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accent4"/>
                </a:solidFill>
              </a:rPr>
              <a:t>!!!!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F4BAC8D1-F33B-8184-0278-E5DB9D38F51E}"/>
              </a:ext>
            </a:extLst>
          </p:cNvPr>
          <p:cNvSpPr/>
          <p:nvPr/>
        </p:nvSpPr>
        <p:spPr>
          <a:xfrm>
            <a:off x="7726398" y="2609385"/>
            <a:ext cx="1038461" cy="2252547"/>
          </a:xfrm>
          <a:custGeom>
            <a:avLst/>
            <a:gdLst>
              <a:gd name="connsiteX0" fmla="*/ 1038461 w 1038461"/>
              <a:gd name="connsiteY0" fmla="*/ 0 h 2252547"/>
              <a:gd name="connsiteX1" fmla="*/ 79456 w 1038461"/>
              <a:gd name="connsiteY1" fmla="*/ 959005 h 2252547"/>
              <a:gd name="connsiteX2" fmla="*/ 146363 w 1038461"/>
              <a:gd name="connsiteY2" fmla="*/ 1360449 h 2252547"/>
              <a:gd name="connsiteX3" fmla="*/ 882343 w 1038461"/>
              <a:gd name="connsiteY3" fmla="*/ 2252547 h 225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461" h="2252547">
                <a:moveTo>
                  <a:pt x="1038461" y="0"/>
                </a:moveTo>
                <a:cubicBezTo>
                  <a:pt x="633300" y="366132"/>
                  <a:pt x="228139" y="732264"/>
                  <a:pt x="79456" y="959005"/>
                </a:cubicBezTo>
                <a:cubicBezTo>
                  <a:pt x="-69227" y="1185746"/>
                  <a:pt x="12549" y="1144859"/>
                  <a:pt x="146363" y="1360449"/>
                </a:cubicBezTo>
                <a:cubicBezTo>
                  <a:pt x="280177" y="1576039"/>
                  <a:pt x="837738" y="2048108"/>
                  <a:pt x="882343" y="2252547"/>
                </a:cubicBezTo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483F772-12BD-6A18-DAB5-9AB1F31BAD09}"/>
              </a:ext>
            </a:extLst>
          </p:cNvPr>
          <p:cNvSpPr txBox="1"/>
          <p:nvPr/>
        </p:nvSpPr>
        <p:spPr>
          <a:xfrm>
            <a:off x="9572355" y="2609385"/>
            <a:ext cx="2187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C000"/>
                </a:solidFill>
              </a:rPr>
              <a:t>Search for 4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6" grpId="0" animBg="1"/>
      <p:bldP spid="2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2B957-A0AE-105D-8A6D-5226AD67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Red-Black Trees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B44A1A-A6D2-AD5A-3DBD-5F3810722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6345"/>
                <a:ext cx="7025592" cy="513513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Every node is colored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red</a:t>
                </a:r>
                <a:r>
                  <a:rPr lang="en-US" altLang="zh-CN" dirty="0"/>
                  <a:t> or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black</a:t>
                </a:r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The root node is a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black</a:t>
                </a:r>
                <a:r>
                  <a:rPr lang="en-US" altLang="zh-CN" dirty="0"/>
                  <a:t> node.</a:t>
                </a:r>
              </a:p>
              <a:p>
                <a:r>
                  <a:rPr lang="en-US" altLang="zh-CN" dirty="0"/>
                  <a:t>NIL children count as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black</a:t>
                </a:r>
                <a:r>
                  <a:rPr lang="en-US" altLang="zh-CN" dirty="0"/>
                  <a:t> nodes.</a:t>
                </a:r>
              </a:p>
              <a:p>
                <a:r>
                  <a:rPr lang="en-US" altLang="zh-CN" dirty="0"/>
                  <a:t>Children of a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red</a:t>
                </a:r>
                <a:r>
                  <a:rPr lang="en-US" altLang="zh-CN" dirty="0"/>
                  <a:t> node are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black</a:t>
                </a:r>
                <a:r>
                  <a:rPr lang="en-US" altLang="zh-CN" dirty="0"/>
                  <a:t> nodes.</a:t>
                </a:r>
              </a:p>
              <a:p>
                <a:r>
                  <a:rPr lang="en-US" altLang="zh-CN" dirty="0"/>
                  <a:t>For all nodes x: </a:t>
                </a:r>
              </a:p>
              <a:p>
                <a:pPr lvl="1"/>
                <a:r>
                  <a:rPr lang="en-US" altLang="zh-CN" dirty="0"/>
                  <a:t>all paths from x to NIL’s have the same number of </a:t>
                </a:r>
                <a:r>
                  <a:rPr lang="en-US" altLang="zh-CN" b="1" dirty="0"/>
                  <a:t>black</a:t>
                </a:r>
                <a:r>
                  <a:rPr lang="en-US" altLang="zh-CN" dirty="0"/>
                  <a:t> nodes on them.</a:t>
                </a:r>
              </a:p>
              <a:p>
                <a:endParaRPr lang="en-US" altLang="zh-CN" sz="1400" dirty="0"/>
              </a:p>
              <a:p>
                <a:r>
                  <a:rPr lang="en-US" altLang="zh-CN" dirty="0"/>
                  <a:t>Balanced:</a:t>
                </a:r>
              </a:p>
              <a:p>
                <a:pPr lvl="1"/>
                <a:r>
                  <a:rPr lang="en-US" altLang="zh-CN" sz="2400" dirty="0">
                    <a:solidFill>
                      <a:schemeClr val="tx1"/>
                    </a:solidFill>
                  </a:rPr>
                  <a:t>The height of a RB-tree with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non-NIL nodes </a:t>
                </a:r>
                <a:br>
                  <a:rPr lang="en-US" altLang="zh-CN" sz="2400" dirty="0">
                    <a:solidFill>
                      <a:schemeClr val="tx1"/>
                    </a:solidFill>
                  </a:rPr>
                </a:br>
                <a:r>
                  <a:rPr lang="en-US" altLang="zh-CN" sz="2400" dirty="0">
                    <a:solidFill>
                      <a:schemeClr val="tx1"/>
                    </a:solidFill>
                  </a:rPr>
                  <a:t>is at most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charset="0"/>
                      </a:rPr>
                      <m:t>log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⁡(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+1)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B44A1A-A6D2-AD5A-3DBD-5F3810722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6345"/>
                <a:ext cx="7025592" cy="5135130"/>
              </a:xfrm>
              <a:blipFill>
                <a:blip r:embed="rId3"/>
                <a:stretch>
                  <a:fillRect l="-1563" t="-2135" r="-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553103-BA49-1C60-A91C-BC577682125C}"/>
              </a:ext>
            </a:extLst>
          </p:cNvPr>
          <p:cNvSpPr>
            <a:spLocks noGrp="1"/>
          </p:cNvSpPr>
          <p:nvPr/>
        </p:nvSpPr>
        <p:spPr>
          <a:xfrm>
            <a:off x="1650281" y="876172"/>
            <a:ext cx="64116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5" name="Group 16">
            <a:extLst>
              <a:ext uri="{FF2B5EF4-FFF2-40B4-BE49-F238E27FC236}">
                <a16:creationId xmlns:a16="http://schemas.microsoft.com/office/drawing/2014/main" id="{6A491935-FA28-85AD-B682-647ABB4A01BA}"/>
              </a:ext>
            </a:extLst>
          </p:cNvPr>
          <p:cNvGrpSpPr/>
          <p:nvPr/>
        </p:nvGrpSpPr>
        <p:grpSpPr>
          <a:xfrm>
            <a:off x="7863792" y="1462088"/>
            <a:ext cx="3625303" cy="2627878"/>
            <a:chOff x="3843661" y="3588796"/>
            <a:chExt cx="5131561" cy="2860453"/>
          </a:xfrm>
          <a:solidFill>
            <a:schemeClr val="tx1"/>
          </a:solidFill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90F9CD7C-1520-9E2B-82CA-741D67606140}"/>
                </a:ext>
              </a:extLst>
            </p:cNvPr>
            <p:cNvSpPr/>
            <p:nvPr/>
          </p:nvSpPr>
          <p:spPr>
            <a:xfrm>
              <a:off x="5312470" y="5853274"/>
              <a:ext cx="846927" cy="595975"/>
            </a:xfrm>
            <a:prstGeom prst="rect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8719A868-A386-BB46-C167-640204F69C71}"/>
                </a:ext>
              </a:extLst>
            </p:cNvPr>
            <p:cNvSpPr/>
            <p:nvPr/>
          </p:nvSpPr>
          <p:spPr>
            <a:xfrm>
              <a:off x="3843661" y="5841255"/>
              <a:ext cx="846927" cy="595975"/>
            </a:xfrm>
            <a:prstGeom prst="rect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9654F8A9-04B1-2034-7A97-E88D75D28DA7}"/>
                </a:ext>
              </a:extLst>
            </p:cNvPr>
            <p:cNvSpPr/>
            <p:nvPr/>
          </p:nvSpPr>
          <p:spPr>
            <a:xfrm>
              <a:off x="8128295" y="5834864"/>
              <a:ext cx="846927" cy="595975"/>
            </a:xfrm>
            <a:prstGeom prst="rect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E01DA3F2-0EBC-3DEB-DAEB-739EDC443BF5}"/>
                </a:ext>
              </a:extLst>
            </p:cNvPr>
            <p:cNvSpPr/>
            <p:nvPr/>
          </p:nvSpPr>
          <p:spPr>
            <a:xfrm>
              <a:off x="7281368" y="4526638"/>
              <a:ext cx="846927" cy="595975"/>
            </a:xfrm>
            <a:prstGeom prst="rect">
              <a:avLst/>
            </a:prstGeom>
            <a:solidFill>
              <a:srgbClr val="8B1B17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7" name="Rectangle 7">
              <a:extLst>
                <a:ext uri="{FF2B5EF4-FFF2-40B4-BE49-F238E27FC236}">
                  <a16:creationId xmlns:a16="http://schemas.microsoft.com/office/drawing/2014/main" id="{67C5C387-2C59-07F5-557D-059B6564DF7A}"/>
                </a:ext>
              </a:extLst>
            </p:cNvPr>
            <p:cNvSpPr/>
            <p:nvPr/>
          </p:nvSpPr>
          <p:spPr>
            <a:xfrm>
              <a:off x="4690588" y="4571211"/>
              <a:ext cx="846927" cy="595975"/>
            </a:xfrm>
            <a:prstGeom prst="rect">
              <a:avLst/>
            </a:prstGeom>
            <a:solidFill>
              <a:srgbClr val="8B1B17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>
                  <a:solidFill>
                    <a:schemeClr val="bg1"/>
                  </a:solidFill>
                </a:rPr>
                <a:t>3</a:t>
              </a:r>
              <a:endParaRPr lang="en-US" sz="4000" dirty="0">
                <a:solidFill>
                  <a:schemeClr val="bg1"/>
                </a:solidFill>
              </a:endParaRPr>
            </a:p>
          </p:txBody>
        </p:sp>
        <p:sp>
          <p:nvSpPr>
            <p:cNvPr id="28" name="Rectangle 8">
              <a:extLst>
                <a:ext uri="{FF2B5EF4-FFF2-40B4-BE49-F238E27FC236}">
                  <a16:creationId xmlns:a16="http://schemas.microsoft.com/office/drawing/2014/main" id="{A248F898-B8D5-3890-BB8A-84F85EBC0878}"/>
                </a:ext>
              </a:extLst>
            </p:cNvPr>
            <p:cNvSpPr/>
            <p:nvPr/>
          </p:nvSpPr>
          <p:spPr>
            <a:xfrm>
              <a:off x="6038185" y="3588796"/>
              <a:ext cx="846927" cy="595975"/>
            </a:xfrm>
            <a:prstGeom prst="rect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>
                  <a:solidFill>
                    <a:schemeClr val="bg1"/>
                  </a:solidFill>
                </a:rPr>
                <a:t>5</a:t>
              </a:r>
            </a:p>
          </p:txBody>
        </p:sp>
        <p:cxnSp>
          <p:nvCxnSpPr>
            <p:cNvPr id="29" name="Straight Connector 9">
              <a:extLst>
                <a:ext uri="{FF2B5EF4-FFF2-40B4-BE49-F238E27FC236}">
                  <a16:creationId xmlns:a16="http://schemas.microsoft.com/office/drawing/2014/main" id="{0E1F9E24-02BA-C274-7F34-1179D1A9D20D}"/>
                </a:ext>
              </a:extLst>
            </p:cNvPr>
            <p:cNvCxnSpPr>
              <a:stCxn id="31" idx="2"/>
              <a:endCxn id="28" idx="0"/>
            </p:cNvCxnSpPr>
            <p:nvPr/>
          </p:nvCxnSpPr>
          <p:spPr>
            <a:xfrm>
              <a:off x="6461649" y="4184771"/>
              <a:ext cx="1243183" cy="341867"/>
            </a:xfrm>
            <a:prstGeom prst="line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10">
              <a:extLst>
                <a:ext uri="{FF2B5EF4-FFF2-40B4-BE49-F238E27FC236}">
                  <a16:creationId xmlns:a16="http://schemas.microsoft.com/office/drawing/2014/main" id="{9FC1982C-1325-6B40-8169-7A8C3B4A1E08}"/>
                </a:ext>
              </a:extLst>
            </p:cNvPr>
            <p:cNvCxnSpPr>
              <a:stCxn id="28" idx="2"/>
              <a:endCxn id="27" idx="0"/>
            </p:cNvCxnSpPr>
            <p:nvPr/>
          </p:nvCxnSpPr>
          <p:spPr>
            <a:xfrm>
              <a:off x="7704832" y="5122613"/>
              <a:ext cx="846927" cy="712251"/>
            </a:xfrm>
            <a:prstGeom prst="line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11">
              <a:extLst>
                <a:ext uri="{FF2B5EF4-FFF2-40B4-BE49-F238E27FC236}">
                  <a16:creationId xmlns:a16="http://schemas.microsoft.com/office/drawing/2014/main" id="{6A22C89A-5DCF-DAFB-BA0D-BB50C8DEEEAA}"/>
                </a:ext>
              </a:extLst>
            </p:cNvPr>
            <p:cNvCxnSpPr>
              <a:stCxn id="30" idx="2"/>
              <a:endCxn id="25" idx="0"/>
            </p:cNvCxnSpPr>
            <p:nvPr/>
          </p:nvCxnSpPr>
          <p:spPr>
            <a:xfrm>
              <a:off x="5114052" y="5167186"/>
              <a:ext cx="621882" cy="686088"/>
            </a:xfrm>
            <a:prstGeom prst="line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12">
              <a:extLst>
                <a:ext uri="{FF2B5EF4-FFF2-40B4-BE49-F238E27FC236}">
                  <a16:creationId xmlns:a16="http://schemas.microsoft.com/office/drawing/2014/main" id="{5933D7F0-19C1-A777-7C59-9264B164236B}"/>
                </a:ext>
              </a:extLst>
            </p:cNvPr>
            <p:cNvCxnSpPr>
              <a:stCxn id="30" idx="2"/>
              <a:endCxn id="26" idx="0"/>
            </p:cNvCxnSpPr>
            <p:nvPr/>
          </p:nvCxnSpPr>
          <p:spPr>
            <a:xfrm flipH="1">
              <a:off x="4267125" y="5167186"/>
              <a:ext cx="846927" cy="674069"/>
            </a:xfrm>
            <a:prstGeom prst="line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13">
              <a:extLst>
                <a:ext uri="{FF2B5EF4-FFF2-40B4-BE49-F238E27FC236}">
                  <a16:creationId xmlns:a16="http://schemas.microsoft.com/office/drawing/2014/main" id="{984D0090-75CE-164D-F22A-BCFA09D54964}"/>
                </a:ext>
              </a:extLst>
            </p:cNvPr>
            <p:cNvSpPr/>
            <p:nvPr/>
          </p:nvSpPr>
          <p:spPr>
            <a:xfrm>
              <a:off x="6659776" y="5845678"/>
              <a:ext cx="846927" cy="595975"/>
            </a:xfrm>
            <a:prstGeom prst="rect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dirty="0">
                  <a:solidFill>
                    <a:schemeClr val="bg1"/>
                  </a:solidFill>
                </a:rPr>
                <a:t>6</a:t>
              </a:r>
            </a:p>
          </p:txBody>
        </p:sp>
        <p:cxnSp>
          <p:nvCxnSpPr>
            <p:cNvPr id="34" name="Straight Connector 14">
              <a:extLst>
                <a:ext uri="{FF2B5EF4-FFF2-40B4-BE49-F238E27FC236}">
                  <a16:creationId xmlns:a16="http://schemas.microsoft.com/office/drawing/2014/main" id="{5C51A5B3-82D9-FB65-889D-385AAAFB093A}"/>
                </a:ext>
              </a:extLst>
            </p:cNvPr>
            <p:cNvCxnSpPr>
              <a:stCxn id="28" idx="2"/>
            </p:cNvCxnSpPr>
            <p:nvPr/>
          </p:nvCxnSpPr>
          <p:spPr>
            <a:xfrm flipH="1">
              <a:off x="7083240" y="5122613"/>
              <a:ext cx="621592" cy="723065"/>
            </a:xfrm>
            <a:prstGeom prst="line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15">
              <a:extLst>
                <a:ext uri="{FF2B5EF4-FFF2-40B4-BE49-F238E27FC236}">
                  <a16:creationId xmlns:a16="http://schemas.microsoft.com/office/drawing/2014/main" id="{F3D6467F-641A-1141-1134-C7C1D064A06C}"/>
                </a:ext>
              </a:extLst>
            </p:cNvPr>
            <p:cNvCxnSpPr>
              <a:stCxn id="31" idx="2"/>
              <a:endCxn id="30" idx="0"/>
            </p:cNvCxnSpPr>
            <p:nvPr/>
          </p:nvCxnSpPr>
          <p:spPr>
            <a:xfrm flipH="1">
              <a:off x="5114052" y="4184771"/>
              <a:ext cx="1347597" cy="386440"/>
            </a:xfrm>
            <a:prstGeom prst="line">
              <a:avLst/>
            </a:prstGeom>
            <a:grpFill/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17">
            <a:extLst>
              <a:ext uri="{FF2B5EF4-FFF2-40B4-BE49-F238E27FC236}">
                <a16:creationId xmlns:a16="http://schemas.microsoft.com/office/drawing/2014/main" id="{768071A2-13FB-FC06-AC26-4B4CD9736CBD}"/>
              </a:ext>
            </a:extLst>
          </p:cNvPr>
          <p:cNvSpPr/>
          <p:nvPr/>
        </p:nvSpPr>
        <p:spPr>
          <a:xfrm>
            <a:off x="6875975" y="4448578"/>
            <a:ext cx="487957" cy="354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NIL</a:t>
            </a:r>
          </a:p>
        </p:txBody>
      </p:sp>
      <p:sp>
        <p:nvSpPr>
          <p:cNvPr id="7" name="Rectangle 18">
            <a:extLst>
              <a:ext uri="{FF2B5EF4-FFF2-40B4-BE49-F238E27FC236}">
                <a16:creationId xmlns:a16="http://schemas.microsoft.com/office/drawing/2014/main" id="{8A034F64-F00A-42E0-5F66-5580B460ADC0}"/>
              </a:ext>
            </a:extLst>
          </p:cNvPr>
          <p:cNvSpPr/>
          <p:nvPr/>
        </p:nvSpPr>
        <p:spPr>
          <a:xfrm>
            <a:off x="7571714" y="4448578"/>
            <a:ext cx="487957" cy="354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NIL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29F6EF4E-98A6-F88D-FB16-010960231B4F}"/>
              </a:ext>
            </a:extLst>
          </p:cNvPr>
          <p:cNvSpPr/>
          <p:nvPr/>
        </p:nvSpPr>
        <p:spPr>
          <a:xfrm>
            <a:off x="8212811" y="4448578"/>
            <a:ext cx="487957" cy="354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NIL</a:t>
            </a:r>
          </a:p>
        </p:txBody>
      </p:sp>
      <p:sp>
        <p:nvSpPr>
          <p:cNvPr id="9" name="Rectangle 20">
            <a:extLst>
              <a:ext uri="{FF2B5EF4-FFF2-40B4-BE49-F238E27FC236}">
                <a16:creationId xmlns:a16="http://schemas.microsoft.com/office/drawing/2014/main" id="{B94495FA-856C-A537-65C7-9872B682EBA3}"/>
              </a:ext>
            </a:extLst>
          </p:cNvPr>
          <p:cNvSpPr/>
          <p:nvPr/>
        </p:nvSpPr>
        <p:spPr>
          <a:xfrm>
            <a:off x="8851535" y="4448578"/>
            <a:ext cx="487957" cy="354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NIL</a:t>
            </a:r>
          </a:p>
        </p:txBody>
      </p:sp>
      <p:sp>
        <p:nvSpPr>
          <p:cNvPr id="10" name="Rectangle 21">
            <a:extLst>
              <a:ext uri="{FF2B5EF4-FFF2-40B4-BE49-F238E27FC236}">
                <a16:creationId xmlns:a16="http://schemas.microsoft.com/office/drawing/2014/main" id="{6F7655AC-FCE5-7BD9-A1B3-46DFC11DB6F4}"/>
              </a:ext>
            </a:extLst>
          </p:cNvPr>
          <p:cNvSpPr/>
          <p:nvPr/>
        </p:nvSpPr>
        <p:spPr>
          <a:xfrm>
            <a:off x="9448183" y="4448578"/>
            <a:ext cx="487957" cy="354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NIL</a:t>
            </a:r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B03BD03A-920B-19B6-E322-FEFE90D07E22}"/>
              </a:ext>
            </a:extLst>
          </p:cNvPr>
          <p:cNvSpPr/>
          <p:nvPr/>
        </p:nvSpPr>
        <p:spPr>
          <a:xfrm>
            <a:off x="10044831" y="4444024"/>
            <a:ext cx="487957" cy="354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NIL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9612631-BF21-6B9E-7056-3D8A3560E29F}"/>
              </a:ext>
            </a:extLst>
          </p:cNvPr>
          <p:cNvSpPr/>
          <p:nvPr/>
        </p:nvSpPr>
        <p:spPr>
          <a:xfrm>
            <a:off x="10648463" y="4440188"/>
            <a:ext cx="487957" cy="354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NIL</a:t>
            </a: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3D7A593C-34AE-6AA2-D377-DF51E4F3D19E}"/>
              </a:ext>
            </a:extLst>
          </p:cNvPr>
          <p:cNvSpPr/>
          <p:nvPr/>
        </p:nvSpPr>
        <p:spPr>
          <a:xfrm>
            <a:off x="11245111" y="4435634"/>
            <a:ext cx="487957" cy="35426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NIL</a:t>
            </a:r>
          </a:p>
        </p:txBody>
      </p:sp>
      <p:cxnSp>
        <p:nvCxnSpPr>
          <p:cNvPr id="14" name="Straight Connector 25">
            <a:extLst>
              <a:ext uri="{FF2B5EF4-FFF2-40B4-BE49-F238E27FC236}">
                <a16:creationId xmlns:a16="http://schemas.microsoft.com/office/drawing/2014/main" id="{F076270D-8D9C-E4B3-490C-30C2ADB1DD05}"/>
              </a:ext>
            </a:extLst>
          </p:cNvPr>
          <p:cNvCxnSpPr>
            <a:stCxn id="25" idx="2"/>
            <a:endCxn id="13" idx="0"/>
          </p:cNvCxnSpPr>
          <p:nvPr/>
        </p:nvCxnSpPr>
        <p:spPr>
          <a:xfrm>
            <a:off x="11189925" y="4073049"/>
            <a:ext cx="299165" cy="362585"/>
          </a:xfrm>
          <a:prstGeom prst="line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28">
            <a:extLst>
              <a:ext uri="{FF2B5EF4-FFF2-40B4-BE49-F238E27FC236}">
                <a16:creationId xmlns:a16="http://schemas.microsoft.com/office/drawing/2014/main" id="{F5728E25-B6BA-4D18-2A48-B840685B8F7E}"/>
              </a:ext>
            </a:extLst>
          </p:cNvPr>
          <p:cNvCxnSpPr>
            <a:endCxn id="11" idx="0"/>
          </p:cNvCxnSpPr>
          <p:nvPr/>
        </p:nvCxnSpPr>
        <p:spPr>
          <a:xfrm>
            <a:off x="10147085" y="4073048"/>
            <a:ext cx="141725" cy="370976"/>
          </a:xfrm>
          <a:prstGeom prst="line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30">
            <a:extLst>
              <a:ext uri="{FF2B5EF4-FFF2-40B4-BE49-F238E27FC236}">
                <a16:creationId xmlns:a16="http://schemas.microsoft.com/office/drawing/2014/main" id="{0657FB5B-2DA0-1D4E-1E01-3296C5C5EDCA}"/>
              </a:ext>
            </a:extLst>
          </p:cNvPr>
          <p:cNvCxnSpPr>
            <a:endCxn id="9" idx="0"/>
          </p:cNvCxnSpPr>
          <p:nvPr/>
        </p:nvCxnSpPr>
        <p:spPr>
          <a:xfrm flipH="1">
            <a:off x="9095514" y="4107038"/>
            <a:ext cx="164939" cy="341540"/>
          </a:xfrm>
          <a:prstGeom prst="line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808E97F8-7D1D-7D40-AC33-0D92F0EFF05D}"/>
              </a:ext>
            </a:extLst>
          </p:cNvPr>
          <p:cNvCxnSpPr>
            <a:endCxn id="7" idx="0"/>
          </p:cNvCxnSpPr>
          <p:nvPr/>
        </p:nvCxnSpPr>
        <p:spPr>
          <a:xfrm flipH="1">
            <a:off x="7815693" y="4078973"/>
            <a:ext cx="307524" cy="369605"/>
          </a:xfrm>
          <a:prstGeom prst="line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34">
            <a:extLst>
              <a:ext uri="{FF2B5EF4-FFF2-40B4-BE49-F238E27FC236}">
                <a16:creationId xmlns:a16="http://schemas.microsoft.com/office/drawing/2014/main" id="{FF74147E-C039-8D8E-AC63-F87BE5ADC538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7119954" y="4053892"/>
            <a:ext cx="978968" cy="394686"/>
          </a:xfrm>
          <a:prstGeom prst="line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6">
            <a:extLst>
              <a:ext uri="{FF2B5EF4-FFF2-40B4-BE49-F238E27FC236}">
                <a16:creationId xmlns:a16="http://schemas.microsoft.com/office/drawing/2014/main" id="{D02AE6EB-8FBD-6FCA-F8FF-FB2E72CDB535}"/>
              </a:ext>
            </a:extLst>
          </p:cNvPr>
          <p:cNvCxnSpPr>
            <a:endCxn id="8" idx="0"/>
          </p:cNvCxnSpPr>
          <p:nvPr/>
        </p:nvCxnSpPr>
        <p:spPr>
          <a:xfrm flipH="1">
            <a:off x="8456790" y="4087574"/>
            <a:ext cx="829274" cy="361004"/>
          </a:xfrm>
          <a:prstGeom prst="line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8">
            <a:extLst>
              <a:ext uri="{FF2B5EF4-FFF2-40B4-BE49-F238E27FC236}">
                <a16:creationId xmlns:a16="http://schemas.microsoft.com/office/drawing/2014/main" id="{AACD8CAA-DC39-5023-E916-58EC0F9A33A2}"/>
              </a:ext>
            </a:extLst>
          </p:cNvPr>
          <p:cNvCxnSpPr>
            <a:endCxn id="10" idx="0"/>
          </p:cNvCxnSpPr>
          <p:nvPr/>
        </p:nvCxnSpPr>
        <p:spPr>
          <a:xfrm flipH="1">
            <a:off x="9692162" y="4080725"/>
            <a:ext cx="435797" cy="367853"/>
          </a:xfrm>
          <a:prstGeom prst="line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0">
            <a:extLst>
              <a:ext uri="{FF2B5EF4-FFF2-40B4-BE49-F238E27FC236}">
                <a16:creationId xmlns:a16="http://schemas.microsoft.com/office/drawing/2014/main" id="{C133C5B7-6117-6757-6B5B-DBF9A0FDB2A7}"/>
              </a:ext>
            </a:extLst>
          </p:cNvPr>
          <p:cNvCxnSpPr>
            <a:endCxn id="12" idx="0"/>
          </p:cNvCxnSpPr>
          <p:nvPr/>
        </p:nvCxnSpPr>
        <p:spPr>
          <a:xfrm flipH="1">
            <a:off x="10892442" y="4060985"/>
            <a:ext cx="328452" cy="379203"/>
          </a:xfrm>
          <a:prstGeom prst="line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7091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489CD-0F59-EE2D-1AF6-262816A8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Q&amp;A</a:t>
            </a:r>
            <a:endParaRPr lang="zh-CN" altLang="en-US" dirty="0"/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F41E014D-1358-AAC9-DE31-2C6C2B902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834" y="1585913"/>
            <a:ext cx="6672332" cy="4597400"/>
          </a:xfrm>
        </p:spPr>
      </p:pic>
    </p:spTree>
    <p:extLst>
      <p:ext uri="{BB962C8B-B14F-4D97-AF65-F5344CB8AC3E}">
        <p14:creationId xmlns:p14="http://schemas.microsoft.com/office/powerpoint/2010/main" val="1809254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6395</TotalTime>
  <Words>3754</Words>
  <Application>Microsoft Office PowerPoint</Application>
  <PresentationFormat>宽屏</PresentationFormat>
  <Paragraphs>849</Paragraphs>
  <Slides>60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0" baseType="lpstr">
      <vt:lpstr>Courier</vt:lpstr>
      <vt:lpstr>等线</vt:lpstr>
      <vt:lpstr>等线 Light</vt:lpstr>
      <vt:lpstr>Arial</vt:lpstr>
      <vt:lpstr>Bernard MT Condensed</vt:lpstr>
      <vt:lpstr>Calibri</vt:lpstr>
      <vt:lpstr>Cambria Math</vt:lpstr>
      <vt:lpstr>Gill Sans Ultra Bold</vt:lpstr>
      <vt:lpstr>Segoe Print</vt:lpstr>
      <vt:lpstr>Office 主题​​</vt:lpstr>
      <vt:lpstr>Midterm Review (CS161) </vt:lpstr>
      <vt:lpstr>PowerPoint 演示文稿</vt:lpstr>
      <vt:lpstr>What will be covered in midterm?</vt:lpstr>
      <vt:lpstr>PowerPoint 演示文稿</vt:lpstr>
      <vt:lpstr>For your questions</vt:lpstr>
      <vt:lpstr>Big-Oh Notation</vt:lpstr>
      <vt:lpstr>Main idea</vt:lpstr>
      <vt:lpstr>Formal definition of O(…)</vt:lpstr>
      <vt:lpstr>For example,</vt:lpstr>
      <vt:lpstr>For example,</vt:lpstr>
      <vt:lpstr>PowerPoint 演示文稿</vt:lpstr>
      <vt:lpstr>For example,</vt:lpstr>
      <vt:lpstr>Divide and Conquer</vt:lpstr>
      <vt:lpstr>Karatsuba integer multiplication</vt:lpstr>
      <vt:lpstr>What’s the running time?</vt:lpstr>
      <vt:lpstr>Solving Recurrence and Master Theorem</vt:lpstr>
      <vt:lpstr>For example,</vt:lpstr>
      <vt:lpstr>Master Theorem</vt:lpstr>
      <vt:lpstr>The Substitution Method</vt:lpstr>
      <vt:lpstr>Step 1: Guess the answer</vt:lpstr>
      <vt:lpstr>Step 2: Prove the guess is correct.</vt:lpstr>
      <vt:lpstr>Step 3: Profit</vt:lpstr>
      <vt:lpstr>Linear-time Selection</vt:lpstr>
      <vt:lpstr>The k-SELECT problem</vt:lpstr>
      <vt:lpstr>Goal: An O(n)-time algorithm</vt:lpstr>
      <vt:lpstr>Idea: divide and conquer!</vt:lpstr>
      <vt:lpstr>The ideal pivot</vt:lpstr>
      <vt:lpstr>A good enough pivot</vt:lpstr>
      <vt:lpstr>Goal</vt:lpstr>
      <vt:lpstr>Another divide-and-conquer Alg.!</vt:lpstr>
      <vt:lpstr>How to pick the pivot</vt:lpstr>
      <vt:lpstr>How it works (formally)</vt:lpstr>
      <vt:lpstr>Proof By Picture</vt:lpstr>
      <vt:lpstr>How about the running time?</vt:lpstr>
      <vt:lpstr>Exercise – Multiple k-SELECT</vt:lpstr>
      <vt:lpstr>Problem Description</vt:lpstr>
      <vt:lpstr>Solution</vt:lpstr>
      <vt:lpstr>Sorting</vt:lpstr>
      <vt:lpstr>What we have learned for sorting</vt:lpstr>
      <vt:lpstr>QuickSort vs MergeSort</vt:lpstr>
      <vt:lpstr>Quicksort</vt:lpstr>
      <vt:lpstr>Expected Running Time</vt:lpstr>
      <vt:lpstr>Analysis</vt:lpstr>
      <vt:lpstr>Analysis – cont’d</vt:lpstr>
      <vt:lpstr>Analysis – cont’d</vt:lpstr>
      <vt:lpstr>Analysis – cont’d</vt:lpstr>
      <vt:lpstr>Lower bound</vt:lpstr>
      <vt:lpstr>Decision Tree</vt:lpstr>
      <vt:lpstr>How long is the longest path?</vt:lpstr>
      <vt:lpstr>Exercise – Adaptivity for Sorting</vt:lpstr>
      <vt:lpstr>Adaptivity</vt:lpstr>
      <vt:lpstr>Adaptivity – Warmup Examples</vt:lpstr>
      <vt:lpstr>Adaptivity for Insertion Sort</vt:lpstr>
      <vt:lpstr>Adaptivity for Quick Sort</vt:lpstr>
      <vt:lpstr>Adaptivity for Quick Sort -Analysis</vt:lpstr>
      <vt:lpstr>Binary Search Trees</vt:lpstr>
      <vt:lpstr>Binary Search Trees</vt:lpstr>
      <vt:lpstr>Operations on BST</vt:lpstr>
      <vt:lpstr>Red-Black Trees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Ruiquan Gao</dc:creator>
  <cp:lastModifiedBy>rqgao</cp:lastModifiedBy>
  <cp:revision>657</cp:revision>
  <dcterms:created xsi:type="dcterms:W3CDTF">2024-05-14T07:47:38Z</dcterms:created>
  <dcterms:modified xsi:type="dcterms:W3CDTF">2025-02-07T06:21:26Z</dcterms:modified>
</cp:coreProperties>
</file>