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8" r:id="rId3"/>
    <p:sldId id="300" r:id="rId4"/>
    <p:sldId id="342" r:id="rId5"/>
    <p:sldId id="364" r:id="rId6"/>
    <p:sldId id="302" r:id="rId7"/>
    <p:sldId id="371" r:id="rId8"/>
    <p:sldId id="372" r:id="rId9"/>
    <p:sldId id="373" r:id="rId10"/>
    <p:sldId id="374" r:id="rId11"/>
    <p:sldId id="375" r:id="rId12"/>
    <p:sldId id="365" r:id="rId13"/>
    <p:sldId id="378" r:id="rId14"/>
    <p:sldId id="394" r:id="rId15"/>
    <p:sldId id="400" r:id="rId16"/>
    <p:sldId id="395" r:id="rId17"/>
    <p:sldId id="410" r:id="rId18"/>
    <p:sldId id="411" r:id="rId19"/>
    <p:sldId id="399" r:id="rId20"/>
    <p:sldId id="366" r:id="rId21"/>
    <p:sldId id="369" r:id="rId22"/>
    <p:sldId id="403" r:id="rId23"/>
    <p:sldId id="404" r:id="rId24"/>
    <p:sldId id="405" r:id="rId25"/>
    <p:sldId id="370" r:id="rId26"/>
    <p:sldId id="392" r:id="rId27"/>
    <p:sldId id="393" r:id="rId28"/>
    <p:sldId id="390" r:id="rId29"/>
    <p:sldId id="391" r:id="rId30"/>
    <p:sldId id="367" r:id="rId31"/>
    <p:sldId id="386" r:id="rId32"/>
    <p:sldId id="385" r:id="rId33"/>
    <p:sldId id="379" r:id="rId34"/>
    <p:sldId id="382" r:id="rId35"/>
    <p:sldId id="389" r:id="rId36"/>
    <p:sldId id="387" r:id="rId37"/>
    <p:sldId id="388" r:id="rId38"/>
    <p:sldId id="363" r:id="rId39"/>
    <p:sldId id="407" r:id="rId40"/>
    <p:sldId id="408" r:id="rId41"/>
    <p:sldId id="409" r:id="rId42"/>
    <p:sldId id="376" r:id="rId43"/>
    <p:sldId id="380" r:id="rId44"/>
    <p:sldId id="377" r:id="rId45"/>
    <p:sldId id="381" r:id="rId46"/>
    <p:sldId id="383" r:id="rId47"/>
    <p:sldId id="401" r:id="rId48"/>
    <p:sldId id="396" r:id="rId49"/>
    <p:sldId id="397" r:id="rId50"/>
    <p:sldId id="398" r:id="rId51"/>
    <p:sldId id="384" r:id="rId52"/>
    <p:sldId id="402" r:id="rId53"/>
    <p:sldId id="406" r:id="rId54"/>
    <p:sldId id="368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7D31"/>
    <a:srgbClr val="70AD47"/>
    <a:srgbClr val="FFFFFF"/>
    <a:srgbClr val="2F62BB"/>
    <a:srgbClr val="8C1515"/>
    <a:srgbClr val="009AB4"/>
    <a:srgbClr val="7F7F7F"/>
    <a:srgbClr val="3265BE"/>
    <a:srgbClr val="80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755" autoAdjust="0"/>
  </p:normalViewPr>
  <p:slideViewPr>
    <p:cSldViewPr snapToGrid="0">
      <p:cViewPr varScale="1">
        <p:scale>
          <a:sx n="62" d="100"/>
          <a:sy n="62" d="100"/>
        </p:scale>
        <p:origin x="1200" y="32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2EDBE-41B0-47FC-9EFB-BD9F3233B533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62143-CEED-4295-8FB4-0F17DABE7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6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343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74b7700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74b7700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274b7700f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New concepts introduced in the sections are fair games in the exam.</a:t>
            </a:r>
          </a:p>
          <a:p>
            <a:r>
              <a:rPr lang="en-US" altLang="zh-CN" dirty="0"/>
              <a:t>However, they are not the main focus, so we suggest you avoid spending too much time on them.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3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(TO replace the screenshot)</a:t>
            </a:r>
          </a:p>
          <a:p>
            <a:r>
              <a:rPr lang="en-US" altLang="zh-CN" dirty="0"/>
              <a:t>Try to practice yourself on these past exams as soon as possible.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05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65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91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Usually easy to come up with a greedy algorithm, and intuitive to informally convince yourself it works (pick the earliest finish time, the most efficient item, </a:t>
            </a:r>
            <a:r>
              <a:rPr lang="en-US" altLang="zh-CN" dirty="0" err="1"/>
              <a:t>etc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Can be delicate work to rigorously prove correctness via induction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865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altLang="zh-CN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Could we go over when to use to proof by contradiction in a proof of correctness for greedy.</a:t>
            </a:r>
          </a:p>
          <a:p>
            <a:pPr>
              <a:buNone/>
            </a:pP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418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altLang="zh-CN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Easy to visualize SCCs as cliques or cycles</a:t>
            </a:r>
            <a:endParaRPr lang="en-US" altLang="zh-CN" sz="1800" b="0" i="1" u="none" strike="noStrike" dirty="0">
              <a:solidFill>
                <a:srgbClr val="424242"/>
              </a:solidFill>
              <a:effectLst/>
              <a:latin typeface="Roboto" panose="02000000000000000000" pitchFamily="2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altLang="zh-CN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In any question that says the word "connectedness" or any of its variants, consider transforming into an SCC-DAG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In questions where cycles present problems, or are a separate case you'd like to avoid, consider transforming into an SCC-DAG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440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468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495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839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187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27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759EA-469E-4953-CDAB-0FDA08E30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8C1515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6F5181-6ABF-319F-1B97-D3D82947E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9AB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06404-1E9B-64A6-FD0A-43D6D37A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DCEE9-2B12-3848-93FA-28696878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6F233C-A50B-A991-AEF5-8DDCC3B8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15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DB251-0D0F-B27A-ED4B-6BADD485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400" b="1" kern="1200" dirty="0">
                <a:solidFill>
                  <a:srgbClr val="8C151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A84D8-44B3-53A9-AB92-FEA8C0C02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10515600" cy="4597545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009AB4"/>
                </a:solidFill>
                <a:latin typeface="+mn-lt"/>
                <a:ea typeface="+mn-ea"/>
                <a:cs typeface="+mn-cs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0FF2F-9733-1050-B32F-864BCAE4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17D59-4DDD-17E3-3724-6CDC1F46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2D7EA-D8CF-EA37-6515-7AED554C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997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A5220-AA50-F50F-42B9-4E1CB7E34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zh-CN" altLang="en-US" sz="6000" b="1" kern="1200" dirty="0">
                <a:solidFill>
                  <a:srgbClr val="8C151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6CE167-CCA7-9374-2584-6119106FA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7B8071-C73F-EBCB-2EB4-4B2673C2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A345D-072A-92F5-C0FD-7F46867B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FC8453-F689-DCE0-773B-5AED1A00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568C0-B1A8-A91E-7637-5BD431F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7BC26-75DD-8AA8-C3D1-C3E6936A2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A50F5-BEE1-D1C6-3876-26F95EA38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807F5A-A766-CE7C-EA9E-17E0147E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4F034C-281A-714C-B5BB-1FD02372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60780-8A31-0ACD-BDC4-61757900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6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948D7-BC96-28F2-DF08-8F37C9E8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1E2B44-0B11-072E-6B5D-49888584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BD0A30-6214-73B9-A9DB-C23788468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D93D36-0C93-1D2C-BE92-FF1A19108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C02267-C54D-D701-8881-1D80A296C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CFB6B9-100B-24E5-C6F3-0F8FB961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3AB98A-1573-E4D6-7B27-A978C593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723031-BB44-4519-2F41-27048A98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45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42CA3-CCBE-AE57-97C6-87A4B559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58F4F3-CF0E-29BD-FED8-9E52F062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729DC2-47E6-1725-CFA8-FE7789BB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F70006-7C9A-913B-4124-7BAC8764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876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9918B6-688C-D870-2810-ED9338F8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E0797A-9B00-E9B4-E2C1-6DEAB354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8ADA6-8399-1748-CDA4-2DDB3C88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5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BD359-8D9D-FE74-3430-0416635E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7E710-3AC3-E026-122E-70A0FB632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13CCEA-49F6-79F5-8B6F-436DE6978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140F25-1EBD-7CE2-EE3A-56321564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7D62B0-A31F-ADFF-412D-C52F43A02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77D44B-993C-F586-D739-213050C8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EEFF6-7C58-3827-2260-6C9C72C8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C04730-E4B2-717F-4FD8-D277478C6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F0F3E-3394-8C4D-59B0-55067FFEC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64F07-2852-73D4-639D-FFB5460D6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2B251-BBFE-B87F-3104-1027E722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71CEA-4685-63BF-10FC-DD12C7E3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14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200DF-EBEF-0330-DE98-EA8C9005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20170-4635-F2DB-D20B-FD6D6273F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75C5AB-3A24-E4B5-9F9F-A0274D88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11761-555E-1522-119C-C95AC2B3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7E499D-C982-8EC9-7E98-C4E63659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4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B5C901-FCA4-20E0-4B5E-F48F8F4FF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55A5B5-6BD5-5D19-FA88-E773CDACF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E5280-6F8B-2F94-1832-9418A123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C87DA-0328-E579-D5FF-1F9360D1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61809-CF71-84F9-04F6-B11195C8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14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5A3AD0-FF3B-8D05-83D7-8AD04A9F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6C709-0294-9447-DDEB-3C0555530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864ED-0A73-D22D-26E7-A59CD6737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CFEF0-BE10-4552-98E7-680A4212171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06D98-8E1D-E058-D9CA-861B6F53C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4B573-3D87-B0AB-54AC-68533D406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62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7" Type="http://schemas.openxmlformats.org/officeDocument/2006/relationships/image" Target="../media/image39.tiff"/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tiff"/><Relationship Id="rId5" Type="http://schemas.openxmlformats.org/officeDocument/2006/relationships/image" Target="../media/image37.tiff"/><Relationship Id="rId4" Type="http://schemas.openxmlformats.org/officeDocument/2006/relationships/image" Target="../media/image36.tif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542D-D093-B88A-2263-907E145E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805" y="1094902"/>
            <a:ext cx="10404389" cy="2387600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Final Review II</a:t>
            </a:r>
            <a:br>
              <a:rPr lang="en-US" altLang="zh-CN" sz="4800" dirty="0"/>
            </a:br>
            <a:r>
              <a:rPr lang="en-US" altLang="zh-CN" sz="2400" dirty="0"/>
              <a:t>CS 161 Winter 25</a:t>
            </a:r>
            <a:r>
              <a:rPr lang="en-US" altLang="zh-CN" sz="4800" dirty="0"/>
              <a:t> </a:t>
            </a:r>
            <a:endParaRPr lang="zh-CN" altLang="en-US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3BEF9C-9F3D-EFA4-6C52-007613AB2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2400"/>
            <a:ext cx="9144000" cy="2008909"/>
          </a:xfrm>
        </p:spPr>
        <p:txBody>
          <a:bodyPr>
            <a:normAutofit/>
          </a:bodyPr>
          <a:lstStyle/>
          <a:p>
            <a:r>
              <a:rPr lang="en-US" altLang="zh-CN" b="1" dirty="0"/>
              <a:t>Ruiquan Gao</a:t>
            </a:r>
          </a:p>
          <a:p>
            <a:r>
              <a:rPr lang="en-US" altLang="zh-CN" b="1" dirty="0"/>
              <a:t>Stanford University</a:t>
            </a:r>
            <a:br>
              <a:rPr lang="en-US" altLang="zh-CN" b="1" dirty="0"/>
            </a:br>
            <a:endParaRPr lang="en-US" altLang="zh-CN" b="1" dirty="0"/>
          </a:p>
        </p:txBody>
      </p:sp>
      <p:pic>
        <p:nvPicPr>
          <p:cNvPr id="7" name="Picture 2" descr="Stanford Logo - Foundation for a College Education">
            <a:extLst>
              <a:ext uri="{FF2B5EF4-FFF2-40B4-BE49-F238E27FC236}">
                <a16:creationId xmlns:a16="http://schemas.microsoft.com/office/drawing/2014/main" id="{AB1600E4-A94A-367D-34A5-549D217AD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143" y="5976938"/>
            <a:ext cx="2013857" cy="88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30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274b7700f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089" y="1198"/>
            <a:ext cx="9144001" cy="685560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274b7700fb_0_0"/>
          <p:cNvSpPr/>
          <p:nvPr/>
        </p:nvSpPr>
        <p:spPr>
          <a:xfrm>
            <a:off x="6510290" y="1200"/>
            <a:ext cx="5203500" cy="33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274b7700fb_0_0"/>
          <p:cNvSpPr/>
          <p:nvPr/>
        </p:nvSpPr>
        <p:spPr>
          <a:xfrm rot="2064452">
            <a:off x="1272708" y="2485592"/>
            <a:ext cx="823961" cy="433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6100D-6BFE-7753-B68B-3A0F9A25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What are the main focuses in final?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4F16C-D13A-360C-5AFF-C61B4248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8~16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Hashing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Graphs (e.g., SCC, shortest paths, MST)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Dynamic Programming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Greedy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Max Flow</a:t>
            </a:r>
            <a:endParaRPr lang="zh-CN" altLang="en-US" dirty="0"/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3A28ECFC-7B33-1E97-D9B5-2C49C03DB33B}"/>
              </a:ext>
            </a:extLst>
          </p:cNvPr>
          <p:cNvSpPr/>
          <p:nvPr/>
        </p:nvSpPr>
        <p:spPr>
          <a:xfrm>
            <a:off x="8138160" y="2741756"/>
            <a:ext cx="3922776" cy="2633472"/>
          </a:xfrm>
          <a:prstGeom prst="cloudCallout">
            <a:avLst>
              <a:gd name="adj1" fmla="val -46008"/>
              <a:gd name="adj2" fmla="val 71528"/>
            </a:avLst>
          </a:prstGeom>
          <a:noFill/>
          <a:ln w="5715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Don’t forget about the related sections and past exams!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Picture 32">
            <a:extLst>
              <a:ext uri="{FF2B5EF4-FFF2-40B4-BE49-F238E27FC236}">
                <a16:creationId xmlns:a16="http://schemas.microsoft.com/office/drawing/2014/main" id="{7654845B-5255-D40A-F0B9-C242F5DDFD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4794" y="5614869"/>
            <a:ext cx="813366" cy="113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6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B68DA-AD8B-98A8-2E12-12232967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A2418A-214C-BBE7-59D6-29FBE2271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C192BD-2B55-F4CD-595E-3ADA2AAE4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03" y="1331088"/>
            <a:ext cx="10942440" cy="475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4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14953-26AD-8342-94D9-B168B7DBA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Today’s Agenda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9C651E-EB04-73CE-C46E-5E830BD95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Hashing</a:t>
            </a:r>
          </a:p>
          <a:p>
            <a:endParaRPr lang="en-US" altLang="zh-CN" dirty="0"/>
          </a:p>
          <a:p>
            <a:r>
              <a:rPr lang="en-US" altLang="zh-CN" dirty="0"/>
              <a:t>Graphs (e.g., SCC, shortest paths, MST)</a:t>
            </a:r>
          </a:p>
          <a:p>
            <a:endParaRPr lang="en-US" altLang="zh-CN" dirty="0"/>
          </a:p>
          <a:p>
            <a:r>
              <a:rPr lang="en-US" altLang="zh-CN" dirty="0"/>
              <a:t>Greedy</a:t>
            </a:r>
          </a:p>
          <a:p>
            <a:endParaRPr lang="en-US" altLang="zh-CN" dirty="0"/>
          </a:p>
          <a:p>
            <a:r>
              <a:rPr lang="en-US" altLang="zh-CN" dirty="0"/>
              <a:t>Max Flow</a:t>
            </a:r>
          </a:p>
          <a:p>
            <a:endParaRPr lang="en-US" altLang="zh-CN" dirty="0"/>
          </a:p>
          <a:p>
            <a:r>
              <a:rPr lang="en-US" altLang="zh-CN" dirty="0"/>
              <a:t>Practice Problems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21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2450B84-F032-3E5E-3137-6F2D1EDF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Hashing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D3DF16-F67E-7A62-A1E1-83B87E081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2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1F05E84-C497-7556-8994-54B20302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Balanced BST vs Hashing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6767F8E-A864-ECC4-DF7F-464BB1E61D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sz="3200" dirty="0"/>
              </a:p>
              <a:p>
                <a:r>
                  <a:rPr lang="en-US" altLang="zh-CN" sz="3200" dirty="0"/>
                  <a:t>Balanced BST: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/>
                  <a:t>deterministic </a:t>
                </a:r>
                <a:r>
                  <a:rPr lang="en-US" altLang="zh-CN" sz="2800" dirty="0">
                    <a:solidFill>
                      <a:schemeClr val="accent4"/>
                    </a:solidFill>
                  </a:rPr>
                  <a:t>INSERT</a:t>
                </a:r>
                <a:r>
                  <a:rPr lang="en-US" altLang="zh-CN" sz="2800" dirty="0"/>
                  <a:t>/</a:t>
                </a:r>
                <a:r>
                  <a:rPr lang="en-US" altLang="zh-CN" sz="2800" dirty="0">
                    <a:solidFill>
                      <a:schemeClr val="accent1"/>
                    </a:solidFill>
                  </a:rPr>
                  <a:t>DELETE</a:t>
                </a:r>
                <a:r>
                  <a:rPr lang="en-US" altLang="zh-CN" sz="2800" dirty="0"/>
                  <a:t>/</a:t>
                </a:r>
                <a:r>
                  <a:rPr lang="en-US" altLang="zh-CN" sz="2800" dirty="0">
                    <a:solidFill>
                      <a:srgbClr val="CF6E6C"/>
                    </a:solidFill>
                  </a:rPr>
                  <a:t>SEARCH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sz="3200" dirty="0"/>
                  <a:t>Hash tables: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zh-CN" sz="2800" dirty="0"/>
                  <a:t> expected time </a:t>
                </a:r>
                <a:r>
                  <a:rPr lang="en-US" altLang="zh-CN" sz="2800" dirty="0">
                    <a:solidFill>
                      <a:schemeClr val="accent4"/>
                    </a:solidFill>
                  </a:rPr>
                  <a:t>INSERT</a:t>
                </a:r>
                <a:r>
                  <a:rPr lang="en-US" altLang="zh-CN" sz="2800" dirty="0"/>
                  <a:t>/</a:t>
                </a:r>
                <a:r>
                  <a:rPr lang="en-US" altLang="zh-CN" sz="2800" dirty="0">
                    <a:solidFill>
                      <a:schemeClr val="accent1"/>
                    </a:solidFill>
                  </a:rPr>
                  <a:t>DELETE</a:t>
                </a:r>
                <a:r>
                  <a:rPr lang="en-US" altLang="zh-CN" sz="2800" dirty="0"/>
                  <a:t>/</a:t>
                </a:r>
                <a:r>
                  <a:rPr lang="en-US" altLang="zh-CN" sz="2800" dirty="0">
                    <a:solidFill>
                      <a:srgbClr val="CF6E6C"/>
                    </a:solidFill>
                  </a:rPr>
                  <a:t>SEARCH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86767F8E-A864-ECC4-DF7F-464BB1E61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383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59199-CC73-8592-C4C3-E83D061E0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Goal of Hashing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E54A30-3DF7-8E52-6750-753DFD9E8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5122762" cy="4597545"/>
              </a:xfrm>
            </p:spPr>
            <p:txBody>
              <a:bodyPr/>
              <a:lstStyle/>
              <a:p>
                <a:r>
                  <a:rPr lang="en-US" altLang="zh-CN" dirty="0"/>
                  <a:t>INSERT/DELETE/SEARCH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zh-CN" dirty="0"/>
                  <a:t> time (in expectation)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For all elements of universe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lvl="1"/>
                <a:r>
                  <a:rPr lang="en-US" altLang="zh-CN" dirty="0"/>
                  <a:t>send through a hash function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→ {1, 2, … 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element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gets sent to bucket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each bucket is a linked list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E54A30-3DF7-8E52-6750-753DFD9E8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5122762" cy="4597545"/>
              </a:xfrm>
              <a:blipFill>
                <a:blip r:embed="rId2"/>
                <a:stretch>
                  <a:fillRect l="-21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FAB326CB-4D02-FC1C-D65F-DD6DB038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86345"/>
            <a:ext cx="5733327" cy="418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14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9A9B5-3F6C-B925-C61F-A13DE324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Runtimes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764678-18E5-7E02-6703-42451A7017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INSERT:</a:t>
                </a:r>
              </a:p>
              <a:p>
                <a:pPr lvl="1"/>
                <a:r>
                  <a:rPr lang="en-US" altLang="zh-CN" dirty="0"/>
                  <a:t>just call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append to a linked list. O(1)</a:t>
                </a:r>
              </a:p>
              <a:p>
                <a:r>
                  <a:rPr lang="en-US" altLang="zh-CN" dirty="0"/>
                  <a:t>SEARCH:</a:t>
                </a:r>
              </a:p>
              <a:p>
                <a:pPr lvl="1"/>
                <a:r>
                  <a:rPr lang="en-US" altLang="zh-CN" dirty="0"/>
                  <a:t>call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look through the linked list there. O(size of largest bucket)</a:t>
                </a:r>
              </a:p>
              <a:p>
                <a:r>
                  <a:rPr lang="en-US" altLang="zh-CN" dirty="0"/>
                  <a:t>DELETE:</a:t>
                </a:r>
              </a:p>
              <a:p>
                <a:pPr lvl="1"/>
                <a:r>
                  <a:rPr lang="en-US" altLang="zh-CN" dirty="0"/>
                  <a:t>call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remove from the linked list. O(size of largest bucket)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→ So we need to make size of largest bucket a constant! (in expectation)</a:t>
                </a:r>
              </a:p>
              <a:p>
                <a:pPr lvl="1"/>
                <a:r>
                  <a:rPr lang="en-US" altLang="zh-CN" dirty="0"/>
                  <a:t>Any deterministic hash function 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largest bucket size!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764678-18E5-7E02-6703-42451A701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 b="-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29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FC1C6-2611-3D25-77C2-3F6B093A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Universal Hash Families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D1EC71-53B3-8CCA-59D3-458A53E0F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Make a set of deterministic hash functions. </a:t>
                </a:r>
              </a:p>
              <a:p>
                <a:pPr lvl="1"/>
                <a:r>
                  <a:rPr lang="en-US" altLang="zh-CN" dirty="0"/>
                  <a:t>Then randomly select one of them!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Family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universal</a:t>
                </a:r>
              </a:p>
              <a:p>
                <a:pPr lvl="1"/>
                <a:r>
                  <a:rPr lang="en-US" altLang="zh-CN" dirty="0"/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Using a universal hash family, hash sets have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zh-CN" dirty="0"/>
                  <a:t> size buckets in expectation! </a:t>
                </a:r>
              </a:p>
              <a:p>
                <a:pPr lvl="1"/>
                <a:r>
                  <a:rPr lang="en-US" altLang="zh-CN" dirty="0"/>
                  <a:t>Proof: Lecture 8 notes, 1.2-3</a:t>
                </a:r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D1EC71-53B3-8CCA-59D3-458A53E0F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 r="-2029" b="-1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28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91D68-7E7C-0596-A8DF-2DACC602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Problem-Solving Tips for Hashing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75931F-16CF-37B6-FA2D-BA52F76AF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If you need to prove something isn't universal, </a:t>
                </a:r>
              </a:p>
              <a:p>
                <a:pPr lvl="1"/>
                <a:r>
                  <a:rPr lang="en-US" altLang="zh-CN" dirty="0"/>
                  <a:t>it suffices to provide two inputs which hash to the same bucket with probability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≥ 1/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(or even probability 1)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Remember that randomness in universal hash families is over which function is chosen </a:t>
                </a:r>
              </a:p>
              <a:p>
                <a:pPr lvl="1"/>
                <a:r>
                  <a:rPr lang="en-US" altLang="zh-CN" dirty="0"/>
                  <a:t>you could have one very bad hash function in a universal hash family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Lecture 8 Notes, Page 6:  </a:t>
                </a:r>
              </a:p>
              <a:p>
                <a:pPr lvl="1"/>
                <a:r>
                  <a:rPr lang="en-US" altLang="zh-CN" dirty="0"/>
                  <a:t>Consider throwing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balls into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bins. The expected number of pairs that fall into the same bucket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 − 1</m:t>
                            </m:r>
                          </m:e>
                        </m:d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/>
                  <a:t>.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75931F-16CF-37B6-FA2D-BA52F76AF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50" r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953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E24C9-9C68-C181-6065-E3A8A0A7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Greedy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F494C0-4FE6-4040-10C2-B9F61795D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4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3674801-B981-A634-A4C5-89F76F5C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A97C89-4C68-7A0C-8C92-3E2F059F9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Greedy is an algorithmic strategy revolving around "making the locally optimal choice every time"</a:t>
            </a:r>
          </a:p>
          <a:p>
            <a:endParaRPr lang="en-US" altLang="zh-CN" dirty="0"/>
          </a:p>
          <a:p>
            <a:r>
              <a:rPr lang="en-US" altLang="zh-CN" dirty="0"/>
              <a:t>Recipe as follows: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Make a series of choices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Prove that at each step, our choice doesn't rule out all optimal solutions; we are still "on track" to reach the optimum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After we've made all our choices, we're still "on track" to reach the optimal solution, so we must have found one!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405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CC637-568F-36EE-08F4-30DCEA7D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 Common strategy (formally)</a:t>
            </a:r>
            <a:br>
              <a:rPr lang="en-US" altLang="zh-CN" dirty="0"/>
            </a:br>
            <a:r>
              <a:rPr lang="en-US" altLang="zh-CN" sz="3200" dirty="0"/>
              <a:t>for greedy algorithms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71DA19-2C23-21ED-BA87-B0A4DB34C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670798"/>
              </a:xfrm>
            </p:spPr>
            <p:txBody>
              <a:bodyPr/>
              <a:lstStyle/>
              <a:p>
                <a:pPr lvl="5"/>
                <a:endParaRPr lang="en-US" altLang="zh-CN" sz="500" dirty="0"/>
              </a:p>
              <a:p>
                <a:r>
                  <a:rPr lang="en-US" altLang="zh-CN" dirty="0"/>
                  <a:t>Inductive Hypothesis:</a:t>
                </a:r>
              </a:p>
              <a:p>
                <a:pPr lvl="1"/>
                <a:r>
                  <a:rPr lang="en-US" altLang="zh-CN" dirty="0"/>
                  <a:t>After greedy choice t, you haven’t ruled out success.</a:t>
                </a:r>
              </a:p>
              <a:p>
                <a:r>
                  <a:rPr lang="en-US" altLang="zh-CN" dirty="0"/>
                  <a:t>Base case:</a:t>
                </a:r>
              </a:p>
              <a:p>
                <a:pPr lvl="1"/>
                <a:r>
                  <a:rPr lang="en-US" altLang="zh-CN" dirty="0"/>
                  <a:t>Success is possible before you make any choices.</a:t>
                </a:r>
              </a:p>
              <a:p>
                <a:r>
                  <a:rPr lang="en-US" altLang="zh-CN" dirty="0"/>
                  <a:t>Inductive step:</a:t>
                </a:r>
              </a:p>
              <a:p>
                <a:pPr lvl="1"/>
                <a:r>
                  <a:rPr lang="en-US" altLang="zh-CN" dirty="0"/>
                  <a:t>If you haven’t ruled out success after choice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, then you won’t rule out success after choice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Conclusion:</a:t>
                </a:r>
              </a:p>
              <a:p>
                <a:pPr lvl="1"/>
                <a:r>
                  <a:rPr lang="en-US" altLang="zh-CN" dirty="0"/>
                  <a:t>If you reach the end of the algorithm and haven’t ruled out success then you must have succeeded.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71DA19-2C23-21ED-BA87-B0A4DB34C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67079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2945" y="1462088"/>
            <a:ext cx="1009015" cy="1320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E6A740-32B0-AC43-A32E-489DCAC2CE44}"/>
              </a:ext>
            </a:extLst>
          </p:cNvPr>
          <p:cNvSpPr txBox="1"/>
          <p:nvPr/>
        </p:nvSpPr>
        <p:spPr>
          <a:xfrm>
            <a:off x="8690821" y="2782911"/>
            <a:ext cx="2953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F6E6C"/>
                </a:solidFill>
              </a:rPr>
              <a:t>“Success” here means “finding an optimal solution.”</a:t>
            </a:r>
          </a:p>
        </p:txBody>
      </p:sp>
    </p:spTree>
    <p:extLst>
      <p:ext uri="{BB962C8B-B14F-4D97-AF65-F5344CB8AC3E}">
        <p14:creationId xmlns:p14="http://schemas.microsoft.com/office/powerpoint/2010/main" val="145056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F9BAD-0051-EC07-C84C-8330371C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One Common strategy</a:t>
            </a:r>
            <a:br>
              <a:rPr lang="en-US" altLang="zh-CN" dirty="0"/>
            </a:br>
            <a:r>
              <a:rPr lang="en-US" altLang="zh-CN" sz="3100" dirty="0"/>
              <a:t>for showing we don’t rule out success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B576CB-BC35-0EDF-B273-7F6D88915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endParaRPr lang="en-US" altLang="zh-CN" dirty="0"/>
              </a:p>
              <a:p>
                <a:r>
                  <a:rPr lang="en-US" altLang="zh-CN" dirty="0"/>
                  <a:t>Suppose that you’re on track to make an optimal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r>
                  <a:rPr lang="en-US" altLang="zh-CN" dirty="0"/>
                  <a:t>E.g., after you’ve picked activity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, you’re still on track.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Suppose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1" dirty="0"/>
                  <a:t>disagrees</a:t>
                </a:r>
                <a:r>
                  <a:rPr lang="en-US" altLang="zh-CN" dirty="0"/>
                  <a:t> with your next greedy choice.</a:t>
                </a:r>
              </a:p>
              <a:p>
                <a:pPr lvl="1"/>
                <a:r>
                  <a:rPr lang="en-US" altLang="zh-CN" dirty="0"/>
                  <a:t>E.g., it </a:t>
                </a:r>
                <a:r>
                  <a:rPr lang="en-US" altLang="zh-CN" i="1" dirty="0"/>
                  <a:t>doesn’t</a:t>
                </a:r>
                <a:r>
                  <a:rPr lang="en-US" altLang="zh-CN" dirty="0"/>
                  <a:t> involve activity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Manipulate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 in order to make a solution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 that’s not worse but that </a:t>
                </a:r>
                <a:r>
                  <a:rPr lang="en-US" altLang="zh-CN" i="1" dirty="0"/>
                  <a:t>agrees</a:t>
                </a:r>
                <a:r>
                  <a:rPr lang="en-US" altLang="zh-CN" dirty="0"/>
                  <a:t> with your next greedy choice.</a:t>
                </a:r>
              </a:p>
              <a:p>
                <a:pPr lvl="1"/>
                <a:r>
                  <a:rPr lang="en-US" altLang="zh-CN" dirty="0"/>
                  <a:t>E.g., swap whatever activity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did pick next with activity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B576CB-BC35-0EDF-B273-7F6D88915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665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B996A-964D-2BE3-526B-E3BC876E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Activity Selection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BB8218-931E-3537-E1F0-406243802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Algorithm</a:t>
                </a:r>
              </a:p>
              <a:p>
                <a:pPr lvl="1"/>
                <a:r>
                  <a:rPr lang="en-US" altLang="zh-CN" dirty="0"/>
                  <a:t>Pick the activity you can add with the smallest finish time.</a:t>
                </a:r>
              </a:p>
              <a:p>
                <a:r>
                  <a:rPr lang="en-US" altLang="zh-CN" dirty="0"/>
                  <a:t>Inductive step:</a:t>
                </a:r>
              </a:p>
              <a:p>
                <a:pPr lvl="1"/>
                <a:r>
                  <a:rPr lang="en-US" altLang="zh-CN" dirty="0"/>
                  <a:t>You can always replace the first disagreement in any optimal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by your greedy choice </a:t>
                </a:r>
                <a:r>
                  <a:rPr lang="en-US" altLang="zh-CN" sz="2000" dirty="0"/>
                  <a:t>(so that the number of activities does not decrease)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BB8218-931E-3537-E1F0-406243802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5D699B9-72FE-A691-FEBA-858FCC28B9D8}"/>
                  </a:ext>
                </a:extLst>
              </p:cNvPr>
              <p:cNvSpPr/>
              <p:nvPr/>
            </p:nvSpPr>
            <p:spPr>
              <a:xfrm>
                <a:off x="6603821" y="4361480"/>
                <a:ext cx="1889039" cy="605481"/>
              </a:xfrm>
              <a:prstGeom prst="round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5D699B9-72FE-A691-FEBA-858FCC28B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821" y="4361480"/>
                <a:ext cx="1889039" cy="60548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BC7A68-A8A9-8110-5B46-A984AEA43C96}"/>
              </a:ext>
            </a:extLst>
          </p:cNvPr>
          <p:cNvSpPr/>
          <p:nvPr/>
        </p:nvSpPr>
        <p:spPr>
          <a:xfrm>
            <a:off x="2214855" y="436148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E52626-893E-B15E-D12F-3796EE51AAEC}"/>
              </a:ext>
            </a:extLst>
          </p:cNvPr>
          <p:cNvSpPr/>
          <p:nvPr/>
        </p:nvSpPr>
        <p:spPr>
          <a:xfrm>
            <a:off x="4616958" y="4958934"/>
            <a:ext cx="1672281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E2545C-D671-3CC7-1C79-D3433AC6A334}"/>
              </a:ext>
            </a:extLst>
          </p:cNvPr>
          <p:cNvSpPr/>
          <p:nvPr/>
        </p:nvSpPr>
        <p:spPr>
          <a:xfrm>
            <a:off x="1511422" y="528294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D0B6F3-74D5-781C-C2E5-8180F69B2304}"/>
              </a:ext>
            </a:extLst>
          </p:cNvPr>
          <p:cNvSpPr/>
          <p:nvPr/>
        </p:nvSpPr>
        <p:spPr>
          <a:xfrm>
            <a:off x="3907539" y="4039732"/>
            <a:ext cx="2184183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144D04D-323E-DD9E-DECF-F88991E2610D}"/>
                  </a:ext>
                </a:extLst>
              </p:cNvPr>
              <p:cNvSpPr/>
              <p:nvPr/>
            </p:nvSpPr>
            <p:spPr>
              <a:xfrm>
                <a:off x="8753656" y="4608372"/>
                <a:ext cx="1575022" cy="605481"/>
              </a:xfrm>
              <a:prstGeom prst="round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144D04D-323E-DD9E-DECF-F88991E26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656" y="4608372"/>
                <a:ext cx="1575022" cy="60548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9B30B60-E5AD-0C07-752B-99893A4FE3F9}"/>
                  </a:ext>
                </a:extLst>
              </p:cNvPr>
              <p:cNvSpPr/>
              <p:nvPr/>
            </p:nvSpPr>
            <p:spPr>
              <a:xfrm>
                <a:off x="7178634" y="5361573"/>
                <a:ext cx="2624042" cy="60548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9B30B60-E5AD-0C07-752B-99893A4FE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634" y="5361573"/>
                <a:ext cx="2624042" cy="60548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4A9A55-3ABA-2D35-647D-6D4A8A14F621}"/>
              </a:ext>
            </a:extLst>
          </p:cNvPr>
          <p:cNvCxnSpPr>
            <a:cxnSpLocks/>
          </p:cNvCxnSpPr>
          <p:nvPr/>
        </p:nvCxnSpPr>
        <p:spPr>
          <a:xfrm>
            <a:off x="1511422" y="6141560"/>
            <a:ext cx="9416773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1E08A-4F3B-8466-3AB5-9E574F6ABFDF}"/>
              </a:ext>
            </a:extLst>
          </p:cNvPr>
          <p:cNvSpPr txBox="1"/>
          <p:nvPr/>
        </p:nvSpPr>
        <p:spPr>
          <a:xfrm>
            <a:off x="10246874" y="6120887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8">
                <a:extLst>
                  <a:ext uri="{FF2B5EF4-FFF2-40B4-BE49-F238E27FC236}">
                    <a16:creationId xmlns:a16="http://schemas.microsoft.com/office/drawing/2014/main" id="{15224153-6761-5515-0247-131C87F107B8}"/>
                  </a:ext>
                </a:extLst>
              </p:cNvPr>
              <p:cNvSpPr/>
              <p:nvPr/>
            </p:nvSpPr>
            <p:spPr>
              <a:xfrm>
                <a:off x="9966998" y="5361573"/>
                <a:ext cx="559753" cy="60548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ounded Rectangle 8">
                <a:extLst>
                  <a:ext uri="{FF2B5EF4-FFF2-40B4-BE49-F238E27FC236}">
                    <a16:creationId xmlns:a16="http://schemas.microsoft.com/office/drawing/2014/main" id="{15224153-6761-5515-0247-131C87F10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998" y="5361573"/>
                <a:ext cx="559753" cy="60548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40C6775-BC14-82C3-AC3D-8E35E49EE06B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flipH="1" flipV="1">
            <a:off x="7548341" y="4966961"/>
            <a:ext cx="942314" cy="3946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09D79A4-F55B-9A17-7F7D-FB52FACA2725}"/>
              </a:ext>
            </a:extLst>
          </p:cNvPr>
          <p:cNvCxnSpPr>
            <a:stCxn id="13" idx="0"/>
            <a:endCxn id="9" idx="2"/>
          </p:cNvCxnSpPr>
          <p:nvPr/>
        </p:nvCxnSpPr>
        <p:spPr>
          <a:xfrm flipH="1" flipV="1">
            <a:off x="9541167" y="5213853"/>
            <a:ext cx="705708" cy="1477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47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5B7D1-4594-4E42-9235-093C4F4B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 Problems in Exams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50A93-3310-DE12-DD72-48823D15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Final 2024 Q3</a:t>
            </a:r>
          </a:p>
          <a:p>
            <a:pPr lvl="1"/>
            <a:r>
              <a:rPr lang="en-US" altLang="zh-CN" dirty="0"/>
              <a:t>Q3.1 is to find some counter-example</a:t>
            </a:r>
          </a:p>
          <a:p>
            <a:pPr lvl="1"/>
            <a:r>
              <a:rPr lang="en-US" altLang="zh-CN" dirty="0"/>
              <a:t>Q3.2 is to analyze the correct algorithm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43C225-6692-929D-1147-B05C5B5BF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27" y="3114612"/>
            <a:ext cx="9996511" cy="356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FCC9A-F4FD-B200-5D31-7536040C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 Problems in Exams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E392F5-9C99-E9DF-DCD7-D5684C516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62A421-49B0-D061-B29A-F73521F9A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6344"/>
            <a:ext cx="10626295" cy="18426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77913C-FE00-8660-6650-6D622FD6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17280"/>
            <a:ext cx="10515600" cy="192296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A5D1DDE-7653-B89E-3595-640EF896EA83}"/>
              </a:ext>
            </a:extLst>
          </p:cNvPr>
          <p:cNvCxnSpPr>
            <a:cxnSpLocks/>
          </p:cNvCxnSpPr>
          <p:nvPr/>
        </p:nvCxnSpPr>
        <p:spPr>
          <a:xfrm>
            <a:off x="3608439" y="5381886"/>
            <a:ext cx="7570838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B9C5209-5FD8-AAD7-968F-F2F35BDDBD06}"/>
              </a:ext>
            </a:extLst>
          </p:cNvPr>
          <p:cNvCxnSpPr/>
          <p:nvPr/>
        </p:nvCxnSpPr>
        <p:spPr>
          <a:xfrm>
            <a:off x="3716594" y="5712542"/>
            <a:ext cx="6980903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990BBA19-F997-6612-090E-74619A8203EB}"/>
              </a:ext>
            </a:extLst>
          </p:cNvPr>
          <p:cNvSpPr/>
          <p:nvPr/>
        </p:nvSpPr>
        <p:spPr>
          <a:xfrm>
            <a:off x="2408903" y="4483510"/>
            <a:ext cx="1504336" cy="23597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38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5FDBF-5F5C-E777-AC1F-1B9938726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Problem-Solving Tips for Greedy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774233-963E-4E76-4B50-F903C425B4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271655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altLang="zh-CN" dirty="0"/>
                  <a:t>If the problem gives you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time, sort the length-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list!</a:t>
                </a:r>
              </a:p>
              <a:p>
                <a:pPr lvl="1"/>
                <a:endParaRPr lang="en-US" altLang="zh-CN" sz="2000" dirty="0"/>
              </a:p>
              <a:p>
                <a:pPr lvl="1"/>
                <a:r>
                  <a:rPr lang="en-US" altLang="zh-CN" dirty="0"/>
                  <a:t>With intervals, it "tends to work" to pick the earliest finish time at each choice </a:t>
                </a:r>
              </a:p>
              <a:p>
                <a:pPr lvl="1"/>
                <a:endParaRPr lang="en-US" altLang="zh-CN" sz="2000" dirty="0"/>
              </a:p>
              <a:p>
                <a:pPr lvl="1"/>
                <a:r>
                  <a:rPr lang="en-US" altLang="zh-CN" dirty="0"/>
                  <a:t>More general but less specific one: try to make your locally optimal choice as the most “flexible” one for future</a:t>
                </a:r>
              </a:p>
              <a:p>
                <a:pPr lvl="1"/>
                <a:endParaRPr lang="en-US" altLang="zh-CN" sz="2000" dirty="0"/>
              </a:p>
              <a:p>
                <a:pPr lvl="1"/>
                <a:r>
                  <a:rPr lang="en-US" altLang="zh-CN" dirty="0"/>
                  <a:t>In inductive step, argue that if the optimum solution makes a different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choice, we can "manipulate something" and then copy what the optimum solution does after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choice and we haven't made a worse solution</a:t>
                </a:r>
              </a:p>
              <a:p>
                <a:pPr lvl="1"/>
                <a:endParaRPr lang="en-US" altLang="zh-CN" sz="2000" dirty="0"/>
              </a:p>
              <a:p>
                <a:pPr lvl="1"/>
                <a:r>
                  <a:rPr lang="en-US" altLang="zh-CN" dirty="0"/>
                  <a:t>If you can’t prove its optimality, try to construct some counter-examples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774233-963E-4E76-4B50-F903C425B4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271655"/>
              </a:xfrm>
              <a:blipFill>
                <a:blip r:embed="rId2"/>
                <a:stretch>
                  <a:fillRect t="-1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84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88C04-05B2-7927-8253-D59074A7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Graphs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5A6675-7925-04BE-D02F-986F19D54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959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DC9835E-F3E0-DD8D-46A2-1612B9D5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every graph algorithm …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3405EE4-84CE-0AC6-1FDA-CD311ECC9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Does it work with</a:t>
            </a:r>
          </a:p>
          <a:p>
            <a:pPr lvl="1"/>
            <a:r>
              <a:rPr lang="en-US" altLang="zh-CN" dirty="0"/>
              <a:t>Weighted / unweighted edges?</a:t>
            </a:r>
          </a:p>
          <a:p>
            <a:pPr lvl="1"/>
            <a:r>
              <a:rPr lang="en-US" altLang="zh-CN" dirty="0"/>
              <a:t>Directed / undirected edges?</a:t>
            </a:r>
          </a:p>
          <a:p>
            <a:pPr lvl="1"/>
            <a:r>
              <a:rPr lang="en-US" altLang="zh-CN" dirty="0"/>
              <a:t>Negative edge weights?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Example:</a:t>
            </a:r>
          </a:p>
          <a:p>
            <a:pPr lvl="1"/>
            <a:r>
              <a:rPr lang="en-US" altLang="zh-CN" dirty="0"/>
              <a:t>Dijkstra algorithm only works for non-negative edge weights</a:t>
            </a:r>
          </a:p>
          <a:p>
            <a:pPr lvl="1"/>
            <a:r>
              <a:rPr lang="en-US" altLang="zh-CN" dirty="0"/>
              <a:t>Bellman-Ford &amp; Floyd-</a:t>
            </a:r>
            <a:r>
              <a:rPr lang="en-US" altLang="zh-CN" dirty="0" err="1"/>
              <a:t>Warshall</a:t>
            </a:r>
            <a:r>
              <a:rPr lang="en-US" altLang="zh-CN" dirty="0"/>
              <a:t> works for negative edge weights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1523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FA33E-5AC7-5E61-D526-280CD8AC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Concepts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8B163-4AAC-4C3A-7DFF-0E120AC5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Graphs</a:t>
            </a:r>
          </a:p>
          <a:p>
            <a:pPr lvl="1"/>
            <a:r>
              <a:rPr lang="en-US" altLang="zh-CN" dirty="0"/>
              <a:t>Undirected, directed, weighted, unweighted</a:t>
            </a:r>
          </a:p>
          <a:p>
            <a:pPr lvl="1"/>
            <a:r>
              <a:rPr lang="en-US" altLang="zh-CN" dirty="0"/>
              <a:t>Adjacency matrix, adjacency list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DFS &amp; BFS</a:t>
            </a:r>
          </a:p>
          <a:p>
            <a:pPr lvl="1"/>
            <a:r>
              <a:rPr lang="en-US" altLang="zh-CN" dirty="0"/>
              <a:t>Topological sorting, in-order traversals of BST</a:t>
            </a:r>
          </a:p>
          <a:p>
            <a:pPr lvl="1"/>
            <a:r>
              <a:rPr lang="en-US" altLang="zh-CN" dirty="0"/>
              <a:t>Shortest path on unweighted graphs, testing bipartiteness</a:t>
            </a:r>
          </a:p>
          <a:p>
            <a:endParaRPr lang="en-US" altLang="zh-CN" dirty="0"/>
          </a:p>
          <a:p>
            <a:r>
              <a:rPr lang="en-US" altLang="zh-CN" dirty="0"/>
              <a:t>(Strongly) connected component</a:t>
            </a:r>
          </a:p>
        </p:txBody>
      </p:sp>
    </p:spTree>
    <p:extLst>
      <p:ext uri="{BB962C8B-B14F-4D97-AF65-F5344CB8AC3E}">
        <p14:creationId xmlns:p14="http://schemas.microsoft.com/office/powerpoint/2010/main" val="152239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56FE7-2ED2-11F6-B108-8B099C93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Strongly Connected Component (SCC)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D7DABB-DFE5-EF96-930C-30FFC758D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4347411" cy="4597545"/>
              </a:xfrm>
            </p:spPr>
            <p:txBody>
              <a:bodyPr/>
              <a:lstStyle/>
              <a:p>
                <a:r>
                  <a:rPr lang="en-US" altLang="zh-CN" dirty="0"/>
                  <a:t>We say a component with vertices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dirty="0"/>
                  <a:t> is "strongly connected" if:</a:t>
                </a:r>
              </a:p>
              <a:p>
                <a:pPr lvl="1"/>
                <a:r>
                  <a:rPr lang="en-US" altLang="zh-CN" dirty="0"/>
                  <a:t>For all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 in V:</a:t>
                </a:r>
              </a:p>
              <a:p>
                <a:pPr lvl="2"/>
                <a:r>
                  <a:rPr lang="en-US" altLang="zh-CN" dirty="0"/>
                  <a:t>There is a path from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dirty="0"/>
                  <a:t>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altLang="zh-CN" dirty="0"/>
                  <a:t>There is a path from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i.e. , its vertices are "mutually reachable."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D7DABB-DFE5-EF96-930C-30FFC758D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4347411" cy="4597545"/>
              </a:xfrm>
              <a:blipFill>
                <a:blip r:embed="rId2"/>
                <a:stretch>
                  <a:fillRect l="-2525" t="-2387" r="-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8FFC6825-DCF4-45FB-F85B-76F09F8CF163}"/>
              </a:ext>
            </a:extLst>
          </p:cNvPr>
          <p:cNvSpPr/>
          <p:nvPr/>
        </p:nvSpPr>
        <p:spPr>
          <a:xfrm>
            <a:off x="4032023" y="4895316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9C6501-3404-B425-FDB2-366AA4FC31C2}"/>
              </a:ext>
            </a:extLst>
          </p:cNvPr>
          <p:cNvSpPr/>
          <p:nvPr/>
        </p:nvSpPr>
        <p:spPr>
          <a:xfrm>
            <a:off x="4999670" y="4590516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0E4675-B9F2-810C-2170-5EEA31C49B4D}"/>
              </a:ext>
            </a:extLst>
          </p:cNvPr>
          <p:cNvSpPr/>
          <p:nvPr/>
        </p:nvSpPr>
        <p:spPr>
          <a:xfrm>
            <a:off x="6105676" y="5485424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8F60B4-AEA8-9154-5696-7B8D121DB6F3}"/>
              </a:ext>
            </a:extLst>
          </p:cNvPr>
          <p:cNvSpPr/>
          <p:nvPr/>
        </p:nvSpPr>
        <p:spPr>
          <a:xfrm>
            <a:off x="6814116" y="4590516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E6271A-88BC-407F-18CA-7C5859DCCAAF}"/>
              </a:ext>
            </a:extLst>
          </p:cNvPr>
          <p:cNvCxnSpPr>
            <a:stCxn id="6" idx="6"/>
            <a:endCxn id="7" idx="3"/>
          </p:cNvCxnSpPr>
          <p:nvPr/>
        </p:nvCxnSpPr>
        <p:spPr>
          <a:xfrm flipV="1">
            <a:off x="4546059" y="5008462"/>
            <a:ext cx="528890" cy="131681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3142E6-23E4-5927-C066-92BAD286FE0F}"/>
              </a:ext>
            </a:extLst>
          </p:cNvPr>
          <p:cNvCxnSpPr>
            <a:stCxn id="7" idx="5"/>
            <a:endCxn id="8" idx="1"/>
          </p:cNvCxnSpPr>
          <p:nvPr/>
        </p:nvCxnSpPr>
        <p:spPr>
          <a:xfrm>
            <a:off x="5438427" y="5008462"/>
            <a:ext cx="742528" cy="548670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03E88C-DDD4-A3CA-62A1-CBB74B276D0D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6544433" y="5008462"/>
            <a:ext cx="344962" cy="548670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167B7D-4D8B-C518-628B-1039711BB6A5}"/>
              </a:ext>
            </a:extLst>
          </p:cNvPr>
          <p:cNvCxnSpPr>
            <a:stCxn id="9" idx="1"/>
            <a:endCxn id="7" idx="6"/>
          </p:cNvCxnSpPr>
          <p:nvPr/>
        </p:nvCxnSpPr>
        <p:spPr>
          <a:xfrm flipH="1">
            <a:off x="5513706" y="4662224"/>
            <a:ext cx="1375689" cy="173119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AD58A5-835A-CBA5-6FF0-DA9A0EC4FB9F}"/>
              </a:ext>
            </a:extLst>
          </p:cNvPr>
          <p:cNvCxnSpPr>
            <a:stCxn id="7" idx="2"/>
            <a:endCxn id="6" idx="7"/>
          </p:cNvCxnSpPr>
          <p:nvPr/>
        </p:nvCxnSpPr>
        <p:spPr>
          <a:xfrm flipH="1">
            <a:off x="4470780" y="4835343"/>
            <a:ext cx="528890" cy="131681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6">
            <a:extLst>
              <a:ext uri="{FF2B5EF4-FFF2-40B4-BE49-F238E27FC236}">
                <a16:creationId xmlns:a16="http://schemas.microsoft.com/office/drawing/2014/main" id="{09C5983D-C060-D3BF-3C3A-59966D29E01A}"/>
              </a:ext>
            </a:extLst>
          </p:cNvPr>
          <p:cNvSpPr/>
          <p:nvPr/>
        </p:nvSpPr>
        <p:spPr>
          <a:xfrm>
            <a:off x="8167558" y="3695608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4202DC40-E10C-929E-3621-DBA8E2E86B1B}"/>
              </a:ext>
            </a:extLst>
          </p:cNvPr>
          <p:cNvSpPr/>
          <p:nvPr/>
        </p:nvSpPr>
        <p:spPr>
          <a:xfrm>
            <a:off x="8783964" y="2773702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8">
            <a:extLst>
              <a:ext uri="{FF2B5EF4-FFF2-40B4-BE49-F238E27FC236}">
                <a16:creationId xmlns:a16="http://schemas.microsoft.com/office/drawing/2014/main" id="{0C3F9F6C-CE70-6CBA-57B1-4F4035E6E213}"/>
              </a:ext>
            </a:extLst>
          </p:cNvPr>
          <p:cNvSpPr/>
          <p:nvPr/>
        </p:nvSpPr>
        <p:spPr>
          <a:xfrm>
            <a:off x="9040982" y="4387889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Oval 19">
            <a:extLst>
              <a:ext uri="{FF2B5EF4-FFF2-40B4-BE49-F238E27FC236}">
                <a16:creationId xmlns:a16="http://schemas.microsoft.com/office/drawing/2014/main" id="{3B0BE479-DF46-7C13-52BD-98BDB6C8FF5A}"/>
              </a:ext>
            </a:extLst>
          </p:cNvPr>
          <p:cNvSpPr/>
          <p:nvPr/>
        </p:nvSpPr>
        <p:spPr>
          <a:xfrm>
            <a:off x="9471893" y="3522489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251">
            <a:extLst>
              <a:ext uri="{FF2B5EF4-FFF2-40B4-BE49-F238E27FC236}">
                <a16:creationId xmlns:a16="http://schemas.microsoft.com/office/drawing/2014/main" id="{A4A61AA2-9BCC-B49E-8F3B-4092A09DB222}"/>
              </a:ext>
            </a:extLst>
          </p:cNvPr>
          <p:cNvCxnSpPr>
            <a:stCxn id="13" idx="5"/>
            <a:endCxn id="15" idx="2"/>
          </p:cNvCxnSpPr>
          <p:nvPr/>
        </p:nvCxnSpPr>
        <p:spPr>
          <a:xfrm>
            <a:off x="8606315" y="4113554"/>
            <a:ext cx="434667" cy="519162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76">
            <a:extLst>
              <a:ext uri="{FF2B5EF4-FFF2-40B4-BE49-F238E27FC236}">
                <a16:creationId xmlns:a16="http://schemas.microsoft.com/office/drawing/2014/main" id="{2085DE0D-D888-9300-46E8-9403973A69A8}"/>
              </a:ext>
            </a:extLst>
          </p:cNvPr>
          <p:cNvCxnSpPr>
            <a:stCxn id="15" idx="7"/>
            <a:endCxn id="16" idx="4"/>
          </p:cNvCxnSpPr>
          <p:nvPr/>
        </p:nvCxnSpPr>
        <p:spPr>
          <a:xfrm flipV="1">
            <a:off x="9479739" y="4012143"/>
            <a:ext cx="249172" cy="447454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603">
            <a:extLst>
              <a:ext uri="{FF2B5EF4-FFF2-40B4-BE49-F238E27FC236}">
                <a16:creationId xmlns:a16="http://schemas.microsoft.com/office/drawing/2014/main" id="{02D35CA3-2FCB-C714-7E9A-63FE22CD21F4}"/>
              </a:ext>
            </a:extLst>
          </p:cNvPr>
          <p:cNvCxnSpPr>
            <a:stCxn id="16" idx="1"/>
            <a:endCxn id="14" idx="6"/>
          </p:cNvCxnSpPr>
          <p:nvPr/>
        </p:nvCxnSpPr>
        <p:spPr>
          <a:xfrm flipH="1" flipV="1">
            <a:off x="9298000" y="3018529"/>
            <a:ext cx="249172" cy="575668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606">
            <a:extLst>
              <a:ext uri="{FF2B5EF4-FFF2-40B4-BE49-F238E27FC236}">
                <a16:creationId xmlns:a16="http://schemas.microsoft.com/office/drawing/2014/main" id="{97B8DE6E-378E-D22F-CAC9-3E8D32328002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8606315" y="3191648"/>
            <a:ext cx="252928" cy="575668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613">
            <a:extLst>
              <a:ext uri="{FF2B5EF4-FFF2-40B4-BE49-F238E27FC236}">
                <a16:creationId xmlns:a16="http://schemas.microsoft.com/office/drawing/2014/main" id="{6B0BBE08-10C4-977F-FE9B-D76D6201950B}"/>
              </a:ext>
            </a:extLst>
          </p:cNvPr>
          <p:cNvCxnSpPr>
            <a:stCxn id="13" idx="3"/>
            <a:endCxn id="7" idx="7"/>
          </p:cNvCxnSpPr>
          <p:nvPr/>
        </p:nvCxnSpPr>
        <p:spPr>
          <a:xfrm flipH="1">
            <a:off x="7252873" y="4113554"/>
            <a:ext cx="989964" cy="548670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616">
            <a:extLst>
              <a:ext uri="{FF2B5EF4-FFF2-40B4-BE49-F238E27FC236}">
                <a16:creationId xmlns:a16="http://schemas.microsoft.com/office/drawing/2014/main" id="{A4FB3084-0524-81C5-F633-E1DAC880B601}"/>
              </a:ext>
            </a:extLst>
          </p:cNvPr>
          <p:cNvSpPr/>
          <p:nvPr/>
        </p:nvSpPr>
        <p:spPr>
          <a:xfrm>
            <a:off x="10424848" y="5939432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Oval 617">
            <a:extLst>
              <a:ext uri="{FF2B5EF4-FFF2-40B4-BE49-F238E27FC236}">
                <a16:creationId xmlns:a16="http://schemas.microsoft.com/office/drawing/2014/main" id="{C9774DB3-F6C0-7740-A392-E9C7F7871AC4}"/>
              </a:ext>
            </a:extLst>
          </p:cNvPr>
          <p:cNvSpPr/>
          <p:nvPr/>
        </p:nvSpPr>
        <p:spPr>
          <a:xfrm>
            <a:off x="11098370" y="4722149"/>
            <a:ext cx="514036" cy="4896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618">
            <a:extLst>
              <a:ext uri="{FF2B5EF4-FFF2-40B4-BE49-F238E27FC236}">
                <a16:creationId xmlns:a16="http://schemas.microsoft.com/office/drawing/2014/main" id="{841263F6-F21F-FEBE-E63E-B465B08783A1}"/>
              </a:ext>
            </a:extLst>
          </p:cNvPr>
          <p:cNvCxnSpPr>
            <a:cxnSpLocks/>
          </p:cNvCxnSpPr>
          <p:nvPr/>
        </p:nvCxnSpPr>
        <p:spPr>
          <a:xfrm flipV="1">
            <a:off x="10863605" y="5211803"/>
            <a:ext cx="491783" cy="799337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619">
            <a:extLst>
              <a:ext uri="{FF2B5EF4-FFF2-40B4-BE49-F238E27FC236}">
                <a16:creationId xmlns:a16="http://schemas.microsoft.com/office/drawing/2014/main" id="{77CD3DBB-C15C-39B1-B6F6-23F8DA116BA0}"/>
              </a:ext>
            </a:extLst>
          </p:cNvPr>
          <p:cNvCxnSpPr>
            <a:stCxn id="23" idx="3"/>
            <a:endCxn id="22" idx="0"/>
          </p:cNvCxnSpPr>
          <p:nvPr/>
        </p:nvCxnSpPr>
        <p:spPr>
          <a:xfrm flipH="1">
            <a:off x="10681866" y="5140095"/>
            <a:ext cx="491783" cy="799337"/>
          </a:xfrm>
          <a:prstGeom prst="line">
            <a:avLst/>
          </a:prstGeom>
          <a:ln w="66675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622">
            <a:extLst>
              <a:ext uri="{FF2B5EF4-FFF2-40B4-BE49-F238E27FC236}">
                <a16:creationId xmlns:a16="http://schemas.microsoft.com/office/drawing/2014/main" id="{9ACCC61A-E9ED-EB4B-2E21-8A93846811AD}"/>
              </a:ext>
            </a:extLst>
          </p:cNvPr>
          <p:cNvSpPr/>
          <p:nvPr/>
        </p:nvSpPr>
        <p:spPr>
          <a:xfrm>
            <a:off x="3200588" y="4096879"/>
            <a:ext cx="5064502" cy="2270279"/>
          </a:xfrm>
          <a:prstGeom prst="ellipse">
            <a:avLst/>
          </a:prstGeom>
          <a:noFill/>
          <a:ln w="53975">
            <a:solidFill>
              <a:srgbClr val="CF6E6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Oval 623">
            <a:extLst>
              <a:ext uri="{FF2B5EF4-FFF2-40B4-BE49-F238E27FC236}">
                <a16:creationId xmlns:a16="http://schemas.microsoft.com/office/drawing/2014/main" id="{07BF1ED5-C9F6-8B98-851B-BDA0455859DE}"/>
              </a:ext>
            </a:extLst>
          </p:cNvPr>
          <p:cNvSpPr/>
          <p:nvPr/>
        </p:nvSpPr>
        <p:spPr>
          <a:xfrm rot="20697205">
            <a:off x="7937898" y="2560999"/>
            <a:ext cx="2350240" cy="2630294"/>
          </a:xfrm>
          <a:prstGeom prst="ellipse">
            <a:avLst/>
          </a:prstGeom>
          <a:noFill/>
          <a:ln w="53975">
            <a:solidFill>
              <a:srgbClr val="CF6E6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Oval 624">
            <a:extLst>
              <a:ext uri="{FF2B5EF4-FFF2-40B4-BE49-F238E27FC236}">
                <a16:creationId xmlns:a16="http://schemas.microsoft.com/office/drawing/2014/main" id="{31918818-EDB9-F3E9-C844-2804500BF12F}"/>
              </a:ext>
            </a:extLst>
          </p:cNvPr>
          <p:cNvSpPr/>
          <p:nvPr/>
        </p:nvSpPr>
        <p:spPr>
          <a:xfrm rot="2194906">
            <a:off x="10265003" y="4279111"/>
            <a:ext cx="1638052" cy="2630294"/>
          </a:xfrm>
          <a:prstGeom prst="ellipse">
            <a:avLst/>
          </a:prstGeom>
          <a:noFill/>
          <a:ln w="53975">
            <a:solidFill>
              <a:srgbClr val="CF6E6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ECB84-F886-8084-981E-CC902E5A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Kosaraju's Algorithm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DB04E2-1610-F431-AC70-5335395B4C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Algorithm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Run DFS to create a DFS forest (collection of DFS trees). Keep track of finishing times!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Reverse all the edges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Run DFS again, with nodes ordered by (1)'s finishing times descending.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DFS trees returned by (3) are the SCCs!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Runtime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CN" dirty="0"/>
                  <a:t>-time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Proofs: Lecture 10 Notes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DB04E2-1610-F431-AC70-5335395B4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7" r="-174" b="-3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卷形: 水平 3">
            <a:extLst>
              <a:ext uri="{FF2B5EF4-FFF2-40B4-BE49-F238E27FC236}">
                <a16:creationId xmlns:a16="http://schemas.microsoft.com/office/drawing/2014/main" id="{0B6B778B-90AA-785A-9F4A-B148CAC164BA}"/>
              </a:ext>
            </a:extLst>
          </p:cNvPr>
          <p:cNvSpPr/>
          <p:nvPr/>
        </p:nvSpPr>
        <p:spPr>
          <a:xfrm>
            <a:off x="6096000" y="4211053"/>
            <a:ext cx="5257800" cy="2510422"/>
          </a:xfrm>
          <a:prstGeom prst="horizontalScroll">
            <a:avLst>
              <a:gd name="adj" fmla="val 72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0" u="none" strike="noStrike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SCC-DAG</a:t>
            </a:r>
          </a:p>
          <a:p>
            <a:pPr algn="ctr"/>
            <a:endParaRPr lang="en-US" altLang="zh-CN" sz="1800" b="0" i="0" u="none" strike="noStrike" dirty="0">
              <a:solidFill>
                <a:srgbClr val="424242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zh-CN" sz="1800" b="0" i="0" u="none" strike="noStrike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“treat each SCC like a node”</a:t>
            </a:r>
          </a:p>
          <a:p>
            <a:pPr algn="ctr"/>
            <a:endParaRPr lang="en-US" altLang="zh-CN" sz="1800" b="0" i="0" u="none" strike="noStrike" dirty="0">
              <a:solidFill>
                <a:srgbClr val="FFFF00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altLang="zh-CN" sz="1800" b="0" i="0" u="none" strike="noStrike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even if G might have cycles, if we SCC-</a:t>
            </a:r>
            <a:r>
              <a:rPr lang="en-US" altLang="zh-CN" sz="1800" b="0" i="0" u="none" strike="noStrike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ify</a:t>
            </a:r>
            <a:r>
              <a:rPr lang="en-US" altLang="zh-CN" sz="1800" b="0" i="0" u="none" strike="noStrike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 it, the resultant graph is a DAG</a:t>
            </a: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94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86AEC-97B6-7945-AFEF-7346D9F5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6C5472-7AD8-58F8-05FF-8A1F39C01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3645310" cy="459754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Returns the shortest paths from a source vertex to all other vertices</a:t>
                </a:r>
              </a:p>
              <a:p>
                <a:pPr lvl="1"/>
                <a:r>
                  <a:rPr lang="en-US" altLang="zh-CN" dirty="0"/>
                  <a:t>Does NOT work with negative edge weights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Runtime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err="1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dirty="0"/>
                  <a:t>using Fibonacci heap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6C5472-7AD8-58F8-05FF-8A1F39C01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3645310" cy="4597545"/>
              </a:xfrm>
              <a:blipFill>
                <a:blip r:embed="rId2"/>
                <a:stretch>
                  <a:fillRect l="-3015" t="-2387" r="-45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1975445-C51C-E5DA-AEC1-E3E8B0712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150" y="1925053"/>
            <a:ext cx="7618850" cy="373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225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D213EB6-7395-E774-D507-4F73A5BDD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393" y="2188791"/>
            <a:ext cx="7675607" cy="291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1FFC01-CCE4-AF68-EE73-B32831C0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Bellman-Ford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956CFF-14EF-3C83-1754-F88418BCA7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586345"/>
                <a:ext cx="3881284" cy="45975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Returns the shortest path from a source vertex to all other vertices</a:t>
                </a:r>
              </a:p>
              <a:p>
                <a:pPr lvl="1"/>
                <a:r>
                  <a:rPr lang="en-US" altLang="zh-CN" dirty="0"/>
                  <a:t>Works with negative edge weights</a:t>
                </a:r>
              </a:p>
              <a:p>
                <a:pPr lvl="1"/>
                <a:r>
                  <a:rPr lang="en-US" altLang="zh-CN" dirty="0"/>
                  <a:t>DP approach</a:t>
                </a:r>
              </a:p>
              <a:p>
                <a:pPr lvl="1"/>
                <a:r>
                  <a:rPr lang="en-US" altLang="zh-CN" dirty="0"/>
                  <a:t>Recurrence relation: shortest path that uses at most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edges</a:t>
                </a:r>
              </a:p>
              <a:p>
                <a:r>
                  <a:rPr lang="en-US" altLang="zh-CN" dirty="0"/>
                  <a:t>Runtime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956CFF-14EF-3C83-1754-F88418BCA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586345"/>
                <a:ext cx="3881284" cy="4597545"/>
              </a:xfrm>
              <a:blipFill>
                <a:blip r:embed="rId3"/>
                <a:stretch>
                  <a:fillRect l="-2830" t="-3050" r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763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112F0-9648-E5FB-E0B6-FC425408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Floyd-</a:t>
            </a:r>
            <a:r>
              <a:rPr lang="en-US" altLang="zh-CN" dirty="0" err="1"/>
              <a:t>Warshall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368374-C4A7-74BA-8946-9F784C5492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3901903" cy="4597545"/>
              </a:xfrm>
            </p:spPr>
            <p:txBody>
              <a:bodyPr/>
              <a:lstStyle/>
              <a:p>
                <a:r>
                  <a:rPr lang="en-US" altLang="zh-CN" dirty="0"/>
                  <a:t>Returns the shortest paths between all pairs of vertices</a:t>
                </a:r>
              </a:p>
              <a:p>
                <a:pPr lvl="1"/>
                <a:r>
                  <a:rPr lang="en-US" altLang="zh-CN" dirty="0"/>
                  <a:t>Works with negative edge weights</a:t>
                </a:r>
              </a:p>
              <a:p>
                <a:pPr lvl="1"/>
                <a:r>
                  <a:rPr lang="en-US" altLang="zh-CN" dirty="0"/>
                  <a:t>Subproblem at iteration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: ASAP when we are allowed to go through vertices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{1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Runtime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368374-C4A7-74BA-8946-9F784C549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3901903" cy="4597545"/>
              </a:xfrm>
              <a:blipFill>
                <a:blip r:embed="rId3"/>
                <a:stretch>
                  <a:fillRect l="-2813" t="-2387" r="-3750" b="-2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1472026A-8DF4-C19B-D134-0BD62E60D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103" y="1586345"/>
            <a:ext cx="7451897" cy="417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17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9EA2987-1790-B765-6BA1-C7EC56562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140" y="1462088"/>
            <a:ext cx="7444404" cy="459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B4A4F0D-1310-91B2-D37A-FD3FD6CE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85772D-E546-8087-6A61-F10AF83E09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3603171" cy="4597545"/>
              </a:xfrm>
            </p:spPr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Runtime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Using Fibonacci heap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85772D-E546-8087-6A61-F10AF83E09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3603171" cy="4597545"/>
              </a:xfrm>
              <a:blipFill>
                <a:blip r:embed="rId3"/>
                <a:stretch>
                  <a:fillRect l="-3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983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E7632-C05E-FA7D-D560-43B3E602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FC4BA-2D8E-F710-8191-AB043782D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4386943" cy="4597545"/>
              </a:xfrm>
            </p:spPr>
            <p:txBody>
              <a:bodyPr/>
              <a:lstStyle/>
              <a:p>
                <a:r>
                  <a:rPr lang="en-US" altLang="zh-CN" dirty="0"/>
                  <a:t>Runtime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using the data structure union-find </a:t>
                </a:r>
              </a:p>
              <a:p>
                <a:pPr lvl="1"/>
                <a:r>
                  <a:rPr lang="en-US" altLang="zh-CN" dirty="0"/>
                  <a:t>Reduce to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if you can edge weights are sorted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Union-find</a:t>
                </a:r>
              </a:p>
              <a:p>
                <a:pPr lvl="1"/>
                <a:r>
                  <a:rPr lang="en-US" altLang="zh-CN" dirty="0" err="1"/>
                  <a:t>makeSet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union</a:t>
                </a:r>
              </a:p>
              <a:p>
                <a:pPr lvl="1"/>
                <a:r>
                  <a:rPr lang="en-US" altLang="zh-CN" dirty="0"/>
                  <a:t>find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FC4BA-2D8E-F710-8191-AB043782D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4386943" cy="4597545"/>
              </a:xfrm>
              <a:blipFill>
                <a:blip r:embed="rId2"/>
                <a:stretch>
                  <a:fillRect l="-2503" t="-2387" r="-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D0C17B72-7777-8FC8-82B4-8B03EF08E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486" y="1976861"/>
            <a:ext cx="5995988" cy="381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959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137AF-32E9-C3F1-DC99-A8518A78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Max Flow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2AF989-A238-0400-7FD2-FB8D0C65F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35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85E83CB-F1FC-AA04-747A-941CA67E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Max Flow</a:t>
            </a:r>
            <a:br>
              <a:rPr lang="en-US" altLang="zh-CN" dirty="0"/>
            </a:br>
            <a:r>
              <a:rPr lang="en-US" altLang="zh-CN" sz="2800" dirty="0"/>
              <a:t>A flow of maximum value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16E0C61-BF8D-07D1-15C0-0E3254DE7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Flow</a:t>
            </a:r>
          </a:p>
          <a:p>
            <a:pPr lvl="1"/>
            <a:r>
              <a:rPr lang="en-US" altLang="zh-CN" dirty="0"/>
              <a:t>Each edge has a flow, less than its capacity</a:t>
            </a:r>
          </a:p>
          <a:p>
            <a:pPr lvl="1"/>
            <a:r>
              <a:rPr lang="en-US" altLang="zh-CN" dirty="0"/>
              <a:t>At each vertex, other than s, t, the incoming flows must equal the outgoing flows.</a:t>
            </a:r>
          </a:p>
          <a:p>
            <a:pPr lvl="1"/>
            <a:r>
              <a:rPr lang="en-US" altLang="zh-CN" dirty="0"/>
              <a:t>Value: the amount of stuff coming out of s </a:t>
            </a:r>
            <a:r>
              <a:rPr lang="en-US" altLang="zh-CN" sz="2000" dirty="0"/>
              <a:t>(the amount of stuff flowing into t)</a:t>
            </a:r>
            <a:endParaRPr lang="zh-CN" altLang="en-US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4BB68EC1-9985-7014-8800-15FA15C0996C}"/>
              </a:ext>
            </a:extLst>
          </p:cNvPr>
          <p:cNvGrpSpPr/>
          <p:nvPr/>
        </p:nvGrpSpPr>
        <p:grpSpPr>
          <a:xfrm>
            <a:off x="2194253" y="3437728"/>
            <a:ext cx="7803494" cy="3496472"/>
            <a:chOff x="658100" y="2891791"/>
            <a:chExt cx="7803494" cy="3496472"/>
          </a:xfrm>
        </p:grpSpPr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AFC23770-35C3-C9FB-8D56-AC992A10F380}"/>
                </a:ext>
              </a:extLst>
            </p:cNvPr>
            <p:cNvSpPr/>
            <p:nvPr/>
          </p:nvSpPr>
          <p:spPr>
            <a:xfrm>
              <a:off x="7893183" y="4371090"/>
              <a:ext cx="568411" cy="568411"/>
            </a:xfrm>
            <a:prstGeom prst="ellipse">
              <a:avLst/>
            </a:prstGeom>
            <a:solidFill>
              <a:srgbClr val="005B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t</a:t>
              </a:r>
            </a:p>
          </p:txBody>
        </p:sp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DE880F6D-0912-18A4-4C05-8CDEF5D944A0}"/>
                </a:ext>
              </a:extLst>
            </p:cNvPr>
            <p:cNvSpPr/>
            <p:nvPr/>
          </p:nvSpPr>
          <p:spPr>
            <a:xfrm>
              <a:off x="658100" y="4371092"/>
              <a:ext cx="568411" cy="568411"/>
            </a:xfrm>
            <a:prstGeom prst="ellipse">
              <a:avLst/>
            </a:prstGeom>
            <a:solidFill>
              <a:srgbClr val="F27D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48F85499-842B-9B15-1BBA-0AFD3128DFEC}"/>
                </a:ext>
              </a:extLst>
            </p:cNvPr>
            <p:cNvSpPr/>
            <p:nvPr/>
          </p:nvSpPr>
          <p:spPr>
            <a:xfrm>
              <a:off x="2713440" y="3064796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Oval 7">
              <a:extLst>
                <a:ext uri="{FF2B5EF4-FFF2-40B4-BE49-F238E27FC236}">
                  <a16:creationId xmlns:a16="http://schemas.microsoft.com/office/drawing/2014/main" id="{90A9F2C5-BE3E-7629-50AF-55C3D37B9FD5}"/>
                </a:ext>
              </a:extLst>
            </p:cNvPr>
            <p:cNvSpPr/>
            <p:nvPr/>
          </p:nvSpPr>
          <p:spPr>
            <a:xfrm>
              <a:off x="2713439" y="4371091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A002598F-75C3-F9D7-0C10-EEE38CC706C3}"/>
                </a:ext>
              </a:extLst>
            </p:cNvPr>
            <p:cNvSpPr/>
            <p:nvPr/>
          </p:nvSpPr>
          <p:spPr>
            <a:xfrm>
              <a:off x="2713438" y="5677386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Oval 9">
              <a:extLst>
                <a:ext uri="{FF2B5EF4-FFF2-40B4-BE49-F238E27FC236}">
                  <a16:creationId xmlns:a16="http://schemas.microsoft.com/office/drawing/2014/main" id="{BB50499F-EEA2-0A80-BEA5-6A6701F5A8C0}"/>
                </a:ext>
              </a:extLst>
            </p:cNvPr>
            <p:cNvSpPr/>
            <p:nvPr/>
          </p:nvSpPr>
          <p:spPr>
            <a:xfrm>
              <a:off x="5871722" y="4371091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Oval 10">
              <a:extLst>
                <a:ext uri="{FF2B5EF4-FFF2-40B4-BE49-F238E27FC236}">
                  <a16:creationId xmlns:a16="http://schemas.microsoft.com/office/drawing/2014/main" id="{DEA963DB-0DC6-E952-5760-DA6A4BA8CE61}"/>
                </a:ext>
              </a:extLst>
            </p:cNvPr>
            <p:cNvSpPr/>
            <p:nvPr/>
          </p:nvSpPr>
          <p:spPr>
            <a:xfrm>
              <a:off x="5871722" y="3064795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Oval 11">
              <a:extLst>
                <a:ext uri="{FF2B5EF4-FFF2-40B4-BE49-F238E27FC236}">
                  <a16:creationId xmlns:a16="http://schemas.microsoft.com/office/drawing/2014/main" id="{C9ADCBCC-EB8B-1334-E86A-237F431D3769}"/>
                </a:ext>
              </a:extLst>
            </p:cNvPr>
            <p:cNvSpPr/>
            <p:nvPr/>
          </p:nvSpPr>
          <p:spPr>
            <a:xfrm>
              <a:off x="5871722" y="5677386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6" name="Straight Arrow Connector 12">
              <a:extLst>
                <a:ext uri="{FF2B5EF4-FFF2-40B4-BE49-F238E27FC236}">
                  <a16:creationId xmlns:a16="http://schemas.microsoft.com/office/drawing/2014/main" id="{284422AE-7211-EC86-5A5A-3546DB7C07E2}"/>
                </a:ext>
              </a:extLst>
            </p:cNvPr>
            <p:cNvCxnSpPr>
              <a:stCxn id="45" idx="5"/>
              <a:endCxn id="48" idx="2"/>
            </p:cNvCxnSpPr>
            <p:nvPr/>
          </p:nvCxnSpPr>
          <p:spPr>
            <a:xfrm>
              <a:off x="1143269" y="4856261"/>
              <a:ext cx="1570169" cy="1105331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3">
              <a:extLst>
                <a:ext uri="{FF2B5EF4-FFF2-40B4-BE49-F238E27FC236}">
                  <a16:creationId xmlns:a16="http://schemas.microsoft.com/office/drawing/2014/main" id="{0FA94E87-F66F-0912-A78A-C6D2A63F3FF1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 flipV="1">
              <a:off x="1226511" y="4655297"/>
              <a:ext cx="1486928" cy="1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14">
              <a:extLst>
                <a:ext uri="{FF2B5EF4-FFF2-40B4-BE49-F238E27FC236}">
                  <a16:creationId xmlns:a16="http://schemas.microsoft.com/office/drawing/2014/main" id="{5B8C29C9-20F6-7EF4-38D8-696EDB62F178}"/>
                </a:ext>
              </a:extLst>
            </p:cNvPr>
            <p:cNvCxnSpPr>
              <a:stCxn id="45" idx="7"/>
              <a:endCxn id="46" idx="2"/>
            </p:cNvCxnSpPr>
            <p:nvPr/>
          </p:nvCxnSpPr>
          <p:spPr>
            <a:xfrm flipV="1">
              <a:off x="1143269" y="3349002"/>
              <a:ext cx="1570171" cy="1105332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15">
              <a:extLst>
                <a:ext uri="{FF2B5EF4-FFF2-40B4-BE49-F238E27FC236}">
                  <a16:creationId xmlns:a16="http://schemas.microsoft.com/office/drawing/2014/main" id="{68B39EC8-A467-E9A5-1BDD-35B10188C944}"/>
                </a:ext>
              </a:extLst>
            </p:cNvPr>
            <p:cNvCxnSpPr>
              <a:stCxn id="46" idx="4"/>
              <a:endCxn id="47" idx="0"/>
            </p:cNvCxnSpPr>
            <p:nvPr/>
          </p:nvCxnSpPr>
          <p:spPr>
            <a:xfrm flipH="1">
              <a:off x="2997645" y="3633207"/>
              <a:ext cx="1" cy="737884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16">
              <a:extLst>
                <a:ext uri="{FF2B5EF4-FFF2-40B4-BE49-F238E27FC236}">
                  <a16:creationId xmlns:a16="http://schemas.microsoft.com/office/drawing/2014/main" id="{54701581-17CB-EC98-B810-9D4176617139}"/>
                </a:ext>
              </a:extLst>
            </p:cNvPr>
            <p:cNvCxnSpPr>
              <a:stCxn id="47" idx="4"/>
              <a:endCxn id="48" idx="0"/>
            </p:cNvCxnSpPr>
            <p:nvPr/>
          </p:nvCxnSpPr>
          <p:spPr>
            <a:xfrm flipH="1">
              <a:off x="2997644" y="4939502"/>
              <a:ext cx="1" cy="737884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17">
              <a:extLst>
                <a:ext uri="{FF2B5EF4-FFF2-40B4-BE49-F238E27FC236}">
                  <a16:creationId xmlns:a16="http://schemas.microsoft.com/office/drawing/2014/main" id="{C8C99F2C-AEC5-AA8B-9C1B-363C3872F5AC}"/>
                </a:ext>
              </a:extLst>
            </p:cNvPr>
            <p:cNvCxnSpPr>
              <a:stCxn id="51" idx="1"/>
              <a:endCxn id="47" idx="5"/>
            </p:cNvCxnSpPr>
            <p:nvPr/>
          </p:nvCxnSpPr>
          <p:spPr>
            <a:xfrm flipH="1" flipV="1">
              <a:off x="3198608" y="4856260"/>
              <a:ext cx="2756356" cy="904368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18">
              <a:extLst>
                <a:ext uri="{FF2B5EF4-FFF2-40B4-BE49-F238E27FC236}">
                  <a16:creationId xmlns:a16="http://schemas.microsoft.com/office/drawing/2014/main" id="{536C9ECF-89D7-719D-2B36-816B757DD0D6}"/>
                </a:ext>
              </a:extLst>
            </p:cNvPr>
            <p:cNvCxnSpPr>
              <a:stCxn id="46" idx="5"/>
              <a:endCxn id="49" idx="1"/>
            </p:cNvCxnSpPr>
            <p:nvPr/>
          </p:nvCxnSpPr>
          <p:spPr>
            <a:xfrm>
              <a:off x="3198609" y="3549965"/>
              <a:ext cx="2756355" cy="904368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19">
              <a:extLst>
                <a:ext uri="{FF2B5EF4-FFF2-40B4-BE49-F238E27FC236}">
                  <a16:creationId xmlns:a16="http://schemas.microsoft.com/office/drawing/2014/main" id="{8EAF016B-A157-99BA-C943-C80FD58FB8A4}"/>
                </a:ext>
              </a:extLst>
            </p:cNvPr>
            <p:cNvCxnSpPr>
              <a:stCxn id="46" idx="6"/>
              <a:endCxn id="50" idx="2"/>
            </p:cNvCxnSpPr>
            <p:nvPr/>
          </p:nvCxnSpPr>
          <p:spPr>
            <a:xfrm flipV="1">
              <a:off x="3281851" y="3349001"/>
              <a:ext cx="2589871" cy="1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20">
              <a:extLst>
                <a:ext uri="{FF2B5EF4-FFF2-40B4-BE49-F238E27FC236}">
                  <a16:creationId xmlns:a16="http://schemas.microsoft.com/office/drawing/2014/main" id="{ED94071E-6FC4-CA12-9DD7-A54765D8760D}"/>
                </a:ext>
              </a:extLst>
            </p:cNvPr>
            <p:cNvCxnSpPr>
              <a:stCxn id="47" idx="6"/>
              <a:endCxn id="49" idx="2"/>
            </p:cNvCxnSpPr>
            <p:nvPr/>
          </p:nvCxnSpPr>
          <p:spPr>
            <a:xfrm>
              <a:off x="3281850" y="4655297"/>
              <a:ext cx="2589872" cy="0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21">
              <a:extLst>
                <a:ext uri="{FF2B5EF4-FFF2-40B4-BE49-F238E27FC236}">
                  <a16:creationId xmlns:a16="http://schemas.microsoft.com/office/drawing/2014/main" id="{4CDCDAA0-1660-C858-0D4C-6096AB497C78}"/>
                </a:ext>
              </a:extLst>
            </p:cNvPr>
            <p:cNvCxnSpPr>
              <a:stCxn id="48" idx="6"/>
              <a:endCxn id="51" idx="2"/>
            </p:cNvCxnSpPr>
            <p:nvPr/>
          </p:nvCxnSpPr>
          <p:spPr>
            <a:xfrm>
              <a:off x="3281849" y="5961592"/>
              <a:ext cx="2589873" cy="0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22">
              <a:extLst>
                <a:ext uri="{FF2B5EF4-FFF2-40B4-BE49-F238E27FC236}">
                  <a16:creationId xmlns:a16="http://schemas.microsoft.com/office/drawing/2014/main" id="{78CB3BE0-7E5C-7619-DD54-AC4D9E419D75}"/>
                </a:ext>
              </a:extLst>
            </p:cNvPr>
            <p:cNvCxnSpPr>
              <a:stCxn id="50" idx="4"/>
              <a:endCxn id="49" idx="0"/>
            </p:cNvCxnSpPr>
            <p:nvPr/>
          </p:nvCxnSpPr>
          <p:spPr>
            <a:xfrm>
              <a:off x="6155928" y="3633206"/>
              <a:ext cx="0" cy="737885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23">
              <a:extLst>
                <a:ext uri="{FF2B5EF4-FFF2-40B4-BE49-F238E27FC236}">
                  <a16:creationId xmlns:a16="http://schemas.microsoft.com/office/drawing/2014/main" id="{32EF757C-C66E-1F9F-BAF3-745DDB2E718E}"/>
                </a:ext>
              </a:extLst>
            </p:cNvPr>
            <p:cNvCxnSpPr>
              <a:stCxn id="49" idx="4"/>
              <a:endCxn id="51" idx="0"/>
            </p:cNvCxnSpPr>
            <p:nvPr/>
          </p:nvCxnSpPr>
          <p:spPr>
            <a:xfrm>
              <a:off x="6155928" y="4939502"/>
              <a:ext cx="0" cy="737884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24">
              <a:extLst>
                <a:ext uri="{FF2B5EF4-FFF2-40B4-BE49-F238E27FC236}">
                  <a16:creationId xmlns:a16="http://schemas.microsoft.com/office/drawing/2014/main" id="{7FF3232E-E8E3-8F1C-98F8-3FA429726108}"/>
                </a:ext>
              </a:extLst>
            </p:cNvPr>
            <p:cNvCxnSpPr>
              <a:stCxn id="50" idx="6"/>
              <a:endCxn id="20" idx="1"/>
            </p:cNvCxnSpPr>
            <p:nvPr/>
          </p:nvCxnSpPr>
          <p:spPr>
            <a:xfrm>
              <a:off x="6440133" y="3349001"/>
              <a:ext cx="1536292" cy="1105331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25">
              <a:extLst>
                <a:ext uri="{FF2B5EF4-FFF2-40B4-BE49-F238E27FC236}">
                  <a16:creationId xmlns:a16="http://schemas.microsoft.com/office/drawing/2014/main" id="{DE72509A-15C6-890E-4AD4-80FAC5CA6527}"/>
                </a:ext>
              </a:extLst>
            </p:cNvPr>
            <p:cNvCxnSpPr>
              <a:stCxn id="49" idx="6"/>
              <a:endCxn id="20" idx="2"/>
            </p:cNvCxnSpPr>
            <p:nvPr/>
          </p:nvCxnSpPr>
          <p:spPr>
            <a:xfrm flipV="1">
              <a:off x="6440133" y="4655296"/>
              <a:ext cx="1453050" cy="1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26">
              <a:extLst>
                <a:ext uri="{FF2B5EF4-FFF2-40B4-BE49-F238E27FC236}">
                  <a16:creationId xmlns:a16="http://schemas.microsoft.com/office/drawing/2014/main" id="{46C43EF8-A187-16A1-374B-1A9026A7C429}"/>
                </a:ext>
              </a:extLst>
            </p:cNvPr>
            <p:cNvCxnSpPr>
              <a:stCxn id="51" idx="6"/>
              <a:endCxn id="20" idx="3"/>
            </p:cNvCxnSpPr>
            <p:nvPr/>
          </p:nvCxnSpPr>
          <p:spPr>
            <a:xfrm flipV="1">
              <a:off x="6440133" y="4856259"/>
              <a:ext cx="1536292" cy="1105333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27">
              <a:extLst>
                <a:ext uri="{FF2B5EF4-FFF2-40B4-BE49-F238E27FC236}">
                  <a16:creationId xmlns:a16="http://schemas.microsoft.com/office/drawing/2014/main" id="{66CB2814-741A-A0BF-7988-32762EB61FC7}"/>
                </a:ext>
              </a:extLst>
            </p:cNvPr>
            <p:cNvSpPr txBox="1"/>
            <p:nvPr/>
          </p:nvSpPr>
          <p:spPr>
            <a:xfrm>
              <a:off x="1567422" y="3555091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4</a:t>
              </a:r>
            </a:p>
          </p:txBody>
        </p:sp>
        <p:sp>
          <p:nvSpPr>
            <p:cNvPr id="42" name="TextBox 28">
              <a:extLst>
                <a:ext uri="{FF2B5EF4-FFF2-40B4-BE49-F238E27FC236}">
                  <a16:creationId xmlns:a16="http://schemas.microsoft.com/office/drawing/2014/main" id="{23B6CE82-CE62-9FF8-6F41-926A58303783}"/>
                </a:ext>
              </a:extLst>
            </p:cNvPr>
            <p:cNvSpPr txBox="1"/>
            <p:nvPr/>
          </p:nvSpPr>
          <p:spPr>
            <a:xfrm>
              <a:off x="1834224" y="4241881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2</a:t>
              </a:r>
            </a:p>
          </p:txBody>
        </p:sp>
        <p:sp>
          <p:nvSpPr>
            <p:cNvPr id="43" name="TextBox 29">
              <a:extLst>
                <a:ext uri="{FF2B5EF4-FFF2-40B4-BE49-F238E27FC236}">
                  <a16:creationId xmlns:a16="http://schemas.microsoft.com/office/drawing/2014/main" id="{E96BEE9C-BFF0-4D8B-848A-79A91393E593}"/>
                </a:ext>
              </a:extLst>
            </p:cNvPr>
            <p:cNvSpPr txBox="1"/>
            <p:nvPr/>
          </p:nvSpPr>
          <p:spPr>
            <a:xfrm>
              <a:off x="1545464" y="5357406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6</a:t>
              </a:r>
            </a:p>
          </p:txBody>
        </p:sp>
        <p:sp>
          <p:nvSpPr>
            <p:cNvPr id="44" name="TextBox 30">
              <a:extLst>
                <a:ext uri="{FF2B5EF4-FFF2-40B4-BE49-F238E27FC236}">
                  <a16:creationId xmlns:a16="http://schemas.microsoft.com/office/drawing/2014/main" id="{D1338395-D02A-2CC7-DEDB-63C307800388}"/>
                </a:ext>
              </a:extLst>
            </p:cNvPr>
            <p:cNvSpPr txBox="1"/>
            <p:nvPr/>
          </p:nvSpPr>
          <p:spPr>
            <a:xfrm>
              <a:off x="3974496" y="2891791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3</a:t>
              </a:r>
            </a:p>
          </p:txBody>
        </p:sp>
        <p:sp>
          <p:nvSpPr>
            <p:cNvPr id="45" name="TextBox 31">
              <a:extLst>
                <a:ext uri="{FF2B5EF4-FFF2-40B4-BE49-F238E27FC236}">
                  <a16:creationId xmlns:a16="http://schemas.microsoft.com/office/drawing/2014/main" id="{DB0F03D0-0A5C-648C-BD71-62136901BFF4}"/>
                </a:ext>
              </a:extLst>
            </p:cNvPr>
            <p:cNvSpPr txBox="1"/>
            <p:nvPr/>
          </p:nvSpPr>
          <p:spPr>
            <a:xfrm>
              <a:off x="3897680" y="3846775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6</a:t>
              </a:r>
            </a:p>
          </p:txBody>
        </p:sp>
        <p:sp>
          <p:nvSpPr>
            <p:cNvPr id="46" name="TextBox 32">
              <a:extLst>
                <a:ext uri="{FF2B5EF4-FFF2-40B4-BE49-F238E27FC236}">
                  <a16:creationId xmlns:a16="http://schemas.microsoft.com/office/drawing/2014/main" id="{232053E3-5938-60C9-03E9-4DAE2D6090F1}"/>
                </a:ext>
              </a:extLst>
            </p:cNvPr>
            <p:cNvSpPr txBox="1"/>
            <p:nvPr/>
          </p:nvSpPr>
          <p:spPr>
            <a:xfrm>
              <a:off x="4852958" y="4625427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3</a:t>
              </a:r>
            </a:p>
          </p:txBody>
        </p:sp>
        <p:sp>
          <p:nvSpPr>
            <p:cNvPr id="47" name="TextBox 33">
              <a:extLst>
                <a:ext uri="{FF2B5EF4-FFF2-40B4-BE49-F238E27FC236}">
                  <a16:creationId xmlns:a16="http://schemas.microsoft.com/office/drawing/2014/main" id="{AF501130-2E1C-00FE-BF29-6343930482AE}"/>
                </a:ext>
              </a:extLst>
            </p:cNvPr>
            <p:cNvSpPr txBox="1"/>
            <p:nvPr/>
          </p:nvSpPr>
          <p:spPr>
            <a:xfrm>
              <a:off x="4066645" y="5178093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3</a:t>
              </a:r>
            </a:p>
          </p:txBody>
        </p:sp>
        <p:sp>
          <p:nvSpPr>
            <p:cNvPr id="48" name="TextBox 34">
              <a:extLst>
                <a:ext uri="{FF2B5EF4-FFF2-40B4-BE49-F238E27FC236}">
                  <a16:creationId xmlns:a16="http://schemas.microsoft.com/office/drawing/2014/main" id="{88A57900-4BEE-DD1D-E50F-303B59DD8816}"/>
                </a:ext>
              </a:extLst>
            </p:cNvPr>
            <p:cNvSpPr txBox="1"/>
            <p:nvPr/>
          </p:nvSpPr>
          <p:spPr>
            <a:xfrm>
              <a:off x="4275640" y="592659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10</a:t>
              </a:r>
            </a:p>
          </p:txBody>
        </p:sp>
        <p:sp>
          <p:nvSpPr>
            <p:cNvPr id="49" name="TextBox 35">
              <a:extLst>
                <a:ext uri="{FF2B5EF4-FFF2-40B4-BE49-F238E27FC236}">
                  <a16:creationId xmlns:a16="http://schemas.microsoft.com/office/drawing/2014/main" id="{204B4E55-4D7C-AF7D-FD84-93759EED26E6}"/>
                </a:ext>
              </a:extLst>
            </p:cNvPr>
            <p:cNvSpPr txBox="1"/>
            <p:nvPr/>
          </p:nvSpPr>
          <p:spPr>
            <a:xfrm>
              <a:off x="7231856" y="529383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4</a:t>
              </a:r>
            </a:p>
          </p:txBody>
        </p:sp>
        <p:sp>
          <p:nvSpPr>
            <p:cNvPr id="50" name="TextBox 36">
              <a:extLst>
                <a:ext uri="{FF2B5EF4-FFF2-40B4-BE49-F238E27FC236}">
                  <a16:creationId xmlns:a16="http://schemas.microsoft.com/office/drawing/2014/main" id="{160B6A8A-9052-CD59-CFFD-D2958F12B568}"/>
                </a:ext>
              </a:extLst>
            </p:cNvPr>
            <p:cNvSpPr txBox="1"/>
            <p:nvPr/>
          </p:nvSpPr>
          <p:spPr>
            <a:xfrm>
              <a:off x="6725210" y="4194633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4</a:t>
              </a:r>
            </a:p>
          </p:txBody>
        </p:sp>
        <p:sp>
          <p:nvSpPr>
            <p:cNvPr id="51" name="TextBox 37">
              <a:extLst>
                <a:ext uri="{FF2B5EF4-FFF2-40B4-BE49-F238E27FC236}">
                  <a16:creationId xmlns:a16="http://schemas.microsoft.com/office/drawing/2014/main" id="{2247FA72-8C6E-9327-B627-4163F504F1E2}"/>
                </a:ext>
              </a:extLst>
            </p:cNvPr>
            <p:cNvSpPr txBox="1"/>
            <p:nvPr/>
          </p:nvSpPr>
          <p:spPr>
            <a:xfrm>
              <a:off x="6951083" y="332425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4</a:t>
              </a:r>
            </a:p>
          </p:txBody>
        </p:sp>
        <p:sp>
          <p:nvSpPr>
            <p:cNvPr id="52" name="TextBox 38">
              <a:extLst>
                <a:ext uri="{FF2B5EF4-FFF2-40B4-BE49-F238E27FC236}">
                  <a16:creationId xmlns:a16="http://schemas.microsoft.com/office/drawing/2014/main" id="{55A3A181-7AEF-A4C3-E4A7-F4DB92E76D5E}"/>
                </a:ext>
              </a:extLst>
            </p:cNvPr>
            <p:cNvSpPr txBox="1"/>
            <p:nvPr/>
          </p:nvSpPr>
          <p:spPr>
            <a:xfrm>
              <a:off x="2480210" y="3716449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2</a:t>
              </a:r>
            </a:p>
          </p:txBody>
        </p:sp>
        <p:sp>
          <p:nvSpPr>
            <p:cNvPr id="53" name="TextBox 39">
              <a:extLst>
                <a:ext uri="{FF2B5EF4-FFF2-40B4-BE49-F238E27FC236}">
                  <a16:creationId xmlns:a16="http://schemas.microsoft.com/office/drawing/2014/main" id="{301741DF-59B8-6D09-C5EA-47B3F94E12CA}"/>
                </a:ext>
              </a:extLst>
            </p:cNvPr>
            <p:cNvSpPr txBox="1"/>
            <p:nvPr/>
          </p:nvSpPr>
          <p:spPr>
            <a:xfrm>
              <a:off x="2654058" y="5022744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2</a:t>
              </a:r>
            </a:p>
          </p:txBody>
        </p:sp>
        <p:sp>
          <p:nvSpPr>
            <p:cNvPr id="54" name="TextBox 40">
              <a:extLst>
                <a:ext uri="{FF2B5EF4-FFF2-40B4-BE49-F238E27FC236}">
                  <a16:creationId xmlns:a16="http://schemas.microsoft.com/office/drawing/2014/main" id="{557BE145-815B-D964-00C4-20D3BE85D19E}"/>
                </a:ext>
              </a:extLst>
            </p:cNvPr>
            <p:cNvSpPr txBox="1"/>
            <p:nvPr/>
          </p:nvSpPr>
          <p:spPr>
            <a:xfrm>
              <a:off x="5836728" y="364288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6</a:t>
              </a:r>
            </a:p>
          </p:txBody>
        </p:sp>
        <p:sp>
          <p:nvSpPr>
            <p:cNvPr id="55" name="TextBox 41">
              <a:extLst>
                <a:ext uri="{FF2B5EF4-FFF2-40B4-BE49-F238E27FC236}">
                  <a16:creationId xmlns:a16="http://schemas.microsoft.com/office/drawing/2014/main" id="{ACB41AC4-0946-ADEF-AA49-40CFC9594626}"/>
                </a:ext>
              </a:extLst>
            </p:cNvPr>
            <p:cNvSpPr txBox="1"/>
            <p:nvPr/>
          </p:nvSpPr>
          <p:spPr>
            <a:xfrm>
              <a:off x="5811754" y="501815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6</a:t>
              </a:r>
            </a:p>
          </p:txBody>
        </p:sp>
      </p:grpSp>
      <p:sp>
        <p:nvSpPr>
          <p:cNvPr id="7" name="Rounded Rectangle 43">
            <a:extLst>
              <a:ext uri="{FF2B5EF4-FFF2-40B4-BE49-F238E27FC236}">
                <a16:creationId xmlns:a16="http://schemas.microsoft.com/office/drawing/2014/main" id="{922F6403-D6D4-47B6-1D99-8C5C8C8217F3}"/>
              </a:ext>
            </a:extLst>
          </p:cNvPr>
          <p:cNvSpPr/>
          <p:nvPr/>
        </p:nvSpPr>
        <p:spPr>
          <a:xfrm>
            <a:off x="2877572" y="4445064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4</a:t>
            </a:r>
            <a:endParaRPr lang="en-US" dirty="0"/>
          </a:p>
        </p:txBody>
      </p:sp>
      <p:sp>
        <p:nvSpPr>
          <p:cNvPr id="8" name="Rounded Rectangle 44">
            <a:extLst>
              <a:ext uri="{FF2B5EF4-FFF2-40B4-BE49-F238E27FC236}">
                <a16:creationId xmlns:a16="http://schemas.microsoft.com/office/drawing/2014/main" id="{0465845B-4500-98C6-0AD8-2B0ADAADC7BB}"/>
              </a:ext>
            </a:extLst>
          </p:cNvPr>
          <p:cNvSpPr/>
          <p:nvPr/>
        </p:nvSpPr>
        <p:spPr>
          <a:xfrm>
            <a:off x="5863812" y="3685842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</a:t>
            </a:r>
          </a:p>
        </p:txBody>
      </p:sp>
      <p:sp>
        <p:nvSpPr>
          <p:cNvPr id="9" name="Rounded Rectangle 45">
            <a:extLst>
              <a:ext uri="{FF2B5EF4-FFF2-40B4-BE49-F238E27FC236}">
                <a16:creationId xmlns:a16="http://schemas.microsoft.com/office/drawing/2014/main" id="{65E15506-7D25-00ED-E3AC-ECD658E1D61B}"/>
              </a:ext>
            </a:extLst>
          </p:cNvPr>
          <p:cNvSpPr/>
          <p:nvPr/>
        </p:nvSpPr>
        <p:spPr>
          <a:xfrm>
            <a:off x="5802892" y="4310707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46">
            <a:extLst>
              <a:ext uri="{FF2B5EF4-FFF2-40B4-BE49-F238E27FC236}">
                <a16:creationId xmlns:a16="http://schemas.microsoft.com/office/drawing/2014/main" id="{540C31B5-1EA2-0BDB-8AA9-D4A0D2D541C1}"/>
              </a:ext>
            </a:extLst>
          </p:cNvPr>
          <p:cNvSpPr/>
          <p:nvPr/>
        </p:nvSpPr>
        <p:spPr>
          <a:xfrm>
            <a:off x="8044167" y="3880899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</a:t>
            </a:r>
          </a:p>
        </p:txBody>
      </p:sp>
      <p:sp>
        <p:nvSpPr>
          <p:cNvPr id="11" name="Rounded Rectangle 47">
            <a:extLst>
              <a:ext uri="{FF2B5EF4-FFF2-40B4-BE49-F238E27FC236}">
                <a16:creationId xmlns:a16="http://schemas.microsoft.com/office/drawing/2014/main" id="{7CEF2A96-320F-6B84-F283-8498110C9B75}"/>
              </a:ext>
            </a:extLst>
          </p:cNvPr>
          <p:cNvSpPr/>
          <p:nvPr/>
        </p:nvSpPr>
        <p:spPr>
          <a:xfrm>
            <a:off x="8602291" y="4984803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4</a:t>
            </a:r>
          </a:p>
        </p:txBody>
      </p:sp>
      <p:sp>
        <p:nvSpPr>
          <p:cNvPr id="12" name="Rounded Rectangle 51">
            <a:extLst>
              <a:ext uri="{FF2B5EF4-FFF2-40B4-BE49-F238E27FC236}">
                <a16:creationId xmlns:a16="http://schemas.microsoft.com/office/drawing/2014/main" id="{F6DE897E-6CEF-5150-418E-7991E8512B84}"/>
              </a:ext>
            </a:extLst>
          </p:cNvPr>
          <p:cNvSpPr/>
          <p:nvPr/>
        </p:nvSpPr>
        <p:spPr>
          <a:xfrm>
            <a:off x="5734977" y="4956896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</a:t>
            </a:r>
          </a:p>
        </p:txBody>
      </p:sp>
      <p:sp>
        <p:nvSpPr>
          <p:cNvPr id="13" name="Rounded Rectangle 54">
            <a:extLst>
              <a:ext uri="{FF2B5EF4-FFF2-40B4-BE49-F238E27FC236}">
                <a16:creationId xmlns:a16="http://schemas.microsoft.com/office/drawing/2014/main" id="{FA9585E4-055E-8FF4-9EFC-394412127416}"/>
              </a:ext>
            </a:extLst>
          </p:cNvPr>
          <p:cNvSpPr/>
          <p:nvPr/>
        </p:nvSpPr>
        <p:spPr>
          <a:xfrm>
            <a:off x="8200096" y="5984777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4</a:t>
            </a:r>
          </a:p>
        </p:txBody>
      </p:sp>
      <p:sp>
        <p:nvSpPr>
          <p:cNvPr id="14" name="Rounded Rectangle 55">
            <a:extLst>
              <a:ext uri="{FF2B5EF4-FFF2-40B4-BE49-F238E27FC236}">
                <a16:creationId xmlns:a16="http://schemas.microsoft.com/office/drawing/2014/main" id="{773A7ABA-3C25-18A7-95B9-60562AB756EB}"/>
              </a:ext>
            </a:extLst>
          </p:cNvPr>
          <p:cNvSpPr/>
          <p:nvPr/>
        </p:nvSpPr>
        <p:spPr>
          <a:xfrm>
            <a:off x="3006707" y="5565841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5</a:t>
            </a:r>
          </a:p>
        </p:txBody>
      </p:sp>
      <p:sp>
        <p:nvSpPr>
          <p:cNvPr id="15" name="Rounded Rectangle 56">
            <a:extLst>
              <a:ext uri="{FF2B5EF4-FFF2-40B4-BE49-F238E27FC236}">
                <a16:creationId xmlns:a16="http://schemas.microsoft.com/office/drawing/2014/main" id="{F7F67779-01D1-E98A-E26F-D6F33D791DD8}"/>
              </a:ext>
            </a:extLst>
          </p:cNvPr>
          <p:cNvSpPr/>
          <p:nvPr/>
        </p:nvSpPr>
        <p:spPr>
          <a:xfrm>
            <a:off x="5383687" y="6301440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5</a:t>
            </a:r>
          </a:p>
        </p:txBody>
      </p:sp>
      <p:sp>
        <p:nvSpPr>
          <p:cNvPr id="16" name="Rounded Rectangle 57">
            <a:extLst>
              <a:ext uri="{FF2B5EF4-FFF2-40B4-BE49-F238E27FC236}">
                <a16:creationId xmlns:a16="http://schemas.microsoft.com/office/drawing/2014/main" id="{49D6239E-C416-3016-EB45-09848C2EF23D}"/>
              </a:ext>
            </a:extLst>
          </p:cNvPr>
          <p:cNvSpPr/>
          <p:nvPr/>
        </p:nvSpPr>
        <p:spPr>
          <a:xfrm>
            <a:off x="6158855" y="5702425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1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:a16="http://schemas.microsoft.com/office/drawing/2014/main" id="{860B2228-3CAD-91EB-CAFD-CB8F6BFB561C}"/>
              </a:ext>
            </a:extLst>
          </p:cNvPr>
          <p:cNvSpPr/>
          <p:nvPr/>
        </p:nvSpPr>
        <p:spPr>
          <a:xfrm>
            <a:off x="2926153" y="5000361"/>
            <a:ext cx="402195" cy="401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6453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D1D6A3A-E577-2BB2-7B64-C4AA8997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Min Cut</a:t>
            </a:r>
            <a:br>
              <a:rPr lang="en-US" altLang="zh-CN" dirty="0"/>
            </a:br>
            <a:r>
              <a:rPr lang="en-US" altLang="zh-CN" sz="2400" dirty="0"/>
              <a:t>A minimum cut separating s from t</a:t>
            </a:r>
            <a:endParaRPr lang="zh-CN" altLang="en-US" sz="24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FF7FC68-7FA5-C849-2E1F-7BCBA10AD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cut separating s from t</a:t>
            </a:r>
          </a:p>
          <a:p>
            <a:pPr lvl="1"/>
            <a:r>
              <a:rPr lang="en-US" altLang="zh-CN" dirty="0"/>
              <a:t>An edge </a:t>
            </a:r>
            <a:r>
              <a:rPr lang="en-US" altLang="zh-CN" b="1" dirty="0"/>
              <a:t>crosses the cut </a:t>
            </a:r>
            <a:r>
              <a:rPr lang="en-US" altLang="zh-CN" dirty="0"/>
              <a:t>if it goes from s’s side to t’s side.</a:t>
            </a:r>
          </a:p>
          <a:p>
            <a:pPr lvl="1"/>
            <a:r>
              <a:rPr lang="en-US" altLang="zh-CN" dirty="0"/>
              <a:t>The </a:t>
            </a:r>
            <a:r>
              <a:rPr lang="en-US" altLang="zh-CN" b="1" dirty="0"/>
              <a:t>cost </a:t>
            </a:r>
            <a:r>
              <a:rPr lang="en-US" altLang="zh-CN" dirty="0"/>
              <a:t>(or capacity) of a cut is the sum of the capacities of the edges that cross the cut.</a:t>
            </a:r>
          </a:p>
          <a:p>
            <a:pPr lvl="1"/>
            <a:endParaRPr lang="zh-CN" altLang="en-US" dirty="0"/>
          </a:p>
        </p:txBody>
      </p:sp>
      <p:sp>
        <p:nvSpPr>
          <p:cNvPr id="93" name="Oval 5">
            <a:extLst>
              <a:ext uri="{FF2B5EF4-FFF2-40B4-BE49-F238E27FC236}">
                <a16:creationId xmlns:a16="http://schemas.microsoft.com/office/drawing/2014/main" id="{C455DC8E-0A47-D465-E382-DA98502EAA09}"/>
              </a:ext>
            </a:extLst>
          </p:cNvPr>
          <p:cNvSpPr/>
          <p:nvPr/>
        </p:nvSpPr>
        <p:spPr>
          <a:xfrm>
            <a:off x="9577545" y="4861025"/>
            <a:ext cx="568411" cy="568411"/>
          </a:xfrm>
          <a:prstGeom prst="ellipse">
            <a:avLst/>
          </a:prstGeom>
          <a:solidFill>
            <a:srgbClr val="005B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t</a:t>
            </a:r>
          </a:p>
        </p:txBody>
      </p:sp>
      <p:sp>
        <p:nvSpPr>
          <p:cNvPr id="94" name="Oval 6">
            <a:extLst>
              <a:ext uri="{FF2B5EF4-FFF2-40B4-BE49-F238E27FC236}">
                <a16:creationId xmlns:a16="http://schemas.microsoft.com/office/drawing/2014/main" id="{1AC83B92-E311-41F1-C810-B0840DFE9C03}"/>
              </a:ext>
            </a:extLst>
          </p:cNvPr>
          <p:cNvSpPr/>
          <p:nvPr/>
        </p:nvSpPr>
        <p:spPr>
          <a:xfrm>
            <a:off x="2342462" y="4861027"/>
            <a:ext cx="568411" cy="568411"/>
          </a:xfrm>
          <a:prstGeom prst="ellipse">
            <a:avLst/>
          </a:prstGeom>
          <a:solidFill>
            <a:schemeClr val="accent1"/>
          </a:solidFill>
          <a:ln>
            <a:solidFill>
              <a:srgbClr val="F27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95" name="Oval 7">
            <a:extLst>
              <a:ext uri="{FF2B5EF4-FFF2-40B4-BE49-F238E27FC236}">
                <a16:creationId xmlns:a16="http://schemas.microsoft.com/office/drawing/2014/main" id="{BC1C524B-127D-BA5C-F490-7307A2151EAA}"/>
              </a:ext>
            </a:extLst>
          </p:cNvPr>
          <p:cNvSpPr/>
          <p:nvPr/>
        </p:nvSpPr>
        <p:spPr>
          <a:xfrm>
            <a:off x="4397802" y="3554731"/>
            <a:ext cx="568411" cy="56841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6" name="Oval 8">
            <a:extLst>
              <a:ext uri="{FF2B5EF4-FFF2-40B4-BE49-F238E27FC236}">
                <a16:creationId xmlns:a16="http://schemas.microsoft.com/office/drawing/2014/main" id="{C86A4430-21CB-0B89-A778-7796B5196622}"/>
              </a:ext>
            </a:extLst>
          </p:cNvPr>
          <p:cNvSpPr/>
          <p:nvPr/>
        </p:nvSpPr>
        <p:spPr>
          <a:xfrm>
            <a:off x="4397801" y="4861026"/>
            <a:ext cx="568411" cy="56841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7" name="Oval 9">
            <a:extLst>
              <a:ext uri="{FF2B5EF4-FFF2-40B4-BE49-F238E27FC236}">
                <a16:creationId xmlns:a16="http://schemas.microsoft.com/office/drawing/2014/main" id="{9DAFF753-9C8A-C587-9DCB-7F2B79120469}"/>
              </a:ext>
            </a:extLst>
          </p:cNvPr>
          <p:cNvSpPr/>
          <p:nvPr/>
        </p:nvSpPr>
        <p:spPr>
          <a:xfrm>
            <a:off x="4397800" y="6167321"/>
            <a:ext cx="568411" cy="56841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8" name="Oval 10">
            <a:extLst>
              <a:ext uri="{FF2B5EF4-FFF2-40B4-BE49-F238E27FC236}">
                <a16:creationId xmlns:a16="http://schemas.microsoft.com/office/drawing/2014/main" id="{93185FA4-AA9F-89B1-5451-4BAA3DF271B7}"/>
              </a:ext>
            </a:extLst>
          </p:cNvPr>
          <p:cNvSpPr/>
          <p:nvPr/>
        </p:nvSpPr>
        <p:spPr>
          <a:xfrm>
            <a:off x="7556084" y="4861026"/>
            <a:ext cx="568411" cy="56841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9" name="Oval 11">
            <a:extLst>
              <a:ext uri="{FF2B5EF4-FFF2-40B4-BE49-F238E27FC236}">
                <a16:creationId xmlns:a16="http://schemas.microsoft.com/office/drawing/2014/main" id="{5C764E6D-6C01-87F9-F36C-3BB88BEC4027}"/>
              </a:ext>
            </a:extLst>
          </p:cNvPr>
          <p:cNvSpPr/>
          <p:nvPr/>
        </p:nvSpPr>
        <p:spPr>
          <a:xfrm>
            <a:off x="7556084" y="3554730"/>
            <a:ext cx="568411" cy="56841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0" name="Oval 12">
            <a:extLst>
              <a:ext uri="{FF2B5EF4-FFF2-40B4-BE49-F238E27FC236}">
                <a16:creationId xmlns:a16="http://schemas.microsoft.com/office/drawing/2014/main" id="{04431EE4-34D5-EF27-2F4B-33F78CDB4393}"/>
              </a:ext>
            </a:extLst>
          </p:cNvPr>
          <p:cNvSpPr/>
          <p:nvPr/>
        </p:nvSpPr>
        <p:spPr>
          <a:xfrm>
            <a:off x="7556084" y="6167321"/>
            <a:ext cx="568411" cy="56841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1" name="Straight Arrow Connector 13">
            <a:extLst>
              <a:ext uri="{FF2B5EF4-FFF2-40B4-BE49-F238E27FC236}">
                <a16:creationId xmlns:a16="http://schemas.microsoft.com/office/drawing/2014/main" id="{F3612960-1E0B-838D-A09E-6FA0CA47AD85}"/>
              </a:ext>
            </a:extLst>
          </p:cNvPr>
          <p:cNvCxnSpPr>
            <a:stCxn id="120" idx="5"/>
            <a:endCxn id="123" idx="2"/>
          </p:cNvCxnSpPr>
          <p:nvPr/>
        </p:nvCxnSpPr>
        <p:spPr>
          <a:xfrm>
            <a:off x="2827631" y="5346196"/>
            <a:ext cx="1570169" cy="1105331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4">
            <a:extLst>
              <a:ext uri="{FF2B5EF4-FFF2-40B4-BE49-F238E27FC236}">
                <a16:creationId xmlns:a16="http://schemas.microsoft.com/office/drawing/2014/main" id="{9D1D1D83-3ABC-1C27-2F7E-D2E5398754B5}"/>
              </a:ext>
            </a:extLst>
          </p:cNvPr>
          <p:cNvCxnSpPr>
            <a:stCxn id="120" idx="6"/>
            <a:endCxn id="122" idx="2"/>
          </p:cNvCxnSpPr>
          <p:nvPr/>
        </p:nvCxnSpPr>
        <p:spPr>
          <a:xfrm flipV="1">
            <a:off x="2910873" y="5145232"/>
            <a:ext cx="1486928" cy="1"/>
          </a:xfrm>
          <a:prstGeom prst="straightConnector1">
            <a:avLst/>
          </a:prstGeom>
          <a:ln w="44450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5">
            <a:extLst>
              <a:ext uri="{FF2B5EF4-FFF2-40B4-BE49-F238E27FC236}">
                <a16:creationId xmlns:a16="http://schemas.microsoft.com/office/drawing/2014/main" id="{D8908FE0-F01A-376F-73CA-68E254E76E4B}"/>
              </a:ext>
            </a:extLst>
          </p:cNvPr>
          <p:cNvCxnSpPr>
            <a:stCxn id="120" idx="7"/>
            <a:endCxn id="121" idx="2"/>
          </p:cNvCxnSpPr>
          <p:nvPr/>
        </p:nvCxnSpPr>
        <p:spPr>
          <a:xfrm flipV="1">
            <a:off x="2827631" y="3838937"/>
            <a:ext cx="1570171" cy="1105332"/>
          </a:xfrm>
          <a:prstGeom prst="straightConnector1">
            <a:avLst/>
          </a:prstGeom>
          <a:ln w="98425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6">
            <a:extLst>
              <a:ext uri="{FF2B5EF4-FFF2-40B4-BE49-F238E27FC236}">
                <a16:creationId xmlns:a16="http://schemas.microsoft.com/office/drawing/2014/main" id="{1F000C7A-0612-4211-5D8C-7E00486E20B8}"/>
              </a:ext>
            </a:extLst>
          </p:cNvPr>
          <p:cNvCxnSpPr>
            <a:stCxn id="121" idx="4"/>
            <a:endCxn id="122" idx="0"/>
          </p:cNvCxnSpPr>
          <p:nvPr/>
        </p:nvCxnSpPr>
        <p:spPr>
          <a:xfrm flipH="1">
            <a:off x="4682007" y="4123142"/>
            <a:ext cx="1" cy="737884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7">
            <a:extLst>
              <a:ext uri="{FF2B5EF4-FFF2-40B4-BE49-F238E27FC236}">
                <a16:creationId xmlns:a16="http://schemas.microsoft.com/office/drawing/2014/main" id="{14FA754E-E0CA-B410-9DC9-EB99928E7C7C}"/>
              </a:ext>
            </a:extLst>
          </p:cNvPr>
          <p:cNvCxnSpPr>
            <a:stCxn id="122" idx="4"/>
            <a:endCxn id="123" idx="0"/>
          </p:cNvCxnSpPr>
          <p:nvPr/>
        </p:nvCxnSpPr>
        <p:spPr>
          <a:xfrm flipH="1">
            <a:off x="4682006" y="5429437"/>
            <a:ext cx="1" cy="737884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8">
            <a:extLst>
              <a:ext uri="{FF2B5EF4-FFF2-40B4-BE49-F238E27FC236}">
                <a16:creationId xmlns:a16="http://schemas.microsoft.com/office/drawing/2014/main" id="{4BA95591-AF72-F06E-D7B4-6C32B47ECE44}"/>
              </a:ext>
            </a:extLst>
          </p:cNvPr>
          <p:cNvCxnSpPr>
            <a:stCxn id="126" idx="1"/>
            <a:endCxn id="122" idx="5"/>
          </p:cNvCxnSpPr>
          <p:nvPr/>
        </p:nvCxnSpPr>
        <p:spPr>
          <a:xfrm flipH="1" flipV="1">
            <a:off x="4882970" y="5346195"/>
            <a:ext cx="2756356" cy="904368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9">
            <a:extLst>
              <a:ext uri="{FF2B5EF4-FFF2-40B4-BE49-F238E27FC236}">
                <a16:creationId xmlns:a16="http://schemas.microsoft.com/office/drawing/2014/main" id="{E95EB129-DA87-3D7E-AC73-BAF316B285D1}"/>
              </a:ext>
            </a:extLst>
          </p:cNvPr>
          <p:cNvCxnSpPr>
            <a:stCxn id="121" idx="5"/>
            <a:endCxn id="124" idx="1"/>
          </p:cNvCxnSpPr>
          <p:nvPr/>
        </p:nvCxnSpPr>
        <p:spPr>
          <a:xfrm>
            <a:off x="4882971" y="4039900"/>
            <a:ext cx="2756355" cy="904368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20">
            <a:extLst>
              <a:ext uri="{FF2B5EF4-FFF2-40B4-BE49-F238E27FC236}">
                <a16:creationId xmlns:a16="http://schemas.microsoft.com/office/drawing/2014/main" id="{A71A2832-B049-B7F2-F549-BCD6D572C7A2}"/>
              </a:ext>
            </a:extLst>
          </p:cNvPr>
          <p:cNvCxnSpPr>
            <a:stCxn id="121" idx="6"/>
            <a:endCxn id="125" idx="2"/>
          </p:cNvCxnSpPr>
          <p:nvPr/>
        </p:nvCxnSpPr>
        <p:spPr>
          <a:xfrm flipV="1">
            <a:off x="4966213" y="3838936"/>
            <a:ext cx="2589871" cy="1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21">
            <a:extLst>
              <a:ext uri="{FF2B5EF4-FFF2-40B4-BE49-F238E27FC236}">
                <a16:creationId xmlns:a16="http://schemas.microsoft.com/office/drawing/2014/main" id="{33238817-F1BD-6044-4919-10CCEA66DEE0}"/>
              </a:ext>
            </a:extLst>
          </p:cNvPr>
          <p:cNvCxnSpPr>
            <a:stCxn id="122" idx="6"/>
            <a:endCxn id="124" idx="2"/>
          </p:cNvCxnSpPr>
          <p:nvPr/>
        </p:nvCxnSpPr>
        <p:spPr>
          <a:xfrm>
            <a:off x="4966212" y="5145232"/>
            <a:ext cx="2589872" cy="0"/>
          </a:xfrm>
          <a:prstGeom prst="straightConnector1">
            <a:avLst/>
          </a:prstGeom>
          <a:ln w="98425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22">
            <a:extLst>
              <a:ext uri="{FF2B5EF4-FFF2-40B4-BE49-F238E27FC236}">
                <a16:creationId xmlns:a16="http://schemas.microsoft.com/office/drawing/2014/main" id="{80E40041-62ED-5032-9656-33962C42CECA}"/>
              </a:ext>
            </a:extLst>
          </p:cNvPr>
          <p:cNvCxnSpPr>
            <a:stCxn id="123" idx="6"/>
            <a:endCxn id="126" idx="2"/>
          </p:cNvCxnSpPr>
          <p:nvPr/>
        </p:nvCxnSpPr>
        <p:spPr>
          <a:xfrm>
            <a:off x="4966211" y="6451527"/>
            <a:ext cx="2589873" cy="0"/>
          </a:xfrm>
          <a:prstGeom prst="straightConnector1">
            <a:avLst/>
          </a:prstGeom>
          <a:ln w="44450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23">
            <a:extLst>
              <a:ext uri="{FF2B5EF4-FFF2-40B4-BE49-F238E27FC236}">
                <a16:creationId xmlns:a16="http://schemas.microsoft.com/office/drawing/2014/main" id="{2E743F31-5659-78C5-2D67-0DFA82D9C9AF}"/>
              </a:ext>
            </a:extLst>
          </p:cNvPr>
          <p:cNvCxnSpPr>
            <a:stCxn id="125" idx="4"/>
            <a:endCxn id="124" idx="0"/>
          </p:cNvCxnSpPr>
          <p:nvPr/>
        </p:nvCxnSpPr>
        <p:spPr>
          <a:xfrm>
            <a:off x="7840290" y="4123141"/>
            <a:ext cx="0" cy="737885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24">
            <a:extLst>
              <a:ext uri="{FF2B5EF4-FFF2-40B4-BE49-F238E27FC236}">
                <a16:creationId xmlns:a16="http://schemas.microsoft.com/office/drawing/2014/main" id="{16DA0D43-869E-F0D9-5CA3-CB805D27DC80}"/>
              </a:ext>
            </a:extLst>
          </p:cNvPr>
          <p:cNvCxnSpPr>
            <a:stCxn id="124" idx="4"/>
            <a:endCxn id="126" idx="0"/>
          </p:cNvCxnSpPr>
          <p:nvPr/>
        </p:nvCxnSpPr>
        <p:spPr>
          <a:xfrm>
            <a:off x="7840290" y="5429437"/>
            <a:ext cx="0" cy="737884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25">
            <a:extLst>
              <a:ext uri="{FF2B5EF4-FFF2-40B4-BE49-F238E27FC236}">
                <a16:creationId xmlns:a16="http://schemas.microsoft.com/office/drawing/2014/main" id="{5369306D-402A-0386-5332-FE60676F4BB1}"/>
              </a:ext>
            </a:extLst>
          </p:cNvPr>
          <p:cNvCxnSpPr>
            <a:stCxn id="125" idx="6"/>
            <a:endCxn id="95" idx="1"/>
          </p:cNvCxnSpPr>
          <p:nvPr/>
        </p:nvCxnSpPr>
        <p:spPr>
          <a:xfrm>
            <a:off x="8124495" y="3838936"/>
            <a:ext cx="1536292" cy="1105331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26">
            <a:extLst>
              <a:ext uri="{FF2B5EF4-FFF2-40B4-BE49-F238E27FC236}">
                <a16:creationId xmlns:a16="http://schemas.microsoft.com/office/drawing/2014/main" id="{EF9B6EC4-352B-25E9-2EA6-BE782D57332A}"/>
              </a:ext>
            </a:extLst>
          </p:cNvPr>
          <p:cNvCxnSpPr>
            <a:stCxn id="124" idx="6"/>
            <a:endCxn id="95" idx="2"/>
          </p:cNvCxnSpPr>
          <p:nvPr/>
        </p:nvCxnSpPr>
        <p:spPr>
          <a:xfrm flipV="1">
            <a:off x="8124495" y="5145231"/>
            <a:ext cx="1453050" cy="1"/>
          </a:xfrm>
          <a:prstGeom prst="straightConnector1">
            <a:avLst/>
          </a:prstGeom>
          <a:ln w="5397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27">
            <a:extLst>
              <a:ext uri="{FF2B5EF4-FFF2-40B4-BE49-F238E27FC236}">
                <a16:creationId xmlns:a16="http://schemas.microsoft.com/office/drawing/2014/main" id="{512EA596-9E98-06CE-461A-243AFA818795}"/>
              </a:ext>
            </a:extLst>
          </p:cNvPr>
          <p:cNvCxnSpPr>
            <a:stCxn id="126" idx="6"/>
            <a:endCxn id="95" idx="3"/>
          </p:cNvCxnSpPr>
          <p:nvPr/>
        </p:nvCxnSpPr>
        <p:spPr>
          <a:xfrm flipV="1">
            <a:off x="8124495" y="5346194"/>
            <a:ext cx="1536292" cy="1105333"/>
          </a:xfrm>
          <a:prstGeom prst="straightConnector1">
            <a:avLst/>
          </a:prstGeom>
          <a:ln w="98425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28">
            <a:extLst>
              <a:ext uri="{FF2B5EF4-FFF2-40B4-BE49-F238E27FC236}">
                <a16:creationId xmlns:a16="http://schemas.microsoft.com/office/drawing/2014/main" id="{4BC397F6-236A-F0E5-3A42-DE63D04EB044}"/>
              </a:ext>
            </a:extLst>
          </p:cNvPr>
          <p:cNvSpPr txBox="1"/>
          <p:nvPr/>
        </p:nvSpPr>
        <p:spPr>
          <a:xfrm>
            <a:off x="3251784" y="4045026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4</a:t>
            </a:r>
          </a:p>
        </p:txBody>
      </p:sp>
      <p:sp>
        <p:nvSpPr>
          <p:cNvPr id="117" name="TextBox 29">
            <a:extLst>
              <a:ext uri="{FF2B5EF4-FFF2-40B4-BE49-F238E27FC236}">
                <a16:creationId xmlns:a16="http://schemas.microsoft.com/office/drawing/2014/main" id="{785ACC1D-1A72-B2BC-5515-B4B6AB258003}"/>
              </a:ext>
            </a:extLst>
          </p:cNvPr>
          <p:cNvSpPr txBox="1"/>
          <p:nvPr/>
        </p:nvSpPr>
        <p:spPr>
          <a:xfrm>
            <a:off x="3518586" y="4731816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2</a:t>
            </a:r>
          </a:p>
        </p:txBody>
      </p:sp>
      <p:sp>
        <p:nvSpPr>
          <p:cNvPr id="118" name="TextBox 30">
            <a:extLst>
              <a:ext uri="{FF2B5EF4-FFF2-40B4-BE49-F238E27FC236}">
                <a16:creationId xmlns:a16="http://schemas.microsoft.com/office/drawing/2014/main" id="{C6FD593D-F263-581A-9336-9D4A55003B06}"/>
              </a:ext>
            </a:extLst>
          </p:cNvPr>
          <p:cNvSpPr txBox="1"/>
          <p:nvPr/>
        </p:nvSpPr>
        <p:spPr>
          <a:xfrm>
            <a:off x="3229826" y="5847341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6</a:t>
            </a:r>
          </a:p>
        </p:txBody>
      </p:sp>
      <p:sp>
        <p:nvSpPr>
          <p:cNvPr id="119" name="TextBox 31">
            <a:extLst>
              <a:ext uri="{FF2B5EF4-FFF2-40B4-BE49-F238E27FC236}">
                <a16:creationId xmlns:a16="http://schemas.microsoft.com/office/drawing/2014/main" id="{D4E71098-842F-9B65-443E-214FFF1F355B}"/>
              </a:ext>
            </a:extLst>
          </p:cNvPr>
          <p:cNvSpPr txBox="1"/>
          <p:nvPr/>
        </p:nvSpPr>
        <p:spPr>
          <a:xfrm>
            <a:off x="5658858" y="3381726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3</a:t>
            </a:r>
          </a:p>
        </p:txBody>
      </p:sp>
      <p:sp>
        <p:nvSpPr>
          <p:cNvPr id="120" name="TextBox 32">
            <a:extLst>
              <a:ext uri="{FF2B5EF4-FFF2-40B4-BE49-F238E27FC236}">
                <a16:creationId xmlns:a16="http://schemas.microsoft.com/office/drawing/2014/main" id="{203A9458-58CE-0359-CCA4-EE0C7AB4A71B}"/>
              </a:ext>
            </a:extLst>
          </p:cNvPr>
          <p:cNvSpPr txBox="1"/>
          <p:nvPr/>
        </p:nvSpPr>
        <p:spPr>
          <a:xfrm>
            <a:off x="5582042" y="4336710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6</a:t>
            </a:r>
          </a:p>
        </p:txBody>
      </p:sp>
      <p:sp>
        <p:nvSpPr>
          <p:cNvPr id="121" name="TextBox 33">
            <a:extLst>
              <a:ext uri="{FF2B5EF4-FFF2-40B4-BE49-F238E27FC236}">
                <a16:creationId xmlns:a16="http://schemas.microsoft.com/office/drawing/2014/main" id="{A61492DC-8010-3F37-78B0-DE49D000E703}"/>
              </a:ext>
            </a:extLst>
          </p:cNvPr>
          <p:cNvSpPr txBox="1"/>
          <p:nvPr/>
        </p:nvSpPr>
        <p:spPr>
          <a:xfrm>
            <a:off x="6537320" y="5115362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3</a:t>
            </a:r>
          </a:p>
        </p:txBody>
      </p:sp>
      <p:sp>
        <p:nvSpPr>
          <p:cNvPr id="122" name="TextBox 34">
            <a:extLst>
              <a:ext uri="{FF2B5EF4-FFF2-40B4-BE49-F238E27FC236}">
                <a16:creationId xmlns:a16="http://schemas.microsoft.com/office/drawing/2014/main" id="{0A042ABA-1B08-53DC-2351-4367A476EE5E}"/>
              </a:ext>
            </a:extLst>
          </p:cNvPr>
          <p:cNvSpPr txBox="1"/>
          <p:nvPr/>
        </p:nvSpPr>
        <p:spPr>
          <a:xfrm>
            <a:off x="5751007" y="5668028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3</a:t>
            </a:r>
          </a:p>
        </p:txBody>
      </p:sp>
      <p:sp>
        <p:nvSpPr>
          <p:cNvPr id="123" name="TextBox 35">
            <a:extLst>
              <a:ext uri="{FF2B5EF4-FFF2-40B4-BE49-F238E27FC236}">
                <a16:creationId xmlns:a16="http://schemas.microsoft.com/office/drawing/2014/main" id="{64EAF83E-784B-FE97-B65F-5C9D54DD492A}"/>
              </a:ext>
            </a:extLst>
          </p:cNvPr>
          <p:cNvSpPr txBox="1"/>
          <p:nvPr/>
        </p:nvSpPr>
        <p:spPr>
          <a:xfrm>
            <a:off x="5960002" y="6416533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10</a:t>
            </a:r>
          </a:p>
        </p:txBody>
      </p:sp>
      <p:sp>
        <p:nvSpPr>
          <p:cNvPr id="124" name="TextBox 36">
            <a:extLst>
              <a:ext uri="{FF2B5EF4-FFF2-40B4-BE49-F238E27FC236}">
                <a16:creationId xmlns:a16="http://schemas.microsoft.com/office/drawing/2014/main" id="{07242044-3695-54CD-350D-43CDAAFCF30D}"/>
              </a:ext>
            </a:extLst>
          </p:cNvPr>
          <p:cNvSpPr txBox="1"/>
          <p:nvPr/>
        </p:nvSpPr>
        <p:spPr>
          <a:xfrm>
            <a:off x="8916218" y="5783773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4</a:t>
            </a:r>
          </a:p>
        </p:txBody>
      </p:sp>
      <p:sp>
        <p:nvSpPr>
          <p:cNvPr id="125" name="TextBox 37">
            <a:extLst>
              <a:ext uri="{FF2B5EF4-FFF2-40B4-BE49-F238E27FC236}">
                <a16:creationId xmlns:a16="http://schemas.microsoft.com/office/drawing/2014/main" id="{8731839E-564C-9A62-DCB6-089C5ED1DB6B}"/>
              </a:ext>
            </a:extLst>
          </p:cNvPr>
          <p:cNvSpPr txBox="1"/>
          <p:nvPr/>
        </p:nvSpPr>
        <p:spPr>
          <a:xfrm>
            <a:off x="8409572" y="4684568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4</a:t>
            </a:r>
          </a:p>
        </p:txBody>
      </p:sp>
      <p:sp>
        <p:nvSpPr>
          <p:cNvPr id="126" name="TextBox 38">
            <a:extLst>
              <a:ext uri="{FF2B5EF4-FFF2-40B4-BE49-F238E27FC236}">
                <a16:creationId xmlns:a16="http://schemas.microsoft.com/office/drawing/2014/main" id="{DAC54E05-46BC-2287-D95D-A4815956EBA2}"/>
              </a:ext>
            </a:extLst>
          </p:cNvPr>
          <p:cNvSpPr txBox="1"/>
          <p:nvPr/>
        </p:nvSpPr>
        <p:spPr>
          <a:xfrm>
            <a:off x="8635445" y="3814193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4</a:t>
            </a:r>
          </a:p>
        </p:txBody>
      </p:sp>
      <p:sp>
        <p:nvSpPr>
          <p:cNvPr id="127" name="TextBox 39">
            <a:extLst>
              <a:ext uri="{FF2B5EF4-FFF2-40B4-BE49-F238E27FC236}">
                <a16:creationId xmlns:a16="http://schemas.microsoft.com/office/drawing/2014/main" id="{61018C0C-DCC8-F3AF-7C6B-44077FAF696B}"/>
              </a:ext>
            </a:extLst>
          </p:cNvPr>
          <p:cNvSpPr txBox="1"/>
          <p:nvPr/>
        </p:nvSpPr>
        <p:spPr>
          <a:xfrm>
            <a:off x="4339242" y="4192653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2</a:t>
            </a:r>
          </a:p>
        </p:txBody>
      </p:sp>
      <p:sp>
        <p:nvSpPr>
          <p:cNvPr id="128" name="TextBox 40">
            <a:extLst>
              <a:ext uri="{FF2B5EF4-FFF2-40B4-BE49-F238E27FC236}">
                <a16:creationId xmlns:a16="http://schemas.microsoft.com/office/drawing/2014/main" id="{E40EDA59-C08F-7C01-5BC5-2EE43AE55954}"/>
              </a:ext>
            </a:extLst>
          </p:cNvPr>
          <p:cNvSpPr txBox="1"/>
          <p:nvPr/>
        </p:nvSpPr>
        <p:spPr>
          <a:xfrm>
            <a:off x="4338420" y="5512679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2</a:t>
            </a:r>
          </a:p>
        </p:txBody>
      </p:sp>
      <p:sp>
        <p:nvSpPr>
          <p:cNvPr id="129" name="TextBox 41">
            <a:extLst>
              <a:ext uri="{FF2B5EF4-FFF2-40B4-BE49-F238E27FC236}">
                <a16:creationId xmlns:a16="http://schemas.microsoft.com/office/drawing/2014/main" id="{72F86AD4-6592-1ADE-C2B7-81313AF193D7}"/>
              </a:ext>
            </a:extLst>
          </p:cNvPr>
          <p:cNvSpPr txBox="1"/>
          <p:nvPr/>
        </p:nvSpPr>
        <p:spPr>
          <a:xfrm>
            <a:off x="7521090" y="4132823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6</a:t>
            </a:r>
          </a:p>
        </p:txBody>
      </p:sp>
      <p:sp>
        <p:nvSpPr>
          <p:cNvPr id="130" name="TextBox 42">
            <a:extLst>
              <a:ext uri="{FF2B5EF4-FFF2-40B4-BE49-F238E27FC236}">
                <a16:creationId xmlns:a16="http://schemas.microsoft.com/office/drawing/2014/main" id="{A9CB6203-DEE6-57C0-0A3B-2B38B179B31A}"/>
              </a:ext>
            </a:extLst>
          </p:cNvPr>
          <p:cNvSpPr txBox="1"/>
          <p:nvPr/>
        </p:nvSpPr>
        <p:spPr>
          <a:xfrm>
            <a:off x="7496116" y="5508093"/>
            <a:ext cx="60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6</a:t>
            </a:r>
          </a:p>
        </p:txBody>
      </p:sp>
      <p:sp>
        <p:nvSpPr>
          <p:cNvPr id="91" name="TextBox 49">
            <a:extLst>
              <a:ext uri="{FF2B5EF4-FFF2-40B4-BE49-F238E27FC236}">
                <a16:creationId xmlns:a16="http://schemas.microsoft.com/office/drawing/2014/main" id="{0B729D58-C16A-8AF1-3F75-8F3AF8466767}"/>
              </a:ext>
            </a:extLst>
          </p:cNvPr>
          <p:cNvSpPr txBox="1"/>
          <p:nvPr/>
        </p:nvSpPr>
        <p:spPr>
          <a:xfrm>
            <a:off x="8892217" y="2963507"/>
            <a:ext cx="2161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F6E6C"/>
                </a:solidFill>
              </a:rPr>
              <a:t>This cut has cost</a:t>
            </a:r>
          </a:p>
          <a:p>
            <a:r>
              <a:rPr lang="en-US" dirty="0">
                <a:solidFill>
                  <a:srgbClr val="CF6E6C"/>
                </a:solidFill>
              </a:rPr>
              <a:t>4 + 3 + 4 = 11</a:t>
            </a:r>
          </a:p>
        </p:txBody>
      </p:sp>
      <p:sp>
        <p:nvSpPr>
          <p:cNvPr id="92" name="Freeform 44">
            <a:extLst>
              <a:ext uri="{FF2B5EF4-FFF2-40B4-BE49-F238E27FC236}">
                <a16:creationId xmlns:a16="http://schemas.microsoft.com/office/drawing/2014/main" id="{0235A86F-EBE1-5B9E-ACD6-36CED5FF9E87}"/>
              </a:ext>
            </a:extLst>
          </p:cNvPr>
          <p:cNvSpPr/>
          <p:nvPr/>
        </p:nvSpPr>
        <p:spPr>
          <a:xfrm>
            <a:off x="2626243" y="3084674"/>
            <a:ext cx="6699331" cy="3842951"/>
          </a:xfrm>
          <a:custGeom>
            <a:avLst/>
            <a:gdLst>
              <a:gd name="connsiteX0" fmla="*/ 100823 w 6699331"/>
              <a:gd name="connsiteY0" fmla="*/ 0 h 3842951"/>
              <a:gd name="connsiteX1" fmla="*/ 63753 w 6699331"/>
              <a:gd name="connsiteY1" fmla="*/ 691978 h 3842951"/>
              <a:gd name="connsiteX2" fmla="*/ 842228 w 6699331"/>
              <a:gd name="connsiteY2" fmla="*/ 1556951 h 3842951"/>
              <a:gd name="connsiteX3" fmla="*/ 2040834 w 6699331"/>
              <a:gd name="connsiteY3" fmla="*/ 1408670 h 3842951"/>
              <a:gd name="connsiteX4" fmla="*/ 3190012 w 6699331"/>
              <a:gd name="connsiteY4" fmla="*/ 1927654 h 3842951"/>
              <a:gd name="connsiteX5" fmla="*/ 4054985 w 6699331"/>
              <a:gd name="connsiteY5" fmla="*/ 2594919 h 3842951"/>
              <a:gd name="connsiteX6" fmla="*/ 5611937 w 6699331"/>
              <a:gd name="connsiteY6" fmla="*/ 2755557 h 3842951"/>
              <a:gd name="connsiteX7" fmla="*/ 6378055 w 6699331"/>
              <a:gd name="connsiteY7" fmla="*/ 3249827 h 3842951"/>
              <a:gd name="connsiteX8" fmla="*/ 6699331 w 6699331"/>
              <a:gd name="connsiteY8" fmla="*/ 3842951 h 384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99331" h="3842951">
                <a:moveTo>
                  <a:pt x="100823" y="0"/>
                </a:moveTo>
                <a:cubicBezTo>
                  <a:pt x="20504" y="216243"/>
                  <a:pt x="-59814" y="432486"/>
                  <a:pt x="63753" y="691978"/>
                </a:cubicBezTo>
                <a:cubicBezTo>
                  <a:pt x="187320" y="951470"/>
                  <a:pt x="512714" y="1437502"/>
                  <a:pt x="842228" y="1556951"/>
                </a:cubicBezTo>
                <a:cubicBezTo>
                  <a:pt x="1171742" y="1676400"/>
                  <a:pt x="1649537" y="1346886"/>
                  <a:pt x="2040834" y="1408670"/>
                </a:cubicBezTo>
                <a:cubicBezTo>
                  <a:pt x="2432131" y="1470454"/>
                  <a:pt x="2854320" y="1729946"/>
                  <a:pt x="3190012" y="1927654"/>
                </a:cubicBezTo>
                <a:cubicBezTo>
                  <a:pt x="3525704" y="2125362"/>
                  <a:pt x="3651331" y="2456935"/>
                  <a:pt x="4054985" y="2594919"/>
                </a:cubicBezTo>
                <a:cubicBezTo>
                  <a:pt x="4458639" y="2732903"/>
                  <a:pt x="5224759" y="2646406"/>
                  <a:pt x="5611937" y="2755557"/>
                </a:cubicBezTo>
                <a:cubicBezTo>
                  <a:pt x="5999115" y="2864708"/>
                  <a:pt x="6196823" y="3068595"/>
                  <a:pt x="6378055" y="3249827"/>
                </a:cubicBezTo>
                <a:cubicBezTo>
                  <a:pt x="6559287" y="3431059"/>
                  <a:pt x="6699331" y="3842951"/>
                  <a:pt x="6699331" y="3842951"/>
                </a:cubicBezTo>
              </a:path>
            </a:pathLst>
          </a:custGeom>
          <a:noFill/>
          <a:ln w="34925">
            <a:solidFill>
              <a:srgbClr val="CF6E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1" name="TextBox 42">
            <a:extLst>
              <a:ext uri="{FF2B5EF4-FFF2-40B4-BE49-F238E27FC236}">
                <a16:creationId xmlns:a16="http://schemas.microsoft.com/office/drawing/2014/main" id="{BD860148-799F-FBD7-0D57-4F1FA18901EA}"/>
              </a:ext>
            </a:extLst>
          </p:cNvPr>
          <p:cNvSpPr txBox="1"/>
          <p:nvPr/>
        </p:nvSpPr>
        <p:spPr>
          <a:xfrm>
            <a:off x="6891804" y="15883"/>
            <a:ext cx="5287883" cy="1200329"/>
          </a:xfrm>
          <a:prstGeom prst="rect">
            <a:avLst/>
          </a:prstGeom>
          <a:noFill/>
          <a:ln>
            <a:solidFill>
              <a:srgbClr val="F252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F25200"/>
                </a:solidFill>
              </a:rPr>
              <a:t>The value of a max flow from s to t </a:t>
            </a:r>
          </a:p>
          <a:p>
            <a:pPr algn="ctr"/>
            <a:r>
              <a:rPr lang="en-US" sz="2400" i="1" dirty="0">
                <a:solidFill>
                  <a:srgbClr val="F25200"/>
                </a:solidFill>
              </a:rPr>
              <a:t>is equal to </a:t>
            </a:r>
          </a:p>
          <a:p>
            <a:pPr algn="ctr"/>
            <a:r>
              <a:rPr lang="en-US" sz="2400" b="1" dirty="0">
                <a:solidFill>
                  <a:srgbClr val="F25200"/>
                </a:solidFill>
              </a:rPr>
              <a:t>the cost of a min s-t cut.</a:t>
            </a:r>
          </a:p>
        </p:txBody>
      </p:sp>
    </p:spTree>
    <p:extLst>
      <p:ext uri="{BB962C8B-B14F-4D97-AF65-F5344CB8AC3E}">
        <p14:creationId xmlns:p14="http://schemas.microsoft.com/office/powerpoint/2010/main" val="2652523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FF6F3A93-1AEA-0B4D-CE58-281587E80E51}"/>
              </a:ext>
            </a:extLst>
          </p:cNvPr>
          <p:cNvGrpSpPr/>
          <p:nvPr/>
        </p:nvGrpSpPr>
        <p:grpSpPr>
          <a:xfrm>
            <a:off x="1199767" y="2303972"/>
            <a:ext cx="4691614" cy="3023076"/>
            <a:chOff x="1195906" y="2298462"/>
            <a:chExt cx="4691614" cy="3023076"/>
          </a:xfrm>
        </p:grpSpPr>
        <p:sp>
          <p:nvSpPr>
            <p:cNvPr id="31" name="Oval 85">
              <a:extLst>
                <a:ext uri="{FF2B5EF4-FFF2-40B4-BE49-F238E27FC236}">
                  <a16:creationId xmlns:a16="http://schemas.microsoft.com/office/drawing/2014/main" id="{DE5C2A6D-ECA2-38EC-C27D-EC862AA14414}"/>
                </a:ext>
              </a:extLst>
            </p:cNvPr>
            <p:cNvSpPr/>
            <p:nvPr/>
          </p:nvSpPr>
          <p:spPr>
            <a:xfrm>
              <a:off x="1453643" y="3800979"/>
              <a:ext cx="568411" cy="568411"/>
            </a:xfrm>
            <a:prstGeom prst="ellipse">
              <a:avLst/>
            </a:prstGeom>
            <a:solidFill>
              <a:srgbClr val="F27D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32" name="Oval 86">
              <a:extLst>
                <a:ext uri="{FF2B5EF4-FFF2-40B4-BE49-F238E27FC236}">
                  <a16:creationId xmlns:a16="http://schemas.microsoft.com/office/drawing/2014/main" id="{2D98266B-6623-8B5C-90E1-CBC32F74AE0C}"/>
                </a:ext>
              </a:extLst>
            </p:cNvPr>
            <p:cNvSpPr/>
            <p:nvPr/>
          </p:nvSpPr>
          <p:spPr>
            <a:xfrm>
              <a:off x="3444044" y="2298462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3" name="Oval 87">
              <a:extLst>
                <a:ext uri="{FF2B5EF4-FFF2-40B4-BE49-F238E27FC236}">
                  <a16:creationId xmlns:a16="http://schemas.microsoft.com/office/drawing/2014/main" id="{34489C17-ED9F-82B3-C8EC-5105C568DEA1}"/>
                </a:ext>
              </a:extLst>
            </p:cNvPr>
            <p:cNvSpPr/>
            <p:nvPr/>
          </p:nvSpPr>
          <p:spPr>
            <a:xfrm>
              <a:off x="3471558" y="4598697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6CB9343A-5DA9-1713-C8F1-8A31413BF458}"/>
                </a:ext>
              </a:extLst>
            </p:cNvPr>
            <p:cNvSpPr/>
            <p:nvPr/>
          </p:nvSpPr>
          <p:spPr>
            <a:xfrm>
              <a:off x="5319109" y="3663404"/>
              <a:ext cx="568411" cy="568411"/>
            </a:xfrm>
            <a:prstGeom prst="ellipse">
              <a:avLst/>
            </a:prstGeom>
            <a:solidFill>
              <a:srgbClr val="005B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t</a:t>
              </a:r>
            </a:p>
          </p:txBody>
        </p:sp>
        <p:cxnSp>
          <p:nvCxnSpPr>
            <p:cNvPr id="35" name="Straight Arrow Connector 90">
              <a:extLst>
                <a:ext uri="{FF2B5EF4-FFF2-40B4-BE49-F238E27FC236}">
                  <a16:creationId xmlns:a16="http://schemas.microsoft.com/office/drawing/2014/main" id="{0EB80416-3357-EC9B-BA46-02D600449325}"/>
                </a:ext>
              </a:extLst>
            </p:cNvPr>
            <p:cNvCxnSpPr/>
            <p:nvPr/>
          </p:nvCxnSpPr>
          <p:spPr>
            <a:xfrm>
              <a:off x="3929213" y="2783631"/>
              <a:ext cx="1473138" cy="963015"/>
            </a:xfrm>
            <a:prstGeom prst="straightConnector1">
              <a:avLst/>
            </a:prstGeom>
            <a:ln w="53975">
              <a:solidFill>
                <a:srgbClr val="00B0F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91">
              <a:extLst>
                <a:ext uri="{FF2B5EF4-FFF2-40B4-BE49-F238E27FC236}">
                  <a16:creationId xmlns:a16="http://schemas.microsoft.com/office/drawing/2014/main" id="{7069864F-73CB-B8D2-A07B-3258390928DC}"/>
                </a:ext>
              </a:extLst>
            </p:cNvPr>
            <p:cNvCxnSpPr>
              <a:stCxn id="33" idx="7"/>
            </p:cNvCxnSpPr>
            <p:nvPr/>
          </p:nvCxnSpPr>
          <p:spPr>
            <a:xfrm flipV="1">
              <a:off x="3956727" y="4148573"/>
              <a:ext cx="1445624" cy="533366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93">
              <a:extLst>
                <a:ext uri="{FF2B5EF4-FFF2-40B4-BE49-F238E27FC236}">
                  <a16:creationId xmlns:a16="http://schemas.microsoft.com/office/drawing/2014/main" id="{F5C4B76C-0804-021B-01D4-F478361E438E}"/>
                </a:ext>
              </a:extLst>
            </p:cNvPr>
            <p:cNvSpPr txBox="1"/>
            <p:nvPr/>
          </p:nvSpPr>
          <p:spPr>
            <a:xfrm>
              <a:off x="2541336" y="3897151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7</a:t>
              </a:r>
            </a:p>
          </p:txBody>
        </p:sp>
        <p:sp>
          <p:nvSpPr>
            <p:cNvPr id="38" name="TextBox 94">
              <a:extLst>
                <a:ext uri="{FF2B5EF4-FFF2-40B4-BE49-F238E27FC236}">
                  <a16:creationId xmlns:a16="http://schemas.microsoft.com/office/drawing/2014/main" id="{1559135F-A654-681B-D84D-5EEFD1BA1BCD}"/>
                </a:ext>
              </a:extLst>
            </p:cNvPr>
            <p:cNvSpPr txBox="1"/>
            <p:nvPr/>
          </p:nvSpPr>
          <p:spPr>
            <a:xfrm>
              <a:off x="3396411" y="3452120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6</a:t>
              </a:r>
            </a:p>
          </p:txBody>
        </p:sp>
        <p:sp>
          <p:nvSpPr>
            <p:cNvPr id="39" name="TextBox 95">
              <a:extLst>
                <a:ext uri="{FF2B5EF4-FFF2-40B4-BE49-F238E27FC236}">
                  <a16:creationId xmlns:a16="http://schemas.microsoft.com/office/drawing/2014/main" id="{E2008C0E-19B5-E444-7AC1-21D31E440110}"/>
                </a:ext>
              </a:extLst>
            </p:cNvPr>
            <p:cNvSpPr txBox="1"/>
            <p:nvPr/>
          </p:nvSpPr>
          <p:spPr>
            <a:xfrm>
              <a:off x="4431680" y="3981845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2</a:t>
              </a:r>
            </a:p>
          </p:txBody>
        </p:sp>
        <p:sp>
          <p:nvSpPr>
            <p:cNvPr id="40" name="TextBox 96">
              <a:extLst>
                <a:ext uri="{FF2B5EF4-FFF2-40B4-BE49-F238E27FC236}">
                  <a16:creationId xmlns:a16="http://schemas.microsoft.com/office/drawing/2014/main" id="{7BF13507-B412-7046-DC9E-169CA653B8E2}"/>
                </a:ext>
              </a:extLst>
            </p:cNvPr>
            <p:cNvSpPr txBox="1"/>
            <p:nvPr/>
          </p:nvSpPr>
          <p:spPr>
            <a:xfrm>
              <a:off x="4349861" y="3129462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2</a:t>
              </a:r>
            </a:p>
          </p:txBody>
        </p:sp>
        <p:cxnSp>
          <p:nvCxnSpPr>
            <p:cNvPr id="41" name="Straight Arrow Connector 98">
              <a:extLst>
                <a:ext uri="{FF2B5EF4-FFF2-40B4-BE49-F238E27FC236}">
                  <a16:creationId xmlns:a16="http://schemas.microsoft.com/office/drawing/2014/main" id="{87478BEE-4C63-B417-283F-BB7E34B34842}"/>
                </a:ext>
              </a:extLst>
            </p:cNvPr>
            <p:cNvCxnSpPr>
              <a:stCxn id="31" idx="7"/>
            </p:cNvCxnSpPr>
            <p:nvPr/>
          </p:nvCxnSpPr>
          <p:spPr>
            <a:xfrm flipV="1">
              <a:off x="1938812" y="2783631"/>
              <a:ext cx="1588474" cy="1100590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363">
              <a:extLst>
                <a:ext uri="{FF2B5EF4-FFF2-40B4-BE49-F238E27FC236}">
                  <a16:creationId xmlns:a16="http://schemas.microsoft.com/office/drawing/2014/main" id="{6ED2C3CC-C8FC-6446-76D5-3F1E4CF6FE1B}"/>
                </a:ext>
              </a:extLst>
            </p:cNvPr>
            <p:cNvCxnSpPr>
              <a:stCxn id="32" idx="5"/>
            </p:cNvCxnSpPr>
            <p:nvPr/>
          </p:nvCxnSpPr>
          <p:spPr>
            <a:xfrm>
              <a:off x="3929213" y="2783631"/>
              <a:ext cx="27514" cy="1898308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371">
              <a:extLst>
                <a:ext uri="{FF2B5EF4-FFF2-40B4-BE49-F238E27FC236}">
                  <a16:creationId xmlns:a16="http://schemas.microsoft.com/office/drawing/2014/main" id="{B54583FB-D55B-459D-F62A-EC865502FF2E}"/>
                </a:ext>
              </a:extLst>
            </p:cNvPr>
            <p:cNvSpPr txBox="1"/>
            <p:nvPr/>
          </p:nvSpPr>
          <p:spPr>
            <a:xfrm>
              <a:off x="2606751" y="330233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3</a:t>
              </a:r>
            </a:p>
          </p:txBody>
        </p:sp>
        <p:cxnSp>
          <p:nvCxnSpPr>
            <p:cNvPr id="52" name="Straight Arrow Connector 389">
              <a:extLst>
                <a:ext uri="{FF2B5EF4-FFF2-40B4-BE49-F238E27FC236}">
                  <a16:creationId xmlns:a16="http://schemas.microsoft.com/office/drawing/2014/main" id="{722ABE21-F2B0-4558-4FD5-64314F12C93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2022054" y="4085185"/>
              <a:ext cx="1532746" cy="596754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398">
                  <a:extLst>
                    <a:ext uri="{FF2B5EF4-FFF2-40B4-BE49-F238E27FC236}">
                      <a16:creationId xmlns:a16="http://schemas.microsoft.com/office/drawing/2014/main" id="{363BA214-D74B-A669-6638-8FE912E408E2}"/>
                    </a:ext>
                  </a:extLst>
                </p:cNvPr>
                <p:cNvSpPr txBox="1"/>
                <p:nvPr/>
              </p:nvSpPr>
              <p:spPr>
                <a:xfrm>
                  <a:off x="1195906" y="4929956"/>
                  <a:ext cx="2208023" cy="391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dirty="0">
                      <a:solidFill>
                        <a:schemeClr val="accent1"/>
                      </a:solidFill>
                    </a:rPr>
                    <a:t>Call this graph </a:t>
                  </a:r>
                  <a14:m>
                    <m:oMath xmlns:m="http://schemas.openxmlformats.org/officeDocument/2006/math">
                      <m:r>
                        <a:rPr lang="en-US">
                          <a:solidFill>
                            <a:schemeClr val="accent1"/>
                          </a:solidFill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𝑓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398">
                  <a:extLst>
                    <a:ext uri="{FF2B5EF4-FFF2-40B4-BE49-F238E27FC236}">
                      <a16:creationId xmlns:a16="http://schemas.microsoft.com/office/drawing/2014/main" id="{363BA214-D74B-A669-6638-8FE912E40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5906" y="4929956"/>
                  <a:ext cx="2208023" cy="391582"/>
                </a:xfrm>
                <a:prstGeom prst="rect">
                  <a:avLst/>
                </a:prstGeom>
                <a:blipFill>
                  <a:blip r:embed="rId2"/>
                  <a:stretch>
                    <a:fillRect l="-2486" t="-7813" b="-203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7296C9E8-C449-D99E-5AF9-C5B3C532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Ford-Fulkerson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FE918B1-9608-0E48-4DFF-558CC6AD1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10157894" cy="5135130"/>
          </a:xfrm>
        </p:spPr>
        <p:txBody>
          <a:bodyPr>
            <a:normAutofit/>
          </a:bodyPr>
          <a:lstStyle/>
          <a:p>
            <a:r>
              <a:rPr lang="en-US" altLang="zh-CN" dirty="0"/>
              <a:t>Residual graph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Make sure you know how to draw a residual graph, find an augmenting path, and update the flow using that path</a:t>
            </a:r>
          </a:p>
          <a:p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372059-E63F-F5AE-0F92-834D3414D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637" y="1359946"/>
            <a:ext cx="5946775" cy="388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38CFA3-E973-DF67-622C-DE5D6695F9F7}"/>
              </a:ext>
            </a:extLst>
          </p:cNvPr>
          <p:cNvGrpSpPr/>
          <p:nvPr/>
        </p:nvGrpSpPr>
        <p:grpSpPr>
          <a:xfrm>
            <a:off x="1195906" y="2298462"/>
            <a:ext cx="4691614" cy="3023076"/>
            <a:chOff x="1195906" y="2298462"/>
            <a:chExt cx="4691614" cy="3023076"/>
          </a:xfrm>
        </p:grpSpPr>
        <p:sp>
          <p:nvSpPr>
            <p:cNvPr id="2" name="Oval 85">
              <a:extLst>
                <a:ext uri="{FF2B5EF4-FFF2-40B4-BE49-F238E27FC236}">
                  <a16:creationId xmlns:a16="http://schemas.microsoft.com/office/drawing/2014/main" id="{E5818A42-65CE-C26E-DF2F-64A5EAA2FE39}"/>
                </a:ext>
              </a:extLst>
            </p:cNvPr>
            <p:cNvSpPr/>
            <p:nvPr/>
          </p:nvSpPr>
          <p:spPr>
            <a:xfrm>
              <a:off x="1453643" y="3800979"/>
              <a:ext cx="568411" cy="568411"/>
            </a:xfrm>
            <a:prstGeom prst="ellipse">
              <a:avLst/>
            </a:prstGeom>
            <a:solidFill>
              <a:srgbClr val="F27D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3" name="Oval 86">
              <a:extLst>
                <a:ext uri="{FF2B5EF4-FFF2-40B4-BE49-F238E27FC236}">
                  <a16:creationId xmlns:a16="http://schemas.microsoft.com/office/drawing/2014/main" id="{AE8D6FAF-AAD3-BD69-ECBD-BD2FC109CD02}"/>
                </a:ext>
              </a:extLst>
            </p:cNvPr>
            <p:cNvSpPr/>
            <p:nvPr/>
          </p:nvSpPr>
          <p:spPr>
            <a:xfrm>
              <a:off x="3444044" y="2298462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" name="Oval 87">
              <a:extLst>
                <a:ext uri="{FF2B5EF4-FFF2-40B4-BE49-F238E27FC236}">
                  <a16:creationId xmlns:a16="http://schemas.microsoft.com/office/drawing/2014/main" id="{A1EC8EFF-0766-494B-670B-D8036C5B50B7}"/>
                </a:ext>
              </a:extLst>
            </p:cNvPr>
            <p:cNvSpPr/>
            <p:nvPr/>
          </p:nvSpPr>
          <p:spPr>
            <a:xfrm>
              <a:off x="3471558" y="4598697"/>
              <a:ext cx="568411" cy="5684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" name="Oval 88">
              <a:extLst>
                <a:ext uri="{FF2B5EF4-FFF2-40B4-BE49-F238E27FC236}">
                  <a16:creationId xmlns:a16="http://schemas.microsoft.com/office/drawing/2014/main" id="{36566A02-9334-607D-CA1F-4502179CA878}"/>
                </a:ext>
              </a:extLst>
            </p:cNvPr>
            <p:cNvSpPr/>
            <p:nvPr/>
          </p:nvSpPr>
          <p:spPr>
            <a:xfrm>
              <a:off x="5319109" y="3663404"/>
              <a:ext cx="568411" cy="568411"/>
            </a:xfrm>
            <a:prstGeom prst="ellipse">
              <a:avLst/>
            </a:prstGeom>
            <a:solidFill>
              <a:srgbClr val="005B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t</a:t>
              </a:r>
            </a:p>
          </p:txBody>
        </p:sp>
        <p:cxnSp>
          <p:nvCxnSpPr>
            <p:cNvPr id="8" name="Straight Arrow Connector 90">
              <a:extLst>
                <a:ext uri="{FF2B5EF4-FFF2-40B4-BE49-F238E27FC236}">
                  <a16:creationId xmlns:a16="http://schemas.microsoft.com/office/drawing/2014/main" id="{02263212-4CA2-5DD8-797C-DE583915488D}"/>
                </a:ext>
              </a:extLst>
            </p:cNvPr>
            <p:cNvCxnSpPr/>
            <p:nvPr/>
          </p:nvCxnSpPr>
          <p:spPr>
            <a:xfrm>
              <a:off x="3929213" y="2783631"/>
              <a:ext cx="1473138" cy="963015"/>
            </a:xfrm>
            <a:prstGeom prst="straightConnector1">
              <a:avLst/>
            </a:prstGeom>
            <a:ln w="53975">
              <a:solidFill>
                <a:srgbClr val="00B0F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91">
              <a:extLst>
                <a:ext uri="{FF2B5EF4-FFF2-40B4-BE49-F238E27FC236}">
                  <a16:creationId xmlns:a16="http://schemas.microsoft.com/office/drawing/2014/main" id="{E46BE472-5519-91E2-7A05-5F27AC153EBF}"/>
                </a:ext>
              </a:extLst>
            </p:cNvPr>
            <p:cNvCxnSpPr>
              <a:stCxn id="6" idx="7"/>
            </p:cNvCxnSpPr>
            <p:nvPr/>
          </p:nvCxnSpPr>
          <p:spPr>
            <a:xfrm flipV="1">
              <a:off x="3956727" y="4148573"/>
              <a:ext cx="1445624" cy="533366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3">
              <a:extLst>
                <a:ext uri="{FF2B5EF4-FFF2-40B4-BE49-F238E27FC236}">
                  <a16:creationId xmlns:a16="http://schemas.microsoft.com/office/drawing/2014/main" id="{86B226B4-D925-69EC-EEAD-7CD69C19CC94}"/>
                </a:ext>
              </a:extLst>
            </p:cNvPr>
            <p:cNvSpPr txBox="1"/>
            <p:nvPr/>
          </p:nvSpPr>
          <p:spPr>
            <a:xfrm>
              <a:off x="2541336" y="3897151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7</a:t>
              </a:r>
            </a:p>
          </p:txBody>
        </p:sp>
        <p:sp>
          <p:nvSpPr>
            <p:cNvPr id="11" name="TextBox 94">
              <a:extLst>
                <a:ext uri="{FF2B5EF4-FFF2-40B4-BE49-F238E27FC236}">
                  <a16:creationId xmlns:a16="http://schemas.microsoft.com/office/drawing/2014/main" id="{50BFCE21-96A3-3278-70C2-5C321BB8D0FB}"/>
                </a:ext>
              </a:extLst>
            </p:cNvPr>
            <p:cNvSpPr txBox="1"/>
            <p:nvPr/>
          </p:nvSpPr>
          <p:spPr>
            <a:xfrm>
              <a:off x="3918126" y="3451709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5</a:t>
              </a:r>
            </a:p>
          </p:txBody>
        </p:sp>
        <p:sp>
          <p:nvSpPr>
            <p:cNvPr id="12" name="TextBox 95">
              <a:extLst>
                <a:ext uri="{FF2B5EF4-FFF2-40B4-BE49-F238E27FC236}">
                  <a16:creationId xmlns:a16="http://schemas.microsoft.com/office/drawing/2014/main" id="{83657A97-BDEB-5EBD-BE9E-3989562000D6}"/>
                </a:ext>
              </a:extLst>
            </p:cNvPr>
            <p:cNvSpPr txBox="1"/>
            <p:nvPr/>
          </p:nvSpPr>
          <p:spPr>
            <a:xfrm>
              <a:off x="4431680" y="3981845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1</a:t>
              </a:r>
            </a:p>
          </p:txBody>
        </p:sp>
        <p:sp>
          <p:nvSpPr>
            <p:cNvPr id="13" name="TextBox 96">
              <a:extLst>
                <a:ext uri="{FF2B5EF4-FFF2-40B4-BE49-F238E27FC236}">
                  <a16:creationId xmlns:a16="http://schemas.microsoft.com/office/drawing/2014/main" id="{4F8C9600-9321-F34C-98D2-EBF5E59CDF3D}"/>
                </a:ext>
              </a:extLst>
            </p:cNvPr>
            <p:cNvSpPr txBox="1"/>
            <p:nvPr/>
          </p:nvSpPr>
          <p:spPr>
            <a:xfrm>
              <a:off x="4349861" y="3129462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1</a:t>
              </a:r>
            </a:p>
          </p:txBody>
        </p:sp>
        <p:cxnSp>
          <p:nvCxnSpPr>
            <p:cNvPr id="14" name="Straight Arrow Connector 98">
              <a:extLst>
                <a:ext uri="{FF2B5EF4-FFF2-40B4-BE49-F238E27FC236}">
                  <a16:creationId xmlns:a16="http://schemas.microsoft.com/office/drawing/2014/main" id="{2C8EA6E6-999F-8598-2E41-5990B86538C4}"/>
                </a:ext>
              </a:extLst>
            </p:cNvPr>
            <p:cNvCxnSpPr>
              <a:stCxn id="2" idx="7"/>
            </p:cNvCxnSpPr>
            <p:nvPr/>
          </p:nvCxnSpPr>
          <p:spPr>
            <a:xfrm flipV="1">
              <a:off x="1938812" y="2783631"/>
              <a:ext cx="1588474" cy="1100590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363">
              <a:extLst>
                <a:ext uri="{FF2B5EF4-FFF2-40B4-BE49-F238E27FC236}">
                  <a16:creationId xmlns:a16="http://schemas.microsoft.com/office/drawing/2014/main" id="{6E0FAC27-7911-E67F-9070-BE6D05EF754C}"/>
                </a:ext>
              </a:extLst>
            </p:cNvPr>
            <p:cNvCxnSpPr>
              <a:stCxn id="3" idx="5"/>
            </p:cNvCxnSpPr>
            <p:nvPr/>
          </p:nvCxnSpPr>
          <p:spPr>
            <a:xfrm>
              <a:off x="3929213" y="2783631"/>
              <a:ext cx="27514" cy="1898308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365">
              <a:extLst>
                <a:ext uri="{FF2B5EF4-FFF2-40B4-BE49-F238E27FC236}">
                  <a16:creationId xmlns:a16="http://schemas.microsoft.com/office/drawing/2014/main" id="{BA21611A-8F8D-8D2F-BA14-24AFA5BEA186}"/>
                </a:ext>
              </a:extLst>
            </p:cNvPr>
            <p:cNvCxnSpPr>
              <a:stCxn id="6" idx="1"/>
              <a:endCxn id="3" idx="3"/>
            </p:cNvCxnSpPr>
            <p:nvPr/>
          </p:nvCxnSpPr>
          <p:spPr>
            <a:xfrm flipH="1" flipV="1">
              <a:off x="3527286" y="2783631"/>
              <a:ext cx="27514" cy="1898308"/>
            </a:xfrm>
            <a:prstGeom prst="straightConnector1">
              <a:avLst/>
            </a:prstGeom>
            <a:ln w="53975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368">
              <a:extLst>
                <a:ext uri="{FF2B5EF4-FFF2-40B4-BE49-F238E27FC236}">
                  <a16:creationId xmlns:a16="http://schemas.microsoft.com/office/drawing/2014/main" id="{37811F28-4ADC-4D6A-C397-60ECCFD33E4E}"/>
                </a:ext>
              </a:extLst>
            </p:cNvPr>
            <p:cNvSpPr txBox="1"/>
            <p:nvPr/>
          </p:nvSpPr>
          <p:spPr>
            <a:xfrm>
              <a:off x="3185246" y="3681138"/>
              <a:ext cx="6022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8" name="TextBox 371">
              <a:extLst>
                <a:ext uri="{FF2B5EF4-FFF2-40B4-BE49-F238E27FC236}">
                  <a16:creationId xmlns:a16="http://schemas.microsoft.com/office/drawing/2014/main" id="{E310CC12-0E3B-46E3-1AF9-17741EFE96A2}"/>
                </a:ext>
              </a:extLst>
            </p:cNvPr>
            <p:cNvSpPr txBox="1"/>
            <p:nvPr/>
          </p:nvSpPr>
          <p:spPr>
            <a:xfrm>
              <a:off x="2606751" y="3302338"/>
              <a:ext cx="602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1</a:t>
              </a:r>
            </a:p>
          </p:txBody>
        </p:sp>
        <p:cxnSp>
          <p:nvCxnSpPr>
            <p:cNvPr id="19" name="Straight Arrow Connector 373">
              <a:extLst>
                <a:ext uri="{FF2B5EF4-FFF2-40B4-BE49-F238E27FC236}">
                  <a16:creationId xmlns:a16="http://schemas.microsoft.com/office/drawing/2014/main" id="{783CCD6C-B4DA-2BB2-08AC-55198098DB07}"/>
                </a:ext>
              </a:extLst>
            </p:cNvPr>
            <p:cNvCxnSpPr>
              <a:stCxn id="3" idx="2"/>
              <a:endCxn id="2" idx="0"/>
            </p:cNvCxnSpPr>
            <p:nvPr/>
          </p:nvCxnSpPr>
          <p:spPr>
            <a:xfrm flipH="1">
              <a:off x="1737849" y="2582668"/>
              <a:ext cx="1706195" cy="1218311"/>
            </a:xfrm>
            <a:prstGeom prst="straightConnector1">
              <a:avLst/>
            </a:prstGeom>
            <a:ln w="53975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376">
              <a:extLst>
                <a:ext uri="{FF2B5EF4-FFF2-40B4-BE49-F238E27FC236}">
                  <a16:creationId xmlns:a16="http://schemas.microsoft.com/office/drawing/2014/main" id="{EB3632E3-AB39-32A3-E0B1-541C5F27F5AD}"/>
                </a:ext>
              </a:extLst>
            </p:cNvPr>
            <p:cNvSpPr txBox="1"/>
            <p:nvPr/>
          </p:nvSpPr>
          <p:spPr>
            <a:xfrm>
              <a:off x="2474709" y="2680082"/>
              <a:ext cx="6022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solidFill>
                    <a:schemeClr val="accent2"/>
                  </a:solidFill>
                </a:rPr>
                <a:t>2</a:t>
              </a:r>
            </a:p>
          </p:txBody>
        </p:sp>
        <p:cxnSp>
          <p:nvCxnSpPr>
            <p:cNvPr id="21" name="Straight Arrow Connector 377">
              <a:extLst>
                <a:ext uri="{FF2B5EF4-FFF2-40B4-BE49-F238E27FC236}">
                  <a16:creationId xmlns:a16="http://schemas.microsoft.com/office/drawing/2014/main" id="{794407DB-7A77-0F57-F5D0-2425F75C422E}"/>
                </a:ext>
              </a:extLst>
            </p:cNvPr>
            <p:cNvCxnSpPr>
              <a:stCxn id="7" idx="0"/>
              <a:endCxn id="3" idx="6"/>
            </p:cNvCxnSpPr>
            <p:nvPr/>
          </p:nvCxnSpPr>
          <p:spPr>
            <a:xfrm flipH="1" flipV="1">
              <a:off x="4012455" y="2582668"/>
              <a:ext cx="1590860" cy="1080736"/>
            </a:xfrm>
            <a:prstGeom prst="straightConnector1">
              <a:avLst/>
            </a:prstGeom>
            <a:ln w="53975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380">
              <a:extLst>
                <a:ext uri="{FF2B5EF4-FFF2-40B4-BE49-F238E27FC236}">
                  <a16:creationId xmlns:a16="http://schemas.microsoft.com/office/drawing/2014/main" id="{BACAA8C1-72A9-877A-5D59-028E542435A3}"/>
                </a:ext>
              </a:extLst>
            </p:cNvPr>
            <p:cNvSpPr txBox="1"/>
            <p:nvPr/>
          </p:nvSpPr>
          <p:spPr>
            <a:xfrm>
              <a:off x="4849094" y="2761852"/>
              <a:ext cx="6022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solidFill>
                    <a:schemeClr val="accent2"/>
                  </a:solidFill>
                </a:rPr>
                <a:t>1</a:t>
              </a:r>
            </a:p>
          </p:txBody>
        </p:sp>
        <p:cxnSp>
          <p:nvCxnSpPr>
            <p:cNvPr id="23" name="Straight Arrow Connector 381">
              <a:extLst>
                <a:ext uri="{FF2B5EF4-FFF2-40B4-BE49-F238E27FC236}">
                  <a16:creationId xmlns:a16="http://schemas.microsoft.com/office/drawing/2014/main" id="{3EB27F87-18E0-6349-A603-008DB5E25EA3}"/>
                </a:ext>
              </a:extLst>
            </p:cNvPr>
            <p:cNvCxnSpPr>
              <a:stCxn id="7" idx="4"/>
              <a:endCxn id="6" idx="6"/>
            </p:cNvCxnSpPr>
            <p:nvPr/>
          </p:nvCxnSpPr>
          <p:spPr>
            <a:xfrm flipH="1">
              <a:off x="4039969" y="4231815"/>
              <a:ext cx="1563346" cy="651088"/>
            </a:xfrm>
            <a:prstGeom prst="straightConnector1">
              <a:avLst/>
            </a:prstGeom>
            <a:ln w="53975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384">
              <a:extLst>
                <a:ext uri="{FF2B5EF4-FFF2-40B4-BE49-F238E27FC236}">
                  <a16:creationId xmlns:a16="http://schemas.microsoft.com/office/drawing/2014/main" id="{55BB3497-2109-FA47-9786-D16E7884F7FA}"/>
                </a:ext>
              </a:extLst>
            </p:cNvPr>
            <p:cNvSpPr txBox="1"/>
            <p:nvPr/>
          </p:nvSpPr>
          <p:spPr>
            <a:xfrm>
              <a:off x="4702977" y="4589271"/>
              <a:ext cx="6022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solidFill>
                    <a:schemeClr val="accent2"/>
                  </a:solidFill>
                </a:rPr>
                <a:t>1</a:t>
              </a:r>
            </a:p>
          </p:txBody>
        </p:sp>
        <p:cxnSp>
          <p:nvCxnSpPr>
            <p:cNvPr id="26" name="Straight Arrow Connector 389">
              <a:extLst>
                <a:ext uri="{FF2B5EF4-FFF2-40B4-BE49-F238E27FC236}">
                  <a16:creationId xmlns:a16="http://schemas.microsoft.com/office/drawing/2014/main" id="{124990E4-0F5A-0967-BC01-6D736550214A}"/>
                </a:ext>
              </a:extLst>
            </p:cNvPr>
            <p:cNvCxnSpPr>
              <a:stCxn id="2" idx="6"/>
              <a:endCxn id="6" idx="1"/>
            </p:cNvCxnSpPr>
            <p:nvPr/>
          </p:nvCxnSpPr>
          <p:spPr>
            <a:xfrm>
              <a:off x="2022054" y="4085185"/>
              <a:ext cx="1532746" cy="596754"/>
            </a:xfrm>
            <a:prstGeom prst="straightConnector1">
              <a:avLst/>
            </a:prstGeom>
            <a:ln w="53975">
              <a:solidFill>
                <a:srgbClr val="00B0F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398">
                  <a:extLst>
                    <a:ext uri="{FF2B5EF4-FFF2-40B4-BE49-F238E27FC236}">
                      <a16:creationId xmlns:a16="http://schemas.microsoft.com/office/drawing/2014/main" id="{F523D9A4-4D76-D586-85E9-270662A88F3D}"/>
                    </a:ext>
                  </a:extLst>
                </p:cNvPr>
                <p:cNvSpPr txBox="1"/>
                <p:nvPr/>
              </p:nvSpPr>
              <p:spPr>
                <a:xfrm>
                  <a:off x="1195906" y="4929956"/>
                  <a:ext cx="2208023" cy="391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dirty="0">
                      <a:solidFill>
                        <a:schemeClr val="accent1"/>
                      </a:solidFill>
                    </a:rPr>
                    <a:t>Call this graph </a:t>
                  </a:r>
                  <a14:m>
                    <m:oMath xmlns:m="http://schemas.openxmlformats.org/officeDocument/2006/math">
                      <m:r>
                        <a:rPr lang="en-US">
                          <a:solidFill>
                            <a:schemeClr val="accent1"/>
                          </a:solidFill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𝑓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398">
                  <a:extLst>
                    <a:ext uri="{FF2B5EF4-FFF2-40B4-BE49-F238E27FC236}">
                      <a16:creationId xmlns:a16="http://schemas.microsoft.com/office/drawing/2014/main" id="{F523D9A4-4D76-D586-85E9-270662A88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5906" y="4929956"/>
                  <a:ext cx="2208023" cy="391582"/>
                </a:xfrm>
                <a:prstGeom prst="rect">
                  <a:avLst/>
                </a:prstGeom>
                <a:blipFill>
                  <a:blip r:embed="rId4"/>
                  <a:stretch>
                    <a:fillRect l="-2210" t="-7813" b="-203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3817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1007B-5EFD-7509-7727-BC228570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Maximum Bipartite Matching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39492-214A-2BAA-C464-C9D31BF9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2530642" cy="45975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All edges have capacity 1.</a:t>
            </a:r>
          </a:p>
          <a:p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90141" y="6211902"/>
            <a:ext cx="2988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Stanford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3032" y="6214181"/>
            <a:ext cx="25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Stanford Swag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4558856" y="1579790"/>
            <a:ext cx="2928675" cy="1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</p:cNvCxnSpPr>
          <p:nvPr/>
        </p:nvCxnSpPr>
        <p:spPr>
          <a:xfrm>
            <a:off x="4558855" y="1599508"/>
            <a:ext cx="3075820" cy="932692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4558855" y="1664771"/>
            <a:ext cx="2953854" cy="867430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4384507" y="3606984"/>
            <a:ext cx="3250168" cy="964221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cxnSpLocks/>
          </p:cNvCxnSpPr>
          <p:nvPr/>
        </p:nvCxnSpPr>
        <p:spPr>
          <a:xfrm flipV="1">
            <a:off x="4384507" y="1766389"/>
            <a:ext cx="3175536" cy="1840594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 flipV="1">
            <a:off x="4384508" y="3606982"/>
            <a:ext cx="3103023" cy="1035268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>
            <a:off x="4384507" y="4642250"/>
            <a:ext cx="3250168" cy="80704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cxnSpLocks/>
          </p:cNvCxnSpPr>
          <p:nvPr/>
        </p:nvCxnSpPr>
        <p:spPr>
          <a:xfrm>
            <a:off x="4384508" y="4642250"/>
            <a:ext cx="3103023" cy="1119626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cxnSpLocks/>
          </p:cNvCxnSpPr>
          <p:nvPr/>
        </p:nvCxnSpPr>
        <p:spPr>
          <a:xfrm flipV="1">
            <a:off x="4384507" y="2712351"/>
            <a:ext cx="3250168" cy="2965167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729146" y="3271514"/>
            <a:ext cx="532478" cy="517690"/>
          </a:xfrm>
          <a:prstGeom prst="ellipse">
            <a:avLst/>
          </a:prstGeom>
          <a:solidFill>
            <a:srgbClr val="005B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</a:t>
            </a:r>
          </a:p>
        </p:txBody>
      </p:sp>
      <p:sp>
        <p:nvSpPr>
          <p:cNvPr id="27" name="Oval 26"/>
          <p:cNvSpPr/>
          <p:nvPr/>
        </p:nvSpPr>
        <p:spPr>
          <a:xfrm>
            <a:off x="1910604" y="3195700"/>
            <a:ext cx="532478" cy="517690"/>
          </a:xfrm>
          <a:prstGeom prst="ellipse">
            <a:avLst/>
          </a:prstGeom>
          <a:solidFill>
            <a:srgbClr val="F27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cxnSp>
        <p:nvCxnSpPr>
          <p:cNvPr id="33" name="Straight Connector 32"/>
          <p:cNvCxnSpPr>
            <a:cxnSpLocks/>
            <a:stCxn id="27" idx="0"/>
          </p:cNvCxnSpPr>
          <p:nvPr/>
        </p:nvCxnSpPr>
        <p:spPr>
          <a:xfrm flipV="1">
            <a:off x="2176843" y="1599510"/>
            <a:ext cx="1697174" cy="1596191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  <a:stCxn id="27" idx="7"/>
          </p:cNvCxnSpPr>
          <p:nvPr/>
        </p:nvCxnSpPr>
        <p:spPr>
          <a:xfrm flipV="1">
            <a:off x="2365103" y="2603246"/>
            <a:ext cx="1508915" cy="668268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cxnSpLocks/>
            <a:stCxn id="27" idx="6"/>
          </p:cNvCxnSpPr>
          <p:nvPr/>
        </p:nvCxnSpPr>
        <p:spPr>
          <a:xfrm>
            <a:off x="2443083" y="3454545"/>
            <a:ext cx="1430935" cy="152438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cxnSpLocks/>
            <a:stCxn id="27" idx="5"/>
          </p:cNvCxnSpPr>
          <p:nvPr/>
        </p:nvCxnSpPr>
        <p:spPr>
          <a:xfrm>
            <a:off x="2365103" y="3637576"/>
            <a:ext cx="1508915" cy="1004674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cxnSpLocks/>
            <a:stCxn id="27" idx="4"/>
          </p:cNvCxnSpPr>
          <p:nvPr/>
        </p:nvCxnSpPr>
        <p:spPr>
          <a:xfrm>
            <a:off x="2176843" y="3713391"/>
            <a:ext cx="1697174" cy="1964127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25" idx="4"/>
          </p:cNvCxnSpPr>
          <p:nvPr/>
        </p:nvCxnSpPr>
        <p:spPr>
          <a:xfrm flipV="1">
            <a:off x="8623887" y="3789205"/>
            <a:ext cx="1371499" cy="1962599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cxnSpLocks/>
            <a:endCxn id="25" idx="3"/>
          </p:cNvCxnSpPr>
          <p:nvPr/>
        </p:nvCxnSpPr>
        <p:spPr>
          <a:xfrm flipV="1">
            <a:off x="8539822" y="3713390"/>
            <a:ext cx="1267304" cy="1009564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25" idx="2"/>
          </p:cNvCxnSpPr>
          <p:nvPr/>
        </p:nvCxnSpPr>
        <p:spPr>
          <a:xfrm flipV="1">
            <a:off x="8851920" y="3530360"/>
            <a:ext cx="877226" cy="65493"/>
          </a:xfrm>
          <a:prstGeom prst="line">
            <a:avLst/>
          </a:prstGeom>
          <a:ln w="34925">
            <a:solidFill>
              <a:srgbClr val="00B0F0">
                <a:alpha val="60000"/>
              </a:srgbClr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  <a:endCxn id="25" idx="1"/>
          </p:cNvCxnSpPr>
          <p:nvPr/>
        </p:nvCxnSpPr>
        <p:spPr>
          <a:xfrm>
            <a:off x="8529590" y="2532200"/>
            <a:ext cx="1277537" cy="815128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  <a:endCxn id="25" idx="0"/>
          </p:cNvCxnSpPr>
          <p:nvPr/>
        </p:nvCxnSpPr>
        <p:spPr>
          <a:xfrm>
            <a:off x="8425805" y="1579790"/>
            <a:ext cx="1569580" cy="1691724"/>
          </a:xfrm>
          <a:prstGeom prst="line">
            <a:avLst/>
          </a:prstGeom>
          <a:ln w="34925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2799276" y="4424183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78" name="Rounded Rectangle 77"/>
          <p:cNvSpPr/>
          <p:nvPr/>
        </p:nvSpPr>
        <p:spPr>
          <a:xfrm>
            <a:off x="2928891" y="3890771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79" name="Rounded Rectangle 78"/>
          <p:cNvSpPr/>
          <p:nvPr/>
        </p:nvSpPr>
        <p:spPr>
          <a:xfrm>
            <a:off x="3023826" y="3395266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0" name="Rounded Rectangle 79"/>
          <p:cNvSpPr/>
          <p:nvPr/>
        </p:nvSpPr>
        <p:spPr>
          <a:xfrm>
            <a:off x="2764715" y="2319145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1" name="Rounded Rectangle 80"/>
          <p:cNvSpPr/>
          <p:nvPr/>
        </p:nvSpPr>
        <p:spPr>
          <a:xfrm>
            <a:off x="5757103" y="1403106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2" name="Rounded Rectangle 81"/>
          <p:cNvSpPr/>
          <p:nvPr/>
        </p:nvSpPr>
        <p:spPr>
          <a:xfrm>
            <a:off x="8954495" y="2115370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3" name="Rounded Rectangle 82"/>
          <p:cNvSpPr/>
          <p:nvPr/>
        </p:nvSpPr>
        <p:spPr>
          <a:xfrm>
            <a:off x="5150956" y="3732680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4" name="Rounded Rectangle 83"/>
          <p:cNvSpPr/>
          <p:nvPr/>
        </p:nvSpPr>
        <p:spPr>
          <a:xfrm>
            <a:off x="5671370" y="5014103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5" name="Rounded Rectangle 84"/>
          <p:cNvSpPr/>
          <p:nvPr/>
        </p:nvSpPr>
        <p:spPr>
          <a:xfrm>
            <a:off x="6879036" y="3116159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6" name="Rounded Rectangle 85"/>
          <p:cNvSpPr/>
          <p:nvPr/>
        </p:nvSpPr>
        <p:spPr>
          <a:xfrm>
            <a:off x="8867452" y="2682071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7" name="Rounded Rectangle 86"/>
          <p:cNvSpPr/>
          <p:nvPr/>
        </p:nvSpPr>
        <p:spPr>
          <a:xfrm>
            <a:off x="8959602" y="4089093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sp>
        <p:nvSpPr>
          <p:cNvPr id="88" name="Rounded Rectangle 87"/>
          <p:cNvSpPr/>
          <p:nvPr/>
        </p:nvSpPr>
        <p:spPr>
          <a:xfrm>
            <a:off x="9056599" y="4763020"/>
            <a:ext cx="307992" cy="31247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64DE56E-2BA2-EA4D-866D-A803E6A06A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4017" y="1171951"/>
            <a:ext cx="510490" cy="85511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A2D40E8-7F8C-464E-A86B-D7D1961604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4017" y="2175688"/>
            <a:ext cx="510490" cy="85511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441BE32-3F73-D64B-AACD-51DDC63F8E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4017" y="3179425"/>
            <a:ext cx="510490" cy="85511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5B3FC8A-287C-D248-8D79-D59D09CFAF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4017" y="4214692"/>
            <a:ext cx="510490" cy="85511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6FC953A-EFAE-6241-9AF9-88AD5BA97D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4017" y="5249959"/>
            <a:ext cx="510490" cy="85511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0BCAE1A-E6EE-6A41-BF8D-3B333E7B4E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634675" y="1174555"/>
            <a:ext cx="791130" cy="81047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8AE9733-76DD-AE44-9032-3018492E6B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4675" y="2084743"/>
            <a:ext cx="894914" cy="89491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22C9CFD-67F5-0A41-8F7A-79A810D2ED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7531" y="3103799"/>
            <a:ext cx="1341821" cy="100636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5AC27FF-CF93-7F48-842D-EC616B933CE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4676" y="4270381"/>
            <a:ext cx="905147" cy="9051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529532E0-7131-3B44-B005-95252D56BAF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7530" y="5335743"/>
            <a:ext cx="1136356" cy="85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34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6932EBD-6719-E3EB-A7E3-6476FEA7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 Tips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B111A7-C14F-6699-BA76-6474E9505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749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52B9F-F5CD-E3FD-8A69-0CD569B2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Draw Examples for …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B5DEF-18F0-F613-4C93-2F87ED8D8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10515600" cy="5271655"/>
          </a:xfrm>
        </p:spPr>
        <p:txBody>
          <a:bodyPr>
            <a:normAutofit/>
          </a:bodyPr>
          <a:lstStyle/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endParaRPr lang="en-US" altLang="zh-CN" sz="500" dirty="0"/>
          </a:p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zh-CN" dirty="0"/>
              <a:t>BFS and DFS yielding the same / different trees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zh-CN" dirty="0"/>
              <a:t>A graph with negative edge weights that makes Dijkstra return the wrong result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zh-CN" dirty="0"/>
              <a:t>Prim and Kruskal yielding the same / different MST’s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zh-CN" dirty="0"/>
              <a:t>An MST that’s different from the tree formed by the shortest paths from a source vertex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zh-CN" dirty="0"/>
              <a:t>A graph that makes FF run really slowly if it chooses certain paths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zh-CN" dirty="0"/>
              <a:t>The minimum cut, given the maximum flow graph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657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59409-F2DA-807E-501E-FEC03952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Final tips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0BBA3-A405-DF48-44F3-288A1078E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10515600" cy="4979555"/>
          </a:xfrm>
        </p:spPr>
        <p:txBody>
          <a:bodyPr>
            <a:normAutofit/>
          </a:bodyPr>
          <a:lstStyle/>
          <a:p>
            <a:r>
              <a:rPr lang="en-US" altLang="zh-CN" dirty="0"/>
              <a:t>Practice yourself!</a:t>
            </a:r>
          </a:p>
          <a:p>
            <a:pPr lvl="1"/>
            <a:r>
              <a:rPr lang="en-US" altLang="zh-CN" dirty="0"/>
              <a:t>Do practice exam 1 timed, with your completed </a:t>
            </a:r>
            <a:r>
              <a:rPr lang="en-US" altLang="zh-CN" dirty="0" err="1"/>
              <a:t>cheatsheet</a:t>
            </a:r>
            <a:endParaRPr lang="en-US" altLang="zh-CN" dirty="0"/>
          </a:p>
          <a:p>
            <a:pPr lvl="1"/>
            <a:r>
              <a:rPr lang="en-US" altLang="zh-CN" dirty="0"/>
              <a:t>Review the </a:t>
            </a:r>
            <a:r>
              <a:rPr lang="en-US" altLang="zh-CN" dirty="0" err="1"/>
              <a:t>homeworks</a:t>
            </a:r>
            <a:r>
              <a:rPr lang="en-US" altLang="zh-CN" dirty="0"/>
              <a:t> and handouts; focus on big ideas</a:t>
            </a:r>
          </a:p>
          <a:p>
            <a:pPr lvl="1"/>
            <a:r>
              <a:rPr lang="en-US" altLang="zh-CN" dirty="0"/>
              <a:t>Looking at the runtime for an algo, can you recall where each component comes from in the code?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During the final:</a:t>
            </a:r>
          </a:p>
          <a:p>
            <a:pPr lvl="1"/>
            <a:r>
              <a:rPr lang="en-US" altLang="zh-CN" dirty="0"/>
              <a:t>Try the algorithm on examples</a:t>
            </a:r>
          </a:p>
          <a:p>
            <a:pPr lvl="1"/>
            <a:r>
              <a:rPr lang="en-US" altLang="zh-CN" dirty="0"/>
              <a:t>Start as small as you can, add your own edge cases</a:t>
            </a:r>
          </a:p>
          <a:p>
            <a:pPr lvl="1"/>
            <a:r>
              <a:rPr lang="en-US" altLang="zh-CN" dirty="0"/>
              <a:t>Focus on writing a correct algorithm first =&gt; identify the bottleneck in runtime =&gt; make it faster</a:t>
            </a:r>
          </a:p>
          <a:p>
            <a:pPr lvl="1"/>
            <a:r>
              <a:rPr lang="en-US" altLang="zh-CN" dirty="0"/>
              <a:t>Runtime could be a clue on which algorithm to use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335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7DB6826-D979-EC49-4F59-0DF5D39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Exercises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D6FDCC-6C89-EDE0-F730-1B966B5F5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693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BBAF091-CE67-8978-4291-C178D80E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2024 – Q5.1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D89C03B-B778-20DC-30C4-4DC20185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B933EA-59F1-343A-54C3-3D6F6E669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91" y="2065667"/>
            <a:ext cx="11308418" cy="393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1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2693C-1518-0E21-0D98-153BD3E0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2024 – Q5.2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0BE5E3-88BE-5AF6-9618-5CE9BDD2B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B247D5-5AED-587D-C753-846A56E3C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71" y="1807841"/>
            <a:ext cx="11284977" cy="411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78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21914-8C93-E823-A08B-5FBA8A0E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2024 – Q5.3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EF5159-5F73-1D2C-11DA-507A037B5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CB2BA9-D6A1-CCCA-C4B3-2C976AB2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49" y="2484412"/>
            <a:ext cx="11354302" cy="247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75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A1D66CA-3F2F-A8F3-920A-2BADD1BB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Q1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E9D5FCD8-538A-81FE-1D51-8257D6D7B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There are n teams in a tournament</a:t>
                </a:r>
              </a:p>
              <a:p>
                <a:pPr lvl="1"/>
                <a:r>
                  <a:rPr lang="en-US" altLang="zh-CN" dirty="0"/>
                  <a:t>The game between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has a rating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After each game, the loser will be eliminated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What is the maximum total rating after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games (the champion has been decided)?</a:t>
                </a:r>
              </a:p>
              <a:p>
                <a:pPr lvl="1"/>
                <a:r>
                  <a:rPr lang="en-US" altLang="zh-CN" dirty="0"/>
                  <a:t>Over all possible schedules and results. For example, one team can even compete in 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/>
                  <a:t> games and get a champion. </a:t>
                </a:r>
                <a:br>
                  <a:rPr lang="en-US" altLang="zh-CN" dirty="0"/>
                </a:br>
                <a:endParaRPr lang="en-US" altLang="zh-CN" dirty="0"/>
              </a:p>
              <a:p>
                <a:r>
                  <a:rPr lang="en-US" altLang="zh-CN" dirty="0"/>
                  <a:t>Hint</a:t>
                </a:r>
              </a:p>
              <a:p>
                <a:pPr lvl="1"/>
                <a:r>
                  <a:rPr lang="en-US" altLang="zh-CN" dirty="0"/>
                  <a:t>Minimum spanning tree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E9D5FCD8-538A-81FE-1D51-8257D6D7B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7" b="-1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23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3BAF7-3AD3-E693-EFF9-6DB66A71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Q1 -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1B8774-B754-6AFE-DF27-EA0C6CB23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5147733" cy="45975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Every schedule can be represented as a spanning tree</a:t>
                </a:r>
              </a:p>
              <a:p>
                <a:pPr lvl="1"/>
                <a:r>
                  <a:rPr lang="en-US" altLang="zh-CN" dirty="0"/>
                  <a:t>w/ the same value</a:t>
                </a:r>
              </a:p>
              <a:p>
                <a:pPr lvl="1"/>
                <a:r>
                  <a:rPr lang="en-US" altLang="zh-CN" dirty="0"/>
                  <a:t>root is the winner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Every spanning tree can be decoded as a schedule</a:t>
                </a:r>
              </a:p>
              <a:p>
                <a:pPr lvl="1"/>
                <a:r>
                  <a:rPr lang="en-US" altLang="zh-CN" dirty="0"/>
                  <a:t>w/ the same value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Runtime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using Prim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1B8774-B754-6AFE-DF27-EA0C6CB23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5147733" cy="4597545"/>
              </a:xfrm>
              <a:blipFill>
                <a:blip r:embed="rId2"/>
                <a:stretch>
                  <a:fillRect l="-2133" t="-3050" b="-1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DBED3BE4-ADD7-0C9D-2B99-F62BBF3462B7}"/>
              </a:ext>
            </a:extLst>
          </p:cNvPr>
          <p:cNvSpPr/>
          <p:nvPr/>
        </p:nvSpPr>
        <p:spPr>
          <a:xfrm>
            <a:off x="10407981" y="830755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F441D6-0B8E-CE71-B888-BEC1A976420F}"/>
              </a:ext>
            </a:extLst>
          </p:cNvPr>
          <p:cNvSpPr/>
          <p:nvPr/>
        </p:nvSpPr>
        <p:spPr>
          <a:xfrm>
            <a:off x="8863985" y="827677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F0FE76-933D-44D9-A5D5-F061FC2500FD}"/>
              </a:ext>
            </a:extLst>
          </p:cNvPr>
          <p:cNvSpPr/>
          <p:nvPr/>
        </p:nvSpPr>
        <p:spPr>
          <a:xfrm>
            <a:off x="7319989" y="827677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CB2AC8-90E1-13D1-5190-BED53DE37584}"/>
              </a:ext>
            </a:extLst>
          </p:cNvPr>
          <p:cNvSpPr/>
          <p:nvPr/>
        </p:nvSpPr>
        <p:spPr>
          <a:xfrm>
            <a:off x="6446816" y="1616316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E1865E-D930-10A0-AFAE-81F7959E68D4}"/>
              </a:ext>
            </a:extLst>
          </p:cNvPr>
          <p:cNvSpPr/>
          <p:nvPr/>
        </p:nvSpPr>
        <p:spPr>
          <a:xfrm>
            <a:off x="7319989" y="2505379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7CC3CF-7C42-DBC0-2B29-AB1715053AD5}"/>
              </a:ext>
            </a:extLst>
          </p:cNvPr>
          <p:cNvSpPr/>
          <p:nvPr/>
        </p:nvSpPr>
        <p:spPr>
          <a:xfrm>
            <a:off x="8928655" y="2512232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F288AE-6FD6-4C07-72B8-DD21636E823B}"/>
              </a:ext>
            </a:extLst>
          </p:cNvPr>
          <p:cNvSpPr/>
          <p:nvPr/>
        </p:nvSpPr>
        <p:spPr>
          <a:xfrm>
            <a:off x="10407980" y="2515311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FEA4A8-5418-5625-C6DD-C389FB5334F9}"/>
              </a:ext>
            </a:extLst>
          </p:cNvPr>
          <p:cNvSpPr/>
          <p:nvPr/>
        </p:nvSpPr>
        <p:spPr>
          <a:xfrm>
            <a:off x="8170405" y="1671493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57CF1C-0568-A180-6B39-553C0685138E}"/>
              </a:ext>
            </a:extLst>
          </p:cNvPr>
          <p:cNvSpPr/>
          <p:nvPr/>
        </p:nvSpPr>
        <p:spPr>
          <a:xfrm>
            <a:off x="11322576" y="1599006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F7D57EE8-5522-5FBE-405F-220160CEE682}"/>
              </a:ext>
            </a:extLst>
          </p:cNvPr>
          <p:cNvCxnSpPr>
            <a:stCxn id="5" idx="5"/>
            <a:endCxn id="10" idx="1"/>
          </p:cNvCxnSpPr>
          <p:nvPr/>
        </p:nvCxnSpPr>
        <p:spPr>
          <a:xfrm>
            <a:off x="9286473" y="1250165"/>
            <a:ext cx="1193994" cy="1337633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5F02C968-EB45-D8ED-14BC-6CF1E4A279D8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9358960" y="1075165"/>
            <a:ext cx="1049021" cy="3078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29C4283-43CA-1946-16C2-A1982468776D}"/>
              </a:ext>
            </a:extLst>
          </p:cNvPr>
          <p:cNvCxnSpPr>
            <a:stCxn id="12" idx="1"/>
            <a:endCxn id="4" idx="5"/>
          </p:cNvCxnSpPr>
          <p:nvPr/>
        </p:nvCxnSpPr>
        <p:spPr>
          <a:xfrm flipH="1" flipV="1">
            <a:off x="10830469" y="1253243"/>
            <a:ext cx="564594" cy="41825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21">
            <a:extLst>
              <a:ext uri="{FF2B5EF4-FFF2-40B4-BE49-F238E27FC236}">
                <a16:creationId xmlns:a16="http://schemas.microsoft.com/office/drawing/2014/main" id="{D6C7BD08-5405-E7CB-2B9C-C81F3A77C5DB}"/>
              </a:ext>
            </a:extLst>
          </p:cNvPr>
          <p:cNvCxnSpPr>
            <a:cxnSpLocks/>
            <a:stCxn id="12" idx="3"/>
            <a:endCxn id="10" idx="7"/>
          </p:cNvCxnSpPr>
          <p:nvPr/>
        </p:nvCxnSpPr>
        <p:spPr>
          <a:xfrm flipH="1">
            <a:off x="10830468" y="2021494"/>
            <a:ext cx="564595" cy="56630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4">
            <a:extLst>
              <a:ext uri="{FF2B5EF4-FFF2-40B4-BE49-F238E27FC236}">
                <a16:creationId xmlns:a16="http://schemas.microsoft.com/office/drawing/2014/main" id="{9DE362A7-4B0C-64D0-8699-0B1803F524FD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 flipH="1">
            <a:off x="10655468" y="1325730"/>
            <a:ext cx="1" cy="118958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7">
            <a:extLst>
              <a:ext uri="{FF2B5EF4-FFF2-40B4-BE49-F238E27FC236}">
                <a16:creationId xmlns:a16="http://schemas.microsoft.com/office/drawing/2014/main" id="{0D84FF4B-E35A-AF59-CEE0-D94F9862D9F9}"/>
              </a:ext>
            </a:extLst>
          </p:cNvPr>
          <p:cNvCxnSpPr>
            <a:cxnSpLocks/>
            <a:stCxn id="11" idx="5"/>
            <a:endCxn id="9" idx="1"/>
          </p:cNvCxnSpPr>
          <p:nvPr/>
        </p:nvCxnSpPr>
        <p:spPr>
          <a:xfrm>
            <a:off x="8592893" y="2093981"/>
            <a:ext cx="408249" cy="49073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0">
            <a:extLst>
              <a:ext uri="{FF2B5EF4-FFF2-40B4-BE49-F238E27FC236}">
                <a16:creationId xmlns:a16="http://schemas.microsoft.com/office/drawing/2014/main" id="{A288FFC4-85DF-837E-4FB3-D05268D64EDA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9423630" y="2759720"/>
            <a:ext cx="984350" cy="3079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3">
            <a:extLst>
              <a:ext uri="{FF2B5EF4-FFF2-40B4-BE49-F238E27FC236}">
                <a16:creationId xmlns:a16="http://schemas.microsoft.com/office/drawing/2014/main" id="{5B664B5A-D6CA-8A28-A0BA-803FF6089717}"/>
              </a:ext>
            </a:extLst>
          </p:cNvPr>
          <p:cNvCxnSpPr>
            <a:stCxn id="11" idx="0"/>
            <a:endCxn id="5" idx="3"/>
          </p:cNvCxnSpPr>
          <p:nvPr/>
        </p:nvCxnSpPr>
        <p:spPr>
          <a:xfrm flipV="1">
            <a:off x="8417893" y="1250165"/>
            <a:ext cx="518579" cy="421328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6">
            <a:extLst>
              <a:ext uri="{FF2B5EF4-FFF2-40B4-BE49-F238E27FC236}">
                <a16:creationId xmlns:a16="http://schemas.microsoft.com/office/drawing/2014/main" id="{F0812239-9711-7673-A75E-6A4A9263A35A}"/>
              </a:ext>
            </a:extLst>
          </p:cNvPr>
          <p:cNvCxnSpPr>
            <a:stCxn id="6" idx="6"/>
            <a:endCxn id="5" idx="2"/>
          </p:cNvCxnSpPr>
          <p:nvPr/>
        </p:nvCxnSpPr>
        <p:spPr>
          <a:xfrm>
            <a:off x="7814964" y="1075165"/>
            <a:ext cx="1049021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9">
            <a:extLst>
              <a:ext uri="{FF2B5EF4-FFF2-40B4-BE49-F238E27FC236}">
                <a16:creationId xmlns:a16="http://schemas.microsoft.com/office/drawing/2014/main" id="{1C917015-463B-DC49-E73D-19F6740381D6}"/>
              </a:ext>
            </a:extLst>
          </p:cNvPr>
          <p:cNvCxnSpPr>
            <a:stCxn id="7" idx="7"/>
            <a:endCxn id="6" idx="3"/>
          </p:cNvCxnSpPr>
          <p:nvPr/>
        </p:nvCxnSpPr>
        <p:spPr>
          <a:xfrm flipV="1">
            <a:off x="6869304" y="1250165"/>
            <a:ext cx="523172" cy="438638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42">
            <a:extLst>
              <a:ext uri="{FF2B5EF4-FFF2-40B4-BE49-F238E27FC236}">
                <a16:creationId xmlns:a16="http://schemas.microsoft.com/office/drawing/2014/main" id="{7D7FFC4B-8D34-4C26-C68A-7724572EB0F2}"/>
              </a:ext>
            </a:extLst>
          </p:cNvPr>
          <p:cNvCxnSpPr>
            <a:stCxn id="7" idx="5"/>
            <a:endCxn id="8" idx="1"/>
          </p:cNvCxnSpPr>
          <p:nvPr/>
        </p:nvCxnSpPr>
        <p:spPr>
          <a:xfrm>
            <a:off x="6869304" y="2038804"/>
            <a:ext cx="523172" cy="53906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5">
            <a:extLst>
              <a:ext uri="{FF2B5EF4-FFF2-40B4-BE49-F238E27FC236}">
                <a16:creationId xmlns:a16="http://schemas.microsoft.com/office/drawing/2014/main" id="{E6351384-AAF1-F4C2-006F-77FD6F28EF37}"/>
              </a:ext>
            </a:extLst>
          </p:cNvPr>
          <p:cNvCxnSpPr>
            <a:stCxn id="9" idx="2"/>
            <a:endCxn id="8" idx="6"/>
          </p:cNvCxnSpPr>
          <p:nvPr/>
        </p:nvCxnSpPr>
        <p:spPr>
          <a:xfrm flipH="1" flipV="1">
            <a:off x="7814964" y="2752867"/>
            <a:ext cx="1113691" cy="6853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8">
            <a:extLst>
              <a:ext uri="{FF2B5EF4-FFF2-40B4-BE49-F238E27FC236}">
                <a16:creationId xmlns:a16="http://schemas.microsoft.com/office/drawing/2014/main" id="{EA270AA5-D348-9A20-18C4-15271176697F}"/>
              </a:ext>
            </a:extLst>
          </p:cNvPr>
          <p:cNvCxnSpPr>
            <a:cxnSpLocks/>
            <a:stCxn id="11" idx="3"/>
            <a:endCxn id="8" idx="7"/>
          </p:cNvCxnSpPr>
          <p:nvPr/>
        </p:nvCxnSpPr>
        <p:spPr>
          <a:xfrm flipH="1">
            <a:off x="7742477" y="2093981"/>
            <a:ext cx="500415" cy="48388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63">
            <a:extLst>
              <a:ext uri="{FF2B5EF4-FFF2-40B4-BE49-F238E27FC236}">
                <a16:creationId xmlns:a16="http://schemas.microsoft.com/office/drawing/2014/main" id="{F2182CB6-FA47-EE7E-DCA5-4FD610B3DF05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V="1">
            <a:off x="7567477" y="1322652"/>
            <a:ext cx="0" cy="118272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3">
            <a:extLst>
              <a:ext uri="{FF2B5EF4-FFF2-40B4-BE49-F238E27FC236}">
                <a16:creationId xmlns:a16="http://schemas.microsoft.com/office/drawing/2014/main" id="{FF6129AA-B3E6-30D9-FA53-9A08DED84750}"/>
              </a:ext>
            </a:extLst>
          </p:cNvPr>
          <p:cNvSpPr/>
          <p:nvPr/>
        </p:nvSpPr>
        <p:spPr>
          <a:xfrm>
            <a:off x="10391963" y="4321841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1" name="Oval 4">
            <a:extLst>
              <a:ext uri="{FF2B5EF4-FFF2-40B4-BE49-F238E27FC236}">
                <a16:creationId xmlns:a16="http://schemas.microsoft.com/office/drawing/2014/main" id="{48E9C2EC-A8A7-9926-D8E3-0503DA17DC59}"/>
              </a:ext>
            </a:extLst>
          </p:cNvPr>
          <p:cNvSpPr/>
          <p:nvPr/>
        </p:nvSpPr>
        <p:spPr>
          <a:xfrm>
            <a:off x="8936472" y="3466929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" name="Oval 5">
            <a:extLst>
              <a:ext uri="{FF2B5EF4-FFF2-40B4-BE49-F238E27FC236}">
                <a16:creationId xmlns:a16="http://schemas.microsoft.com/office/drawing/2014/main" id="{8A0D0F01-4834-0F8B-8B59-5AF2CB0F0AE8}"/>
              </a:ext>
            </a:extLst>
          </p:cNvPr>
          <p:cNvSpPr/>
          <p:nvPr/>
        </p:nvSpPr>
        <p:spPr>
          <a:xfrm>
            <a:off x="7620419" y="4395674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Oval 6">
            <a:extLst>
              <a:ext uri="{FF2B5EF4-FFF2-40B4-BE49-F238E27FC236}">
                <a16:creationId xmlns:a16="http://schemas.microsoft.com/office/drawing/2014/main" id="{258B9539-56DB-9ADD-C552-9ECCAB99A3E3}"/>
              </a:ext>
            </a:extLst>
          </p:cNvPr>
          <p:cNvSpPr/>
          <p:nvPr/>
        </p:nvSpPr>
        <p:spPr>
          <a:xfrm>
            <a:off x="7217475" y="5258531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12D8BDDC-2F93-5B57-617F-926FD5226110}"/>
              </a:ext>
            </a:extLst>
          </p:cNvPr>
          <p:cNvSpPr/>
          <p:nvPr/>
        </p:nvSpPr>
        <p:spPr>
          <a:xfrm>
            <a:off x="9988292" y="5893544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5" name="Oval 8">
            <a:extLst>
              <a:ext uri="{FF2B5EF4-FFF2-40B4-BE49-F238E27FC236}">
                <a16:creationId xmlns:a16="http://schemas.microsoft.com/office/drawing/2014/main" id="{1147A33A-E1F2-7D2F-73C2-C7FE3033FFEC}"/>
              </a:ext>
            </a:extLst>
          </p:cNvPr>
          <p:cNvSpPr/>
          <p:nvPr/>
        </p:nvSpPr>
        <p:spPr>
          <a:xfrm>
            <a:off x="9330958" y="5258532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6" name="Oval 9">
            <a:extLst>
              <a:ext uri="{FF2B5EF4-FFF2-40B4-BE49-F238E27FC236}">
                <a16:creationId xmlns:a16="http://schemas.microsoft.com/office/drawing/2014/main" id="{7A03FE77-A77E-B4D8-0976-D4A05720AB58}"/>
              </a:ext>
            </a:extLst>
          </p:cNvPr>
          <p:cNvSpPr/>
          <p:nvPr/>
        </p:nvSpPr>
        <p:spPr>
          <a:xfrm>
            <a:off x="9505959" y="4430568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77" name="Oval 10">
            <a:extLst>
              <a:ext uri="{FF2B5EF4-FFF2-40B4-BE49-F238E27FC236}">
                <a16:creationId xmlns:a16="http://schemas.microsoft.com/office/drawing/2014/main" id="{61B80A26-D9E4-7572-EF4A-FD54C7D72D3B}"/>
              </a:ext>
            </a:extLst>
          </p:cNvPr>
          <p:cNvSpPr/>
          <p:nvPr/>
        </p:nvSpPr>
        <p:spPr>
          <a:xfrm>
            <a:off x="8581520" y="4461072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Oval 11">
            <a:extLst>
              <a:ext uri="{FF2B5EF4-FFF2-40B4-BE49-F238E27FC236}">
                <a16:creationId xmlns:a16="http://schemas.microsoft.com/office/drawing/2014/main" id="{6F8C0A6F-ECA5-7D32-A904-8DF838D382E1}"/>
              </a:ext>
            </a:extLst>
          </p:cNvPr>
          <p:cNvSpPr/>
          <p:nvPr/>
        </p:nvSpPr>
        <p:spPr>
          <a:xfrm>
            <a:off x="11220062" y="5021309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9" name="Straight Connector 13">
            <a:extLst>
              <a:ext uri="{FF2B5EF4-FFF2-40B4-BE49-F238E27FC236}">
                <a16:creationId xmlns:a16="http://schemas.microsoft.com/office/drawing/2014/main" id="{A2C961B8-1C33-A47D-415B-D44AA640C3C1}"/>
              </a:ext>
            </a:extLst>
          </p:cNvPr>
          <p:cNvCxnSpPr>
            <a:stCxn id="71" idx="5"/>
            <a:endCxn id="76" idx="1"/>
          </p:cNvCxnSpPr>
          <p:nvPr/>
        </p:nvCxnSpPr>
        <p:spPr>
          <a:xfrm>
            <a:off x="9358960" y="3889417"/>
            <a:ext cx="219486" cy="613638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15">
            <a:extLst>
              <a:ext uri="{FF2B5EF4-FFF2-40B4-BE49-F238E27FC236}">
                <a16:creationId xmlns:a16="http://schemas.microsoft.com/office/drawing/2014/main" id="{834D861D-CE4F-8A7B-1CA4-2905FD1CAE10}"/>
              </a:ext>
            </a:extLst>
          </p:cNvPr>
          <p:cNvCxnSpPr>
            <a:stCxn id="71" idx="6"/>
            <a:endCxn id="70" idx="2"/>
          </p:cNvCxnSpPr>
          <p:nvPr/>
        </p:nvCxnSpPr>
        <p:spPr>
          <a:xfrm>
            <a:off x="9431447" y="3714417"/>
            <a:ext cx="960516" cy="8549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18">
            <a:extLst>
              <a:ext uri="{FF2B5EF4-FFF2-40B4-BE49-F238E27FC236}">
                <a16:creationId xmlns:a16="http://schemas.microsoft.com/office/drawing/2014/main" id="{DB7389A2-EFBE-E452-99C9-82E65FD15AC9}"/>
              </a:ext>
            </a:extLst>
          </p:cNvPr>
          <p:cNvCxnSpPr>
            <a:stCxn id="78" idx="1"/>
            <a:endCxn id="70" idx="5"/>
          </p:cNvCxnSpPr>
          <p:nvPr/>
        </p:nvCxnSpPr>
        <p:spPr>
          <a:xfrm flipH="1" flipV="1">
            <a:off x="10814451" y="4744329"/>
            <a:ext cx="478098" cy="349467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30">
            <a:extLst>
              <a:ext uri="{FF2B5EF4-FFF2-40B4-BE49-F238E27FC236}">
                <a16:creationId xmlns:a16="http://schemas.microsoft.com/office/drawing/2014/main" id="{E76EF43C-1820-4EC6-3484-A284FD6914C4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V="1">
            <a:off x="9578446" y="4925543"/>
            <a:ext cx="175001" cy="332989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33">
            <a:extLst>
              <a:ext uri="{FF2B5EF4-FFF2-40B4-BE49-F238E27FC236}">
                <a16:creationId xmlns:a16="http://schemas.microsoft.com/office/drawing/2014/main" id="{1D58BB4C-348E-29D4-E086-013D316D6A6D}"/>
              </a:ext>
            </a:extLst>
          </p:cNvPr>
          <p:cNvCxnSpPr>
            <a:stCxn id="77" idx="0"/>
            <a:endCxn id="71" idx="3"/>
          </p:cNvCxnSpPr>
          <p:nvPr/>
        </p:nvCxnSpPr>
        <p:spPr>
          <a:xfrm flipV="1">
            <a:off x="8829008" y="3889417"/>
            <a:ext cx="179951" cy="571655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36">
            <a:extLst>
              <a:ext uri="{FF2B5EF4-FFF2-40B4-BE49-F238E27FC236}">
                <a16:creationId xmlns:a16="http://schemas.microsoft.com/office/drawing/2014/main" id="{94930654-B508-48F4-0D0D-72592E6B49FF}"/>
              </a:ext>
            </a:extLst>
          </p:cNvPr>
          <p:cNvCxnSpPr>
            <a:cxnSpLocks/>
            <a:stCxn id="72" idx="0"/>
            <a:endCxn id="71" idx="2"/>
          </p:cNvCxnSpPr>
          <p:nvPr/>
        </p:nvCxnSpPr>
        <p:spPr>
          <a:xfrm flipV="1">
            <a:off x="7867907" y="3714417"/>
            <a:ext cx="1068565" cy="681257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39">
            <a:extLst>
              <a:ext uri="{FF2B5EF4-FFF2-40B4-BE49-F238E27FC236}">
                <a16:creationId xmlns:a16="http://schemas.microsoft.com/office/drawing/2014/main" id="{E2F10A53-EA67-8F61-73DD-165BC9851225}"/>
              </a:ext>
            </a:extLst>
          </p:cNvPr>
          <p:cNvCxnSpPr>
            <a:cxnSpLocks/>
            <a:stCxn id="73" idx="0"/>
            <a:endCxn id="72" idx="4"/>
          </p:cNvCxnSpPr>
          <p:nvPr/>
        </p:nvCxnSpPr>
        <p:spPr>
          <a:xfrm flipV="1">
            <a:off x="7464963" y="4890649"/>
            <a:ext cx="402944" cy="36788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45">
            <a:extLst>
              <a:ext uri="{FF2B5EF4-FFF2-40B4-BE49-F238E27FC236}">
                <a16:creationId xmlns:a16="http://schemas.microsoft.com/office/drawing/2014/main" id="{038AFC6D-EC5C-101D-2EEF-6EBCB794D602}"/>
              </a:ext>
            </a:extLst>
          </p:cNvPr>
          <p:cNvCxnSpPr>
            <a:cxnSpLocks/>
            <a:stCxn id="75" idx="5"/>
            <a:endCxn id="74" idx="1"/>
          </p:cNvCxnSpPr>
          <p:nvPr/>
        </p:nvCxnSpPr>
        <p:spPr>
          <a:xfrm>
            <a:off x="9753446" y="5681020"/>
            <a:ext cx="307333" cy="285011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49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64C6A-2424-4CDC-BBF4-B9A6F810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B5622E-3570-833F-0F70-A2C3F026E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r>
                  <a:rPr lang="en-US" altLang="zh-CN" dirty="0"/>
                  <a:t>On a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/>
                  <a:t> chessboard,</a:t>
                </a:r>
              </a:p>
              <a:p>
                <a:pPr lvl="1"/>
                <a:r>
                  <a:rPr lang="en-US" altLang="zh-CN" dirty="0"/>
                  <a:t>Some squares are broken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you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cannot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place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stones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Can you place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/>
                  <a:t> stones on it so that</a:t>
                </a:r>
              </a:p>
              <a:p>
                <a:pPr lvl="1"/>
                <a:r>
                  <a:rPr lang="en-US" altLang="zh-CN" dirty="0"/>
                  <a:t>every row and every column has exactly one stone on it?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If not, how many you can place so that</a:t>
                </a:r>
              </a:p>
              <a:p>
                <a:pPr lvl="1"/>
                <a:r>
                  <a:rPr lang="en-US" altLang="zh-CN" dirty="0"/>
                  <a:t>every row and every column has at most one stone on it?</a:t>
                </a:r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B5622E-3570-833F-0F70-A2C3F026E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069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71280-E3A4-C8EC-6C72-4619DEC6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Q2 - Solution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33665B-54E5-70EC-75F3-F789C481A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Find the maximum bipartite matching</a:t>
                </a:r>
              </a:p>
              <a:p>
                <a:pPr lvl="1"/>
                <a:r>
                  <a:rPr lang="en-US" altLang="zh-CN" dirty="0"/>
                  <a:t>Nodes on the left: rows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Nodes on the right: columns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Edges: if we can place stones 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one edge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Maximum bipartite matching</a:t>
                </a:r>
              </a:p>
              <a:p>
                <a:pPr lvl="1"/>
                <a:r>
                  <a:rPr lang="en-US" altLang="zh-CN" dirty="0"/>
                  <a:t>Can be found by max flow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nodes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edges in total</a:t>
                </a:r>
              </a:p>
              <a:p>
                <a:pPr lvl="1"/>
                <a:r>
                  <a:rPr lang="en-US" altLang="zh-CN" dirty="0"/>
                  <a:t>Maximum possible flow: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Runtime: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(see lecture notes)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33665B-54E5-70EC-75F3-F789C481A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898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D64DB-B653-C203-1A6D-656B5E98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44158C-D97C-D5FC-4A8D-C3681807F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boxes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balls</a:t>
                </a:r>
              </a:p>
              <a:p>
                <a:pPr lvl="1"/>
                <a:r>
                  <a:rPr lang="en-US" altLang="zh-CN" dirty="0"/>
                  <a:t>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err="1"/>
                  <a:t>-th</a:t>
                </a:r>
                <a:r>
                  <a:rPr lang="en-US" altLang="zh-CN" dirty="0"/>
                  <a:t> ball has a radius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:r>
                  <a:rPr lang="en-US" altLang="zh-CN" dirty="0"/>
                  <a:t>We can put one ball of radius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 in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box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What is the maximum number of balls we can put in the boxes?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Goal: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CN" dirty="0"/>
                  <a:t>-time algorithm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44158C-D97C-D5FC-4A8D-C3681807F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167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30E5A-FAA2-0FF8-AD7F-23306130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Q3 -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82ECD9-A314-480D-BC21-6955A28986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4893113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Greedy</a:t>
                </a:r>
              </a:p>
              <a:p>
                <a:pPr lvl="1"/>
                <a:r>
                  <a:rPr lang="en-US" altLang="zh-CN" dirty="0"/>
                  <a:t>Every time, put the smallest ball in the smallest available box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Proof</a:t>
                </a:r>
              </a:p>
              <a:p>
                <a:pPr lvl="1"/>
                <a:r>
                  <a:rPr lang="en-US" altLang="zh-CN" dirty="0"/>
                  <a:t>By induction (the base case is to extend the case where all boxes are empty to an optimal solution)</a:t>
                </a:r>
              </a:p>
              <a:p>
                <a:pPr lvl="1"/>
                <a:r>
                  <a:rPr lang="en-US" altLang="zh-CN" dirty="0"/>
                  <a:t>Suppose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is an optimal solution agreeing with the first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/>
                  <a:t> choices of the greedy; suppose the greedy put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err="1"/>
                  <a:t>-th</a:t>
                </a:r>
                <a:r>
                  <a:rPr lang="en-US" altLang="zh-CN" dirty="0"/>
                  <a:t> smallest ball in box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Box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must have some other ball no smaller than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err="1"/>
                  <a:t>-th</a:t>
                </a:r>
                <a:r>
                  <a:rPr lang="en-US" altLang="zh-CN" dirty="0"/>
                  <a:t> ball in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(otherwise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 is not optimal)</a:t>
                </a:r>
              </a:p>
              <a:p>
                <a:pPr lvl="1"/>
                <a:r>
                  <a:rPr lang="en-US" altLang="zh-CN" dirty="0"/>
                  <a:t>Replace the ball with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err="1"/>
                  <a:t>-th</a:t>
                </a:r>
                <a:r>
                  <a:rPr lang="en-US" altLang="zh-CN" dirty="0"/>
                  <a:t> smallest one, the resulting solution is still optimal and agree with the first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choices of the greedy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82ECD9-A314-480D-BC21-6955A2898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4893113"/>
              </a:xfrm>
              <a:blipFill>
                <a:blip r:embed="rId2"/>
                <a:stretch>
                  <a:fillRect l="-1043" t="-2242" r="-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15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3F91F-1F02-B06D-2481-5CA87490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2FDAA4-353F-1205-7750-77B662FAE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Any pair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b="0" dirty="0"/>
                  <a:t>has a value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Find the best permutation</a:t>
                </a:r>
              </a:p>
              <a:p>
                <a:pPr lvl="1"/>
                <a:r>
                  <a:rPr lang="en-US" altLang="zh-CN" dirty="0"/>
                  <a:t>A permutation is an array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1,2,…,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in which the elements are pairwise different</a:t>
                </a:r>
              </a:p>
              <a:p>
                <a:pPr lvl="1"/>
                <a:r>
                  <a:rPr lang="en-US" altLang="zh-CN" dirty="0"/>
                  <a:t>Maximize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Goal: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-time algorithm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2FDAA4-353F-1205-7750-77B662FAE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55" r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3164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C7424-DE02-EC2F-1EF1-53A7C83B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Q4 -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19795C4-824C-974F-4172-199928CCD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r>
                  <a:rPr lang="en-US" altLang="zh-CN" dirty="0"/>
                  <a:t>Tempting to solve it by graph algorithms?</a:t>
                </a:r>
              </a:p>
              <a:p>
                <a:pPr lvl="1"/>
                <a:r>
                  <a:rPr lang="en-US" altLang="zh-CN" dirty="0"/>
                  <a:t>Let’s see what is the graph interpretation</a:t>
                </a:r>
              </a:p>
              <a:p>
                <a:pPr lvl="1"/>
                <a:r>
                  <a:rPr lang="en-US" altLang="zh-CN" dirty="0"/>
                  <a:t>We have a complete (undirected) graph, and each edge has a weight</a:t>
                </a:r>
              </a:p>
              <a:p>
                <a:pPr lvl="1"/>
                <a:r>
                  <a:rPr lang="en-US" altLang="zh-CN" dirty="0"/>
                  <a:t>We want to maximize the total weight of a length-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dirty="0"/>
                  <a:t> path</a:t>
                </a:r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Longest path</a:t>
                </a:r>
              </a:p>
              <a:p>
                <a:pPr lvl="1"/>
                <a:r>
                  <a:rPr lang="en-US" altLang="zh-CN" dirty="0"/>
                  <a:t>NP-hard problem </a:t>
                </a:r>
                <a:r>
                  <a:rPr lang="en-US" altLang="zh-CN" sz="2000" dirty="0"/>
                  <a:t>(optional: if you know what is NP, try to reduce Hamiltonian path to it)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The best algorithm is conjectured to have runtime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19795C4-824C-974F-4172-199928CCD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0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5748-5EB1-C0EE-1CA9-52873436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Q4 -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336CC1-23F9-F457-74EB-A3D095767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What is the trivial algorithm?</a:t>
                </a:r>
              </a:p>
              <a:p>
                <a:pPr lvl="1"/>
                <a:r>
                  <a:rPr lang="en-US" altLang="zh-CN" dirty="0"/>
                  <a:t>Enumerate all permutations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find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maximum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one</a:t>
                </a:r>
              </a:p>
              <a:p>
                <a:pPr lvl="1"/>
                <a:r>
                  <a:rPr lang="en-US" altLang="zh-CN" dirty="0"/>
                  <a:t>Runtime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en-US" altLang="zh-CN" dirty="0"/>
                  <a:t>Improved one via DP</a:t>
                </a:r>
              </a:p>
              <a:p>
                <a:pPr lvl="1"/>
                <a:r>
                  <a:rPr lang="en-US" altLang="zh-CN" dirty="0"/>
                  <a:t>For any subset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and any element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Consider the maximum value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𝐷𝑃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we can have if the first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 elements form the set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, and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-th element 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The recurrence relation is then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𝐷𝑃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𝐷𝑃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dirty="0"/>
                  <a:t>Runtime: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336CC1-23F9-F457-74EB-A3D095767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7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3B8E9-9D04-B64B-9676-DE67DE28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367108-766B-9D3D-7746-97A831CA5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There are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variables</a:t>
                </a:r>
              </a:p>
              <a:p>
                <a:pPr lvl="1"/>
                <a:r>
                  <a:rPr lang="en-US" altLang="zh-CN" b="0" dirty="0"/>
                  <a:t>Each with value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0,1}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en-US" altLang="zh-CN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/>
                  <a:t>, we have a cost </a:t>
                </a:r>
                <a:r>
                  <a:rPr lang="en-US" altLang="zh-CN" dirty="0"/>
                  <a:t>of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</a:p>
              <a:p>
                <a:pPr lvl="1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we have a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For each of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ordered pairs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then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there is an additional 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What is the minimum total cost?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367108-766B-9D3D-7746-97A831CA5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954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34447-BE0A-7EC7-A44A-B81E9384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Q5 -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87C57E-05C9-127F-8FEC-244429AAB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4973053" cy="527165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Via min-cut</a:t>
                </a:r>
              </a:p>
              <a:p>
                <a:r>
                  <a:rPr lang="en-US" altLang="zh-CN" dirty="0"/>
                  <a:t>For each variable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Create a node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So, at least one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is cut</a:t>
                </a:r>
              </a:p>
              <a:p>
                <a:pPr lvl="2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is in cut,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lvl="2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is in cut,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For each ordered pair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we need cut it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87C57E-05C9-127F-8FEC-244429AAB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4973053" cy="5271655"/>
              </a:xfrm>
              <a:blipFill>
                <a:blip r:embed="rId2"/>
                <a:stretch>
                  <a:fillRect l="-2209" t="-2081" r="-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5">
            <a:extLst>
              <a:ext uri="{FF2B5EF4-FFF2-40B4-BE49-F238E27FC236}">
                <a16:creationId xmlns:a16="http://schemas.microsoft.com/office/drawing/2014/main" id="{92472638-87A9-010B-611B-4A8F51E58FED}"/>
              </a:ext>
            </a:extLst>
          </p:cNvPr>
          <p:cNvSpPr/>
          <p:nvPr/>
        </p:nvSpPr>
        <p:spPr>
          <a:xfrm>
            <a:off x="7837347" y="3222782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Oval 5">
            <a:extLst>
              <a:ext uri="{FF2B5EF4-FFF2-40B4-BE49-F238E27FC236}">
                <a16:creationId xmlns:a16="http://schemas.microsoft.com/office/drawing/2014/main" id="{CFD3EC08-76FE-C286-5454-0421B359E3DC}"/>
              </a:ext>
            </a:extLst>
          </p:cNvPr>
          <p:cNvSpPr/>
          <p:nvPr/>
        </p:nvSpPr>
        <p:spPr>
          <a:xfrm>
            <a:off x="7837347" y="1875102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CDBEAB6-CDD5-DF3A-8BE3-95A32ADA5222}"/>
              </a:ext>
            </a:extLst>
          </p:cNvPr>
          <p:cNvCxnSpPr>
            <a:stCxn id="47" idx="4"/>
            <a:endCxn id="46" idx="0"/>
          </p:cNvCxnSpPr>
          <p:nvPr/>
        </p:nvCxnSpPr>
        <p:spPr>
          <a:xfrm>
            <a:off x="8084835" y="2370077"/>
            <a:ext cx="0" cy="85270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5">
            <a:extLst>
              <a:ext uri="{FF2B5EF4-FFF2-40B4-BE49-F238E27FC236}">
                <a16:creationId xmlns:a16="http://schemas.microsoft.com/office/drawing/2014/main" id="{D75D2777-6236-AB04-73CE-2C698C648515}"/>
              </a:ext>
            </a:extLst>
          </p:cNvPr>
          <p:cNvSpPr/>
          <p:nvPr/>
        </p:nvSpPr>
        <p:spPr>
          <a:xfrm>
            <a:off x="6654242" y="2548941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1" name="Oval 5">
            <a:extLst>
              <a:ext uri="{FF2B5EF4-FFF2-40B4-BE49-F238E27FC236}">
                <a16:creationId xmlns:a16="http://schemas.microsoft.com/office/drawing/2014/main" id="{48418F68-2249-53C6-C50C-D2059733824E}"/>
              </a:ext>
            </a:extLst>
          </p:cNvPr>
          <p:cNvSpPr/>
          <p:nvPr/>
        </p:nvSpPr>
        <p:spPr>
          <a:xfrm>
            <a:off x="9049136" y="2548940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51F02D2-F398-4340-45CA-1CA845647A4B}"/>
              </a:ext>
            </a:extLst>
          </p:cNvPr>
          <p:cNvCxnSpPr>
            <a:stCxn id="50" idx="7"/>
            <a:endCxn id="47" idx="2"/>
          </p:cNvCxnSpPr>
          <p:nvPr/>
        </p:nvCxnSpPr>
        <p:spPr>
          <a:xfrm flipV="1">
            <a:off x="7076730" y="2122590"/>
            <a:ext cx="760617" cy="4988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907DC54-6895-6BBB-BE7B-ABBE8B4EBD63}"/>
              </a:ext>
            </a:extLst>
          </p:cNvPr>
          <p:cNvCxnSpPr>
            <a:cxnSpLocks/>
            <a:stCxn id="50" idx="5"/>
            <a:endCxn id="46" idx="2"/>
          </p:cNvCxnSpPr>
          <p:nvPr/>
        </p:nvCxnSpPr>
        <p:spPr>
          <a:xfrm>
            <a:off x="7076730" y="2971429"/>
            <a:ext cx="760617" cy="49884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2BD50CE-844A-FFE1-F4B4-3888DE764152}"/>
              </a:ext>
            </a:extLst>
          </p:cNvPr>
          <p:cNvCxnSpPr>
            <a:cxnSpLocks/>
            <a:stCxn id="47" idx="6"/>
            <a:endCxn id="51" idx="1"/>
          </p:cNvCxnSpPr>
          <p:nvPr/>
        </p:nvCxnSpPr>
        <p:spPr>
          <a:xfrm>
            <a:off x="8332322" y="2122590"/>
            <a:ext cx="789301" cy="49883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713CC5A-FF6F-D31A-B95E-65BBF759A2C7}"/>
              </a:ext>
            </a:extLst>
          </p:cNvPr>
          <p:cNvCxnSpPr>
            <a:cxnSpLocks/>
            <a:stCxn id="46" idx="6"/>
            <a:endCxn id="51" idx="3"/>
          </p:cNvCxnSpPr>
          <p:nvPr/>
        </p:nvCxnSpPr>
        <p:spPr>
          <a:xfrm flipV="1">
            <a:off x="8332322" y="2971428"/>
            <a:ext cx="789301" cy="49884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2FBE31FE-77E0-E472-79BC-E771A3F08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848911"/>
              </p:ext>
            </p:extLst>
          </p:nvPr>
        </p:nvGraphicFramePr>
        <p:xfrm>
          <a:off x="9895915" y="473825"/>
          <a:ext cx="18793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460">
                  <a:extLst>
                    <a:ext uri="{9D8B030D-6E8A-4147-A177-3AD203B41FA5}">
                      <a16:colId xmlns:a16="http://schemas.microsoft.com/office/drawing/2014/main" val="2229807089"/>
                    </a:ext>
                  </a:extLst>
                </a:gridCol>
                <a:gridCol w="626460">
                  <a:extLst>
                    <a:ext uri="{9D8B030D-6E8A-4147-A177-3AD203B41FA5}">
                      <a16:colId xmlns:a16="http://schemas.microsoft.com/office/drawing/2014/main" val="1761168047"/>
                    </a:ext>
                  </a:extLst>
                </a:gridCol>
                <a:gridCol w="626460">
                  <a:extLst>
                    <a:ext uri="{9D8B030D-6E8A-4147-A177-3AD203B41FA5}">
                      <a16:colId xmlns:a16="http://schemas.microsoft.com/office/drawing/2014/main" val="1943551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7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46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986640"/>
                  </a:ext>
                </a:extLst>
              </a:tr>
            </a:tbl>
          </a:graphicData>
        </a:graphic>
      </p:graphicFrame>
      <p:sp>
        <p:nvSpPr>
          <p:cNvPr id="77" name="文本框 76">
            <a:extLst>
              <a:ext uri="{FF2B5EF4-FFF2-40B4-BE49-F238E27FC236}">
                <a16:creationId xmlns:a16="http://schemas.microsoft.com/office/drawing/2014/main" id="{EED893E6-2D5C-2DEB-A784-C3BF80FF263E}"/>
              </a:ext>
            </a:extLst>
          </p:cNvPr>
          <p:cNvSpPr txBox="1"/>
          <p:nvPr/>
        </p:nvSpPr>
        <p:spPr>
          <a:xfrm>
            <a:off x="7189125" y="20280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D7CAA42-D5D5-969B-D6BC-ABA68F4EF6D6}"/>
              </a:ext>
            </a:extLst>
          </p:cNvPr>
          <p:cNvSpPr txBox="1"/>
          <p:nvPr/>
        </p:nvSpPr>
        <p:spPr>
          <a:xfrm>
            <a:off x="8674050" y="20007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7E1A718-1E24-739C-E270-3E0227DD2810}"/>
              </a:ext>
            </a:extLst>
          </p:cNvPr>
          <p:cNvSpPr txBox="1"/>
          <p:nvPr/>
        </p:nvSpPr>
        <p:spPr>
          <a:xfrm>
            <a:off x="7194656" y="314037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C62A05D-30A9-0CFC-13CE-8900D8B28941}"/>
              </a:ext>
            </a:extLst>
          </p:cNvPr>
          <p:cNvSpPr txBox="1"/>
          <p:nvPr/>
        </p:nvSpPr>
        <p:spPr>
          <a:xfrm>
            <a:off x="8676473" y="314037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80DADFA-6ACE-F0CF-84B1-7B5AC281A500}"/>
              </a:ext>
            </a:extLst>
          </p:cNvPr>
          <p:cNvSpPr txBox="1"/>
          <p:nvPr/>
        </p:nvSpPr>
        <p:spPr>
          <a:xfrm>
            <a:off x="8121897" y="25984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96" name="Oval 5">
            <a:extLst>
              <a:ext uri="{FF2B5EF4-FFF2-40B4-BE49-F238E27FC236}">
                <a16:creationId xmlns:a16="http://schemas.microsoft.com/office/drawing/2014/main" id="{71462CB7-754D-5319-D782-8ABA3CB39E42}"/>
              </a:ext>
            </a:extLst>
          </p:cNvPr>
          <p:cNvSpPr/>
          <p:nvPr/>
        </p:nvSpPr>
        <p:spPr>
          <a:xfrm>
            <a:off x="7845365" y="5588990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7" name="Oval 5">
            <a:extLst>
              <a:ext uri="{FF2B5EF4-FFF2-40B4-BE49-F238E27FC236}">
                <a16:creationId xmlns:a16="http://schemas.microsoft.com/office/drawing/2014/main" id="{0E740845-7CAA-5210-A304-4168E7B28D78}"/>
              </a:ext>
            </a:extLst>
          </p:cNvPr>
          <p:cNvSpPr/>
          <p:nvPr/>
        </p:nvSpPr>
        <p:spPr>
          <a:xfrm>
            <a:off x="7845365" y="4241310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9BB78C55-1EEF-157E-CC72-45F3D411DE69}"/>
              </a:ext>
            </a:extLst>
          </p:cNvPr>
          <p:cNvCxnSpPr>
            <a:stCxn id="97" idx="4"/>
            <a:endCxn id="96" idx="0"/>
          </p:cNvCxnSpPr>
          <p:nvPr/>
        </p:nvCxnSpPr>
        <p:spPr>
          <a:xfrm>
            <a:off x="8092853" y="4736285"/>
            <a:ext cx="0" cy="85270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5">
            <a:extLst>
              <a:ext uri="{FF2B5EF4-FFF2-40B4-BE49-F238E27FC236}">
                <a16:creationId xmlns:a16="http://schemas.microsoft.com/office/drawing/2014/main" id="{0623F1AC-EEA0-2570-782F-C50CB2095603}"/>
              </a:ext>
            </a:extLst>
          </p:cNvPr>
          <p:cNvSpPr/>
          <p:nvPr/>
        </p:nvSpPr>
        <p:spPr>
          <a:xfrm>
            <a:off x="6662260" y="4915149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00" name="Oval 5">
            <a:extLst>
              <a:ext uri="{FF2B5EF4-FFF2-40B4-BE49-F238E27FC236}">
                <a16:creationId xmlns:a16="http://schemas.microsoft.com/office/drawing/2014/main" id="{5FA470B2-8AAC-CCE8-6A0B-5FD08B7770F7}"/>
              </a:ext>
            </a:extLst>
          </p:cNvPr>
          <p:cNvSpPr/>
          <p:nvPr/>
        </p:nvSpPr>
        <p:spPr>
          <a:xfrm>
            <a:off x="9057154" y="4915148"/>
            <a:ext cx="494975" cy="4949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6E24EB02-F9FA-C85E-FFEF-A944BC543AFC}"/>
              </a:ext>
            </a:extLst>
          </p:cNvPr>
          <p:cNvCxnSpPr>
            <a:stCxn id="99" idx="7"/>
            <a:endCxn id="97" idx="2"/>
          </p:cNvCxnSpPr>
          <p:nvPr/>
        </p:nvCxnSpPr>
        <p:spPr>
          <a:xfrm flipV="1">
            <a:off x="7084748" y="4488798"/>
            <a:ext cx="760617" cy="4988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3D84DF8-5D57-DDE6-A967-9B802950B9B4}"/>
              </a:ext>
            </a:extLst>
          </p:cNvPr>
          <p:cNvCxnSpPr>
            <a:cxnSpLocks/>
            <a:stCxn id="99" idx="5"/>
            <a:endCxn id="96" idx="2"/>
          </p:cNvCxnSpPr>
          <p:nvPr/>
        </p:nvCxnSpPr>
        <p:spPr>
          <a:xfrm>
            <a:off x="7084748" y="5337637"/>
            <a:ext cx="760617" cy="49884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3C270DA-3745-57D8-BEE4-C60E2B979D3A}"/>
              </a:ext>
            </a:extLst>
          </p:cNvPr>
          <p:cNvCxnSpPr>
            <a:cxnSpLocks/>
            <a:stCxn id="97" idx="6"/>
            <a:endCxn id="100" idx="1"/>
          </p:cNvCxnSpPr>
          <p:nvPr/>
        </p:nvCxnSpPr>
        <p:spPr>
          <a:xfrm>
            <a:off x="8340340" y="4488798"/>
            <a:ext cx="789301" cy="49883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2B35E480-6EA6-82A2-566C-2D6D29106DA7}"/>
              </a:ext>
            </a:extLst>
          </p:cNvPr>
          <p:cNvCxnSpPr>
            <a:cxnSpLocks/>
            <a:stCxn id="96" idx="6"/>
            <a:endCxn id="100" idx="3"/>
          </p:cNvCxnSpPr>
          <p:nvPr/>
        </p:nvCxnSpPr>
        <p:spPr>
          <a:xfrm flipV="1">
            <a:off x="8340340" y="5337636"/>
            <a:ext cx="789301" cy="49884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ACE0878-99DA-0681-CEB6-E2A26491701F}"/>
              </a:ext>
            </a:extLst>
          </p:cNvPr>
          <p:cNvSpPr txBox="1"/>
          <p:nvPr/>
        </p:nvSpPr>
        <p:spPr>
          <a:xfrm>
            <a:off x="7197143" y="43942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7090035-41D8-230E-3190-1B6CF3B59A70}"/>
              </a:ext>
            </a:extLst>
          </p:cNvPr>
          <p:cNvSpPr txBox="1"/>
          <p:nvPr/>
        </p:nvSpPr>
        <p:spPr>
          <a:xfrm>
            <a:off x="8682068" y="43669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2D3E683-88F7-CAA1-6806-25D6B2CC31BE}"/>
              </a:ext>
            </a:extLst>
          </p:cNvPr>
          <p:cNvSpPr txBox="1"/>
          <p:nvPr/>
        </p:nvSpPr>
        <p:spPr>
          <a:xfrm>
            <a:off x="7202674" y="55065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A05C9C48-4C50-D514-41F5-57CDACFB4DB7}"/>
              </a:ext>
            </a:extLst>
          </p:cNvPr>
          <p:cNvSpPr txBox="1"/>
          <p:nvPr/>
        </p:nvSpPr>
        <p:spPr>
          <a:xfrm>
            <a:off x="8684491" y="55065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AE7CBC7-6FE4-07CC-8B8E-15D4E33D28A5}"/>
              </a:ext>
            </a:extLst>
          </p:cNvPr>
          <p:cNvSpPr txBox="1"/>
          <p:nvPr/>
        </p:nvSpPr>
        <p:spPr>
          <a:xfrm>
            <a:off x="8129915" y="49646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268ED92-F7F4-6461-07F8-9B6B5F2545EE}"/>
              </a:ext>
            </a:extLst>
          </p:cNvPr>
          <p:cNvSpPr txBox="1"/>
          <p:nvPr/>
        </p:nvSpPr>
        <p:spPr>
          <a:xfrm>
            <a:off x="9947267" y="2442484"/>
            <a:ext cx="2021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 ordered pair:</a:t>
            </a:r>
          </a:p>
          <a:p>
            <a:r>
              <a:rPr lang="en-US" altLang="zh-CN" sz="2000" dirty="0"/>
              <a:t>(2,1) w/ weight 5</a:t>
            </a:r>
            <a:endParaRPr lang="zh-CN" altLang="en-US" sz="20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408825F-A6AE-F54A-A10E-29C25BCAACA8}"/>
              </a:ext>
            </a:extLst>
          </p:cNvPr>
          <p:cNvSpPr txBox="1"/>
          <p:nvPr/>
        </p:nvSpPr>
        <p:spPr>
          <a:xfrm>
            <a:off x="9987759" y="4810335"/>
            <a:ext cx="2021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 ordered pair:</a:t>
            </a:r>
          </a:p>
          <a:p>
            <a:r>
              <a:rPr lang="en-US" altLang="zh-CN" sz="2000" dirty="0"/>
              <a:t>(2,1) w/ weight 3</a:t>
            </a:r>
            <a:endParaRPr lang="zh-CN" altLang="en-US" sz="2000" dirty="0"/>
          </a:p>
        </p:txBody>
      </p:sp>
      <p:sp>
        <p:nvSpPr>
          <p:cNvPr id="112" name="Freeform 44">
            <a:extLst>
              <a:ext uri="{FF2B5EF4-FFF2-40B4-BE49-F238E27FC236}">
                <a16:creationId xmlns:a16="http://schemas.microsoft.com/office/drawing/2014/main" id="{DEE33092-AF32-4515-44A4-BFF5B35ED1F9}"/>
              </a:ext>
            </a:extLst>
          </p:cNvPr>
          <p:cNvSpPr/>
          <p:nvPr/>
        </p:nvSpPr>
        <p:spPr>
          <a:xfrm rot="696417">
            <a:off x="6636897" y="1842056"/>
            <a:ext cx="2797507" cy="1715505"/>
          </a:xfrm>
          <a:custGeom>
            <a:avLst/>
            <a:gdLst>
              <a:gd name="connsiteX0" fmla="*/ 100823 w 6699331"/>
              <a:gd name="connsiteY0" fmla="*/ 0 h 3842951"/>
              <a:gd name="connsiteX1" fmla="*/ 63753 w 6699331"/>
              <a:gd name="connsiteY1" fmla="*/ 691978 h 3842951"/>
              <a:gd name="connsiteX2" fmla="*/ 842228 w 6699331"/>
              <a:gd name="connsiteY2" fmla="*/ 1556951 h 3842951"/>
              <a:gd name="connsiteX3" fmla="*/ 2040834 w 6699331"/>
              <a:gd name="connsiteY3" fmla="*/ 1408670 h 3842951"/>
              <a:gd name="connsiteX4" fmla="*/ 3190012 w 6699331"/>
              <a:gd name="connsiteY4" fmla="*/ 1927654 h 3842951"/>
              <a:gd name="connsiteX5" fmla="*/ 4054985 w 6699331"/>
              <a:gd name="connsiteY5" fmla="*/ 2594919 h 3842951"/>
              <a:gd name="connsiteX6" fmla="*/ 5611937 w 6699331"/>
              <a:gd name="connsiteY6" fmla="*/ 2755557 h 3842951"/>
              <a:gd name="connsiteX7" fmla="*/ 6378055 w 6699331"/>
              <a:gd name="connsiteY7" fmla="*/ 3249827 h 3842951"/>
              <a:gd name="connsiteX8" fmla="*/ 6699331 w 6699331"/>
              <a:gd name="connsiteY8" fmla="*/ 3842951 h 384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99331" h="3842951">
                <a:moveTo>
                  <a:pt x="100823" y="0"/>
                </a:moveTo>
                <a:cubicBezTo>
                  <a:pt x="20504" y="216243"/>
                  <a:pt x="-59814" y="432486"/>
                  <a:pt x="63753" y="691978"/>
                </a:cubicBezTo>
                <a:cubicBezTo>
                  <a:pt x="187320" y="951470"/>
                  <a:pt x="512714" y="1437502"/>
                  <a:pt x="842228" y="1556951"/>
                </a:cubicBezTo>
                <a:cubicBezTo>
                  <a:pt x="1171742" y="1676400"/>
                  <a:pt x="1649537" y="1346886"/>
                  <a:pt x="2040834" y="1408670"/>
                </a:cubicBezTo>
                <a:cubicBezTo>
                  <a:pt x="2432131" y="1470454"/>
                  <a:pt x="2854320" y="1729946"/>
                  <a:pt x="3190012" y="1927654"/>
                </a:cubicBezTo>
                <a:cubicBezTo>
                  <a:pt x="3525704" y="2125362"/>
                  <a:pt x="3651331" y="2456935"/>
                  <a:pt x="4054985" y="2594919"/>
                </a:cubicBezTo>
                <a:cubicBezTo>
                  <a:pt x="4458639" y="2732903"/>
                  <a:pt x="5224759" y="2646406"/>
                  <a:pt x="5611937" y="2755557"/>
                </a:cubicBezTo>
                <a:cubicBezTo>
                  <a:pt x="5999115" y="2864708"/>
                  <a:pt x="6196823" y="3068595"/>
                  <a:pt x="6378055" y="3249827"/>
                </a:cubicBezTo>
                <a:cubicBezTo>
                  <a:pt x="6559287" y="3431059"/>
                  <a:pt x="6699331" y="3842951"/>
                  <a:pt x="6699331" y="3842951"/>
                </a:cubicBezTo>
              </a:path>
            </a:pathLst>
          </a:custGeom>
          <a:noFill/>
          <a:ln w="34925">
            <a:solidFill>
              <a:srgbClr val="CF6E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13" name="Freeform 44">
            <a:extLst>
              <a:ext uri="{FF2B5EF4-FFF2-40B4-BE49-F238E27FC236}">
                <a16:creationId xmlns:a16="http://schemas.microsoft.com/office/drawing/2014/main" id="{2EF2DB4B-CE53-47DE-6235-90B0BA5FDC47}"/>
              </a:ext>
            </a:extLst>
          </p:cNvPr>
          <p:cNvSpPr/>
          <p:nvPr/>
        </p:nvSpPr>
        <p:spPr>
          <a:xfrm rot="7093103">
            <a:off x="6787710" y="4536377"/>
            <a:ext cx="2667652" cy="1517502"/>
          </a:xfrm>
          <a:custGeom>
            <a:avLst/>
            <a:gdLst>
              <a:gd name="connsiteX0" fmla="*/ 100823 w 6699331"/>
              <a:gd name="connsiteY0" fmla="*/ 0 h 3842951"/>
              <a:gd name="connsiteX1" fmla="*/ 63753 w 6699331"/>
              <a:gd name="connsiteY1" fmla="*/ 691978 h 3842951"/>
              <a:gd name="connsiteX2" fmla="*/ 842228 w 6699331"/>
              <a:gd name="connsiteY2" fmla="*/ 1556951 h 3842951"/>
              <a:gd name="connsiteX3" fmla="*/ 2040834 w 6699331"/>
              <a:gd name="connsiteY3" fmla="*/ 1408670 h 3842951"/>
              <a:gd name="connsiteX4" fmla="*/ 3190012 w 6699331"/>
              <a:gd name="connsiteY4" fmla="*/ 1927654 h 3842951"/>
              <a:gd name="connsiteX5" fmla="*/ 4054985 w 6699331"/>
              <a:gd name="connsiteY5" fmla="*/ 2594919 h 3842951"/>
              <a:gd name="connsiteX6" fmla="*/ 5611937 w 6699331"/>
              <a:gd name="connsiteY6" fmla="*/ 2755557 h 3842951"/>
              <a:gd name="connsiteX7" fmla="*/ 6378055 w 6699331"/>
              <a:gd name="connsiteY7" fmla="*/ 3249827 h 3842951"/>
              <a:gd name="connsiteX8" fmla="*/ 6699331 w 6699331"/>
              <a:gd name="connsiteY8" fmla="*/ 3842951 h 384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99331" h="3842951">
                <a:moveTo>
                  <a:pt x="100823" y="0"/>
                </a:moveTo>
                <a:cubicBezTo>
                  <a:pt x="20504" y="216243"/>
                  <a:pt x="-59814" y="432486"/>
                  <a:pt x="63753" y="691978"/>
                </a:cubicBezTo>
                <a:cubicBezTo>
                  <a:pt x="187320" y="951470"/>
                  <a:pt x="512714" y="1437502"/>
                  <a:pt x="842228" y="1556951"/>
                </a:cubicBezTo>
                <a:cubicBezTo>
                  <a:pt x="1171742" y="1676400"/>
                  <a:pt x="1649537" y="1346886"/>
                  <a:pt x="2040834" y="1408670"/>
                </a:cubicBezTo>
                <a:cubicBezTo>
                  <a:pt x="2432131" y="1470454"/>
                  <a:pt x="2854320" y="1729946"/>
                  <a:pt x="3190012" y="1927654"/>
                </a:cubicBezTo>
                <a:cubicBezTo>
                  <a:pt x="3525704" y="2125362"/>
                  <a:pt x="3651331" y="2456935"/>
                  <a:pt x="4054985" y="2594919"/>
                </a:cubicBezTo>
                <a:cubicBezTo>
                  <a:pt x="4458639" y="2732903"/>
                  <a:pt x="5224759" y="2646406"/>
                  <a:pt x="5611937" y="2755557"/>
                </a:cubicBezTo>
                <a:cubicBezTo>
                  <a:pt x="5999115" y="2864708"/>
                  <a:pt x="6196823" y="3068595"/>
                  <a:pt x="6378055" y="3249827"/>
                </a:cubicBezTo>
                <a:cubicBezTo>
                  <a:pt x="6559287" y="3431059"/>
                  <a:pt x="6699331" y="3842951"/>
                  <a:pt x="6699331" y="3842951"/>
                </a:cubicBezTo>
              </a:path>
            </a:pathLst>
          </a:custGeom>
          <a:noFill/>
          <a:ln w="34925">
            <a:solidFill>
              <a:srgbClr val="CF6E6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9ACC581-9AEE-0060-E5BB-245A55C6347C}"/>
                  </a:ext>
                </a:extLst>
              </p:cNvPr>
              <p:cNvSpPr txBox="1"/>
              <p:nvPr/>
            </p:nvSpPr>
            <p:spPr>
              <a:xfrm>
                <a:off x="10369003" y="3454194"/>
                <a:ext cx="9200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𝑣𝑎𝑙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9ACC581-9AEE-0060-E5BB-245A55C63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003" y="3454194"/>
                <a:ext cx="920060" cy="307777"/>
              </a:xfrm>
              <a:prstGeom prst="rect">
                <a:avLst/>
              </a:prstGeom>
              <a:blipFill>
                <a:blip r:embed="rId3"/>
                <a:stretch>
                  <a:fillRect l="-5960" r="-4636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A7A5C78B-A644-311C-FE83-19E23EB0D7CC}"/>
                  </a:ext>
                </a:extLst>
              </p:cNvPr>
              <p:cNvSpPr txBox="1"/>
              <p:nvPr/>
            </p:nvSpPr>
            <p:spPr>
              <a:xfrm>
                <a:off x="7911123" y="5769573"/>
                <a:ext cx="60939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𝑣𝑎𝑙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A7A5C78B-A644-311C-FE83-19E23EB0D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123" y="5769573"/>
                <a:ext cx="609399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02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77" grpId="0"/>
      <p:bldP spid="78" grpId="0"/>
      <p:bldP spid="79" grpId="0"/>
      <p:bldP spid="80" grpId="0"/>
      <p:bldP spid="81" grpId="0"/>
      <p:bldP spid="96" grpId="0" animBg="1"/>
      <p:bldP spid="97" grpId="0" animBg="1"/>
      <p:bldP spid="99" grpId="0" animBg="1"/>
      <p:bldP spid="100" grpId="0" animBg="1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 animBg="1"/>
      <p:bldP spid="113" grpId="0" animBg="1"/>
      <p:bldP spid="114" grpId="0"/>
      <p:bldP spid="1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850F9-D49F-01DC-12A6-517E6AC4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Q5 -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7536529-C6BC-BD44-2EA1-9ED8A173E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13513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Every assignment can be represented by a cut</a:t>
                </a:r>
              </a:p>
              <a:p>
                <a:pPr lvl="1"/>
                <a:r>
                  <a:rPr lang="en-US" altLang="zh-CN" dirty="0"/>
                  <a:t>w/ the same value</a:t>
                </a:r>
              </a:p>
              <a:p>
                <a:pPr lvl="1"/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/>
                  <a:t>, we cut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b="0" dirty="0"/>
                  <a:t>; otherwise we cut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en-US" altLang="zh-CN" dirty="0"/>
                  <a:t>For ordered pair: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, we need to cut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Then, we can show that there is no path from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Every cut can be decoded as an assignment</a:t>
                </a:r>
              </a:p>
              <a:p>
                <a:pPr lvl="1"/>
                <a:r>
                  <a:rPr lang="en-US" altLang="zh-CN" dirty="0"/>
                  <a:t>w/ cost no greater than the value of this cut</a:t>
                </a:r>
              </a:p>
              <a:p>
                <a:pPr lvl="1"/>
                <a:r>
                  <a:rPr lang="en-US" altLang="zh-CN" dirty="0"/>
                  <a:t>We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reachable from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 (let the set be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lvl="1"/>
                <a:r>
                  <a:rPr lang="en-US" altLang="zh-CN" dirty="0"/>
                  <a:t>Costs on single variables: simple as we must cut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and cut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Costs on pairs: happen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(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)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must appear in cut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7536529-C6BC-BD44-2EA1-9ED8A173E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135130"/>
              </a:xfrm>
              <a:blipFill>
                <a:blip r:embed="rId2"/>
                <a:stretch>
                  <a:fillRect l="-1043" t="-2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42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5A27E-7B6E-20F3-198F-48493C7A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2A51F9-1D16-834C-A0F6-2F31CC314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289703-21D1-F7FA-EDB7-F32AD482B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815" y="2639028"/>
            <a:ext cx="5362288" cy="285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02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7470</TotalTime>
  <Words>2953</Words>
  <Application>Microsoft Office PowerPoint</Application>
  <PresentationFormat>宽屏</PresentationFormat>
  <Paragraphs>533</Paragraphs>
  <Slides>54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1" baseType="lpstr">
      <vt:lpstr>等线</vt:lpstr>
      <vt:lpstr>等线 Light</vt:lpstr>
      <vt:lpstr>Arial</vt:lpstr>
      <vt:lpstr>Calibri</vt:lpstr>
      <vt:lpstr>Cambria Math</vt:lpstr>
      <vt:lpstr>Roboto</vt:lpstr>
      <vt:lpstr>Office 主题​​</vt:lpstr>
      <vt:lpstr>Final Review II CS 161 Winter 25 </vt:lpstr>
      <vt:lpstr>PowerPoint 演示文稿</vt:lpstr>
      <vt:lpstr>What are the main focuses in final?</vt:lpstr>
      <vt:lpstr>PowerPoint 演示文稿</vt:lpstr>
      <vt:lpstr>Today’s Agenda</vt:lpstr>
      <vt:lpstr>Hashing</vt:lpstr>
      <vt:lpstr>Balanced BST vs Hashing</vt:lpstr>
      <vt:lpstr>Goal of Hashing</vt:lpstr>
      <vt:lpstr>Runtimes</vt:lpstr>
      <vt:lpstr>Universal Hash Families</vt:lpstr>
      <vt:lpstr>Problem-Solving Tips for Hashing</vt:lpstr>
      <vt:lpstr>Greedy</vt:lpstr>
      <vt:lpstr>Definition</vt:lpstr>
      <vt:lpstr>One Common strategy (formally) for greedy algorithms</vt:lpstr>
      <vt:lpstr>One Common strategy for showing we don’t rule out success</vt:lpstr>
      <vt:lpstr>Example: Activity Selection</vt:lpstr>
      <vt:lpstr>Practice Problems in Exams</vt:lpstr>
      <vt:lpstr>Practice Problems in Exams</vt:lpstr>
      <vt:lpstr>Problem-Solving Tips for Greedy</vt:lpstr>
      <vt:lpstr>Graphs</vt:lpstr>
      <vt:lpstr>For every graph algorithm …</vt:lpstr>
      <vt:lpstr>Concepts</vt:lpstr>
      <vt:lpstr>Strongly Connected Component (SCC)</vt:lpstr>
      <vt:lpstr>Kosaraju's Algorithm</vt:lpstr>
      <vt:lpstr>Dijkstra</vt:lpstr>
      <vt:lpstr>Bellman-Ford</vt:lpstr>
      <vt:lpstr>Floyd-Warshall</vt:lpstr>
      <vt:lpstr>Prim</vt:lpstr>
      <vt:lpstr>Kruskal</vt:lpstr>
      <vt:lpstr>Max Flow</vt:lpstr>
      <vt:lpstr>Max Flow A flow of maximum value</vt:lpstr>
      <vt:lpstr>Min Cut A minimum cut separating s from t</vt:lpstr>
      <vt:lpstr>Ford-Fulkerson</vt:lpstr>
      <vt:lpstr>Maximum Bipartite Matching</vt:lpstr>
      <vt:lpstr>Additional Tips</vt:lpstr>
      <vt:lpstr>Draw Examples for … </vt:lpstr>
      <vt:lpstr>Final tips</vt:lpstr>
      <vt:lpstr>More Exercises</vt:lpstr>
      <vt:lpstr>Final 2024 – Q5.1</vt:lpstr>
      <vt:lpstr>Final 2024 – Q5.2</vt:lpstr>
      <vt:lpstr>Final 2024 – Q5.3</vt:lpstr>
      <vt:lpstr>Q1 </vt:lpstr>
      <vt:lpstr>Q1 - Solution</vt:lpstr>
      <vt:lpstr>Q2</vt:lpstr>
      <vt:lpstr>Q2 - Solution</vt:lpstr>
      <vt:lpstr>Q3</vt:lpstr>
      <vt:lpstr>Q3 - Solution</vt:lpstr>
      <vt:lpstr>Q4</vt:lpstr>
      <vt:lpstr>Q4 - Solution</vt:lpstr>
      <vt:lpstr>Q4 - Solution</vt:lpstr>
      <vt:lpstr>Q5</vt:lpstr>
      <vt:lpstr>Q5 - Solution</vt:lpstr>
      <vt:lpstr>Q5 - Solution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Ruiquan Gao</dc:creator>
  <cp:lastModifiedBy>rqgao</cp:lastModifiedBy>
  <cp:revision>806</cp:revision>
  <dcterms:created xsi:type="dcterms:W3CDTF">2024-05-14T07:47:38Z</dcterms:created>
  <dcterms:modified xsi:type="dcterms:W3CDTF">2025-03-14T18:59:47Z</dcterms:modified>
</cp:coreProperties>
</file>