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E0F84B-326E-49E8-AF4F-64E728882638}">
  <a:tblStyle styleId="{C6E0F84B-326E-49E8-AF4F-64E72888263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FEB"/>
          </a:solidFill>
        </a:fill>
      </a:tcStyle>
    </a:wholeTbl>
    <a:band1H>
      <a:tcTxStyle b="off" i="off"/>
      <a:tcStyle>
        <a:fill>
          <a:solidFill>
            <a:srgbClr val="CBDDD5"/>
          </a:solidFill>
        </a:fill>
      </a:tcStyle>
    </a:band1H>
    <a:band2H>
      <a:tcTxStyle b="off" i="off"/>
    </a:band2H>
    <a:band1V>
      <a:tcTxStyle b="off" i="off"/>
      <a:tcStyle>
        <a:fill>
          <a:solidFill>
            <a:srgbClr val="CBDDD5"/>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78bd29d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b78bd29d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4d01889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b4d01889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4d018898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b4d018898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4d018898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b4d018898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4d018898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b4d018898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4d018898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b4d018898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4d018898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4d018898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4d018898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4d018898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4d018898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b4d018898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4d018898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b4d018898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4d018898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b4d018898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4d0188987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b4d0188987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4d018898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4d018898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4d0188987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b4d0188987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b4d018898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b4d018898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4d018898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b4d018898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b4d0188987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b4d0188987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4d018898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4d018898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4d018898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b4d018898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78d230c7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78d230c7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78d230c7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b78d230c7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b78d230c7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b78d230c7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78d230c7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b78d230c7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78d230c7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b78d230c7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78d230c7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78d230c7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78d230c7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78d230c7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78d230c7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b78d230c7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78d230c7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b78d230c7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504179cc6_0_3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g3b504179cc6_0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b504179cc6_0_3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3b504179cc6_0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b504179cc6_0_3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g3b504179cc6_0_3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b504179cc6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g3b504179cc6_0_4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504179cc6_0_4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g3b504179cc6_0_4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504179cc6_0_4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3b504179cc6_0_4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504179cc6_0_4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g3b504179cc6_0_4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504179cc6_0_4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g3b504179cc6_0_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b504179cc6_0_4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g3b504179cc6_0_4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b504179cc6_0_4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g3b504179cc6_0_4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b504179cc6_0_4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g3b504179cc6_0_4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504179cc6_0_5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504179cc6_0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b504179cc6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3" name="Google Shape;523;g3b504179cc6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b504179cc6_0_5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g3b504179cc6_0_5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504179cc6_0_5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b504179cc6_0_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b504179cc6_0_5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g3b504179cc6_0_5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b504179cc6_0_5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g3b504179cc6_0_5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b504179cc6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g3b504179cc6_0_5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b504179cc6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g3b504179cc6_0_5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b504179cc6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g3b504179cc6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504179cc6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g3b504179cc6_0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b504179cc6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g3b504179cc6_0_5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b504179cc6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g3b504179cc6_0_5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b504179cc6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 name="Google Shape;605;g3b504179cc6_0_5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b504179cc6_0_5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g3b504179cc6_0_5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b78bd29d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b78bd29d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b78bd29d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b78bd29da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4"/>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4"/>
          <p:cNvSpPr txBox="1"/>
          <p:nvPr>
            <p:ph idx="1" type="body"/>
          </p:nvPr>
        </p:nvSpPr>
        <p:spPr>
          <a:xfrm>
            <a:off x="623888" y="3442098"/>
            <a:ext cx="7886700" cy="112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0" name="Google Shape;60;p1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p1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5"/>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1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p16"/>
          <p:cNvSpPr txBox="1"/>
          <p:nvPr>
            <p:ph type="ctrTitle"/>
          </p:nvPr>
        </p:nvSpPr>
        <p:spPr>
          <a:xfrm>
            <a:off x="685800" y="841772"/>
            <a:ext cx="77724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
          <p:cNvSpPr txBox="1"/>
          <p:nvPr>
            <p:ph idx="1" type="subTitle"/>
          </p:nvPr>
        </p:nvSpPr>
        <p:spPr>
          <a:xfrm>
            <a:off x="1143000" y="2701529"/>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2" name="Google Shape;72;p1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7"/>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7"/>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7"/>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18"/>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8"/>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5" name="Google Shape;85;p18"/>
          <p:cNvSpPr txBox="1"/>
          <p:nvPr>
            <p:ph idx="2" type="body"/>
          </p:nvPr>
        </p:nvSpPr>
        <p:spPr>
          <a:xfrm>
            <a:off x="629842" y="1878806"/>
            <a:ext cx="3868200" cy="2763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8"/>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7" name="Google Shape;87;p18"/>
          <p:cNvSpPr txBox="1"/>
          <p:nvPr>
            <p:ph idx="4" type="body"/>
          </p:nvPr>
        </p:nvSpPr>
        <p:spPr>
          <a:xfrm>
            <a:off x="4629150" y="1878806"/>
            <a:ext cx="3887400" cy="2763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1"/>
          <p:cNvSpPr txBox="1"/>
          <p:nvPr>
            <p:ph idx="1" type="body"/>
          </p:nvPr>
        </p:nvSpPr>
        <p:spPr>
          <a:xfrm>
            <a:off x="3887391" y="740570"/>
            <a:ext cx="4629300" cy="36552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03" name="Google Shape;103;p21"/>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4" name="Google Shape;104;p2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2"/>
          <p:cNvSpPr/>
          <p:nvPr>
            <p:ph idx="2" type="pic"/>
          </p:nvPr>
        </p:nvSpPr>
        <p:spPr>
          <a:xfrm>
            <a:off x="3887391" y="740570"/>
            <a:ext cx="4629300" cy="3655200"/>
          </a:xfrm>
          <a:prstGeom prst="rect">
            <a:avLst/>
          </a:prstGeom>
          <a:noFill/>
          <a:ln>
            <a:noFill/>
          </a:ln>
        </p:spPr>
      </p:sp>
      <p:sp>
        <p:nvSpPr>
          <p:cNvPr id="110" name="Google Shape;110;p22"/>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1" name="Google Shape;111;p2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3"/>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2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350051" y="1467544"/>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4"/>
          <p:cNvSpPr txBox="1"/>
          <p:nvPr>
            <p:ph idx="1" type="body"/>
          </p:nvPr>
        </p:nvSpPr>
        <p:spPr>
          <a:xfrm rot="5400000">
            <a:off x="1349475" y="-447057"/>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2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2" name="Shape 132"/>
        <p:cNvGrpSpPr/>
        <p:nvPr/>
      </p:nvGrpSpPr>
      <p:grpSpPr>
        <a:xfrm>
          <a:off x="0" y="0"/>
          <a:ext cx="0" cy="0"/>
          <a:chOff x="0" y="0"/>
          <a:chExt cx="0" cy="0"/>
        </a:xfrm>
      </p:grpSpPr>
      <p:sp>
        <p:nvSpPr>
          <p:cNvPr id="133" name="Google Shape;133;p26"/>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6"/>
          <p:cNvSpPr txBox="1"/>
          <p:nvPr>
            <p:ph idx="1" type="subTitle"/>
          </p:nvPr>
        </p:nvSpPr>
        <p:spPr>
          <a:xfrm>
            <a:off x="1143000" y="2701529"/>
            <a:ext cx="6858000" cy="1241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35" name="Google Shape;135;p2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2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8" name="Shape 138"/>
        <p:cNvGrpSpPr/>
        <p:nvPr/>
      </p:nvGrpSpPr>
      <p:grpSpPr>
        <a:xfrm>
          <a:off x="0" y="0"/>
          <a:ext cx="0" cy="0"/>
          <a:chOff x="0" y="0"/>
          <a:chExt cx="0" cy="0"/>
        </a:xfrm>
      </p:grpSpPr>
      <p:sp>
        <p:nvSpPr>
          <p:cNvPr id="139" name="Google Shape;139;p27"/>
          <p:cNvSpPr txBox="1"/>
          <p:nvPr>
            <p:ph type="title"/>
          </p:nvPr>
        </p:nvSpPr>
        <p:spPr>
          <a:xfrm>
            <a:off x="623888" y="1282304"/>
            <a:ext cx="7886700" cy="2139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7"/>
          <p:cNvSpPr txBox="1"/>
          <p:nvPr>
            <p:ph idx="1" type="body"/>
          </p:nvPr>
        </p:nvSpPr>
        <p:spPr>
          <a:xfrm>
            <a:off x="623888" y="3442098"/>
            <a:ext cx="7886700" cy="1125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141" name="Google Shape;141;p27"/>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7"/>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27"/>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4" name="Shape 144"/>
        <p:cNvGrpSpPr/>
        <p:nvPr/>
      </p:nvGrpSpPr>
      <p:grpSpPr>
        <a:xfrm>
          <a:off x="0" y="0"/>
          <a:ext cx="0" cy="0"/>
          <a:chOff x="0" y="0"/>
          <a:chExt cx="0" cy="0"/>
        </a:xfrm>
      </p:grpSpPr>
      <p:sp>
        <p:nvSpPr>
          <p:cNvPr id="145" name="Google Shape;145;p28"/>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8"/>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7" name="Google Shape;147;p28"/>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8"/>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0" name="Shape 150"/>
        <p:cNvGrpSpPr/>
        <p:nvPr/>
      </p:nvGrpSpPr>
      <p:grpSpPr>
        <a:xfrm>
          <a:off x="0" y="0"/>
          <a:ext cx="0" cy="0"/>
          <a:chOff x="0" y="0"/>
          <a:chExt cx="0" cy="0"/>
        </a:xfrm>
      </p:grpSpPr>
      <p:sp>
        <p:nvSpPr>
          <p:cNvPr id="151" name="Google Shape;151;p2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9"/>
          <p:cNvSpPr txBox="1"/>
          <p:nvPr>
            <p:ph idx="1" type="body"/>
          </p:nvPr>
        </p:nvSpPr>
        <p:spPr>
          <a:xfrm>
            <a:off x="6286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3" name="Google Shape;153;p29"/>
          <p:cNvSpPr txBox="1"/>
          <p:nvPr>
            <p:ph idx="2" type="body"/>
          </p:nvPr>
        </p:nvSpPr>
        <p:spPr>
          <a:xfrm>
            <a:off x="4629150" y="1369219"/>
            <a:ext cx="3886200" cy="3263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4" name="Google Shape;154;p29"/>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29"/>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2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7" name="Shape 157"/>
        <p:cNvGrpSpPr/>
        <p:nvPr/>
      </p:nvGrpSpPr>
      <p:grpSpPr>
        <a:xfrm>
          <a:off x="0" y="0"/>
          <a:ext cx="0" cy="0"/>
          <a:chOff x="0" y="0"/>
          <a:chExt cx="0" cy="0"/>
        </a:xfrm>
      </p:grpSpPr>
      <p:sp>
        <p:nvSpPr>
          <p:cNvPr id="158" name="Google Shape;158;p30"/>
          <p:cNvSpPr txBox="1"/>
          <p:nvPr>
            <p:ph type="title"/>
          </p:nvPr>
        </p:nvSpPr>
        <p:spPr>
          <a:xfrm>
            <a:off x="629841"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0"/>
          <p:cNvSpPr txBox="1"/>
          <p:nvPr>
            <p:ph idx="1" type="body"/>
          </p:nvPr>
        </p:nvSpPr>
        <p:spPr>
          <a:xfrm>
            <a:off x="629842" y="1260872"/>
            <a:ext cx="38682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60" name="Google Shape;160;p30"/>
          <p:cNvSpPr txBox="1"/>
          <p:nvPr>
            <p:ph idx="2" type="body"/>
          </p:nvPr>
        </p:nvSpPr>
        <p:spPr>
          <a:xfrm>
            <a:off x="629842" y="1878806"/>
            <a:ext cx="3868200" cy="2763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1" name="Google Shape;161;p30"/>
          <p:cNvSpPr txBox="1"/>
          <p:nvPr>
            <p:ph idx="3" type="body"/>
          </p:nvPr>
        </p:nvSpPr>
        <p:spPr>
          <a:xfrm>
            <a:off x="4629150" y="1260872"/>
            <a:ext cx="3887400" cy="6180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62" name="Google Shape;162;p30"/>
          <p:cNvSpPr txBox="1"/>
          <p:nvPr>
            <p:ph idx="4" type="body"/>
          </p:nvPr>
        </p:nvSpPr>
        <p:spPr>
          <a:xfrm>
            <a:off x="4629150" y="1878806"/>
            <a:ext cx="3887400" cy="2763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63" name="Google Shape;163;p30"/>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30"/>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3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6" name="Shape 166"/>
        <p:cNvGrpSpPr/>
        <p:nvPr/>
      </p:nvGrpSpPr>
      <p:grpSpPr>
        <a:xfrm>
          <a:off x="0" y="0"/>
          <a:ext cx="0" cy="0"/>
          <a:chOff x="0" y="0"/>
          <a:chExt cx="0" cy="0"/>
        </a:xfrm>
      </p:grpSpPr>
      <p:sp>
        <p:nvSpPr>
          <p:cNvPr id="167" name="Google Shape;167;p31"/>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31"/>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31"/>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1"/>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1" name="Shape 171"/>
        <p:cNvGrpSpPr/>
        <p:nvPr/>
      </p:nvGrpSpPr>
      <p:grpSpPr>
        <a:xfrm>
          <a:off x="0" y="0"/>
          <a:ext cx="0" cy="0"/>
          <a:chOff x="0" y="0"/>
          <a:chExt cx="0" cy="0"/>
        </a:xfrm>
      </p:grpSpPr>
      <p:sp>
        <p:nvSpPr>
          <p:cNvPr id="172" name="Google Shape;172;p32"/>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32"/>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4" name="Google Shape;174;p3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5" name="Shape 175"/>
        <p:cNvGrpSpPr/>
        <p:nvPr/>
      </p:nvGrpSpPr>
      <p:grpSpPr>
        <a:xfrm>
          <a:off x="0" y="0"/>
          <a:ext cx="0" cy="0"/>
          <a:chOff x="0" y="0"/>
          <a:chExt cx="0" cy="0"/>
        </a:xfrm>
      </p:grpSpPr>
      <p:sp>
        <p:nvSpPr>
          <p:cNvPr id="176" name="Google Shape;176;p33"/>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33"/>
          <p:cNvSpPr txBox="1"/>
          <p:nvPr>
            <p:ph idx="1" type="body"/>
          </p:nvPr>
        </p:nvSpPr>
        <p:spPr>
          <a:xfrm>
            <a:off x="3887391" y="740570"/>
            <a:ext cx="4629300" cy="365520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78" name="Google Shape;178;p33"/>
          <p:cNvSpPr txBox="1"/>
          <p:nvPr>
            <p:ph idx="2"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79" name="Google Shape;179;p3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3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3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2" name="Shape 182"/>
        <p:cNvGrpSpPr/>
        <p:nvPr/>
      </p:nvGrpSpPr>
      <p:grpSpPr>
        <a:xfrm>
          <a:off x="0" y="0"/>
          <a:ext cx="0" cy="0"/>
          <a:chOff x="0" y="0"/>
          <a:chExt cx="0" cy="0"/>
        </a:xfrm>
      </p:grpSpPr>
      <p:sp>
        <p:nvSpPr>
          <p:cNvPr id="183" name="Google Shape;183;p34"/>
          <p:cNvSpPr txBox="1"/>
          <p:nvPr>
            <p:ph type="title"/>
          </p:nvPr>
        </p:nvSpPr>
        <p:spPr>
          <a:xfrm>
            <a:off x="629841" y="342900"/>
            <a:ext cx="2949300" cy="12003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4"/>
          <p:cNvSpPr/>
          <p:nvPr>
            <p:ph idx="2" type="pic"/>
          </p:nvPr>
        </p:nvSpPr>
        <p:spPr>
          <a:xfrm>
            <a:off x="3887391" y="740570"/>
            <a:ext cx="4629300" cy="3655200"/>
          </a:xfrm>
          <a:prstGeom prst="rect">
            <a:avLst/>
          </a:prstGeom>
          <a:noFill/>
          <a:ln>
            <a:noFill/>
          </a:ln>
        </p:spPr>
      </p:sp>
      <p:sp>
        <p:nvSpPr>
          <p:cNvPr id="185" name="Google Shape;185;p34"/>
          <p:cNvSpPr txBox="1"/>
          <p:nvPr>
            <p:ph idx="1" type="body"/>
          </p:nvPr>
        </p:nvSpPr>
        <p:spPr>
          <a:xfrm>
            <a:off x="629841" y="1543050"/>
            <a:ext cx="2949300" cy="2858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86" name="Google Shape;186;p34"/>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34"/>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34"/>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9" name="Shape 189"/>
        <p:cNvGrpSpPr/>
        <p:nvPr/>
      </p:nvGrpSpPr>
      <p:grpSpPr>
        <a:xfrm>
          <a:off x="0" y="0"/>
          <a:ext cx="0" cy="0"/>
          <a:chOff x="0" y="0"/>
          <a:chExt cx="0" cy="0"/>
        </a:xfrm>
      </p:grpSpPr>
      <p:sp>
        <p:nvSpPr>
          <p:cNvPr id="190" name="Google Shape;190;p3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5"/>
          <p:cNvSpPr txBox="1"/>
          <p:nvPr>
            <p:ph idx="1" type="body"/>
          </p:nvPr>
        </p:nvSpPr>
        <p:spPr>
          <a:xfrm rot="5400000">
            <a:off x="2940300" y="-942431"/>
            <a:ext cx="326340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2" name="Google Shape;192;p3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3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3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5" name="Shape 195"/>
        <p:cNvGrpSpPr/>
        <p:nvPr/>
      </p:nvGrpSpPr>
      <p:grpSpPr>
        <a:xfrm>
          <a:off x="0" y="0"/>
          <a:ext cx="0" cy="0"/>
          <a:chOff x="0" y="0"/>
          <a:chExt cx="0" cy="0"/>
        </a:xfrm>
      </p:grpSpPr>
      <p:sp>
        <p:nvSpPr>
          <p:cNvPr id="196" name="Google Shape;196;p36"/>
          <p:cNvSpPr txBox="1"/>
          <p:nvPr>
            <p:ph type="title"/>
          </p:nvPr>
        </p:nvSpPr>
        <p:spPr>
          <a:xfrm rot="5400000">
            <a:off x="5350051" y="1467544"/>
            <a:ext cx="4359000" cy="19716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36"/>
          <p:cNvSpPr txBox="1"/>
          <p:nvPr>
            <p:ph idx="1" type="body"/>
          </p:nvPr>
        </p:nvSpPr>
        <p:spPr>
          <a:xfrm rot="5400000">
            <a:off x="1349475" y="-447057"/>
            <a:ext cx="4359000" cy="5800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8" name="Google Shape;198;p36"/>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36"/>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36"/>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3"/>
          <p:cNvSpPr txBox="1"/>
          <p:nvPr/>
        </p:nvSpPr>
        <p:spPr>
          <a:xfrm>
            <a:off x="0" y="0"/>
            <a:ext cx="2057400" cy="273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rgbClr val="A5A5A5"/>
                </a:solidFill>
                <a:latin typeface="Calibri"/>
                <a:ea typeface="Calibri"/>
                <a:cs typeface="Calibri"/>
                <a:sym typeface="Calibri"/>
              </a:rPr>
              <a:t>‹#›</a:t>
            </a:fld>
            <a:endParaRPr b="0" i="0" sz="1200" u="none" cap="none" strike="noStrike">
              <a:solidFill>
                <a:srgbClr val="A5A5A5"/>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2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 name="Google Shape;128;p25"/>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lvl1pPr indent="-361950" lvl="0" marL="457200" marR="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9" name="Google Shape;129;p25"/>
          <p:cNvSpPr txBox="1"/>
          <p:nvPr>
            <p:ph idx="10" type="dt"/>
          </p:nvPr>
        </p:nvSpPr>
        <p:spPr>
          <a:xfrm>
            <a:off x="628650" y="4767263"/>
            <a:ext cx="2057400" cy="2739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0" name="Google Shape;130;p25"/>
          <p:cNvSpPr txBox="1"/>
          <p:nvPr>
            <p:ph idx="11" type="ftr"/>
          </p:nvPr>
        </p:nvSpPr>
        <p:spPr>
          <a:xfrm>
            <a:off x="3028950" y="4767263"/>
            <a:ext cx="3086100" cy="2739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1" name="Google Shape;131;p2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math.dartmouth.edu/archive/m25f19/public_html/Documents/InductionPractice_solns.pdf" TargetMode="External"/><Relationship Id="rId4" Type="http://schemas.openxmlformats.org/officeDocument/2006/relationships/hyperlink" Target="https://math.stackexchange.com/questions/1877253/triangulation-of-a-simple-polygon-elementary-proof" TargetMode="External"/><Relationship Id="rId5" Type="http://schemas.openxmlformats.org/officeDocument/2006/relationships/hyperlink" Target="https://www.cut-the-knot.org/Curriculum/Geometry/TwoColorColoring.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10.png"/><Relationship Id="rId10" Type="http://schemas.openxmlformats.org/officeDocument/2006/relationships/image" Target="../media/image3.png"/><Relationship Id="rId9" Type="http://schemas.openxmlformats.org/officeDocument/2006/relationships/image" Target="../media/image30.png"/><Relationship Id="rId5" Type="http://schemas.openxmlformats.org/officeDocument/2006/relationships/image" Target="../media/image16.png"/><Relationship Id="rId6" Type="http://schemas.openxmlformats.org/officeDocument/2006/relationships/image" Target="../media/image18.png"/><Relationship Id="rId7" Type="http://schemas.openxmlformats.org/officeDocument/2006/relationships/image" Target="../media/image5.png"/><Relationship Id="rId8"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2.png"/><Relationship Id="rId5" Type="http://schemas.openxmlformats.org/officeDocument/2006/relationships/image" Target="../media/image26.png"/><Relationship Id="rId6"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34.png"/><Relationship Id="rId7"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37.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24.png"/><Relationship Id="rId7"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1 Review: Induction</a:t>
            </a:r>
            <a:endParaRPr/>
          </a:p>
        </p:txBody>
      </p:sp>
      <p:sp>
        <p:nvSpPr>
          <p:cNvPr id="206" name="Google Shape;206;p37"/>
          <p:cNvSpPr txBox="1"/>
          <p:nvPr>
            <p:ph idx="1" type="subTitle"/>
          </p:nvPr>
        </p:nvSpPr>
        <p:spPr>
          <a:xfrm>
            <a:off x="311700" y="2834125"/>
            <a:ext cx="8520600" cy="13770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CS161 Winter 2026</a:t>
            </a:r>
            <a:endParaRPr/>
          </a:p>
          <a:p>
            <a:pPr indent="0" lvl="0" marL="0" rtl="0" algn="ctr">
              <a:spcBef>
                <a:spcPts val="0"/>
              </a:spcBef>
              <a:spcAft>
                <a:spcPts val="0"/>
              </a:spcAft>
              <a:buNone/>
            </a:pPr>
            <a:r>
              <a:rPr lang="en"/>
              <a:t>Zoe Wefers</a:t>
            </a:r>
            <a:endParaRPr/>
          </a:p>
          <a:p>
            <a:pPr indent="0" lvl="0" marL="0" rtl="0" algn="ctr">
              <a:spcBef>
                <a:spcPts val="0"/>
              </a:spcBef>
              <a:spcAft>
                <a:spcPts val="0"/>
              </a:spcAft>
              <a:buNone/>
            </a:pPr>
            <a:r>
              <a:rPr lang="en"/>
              <a:t>01-09-2026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Week 1 Review: Induction</a:t>
            </a:r>
            <a:endParaRPr/>
          </a:p>
        </p:txBody>
      </p:sp>
      <p:sp>
        <p:nvSpPr>
          <p:cNvPr id="212" name="Google Shape;212;p38"/>
          <p:cNvSpPr txBox="1"/>
          <p:nvPr>
            <p:ph idx="1" type="subTitle"/>
          </p:nvPr>
        </p:nvSpPr>
        <p:spPr>
          <a:xfrm>
            <a:off x="311700" y="2834125"/>
            <a:ext cx="8520600" cy="13770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CS161 Winter 2026</a:t>
            </a:r>
            <a:endParaRPr/>
          </a:p>
          <a:p>
            <a:pPr indent="0" lvl="0" marL="0" rtl="0" algn="ctr">
              <a:spcBef>
                <a:spcPts val="0"/>
              </a:spcBef>
              <a:spcAft>
                <a:spcPts val="0"/>
              </a:spcAft>
              <a:buNone/>
            </a:pPr>
            <a:r>
              <a:rPr lang="en"/>
              <a:t>Zoe Wefers</a:t>
            </a:r>
            <a:endParaRPr/>
          </a:p>
          <a:p>
            <a:pPr indent="0" lvl="0" marL="0" rtl="0" algn="ctr">
              <a:spcBef>
                <a:spcPts val="0"/>
              </a:spcBef>
              <a:spcAft>
                <a:spcPts val="0"/>
              </a:spcAft>
              <a:buNone/>
            </a:pPr>
            <a:r>
              <a:rPr lang="en"/>
              <a:t>01-09-2026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a:t>
            </a:r>
            <a:r>
              <a:rPr lang="en"/>
              <a:t> is Induction?</a:t>
            </a:r>
            <a:endParaRPr/>
          </a:p>
        </p:txBody>
      </p:sp>
      <p:sp>
        <p:nvSpPr>
          <p:cNvPr id="218" name="Google Shape;21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Induction is a powerful and elegant proof technique for specific type of </a:t>
            </a:r>
            <a:r>
              <a:rPr lang="en"/>
              <a:t>mathematical</a:t>
            </a:r>
            <a:r>
              <a:rPr lang="en"/>
              <a:t> statements (ones true for all positive integers)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Induction naturally builds on our intuition to “try out examples” when presented with a new problem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a:t>
            </a:r>
            <a:r>
              <a:rPr lang="en"/>
              <a:t> to </a:t>
            </a:r>
            <a:r>
              <a:rPr lang="en"/>
              <a:t>construct</a:t>
            </a:r>
            <a:r>
              <a:rPr lang="en"/>
              <a:t> an inductive proof?</a:t>
            </a:r>
            <a:endParaRPr/>
          </a:p>
        </p:txBody>
      </p:sp>
      <p:sp>
        <p:nvSpPr>
          <p:cNvPr id="224" name="Google Shape;224;p40"/>
          <p:cNvSpPr txBox="1"/>
          <p:nvPr>
            <p:ph idx="1" type="body"/>
          </p:nvPr>
        </p:nvSpPr>
        <p:spPr>
          <a:xfrm>
            <a:off x="311700" y="1152475"/>
            <a:ext cx="8621700" cy="369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To prove a statement by induction do the following …</a:t>
            </a:r>
            <a:endParaRPr sz="1600"/>
          </a:p>
          <a:p>
            <a:pPr indent="-330200" lvl="0" marL="457200" rtl="0" algn="l">
              <a:spcBef>
                <a:spcPts val="1200"/>
              </a:spcBef>
              <a:spcAft>
                <a:spcPts val="0"/>
              </a:spcAft>
              <a:buSzPts val="1600"/>
              <a:buAutoNum type="arabicParenR"/>
            </a:pPr>
            <a:r>
              <a:rPr lang="en" sz="1600"/>
              <a:t>State your problem in the form: </a:t>
            </a:r>
            <a:r>
              <a:rPr b="1" lang="en" sz="1600"/>
              <a:t>P</a:t>
            </a:r>
            <a:r>
              <a:rPr b="1" baseline="-25000" lang="en" sz="1600"/>
              <a:t>n</a:t>
            </a:r>
            <a:r>
              <a:rPr b="1" lang="en" sz="1600"/>
              <a:t> for all positive integers n</a:t>
            </a:r>
            <a:endParaRPr b="1" sz="1600"/>
          </a:p>
          <a:p>
            <a:pPr indent="0" lvl="0" marL="457200" rtl="0" algn="l">
              <a:spcBef>
                <a:spcPts val="1200"/>
              </a:spcBef>
              <a:spcAft>
                <a:spcPts val="0"/>
              </a:spcAft>
              <a:buNone/>
            </a:pPr>
            <a:r>
              <a:t/>
            </a:r>
            <a:endParaRPr sz="1600"/>
          </a:p>
          <a:p>
            <a:pPr indent="-330200" lvl="0" marL="457200" rtl="0" algn="l">
              <a:spcBef>
                <a:spcPts val="1200"/>
              </a:spcBef>
              <a:spcAft>
                <a:spcPts val="0"/>
              </a:spcAft>
              <a:buSzPts val="1600"/>
              <a:buAutoNum type="arabicParenR"/>
            </a:pPr>
            <a:r>
              <a:rPr lang="en" sz="1600"/>
              <a:t>Demonstrate that </a:t>
            </a:r>
            <a:r>
              <a:rPr b="1" lang="en" sz="1600"/>
              <a:t>P</a:t>
            </a:r>
            <a:r>
              <a:rPr b="1" baseline="-25000" lang="en" sz="1600"/>
              <a:t>n</a:t>
            </a:r>
            <a:r>
              <a:rPr b="1" lang="en" sz="1600"/>
              <a:t> holds for a small fixed n</a:t>
            </a:r>
            <a:r>
              <a:rPr lang="en" sz="1600"/>
              <a:t> (usually n=0 or n=1) (aka “base case”)</a:t>
            </a:r>
            <a:endParaRPr sz="1600"/>
          </a:p>
          <a:p>
            <a:pPr indent="0" lvl="0" marL="457200" rtl="0" algn="l">
              <a:spcBef>
                <a:spcPts val="1200"/>
              </a:spcBef>
              <a:spcAft>
                <a:spcPts val="0"/>
              </a:spcAft>
              <a:buNone/>
            </a:pPr>
            <a:r>
              <a:t/>
            </a:r>
            <a:endParaRPr sz="1600"/>
          </a:p>
          <a:p>
            <a:pPr indent="-330200" lvl="0" marL="457200" rtl="0" algn="l">
              <a:spcBef>
                <a:spcPts val="1200"/>
              </a:spcBef>
              <a:spcAft>
                <a:spcPts val="0"/>
              </a:spcAft>
              <a:buSzPts val="1600"/>
              <a:buAutoNum type="arabicParenR"/>
            </a:pPr>
            <a:r>
              <a:rPr lang="en" sz="1600"/>
              <a:t>Assume that P</a:t>
            </a:r>
            <a:r>
              <a:rPr baseline="-25000" lang="en" sz="1600"/>
              <a:t>n</a:t>
            </a:r>
            <a:r>
              <a:rPr lang="en" sz="1600"/>
              <a:t> is true for an arbitrary positive integer n (aka “inductive hypothesis)</a:t>
            </a:r>
            <a:endParaRPr sz="1600"/>
          </a:p>
          <a:p>
            <a:pPr indent="0" lvl="0" marL="0" rtl="0" algn="l">
              <a:spcBef>
                <a:spcPts val="1200"/>
              </a:spcBef>
              <a:spcAft>
                <a:spcPts val="0"/>
              </a:spcAft>
              <a:buNone/>
            </a:pPr>
            <a:r>
              <a:t/>
            </a:r>
            <a:endParaRPr sz="1600"/>
          </a:p>
          <a:p>
            <a:pPr indent="-330200" lvl="0" marL="457200" rtl="0" algn="l">
              <a:spcBef>
                <a:spcPts val="1200"/>
              </a:spcBef>
              <a:spcAft>
                <a:spcPts val="0"/>
              </a:spcAft>
              <a:buSzPts val="1600"/>
              <a:buAutoNum type="arabicParenR"/>
            </a:pPr>
            <a:r>
              <a:rPr lang="en" sz="1600"/>
              <a:t>Show that </a:t>
            </a:r>
            <a:r>
              <a:rPr b="1" lang="en" sz="1600"/>
              <a:t>P</a:t>
            </a:r>
            <a:r>
              <a:rPr b="1" baseline="-25000" lang="en" sz="1600"/>
              <a:t>n</a:t>
            </a:r>
            <a:r>
              <a:rPr b="1" lang="en" sz="1600"/>
              <a:t> implies P</a:t>
            </a:r>
            <a:r>
              <a:rPr b="1" baseline="-25000" lang="en" sz="1600"/>
              <a:t>n+1</a:t>
            </a:r>
            <a:r>
              <a:rPr b="1" lang="en" sz="1600"/>
              <a:t> </a:t>
            </a:r>
            <a:r>
              <a:rPr lang="en" sz="1600"/>
              <a:t>by invoking the induction hypothesis (“aka inductive step)</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try an example together!</a:t>
            </a:r>
            <a:endParaRPr/>
          </a:p>
        </p:txBody>
      </p:sp>
      <p:sp>
        <p:nvSpPr>
          <p:cNvPr id="230" name="Google Shape;230;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Prove that every power of of 13 can be written as the sum of two squares</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power of 13 can be written as the sum of two squares</a:t>
            </a:r>
            <a:endParaRPr sz="2200"/>
          </a:p>
        </p:txBody>
      </p:sp>
      <p:sp>
        <p:nvSpPr>
          <p:cNvPr id="236" name="Google Shape;236;p42"/>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62500" lnSpcReduction="20000"/>
          </a:bodyPr>
          <a:lstStyle/>
          <a:p>
            <a:pPr indent="-300037" lvl="0" marL="457200" rtl="0" algn="l">
              <a:lnSpc>
                <a:spcPct val="100000"/>
              </a:lnSpc>
              <a:spcBef>
                <a:spcPts val="0"/>
              </a:spcBef>
              <a:spcAft>
                <a:spcPts val="0"/>
              </a:spcAft>
              <a:buSzPct val="100000"/>
              <a:buAutoNum type="arabicParenR"/>
            </a:pPr>
            <a:r>
              <a:rPr lang="en"/>
              <a:t>Problem Statement: For all positive integers n, there exists integers x and y such that 13</a:t>
            </a:r>
            <a:r>
              <a:rPr baseline="30000" lang="en"/>
              <a:t>n</a:t>
            </a:r>
            <a:r>
              <a:rPr lang="en"/>
              <a:t> = x</a:t>
            </a:r>
            <a:r>
              <a:rPr baseline="30000" lang="en"/>
              <a:t>2</a:t>
            </a:r>
            <a:r>
              <a:rPr lang="en"/>
              <a:t> + y</a:t>
            </a:r>
            <a:r>
              <a:rPr baseline="30000" lang="en"/>
              <a:t>2</a:t>
            </a:r>
            <a:endParaRPr/>
          </a:p>
          <a:p>
            <a:pPr indent="0" lvl="0" marL="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Clr>
                <a:schemeClr val="lt1"/>
              </a:buClr>
              <a:buSzPct val="100000"/>
              <a:buAutoNum type="arabicParenR"/>
            </a:pPr>
            <a:r>
              <a:rPr lang="en">
                <a:solidFill>
                  <a:schemeClr val="lt1"/>
                </a:solidFill>
              </a:rPr>
              <a:t>Base Case (n=1): 13 = 4 + 9 = 2</a:t>
            </a:r>
            <a:r>
              <a:rPr baseline="30000" lang="en">
                <a:solidFill>
                  <a:schemeClr val="lt1"/>
                </a:solidFill>
              </a:rPr>
              <a:t>2</a:t>
            </a:r>
            <a:r>
              <a:rPr lang="en">
                <a:solidFill>
                  <a:schemeClr val="lt1"/>
                </a:solidFill>
              </a:rPr>
              <a:t> + 3</a:t>
            </a:r>
            <a:r>
              <a:rPr baseline="30000" lang="en">
                <a:solidFill>
                  <a:schemeClr val="lt1"/>
                </a:solidFill>
              </a:rPr>
              <a:t>2</a:t>
            </a:r>
            <a:endParaRPr>
              <a:solidFill>
                <a:schemeClr val="lt1"/>
              </a:solidFill>
            </a:endParaRPr>
          </a:p>
          <a:p>
            <a:pPr indent="0" lvl="0" marL="0" rtl="0" algn="l">
              <a:lnSpc>
                <a:spcPct val="100000"/>
              </a:lnSpc>
              <a:spcBef>
                <a:spcPts val="1200"/>
              </a:spcBef>
              <a:spcAft>
                <a:spcPts val="0"/>
              </a:spcAft>
              <a:buNone/>
            </a:pPr>
            <a:r>
              <a:t/>
            </a:r>
            <a:endParaRPr>
              <a:solidFill>
                <a:schemeClr val="lt1"/>
              </a:solidFill>
            </a:endParaRPr>
          </a:p>
          <a:p>
            <a:pPr indent="-300037" lvl="0" marL="457200" rtl="0" algn="l">
              <a:lnSpc>
                <a:spcPct val="100000"/>
              </a:lnSpc>
              <a:spcBef>
                <a:spcPts val="1200"/>
              </a:spcBef>
              <a:spcAft>
                <a:spcPts val="0"/>
              </a:spcAft>
              <a:buClr>
                <a:schemeClr val="lt1"/>
              </a:buClr>
              <a:buSzPct val="100000"/>
              <a:buAutoNum type="arabicParenR"/>
            </a:pPr>
            <a:r>
              <a:rPr lang="en">
                <a:solidFill>
                  <a:schemeClr val="lt1"/>
                </a:solidFill>
              </a:rPr>
              <a:t>Induction Hypothesis: Let n be a natural number. Assume that 13</a:t>
            </a:r>
            <a:r>
              <a:rPr baseline="30000" lang="en">
                <a:solidFill>
                  <a:schemeClr val="lt1"/>
                </a:solidFill>
              </a:rPr>
              <a:t>n</a:t>
            </a:r>
            <a:r>
              <a:rPr lang="en">
                <a:solidFill>
                  <a:schemeClr val="lt1"/>
                </a:solidFill>
              </a:rPr>
              <a:t> = x</a:t>
            </a:r>
            <a:r>
              <a:rPr baseline="30000" lang="en">
                <a:solidFill>
                  <a:schemeClr val="lt1"/>
                </a:solidFill>
              </a:rPr>
              <a:t>2</a:t>
            </a:r>
            <a:r>
              <a:rPr lang="en">
                <a:solidFill>
                  <a:schemeClr val="lt1"/>
                </a:solidFill>
              </a:rPr>
              <a:t> + y</a:t>
            </a:r>
            <a:r>
              <a:rPr baseline="30000" lang="en">
                <a:solidFill>
                  <a:schemeClr val="lt1"/>
                </a:solidFill>
              </a:rPr>
              <a:t>2</a:t>
            </a:r>
            <a:r>
              <a:rPr lang="en">
                <a:solidFill>
                  <a:schemeClr val="lt1"/>
                </a:solidFill>
              </a:rPr>
              <a:t> for some integers x and y</a:t>
            </a:r>
            <a:endParaRPr>
              <a:solidFill>
                <a:schemeClr val="lt1"/>
              </a:solidFill>
            </a:endParaRPr>
          </a:p>
          <a:p>
            <a:pPr indent="0" lvl="0" marL="457200" rtl="0" algn="l">
              <a:lnSpc>
                <a:spcPct val="100000"/>
              </a:lnSpc>
              <a:spcBef>
                <a:spcPts val="1200"/>
              </a:spcBef>
              <a:spcAft>
                <a:spcPts val="0"/>
              </a:spcAft>
              <a:buNone/>
            </a:pPr>
            <a:r>
              <a:t/>
            </a:r>
            <a:endParaRPr>
              <a:solidFill>
                <a:schemeClr val="lt1"/>
              </a:solidFill>
            </a:endParaRPr>
          </a:p>
          <a:p>
            <a:pPr indent="-300037" lvl="0" marL="457200" rtl="0" algn="l">
              <a:lnSpc>
                <a:spcPct val="100000"/>
              </a:lnSpc>
              <a:spcBef>
                <a:spcPts val="1200"/>
              </a:spcBef>
              <a:spcAft>
                <a:spcPts val="0"/>
              </a:spcAft>
              <a:buClr>
                <a:schemeClr val="lt1"/>
              </a:buClr>
              <a:buSzPct val="100000"/>
              <a:buAutoNum type="arabicParenR"/>
            </a:pPr>
            <a:r>
              <a:rPr lang="en">
                <a:solidFill>
                  <a:schemeClr val="lt1"/>
                </a:solidFill>
              </a:rPr>
              <a:t>13</a:t>
            </a:r>
            <a:r>
              <a:rPr baseline="30000" lang="en">
                <a:solidFill>
                  <a:schemeClr val="lt1"/>
                </a:solidFill>
              </a:rPr>
              <a:t>n+1</a:t>
            </a:r>
            <a:r>
              <a:rPr lang="en">
                <a:solidFill>
                  <a:schemeClr val="lt1"/>
                </a:solidFill>
              </a:rPr>
              <a:t>   = 13 x 13</a:t>
            </a:r>
            <a:r>
              <a:rPr baseline="30000" lang="en">
                <a:solidFill>
                  <a:schemeClr val="lt1"/>
                </a:solidFill>
              </a:rPr>
              <a:t>n</a:t>
            </a:r>
            <a:r>
              <a:rPr lang="en">
                <a:solidFill>
                  <a:schemeClr val="lt1"/>
                </a:solidFill>
              </a:rPr>
              <a:t>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)13</a:t>
            </a:r>
            <a:r>
              <a:rPr baseline="30000" lang="en">
                <a:solidFill>
                  <a:schemeClr val="lt1"/>
                </a:solidFill>
              </a:rPr>
              <a:t>n</a:t>
            </a:r>
            <a:r>
              <a:rPr lang="en">
                <a:solidFill>
                  <a:schemeClr val="lt1"/>
                </a:solidFill>
              </a:rPr>
              <a:t>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b</a:t>
            </a:r>
            <a:r>
              <a:rPr baseline="30000" lang="en">
                <a:solidFill>
                  <a:schemeClr val="lt1"/>
                </a:solidFill>
              </a:rPr>
              <a:t>2</a:t>
            </a:r>
            <a:r>
              <a:rPr lang="en">
                <a:solidFill>
                  <a:schemeClr val="lt1"/>
                </a:solidFill>
              </a:rPr>
              <a:t>) for some integers a and b by the induction hypotheses</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+ 2</a:t>
            </a:r>
            <a:r>
              <a:rPr baseline="30000" lang="en">
                <a:solidFill>
                  <a:schemeClr val="lt1"/>
                </a:solidFill>
              </a:rPr>
              <a:t>2</a:t>
            </a:r>
            <a:r>
              <a:rPr lang="en">
                <a:solidFill>
                  <a:schemeClr val="lt1"/>
                </a:solidFill>
              </a:rPr>
              <a:t>b</a:t>
            </a:r>
            <a:r>
              <a:rPr baseline="30000" lang="en">
                <a:solidFill>
                  <a:schemeClr val="lt1"/>
                </a:solidFill>
              </a:rPr>
              <a:t>2</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+ 12ab + 3</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- 12ab + 2</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(2a+3b)</a:t>
            </a:r>
            <a:r>
              <a:rPr baseline="30000" lang="en">
                <a:solidFill>
                  <a:schemeClr val="lt1"/>
                </a:solidFill>
              </a:rPr>
              <a:t>2</a:t>
            </a:r>
            <a:r>
              <a:rPr lang="en">
                <a:solidFill>
                  <a:schemeClr val="lt1"/>
                </a:solidFill>
              </a:rPr>
              <a:t> + (3a - 2b)</a:t>
            </a:r>
            <a:r>
              <a:rPr baseline="30000" lang="en">
                <a:solidFill>
                  <a:schemeClr val="lt1"/>
                </a:solidFill>
              </a:rPr>
              <a:t>2</a:t>
            </a:r>
            <a:r>
              <a:rPr lang="en">
                <a:solidFill>
                  <a:schemeClr val="lt1"/>
                </a:solidFill>
              </a:rPr>
              <a:t> and now let x = 2a + 3b and y = 3a - 2b which are both integers</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 x</a:t>
            </a:r>
            <a:r>
              <a:rPr baseline="30000" lang="en">
                <a:solidFill>
                  <a:schemeClr val="lt1"/>
                </a:solidFill>
              </a:rPr>
              <a:t>2</a:t>
            </a:r>
            <a:r>
              <a:rPr lang="en">
                <a:solidFill>
                  <a:schemeClr val="lt1"/>
                </a:solidFill>
              </a:rPr>
              <a:t> + y</a:t>
            </a:r>
            <a:r>
              <a:rPr baseline="30000" lang="en">
                <a:solidFill>
                  <a:schemeClr val="lt1"/>
                </a:solidFill>
              </a:rPr>
              <a:t>2</a:t>
            </a:r>
            <a:r>
              <a:rPr lang="en">
                <a:solidFill>
                  <a:schemeClr val="lt1"/>
                </a:solidFill>
              </a:rPr>
              <a:t>  → QED!</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power of 13 can be written as the sum of two squares</a:t>
            </a:r>
            <a:endParaRPr sz="2200"/>
          </a:p>
        </p:txBody>
      </p:sp>
      <p:sp>
        <p:nvSpPr>
          <p:cNvPr id="242" name="Google Shape;242;p43"/>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62500" lnSpcReduction="20000"/>
          </a:bodyPr>
          <a:lstStyle/>
          <a:p>
            <a:pPr indent="-300037" lvl="0" marL="457200" rtl="0" algn="l">
              <a:lnSpc>
                <a:spcPct val="100000"/>
              </a:lnSpc>
              <a:spcBef>
                <a:spcPts val="0"/>
              </a:spcBef>
              <a:spcAft>
                <a:spcPts val="0"/>
              </a:spcAft>
              <a:buSzPct val="100000"/>
              <a:buAutoNum type="arabicParenR"/>
            </a:pPr>
            <a:r>
              <a:rPr lang="en"/>
              <a:t>Problem Statement: For all positive integers n, there exists integers x and y such that 13</a:t>
            </a:r>
            <a:r>
              <a:rPr baseline="30000" lang="en"/>
              <a:t>n</a:t>
            </a:r>
            <a:r>
              <a:rPr lang="en"/>
              <a:t> = x</a:t>
            </a:r>
            <a:r>
              <a:rPr baseline="30000" lang="en"/>
              <a:t>2</a:t>
            </a:r>
            <a:r>
              <a:rPr lang="en"/>
              <a:t> + y</a:t>
            </a:r>
            <a:r>
              <a:rPr baseline="30000" lang="en"/>
              <a:t>2</a:t>
            </a:r>
            <a:endParaRPr/>
          </a:p>
          <a:p>
            <a:pPr indent="0" lvl="0" marL="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SzPct val="100000"/>
              <a:buAutoNum type="arabicParenR"/>
            </a:pPr>
            <a:r>
              <a:rPr lang="en"/>
              <a:t>Base Case (n=1): 13 = 4 + 9 = 2</a:t>
            </a:r>
            <a:r>
              <a:rPr baseline="30000" lang="en"/>
              <a:t>2</a:t>
            </a:r>
            <a:r>
              <a:rPr lang="en"/>
              <a:t> + 3</a:t>
            </a:r>
            <a:r>
              <a:rPr baseline="30000" lang="en"/>
              <a:t>2</a:t>
            </a:r>
            <a:endParaRPr/>
          </a:p>
          <a:p>
            <a:pPr indent="0" lvl="0" marL="0" rtl="0" algn="l">
              <a:lnSpc>
                <a:spcPct val="100000"/>
              </a:lnSpc>
              <a:spcBef>
                <a:spcPts val="1200"/>
              </a:spcBef>
              <a:spcAft>
                <a:spcPts val="0"/>
              </a:spcAft>
              <a:buNone/>
            </a:pPr>
            <a:r>
              <a:t/>
            </a:r>
            <a:endParaRPr>
              <a:solidFill>
                <a:schemeClr val="lt1"/>
              </a:solidFill>
            </a:endParaRPr>
          </a:p>
          <a:p>
            <a:pPr indent="-300037" lvl="0" marL="457200" rtl="0" algn="l">
              <a:lnSpc>
                <a:spcPct val="100000"/>
              </a:lnSpc>
              <a:spcBef>
                <a:spcPts val="1200"/>
              </a:spcBef>
              <a:spcAft>
                <a:spcPts val="0"/>
              </a:spcAft>
              <a:buClr>
                <a:schemeClr val="lt1"/>
              </a:buClr>
              <a:buSzPct val="100000"/>
              <a:buAutoNum type="arabicParenR"/>
            </a:pPr>
            <a:r>
              <a:rPr lang="en">
                <a:solidFill>
                  <a:schemeClr val="lt1"/>
                </a:solidFill>
              </a:rPr>
              <a:t>Induction Hypothesis: Let n be a natural number. Assume that 13</a:t>
            </a:r>
            <a:r>
              <a:rPr baseline="30000" lang="en">
                <a:solidFill>
                  <a:schemeClr val="lt1"/>
                </a:solidFill>
              </a:rPr>
              <a:t>n</a:t>
            </a:r>
            <a:r>
              <a:rPr lang="en">
                <a:solidFill>
                  <a:schemeClr val="lt1"/>
                </a:solidFill>
              </a:rPr>
              <a:t> = x</a:t>
            </a:r>
            <a:r>
              <a:rPr baseline="30000" lang="en">
                <a:solidFill>
                  <a:schemeClr val="lt1"/>
                </a:solidFill>
              </a:rPr>
              <a:t>2</a:t>
            </a:r>
            <a:r>
              <a:rPr lang="en">
                <a:solidFill>
                  <a:schemeClr val="lt1"/>
                </a:solidFill>
              </a:rPr>
              <a:t> + y</a:t>
            </a:r>
            <a:r>
              <a:rPr baseline="30000" lang="en">
                <a:solidFill>
                  <a:schemeClr val="lt1"/>
                </a:solidFill>
              </a:rPr>
              <a:t>2</a:t>
            </a:r>
            <a:r>
              <a:rPr lang="en">
                <a:solidFill>
                  <a:schemeClr val="lt1"/>
                </a:solidFill>
              </a:rPr>
              <a:t> for some integers x and y</a:t>
            </a:r>
            <a:endParaRPr>
              <a:solidFill>
                <a:schemeClr val="lt1"/>
              </a:solidFill>
            </a:endParaRPr>
          </a:p>
          <a:p>
            <a:pPr indent="0" lvl="0" marL="457200" rtl="0" algn="l">
              <a:lnSpc>
                <a:spcPct val="100000"/>
              </a:lnSpc>
              <a:spcBef>
                <a:spcPts val="1200"/>
              </a:spcBef>
              <a:spcAft>
                <a:spcPts val="0"/>
              </a:spcAft>
              <a:buNone/>
            </a:pPr>
            <a:r>
              <a:t/>
            </a:r>
            <a:endParaRPr>
              <a:solidFill>
                <a:schemeClr val="lt1"/>
              </a:solidFill>
            </a:endParaRPr>
          </a:p>
          <a:p>
            <a:pPr indent="-300037" lvl="0" marL="457200" rtl="0" algn="l">
              <a:lnSpc>
                <a:spcPct val="100000"/>
              </a:lnSpc>
              <a:spcBef>
                <a:spcPts val="1200"/>
              </a:spcBef>
              <a:spcAft>
                <a:spcPts val="0"/>
              </a:spcAft>
              <a:buClr>
                <a:schemeClr val="lt1"/>
              </a:buClr>
              <a:buSzPct val="100000"/>
              <a:buAutoNum type="arabicParenR"/>
            </a:pPr>
            <a:r>
              <a:rPr lang="en">
                <a:solidFill>
                  <a:schemeClr val="lt1"/>
                </a:solidFill>
              </a:rPr>
              <a:t>13</a:t>
            </a:r>
            <a:r>
              <a:rPr baseline="30000" lang="en">
                <a:solidFill>
                  <a:schemeClr val="lt1"/>
                </a:solidFill>
              </a:rPr>
              <a:t>n+1</a:t>
            </a:r>
            <a:r>
              <a:rPr lang="en">
                <a:solidFill>
                  <a:schemeClr val="lt1"/>
                </a:solidFill>
              </a:rPr>
              <a:t>   = 13 x 13</a:t>
            </a:r>
            <a:r>
              <a:rPr baseline="30000" lang="en">
                <a:solidFill>
                  <a:schemeClr val="lt1"/>
                </a:solidFill>
              </a:rPr>
              <a:t>n</a:t>
            </a:r>
            <a:r>
              <a:rPr lang="en">
                <a:solidFill>
                  <a:schemeClr val="lt1"/>
                </a:solidFill>
              </a:rPr>
              <a:t>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)13</a:t>
            </a:r>
            <a:r>
              <a:rPr baseline="30000" lang="en">
                <a:solidFill>
                  <a:schemeClr val="lt1"/>
                </a:solidFill>
              </a:rPr>
              <a:t>n</a:t>
            </a:r>
            <a:r>
              <a:rPr lang="en">
                <a:solidFill>
                  <a:schemeClr val="lt1"/>
                </a:solidFill>
              </a:rPr>
              <a:t>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b</a:t>
            </a:r>
            <a:r>
              <a:rPr baseline="30000" lang="en">
                <a:solidFill>
                  <a:schemeClr val="lt1"/>
                </a:solidFill>
              </a:rPr>
              <a:t>2</a:t>
            </a:r>
            <a:r>
              <a:rPr lang="en">
                <a:solidFill>
                  <a:schemeClr val="lt1"/>
                </a:solidFill>
              </a:rPr>
              <a:t>) for some integers a and b by the induction hypotheses</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+ 2</a:t>
            </a:r>
            <a:r>
              <a:rPr baseline="30000" lang="en">
                <a:solidFill>
                  <a:schemeClr val="lt1"/>
                </a:solidFill>
              </a:rPr>
              <a:t>2</a:t>
            </a:r>
            <a:r>
              <a:rPr lang="en">
                <a:solidFill>
                  <a:schemeClr val="lt1"/>
                </a:solidFill>
              </a:rPr>
              <a:t>b</a:t>
            </a:r>
            <a:r>
              <a:rPr baseline="30000" lang="en">
                <a:solidFill>
                  <a:schemeClr val="lt1"/>
                </a:solidFill>
              </a:rPr>
              <a:t>2</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+ 12ab + 3</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- 12ab + 2</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(2a+3b)</a:t>
            </a:r>
            <a:r>
              <a:rPr baseline="30000" lang="en">
                <a:solidFill>
                  <a:schemeClr val="lt1"/>
                </a:solidFill>
              </a:rPr>
              <a:t>2</a:t>
            </a:r>
            <a:r>
              <a:rPr lang="en">
                <a:solidFill>
                  <a:schemeClr val="lt1"/>
                </a:solidFill>
              </a:rPr>
              <a:t> + (3a - 2b)</a:t>
            </a:r>
            <a:r>
              <a:rPr baseline="30000" lang="en">
                <a:solidFill>
                  <a:schemeClr val="lt1"/>
                </a:solidFill>
              </a:rPr>
              <a:t>2</a:t>
            </a:r>
            <a:r>
              <a:rPr lang="en">
                <a:solidFill>
                  <a:schemeClr val="lt1"/>
                </a:solidFill>
              </a:rPr>
              <a:t> and now let x = 2a + 3b and y = 3a - 2b which are both integers</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 x</a:t>
            </a:r>
            <a:r>
              <a:rPr baseline="30000" lang="en">
                <a:solidFill>
                  <a:schemeClr val="lt1"/>
                </a:solidFill>
              </a:rPr>
              <a:t>2</a:t>
            </a:r>
            <a:r>
              <a:rPr lang="en">
                <a:solidFill>
                  <a:schemeClr val="lt1"/>
                </a:solidFill>
              </a:rPr>
              <a:t> + y</a:t>
            </a:r>
            <a:r>
              <a:rPr baseline="30000" lang="en">
                <a:solidFill>
                  <a:schemeClr val="lt1"/>
                </a:solidFill>
              </a:rPr>
              <a:t>2</a:t>
            </a:r>
            <a:r>
              <a:rPr lang="en">
                <a:solidFill>
                  <a:schemeClr val="lt1"/>
                </a:solidFill>
              </a:rPr>
              <a:t>  → QED!</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power of 13 can be written as the sum of two squares</a:t>
            </a:r>
            <a:endParaRPr sz="2200"/>
          </a:p>
        </p:txBody>
      </p:sp>
      <p:sp>
        <p:nvSpPr>
          <p:cNvPr id="248" name="Google Shape;248;p44"/>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62500" lnSpcReduction="20000"/>
          </a:bodyPr>
          <a:lstStyle/>
          <a:p>
            <a:pPr indent="-300037" lvl="0" marL="457200" rtl="0" algn="l">
              <a:lnSpc>
                <a:spcPct val="100000"/>
              </a:lnSpc>
              <a:spcBef>
                <a:spcPts val="0"/>
              </a:spcBef>
              <a:spcAft>
                <a:spcPts val="0"/>
              </a:spcAft>
              <a:buSzPct val="100000"/>
              <a:buAutoNum type="arabicParenR"/>
            </a:pPr>
            <a:r>
              <a:rPr lang="en"/>
              <a:t>Problem Statement: For all natural numbers n, there exists integers x and y such that 13</a:t>
            </a:r>
            <a:r>
              <a:rPr baseline="30000" lang="en"/>
              <a:t>n</a:t>
            </a:r>
            <a:r>
              <a:rPr lang="en"/>
              <a:t> = x</a:t>
            </a:r>
            <a:r>
              <a:rPr baseline="30000" lang="en"/>
              <a:t>2</a:t>
            </a:r>
            <a:r>
              <a:rPr lang="en"/>
              <a:t> + y</a:t>
            </a:r>
            <a:r>
              <a:rPr baseline="30000" lang="en"/>
              <a:t>2</a:t>
            </a:r>
            <a:endParaRPr/>
          </a:p>
          <a:p>
            <a:pPr indent="0" lvl="0" marL="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SzPct val="100000"/>
              <a:buAutoNum type="arabicParenR"/>
            </a:pPr>
            <a:r>
              <a:rPr lang="en"/>
              <a:t>Base Case (n=1): 13 = 4 + 9 = 2</a:t>
            </a:r>
            <a:r>
              <a:rPr baseline="30000" lang="en"/>
              <a:t>2</a:t>
            </a:r>
            <a:r>
              <a:rPr lang="en"/>
              <a:t> + 3</a:t>
            </a:r>
            <a:r>
              <a:rPr baseline="30000" lang="en"/>
              <a:t>2</a:t>
            </a:r>
            <a:endParaRPr/>
          </a:p>
          <a:p>
            <a:pPr indent="0" lvl="0" marL="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SzPct val="100000"/>
              <a:buAutoNum type="arabicParenR"/>
            </a:pPr>
            <a:r>
              <a:rPr lang="en"/>
              <a:t>Induction Hypothesis: Let n be a </a:t>
            </a:r>
            <a:r>
              <a:rPr lang="en"/>
              <a:t>positive</a:t>
            </a:r>
            <a:r>
              <a:rPr lang="en"/>
              <a:t> integers. Assume that 13</a:t>
            </a:r>
            <a:r>
              <a:rPr baseline="30000" lang="en"/>
              <a:t>n</a:t>
            </a:r>
            <a:r>
              <a:rPr lang="en"/>
              <a:t> = x</a:t>
            </a:r>
            <a:r>
              <a:rPr baseline="30000" lang="en"/>
              <a:t>2</a:t>
            </a:r>
            <a:r>
              <a:rPr lang="en"/>
              <a:t> + y</a:t>
            </a:r>
            <a:r>
              <a:rPr baseline="30000" lang="en"/>
              <a:t>2</a:t>
            </a:r>
            <a:r>
              <a:rPr lang="en"/>
              <a:t> for some integers x and y</a:t>
            </a:r>
            <a:endParaRPr/>
          </a:p>
          <a:p>
            <a:pPr indent="0" lvl="0" marL="45720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Clr>
                <a:schemeClr val="lt1"/>
              </a:buClr>
              <a:buSzPct val="100000"/>
              <a:buAutoNum type="arabicParenR"/>
            </a:pPr>
            <a:r>
              <a:rPr lang="en">
                <a:solidFill>
                  <a:schemeClr val="lt1"/>
                </a:solidFill>
              </a:rPr>
              <a:t>13</a:t>
            </a:r>
            <a:r>
              <a:rPr baseline="30000" lang="en">
                <a:solidFill>
                  <a:schemeClr val="lt1"/>
                </a:solidFill>
              </a:rPr>
              <a:t>n+1</a:t>
            </a:r>
            <a:r>
              <a:rPr lang="en">
                <a:solidFill>
                  <a:schemeClr val="lt1"/>
                </a:solidFill>
              </a:rPr>
              <a:t>   = 13 x 13</a:t>
            </a:r>
            <a:r>
              <a:rPr baseline="30000" lang="en">
                <a:solidFill>
                  <a:schemeClr val="lt1"/>
                </a:solidFill>
              </a:rPr>
              <a:t>n</a:t>
            </a:r>
            <a:r>
              <a:rPr lang="en">
                <a:solidFill>
                  <a:schemeClr val="lt1"/>
                </a:solidFill>
              </a:rPr>
              <a:t>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)13</a:t>
            </a:r>
            <a:r>
              <a:rPr baseline="30000" lang="en">
                <a:solidFill>
                  <a:schemeClr val="lt1"/>
                </a:solidFill>
              </a:rPr>
              <a:t>n</a:t>
            </a:r>
            <a:r>
              <a:rPr lang="en">
                <a:solidFill>
                  <a:schemeClr val="lt1"/>
                </a:solidFill>
              </a:rPr>
              <a:t>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b</a:t>
            </a:r>
            <a:r>
              <a:rPr baseline="30000" lang="en">
                <a:solidFill>
                  <a:schemeClr val="lt1"/>
                </a:solidFill>
              </a:rPr>
              <a:t>2</a:t>
            </a:r>
            <a:r>
              <a:rPr lang="en">
                <a:solidFill>
                  <a:schemeClr val="lt1"/>
                </a:solidFill>
              </a:rPr>
              <a:t>) for some integers a and b by the induction hypotheses</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+ 2</a:t>
            </a:r>
            <a:r>
              <a:rPr baseline="30000" lang="en">
                <a:solidFill>
                  <a:schemeClr val="lt1"/>
                </a:solidFill>
              </a:rPr>
              <a:t>2</a:t>
            </a:r>
            <a:r>
              <a:rPr lang="en">
                <a:solidFill>
                  <a:schemeClr val="lt1"/>
                </a:solidFill>
              </a:rPr>
              <a:t>b</a:t>
            </a:r>
            <a:r>
              <a:rPr baseline="30000" lang="en">
                <a:solidFill>
                  <a:schemeClr val="lt1"/>
                </a:solidFill>
              </a:rPr>
              <a:t>2</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+ 12ab + 3</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 + (3</a:t>
            </a:r>
            <a:r>
              <a:rPr baseline="30000" lang="en">
                <a:solidFill>
                  <a:schemeClr val="lt1"/>
                </a:solidFill>
              </a:rPr>
              <a:t>2</a:t>
            </a:r>
            <a:r>
              <a:rPr lang="en">
                <a:solidFill>
                  <a:schemeClr val="lt1"/>
                </a:solidFill>
              </a:rPr>
              <a:t>a</a:t>
            </a:r>
            <a:r>
              <a:rPr baseline="30000" lang="en">
                <a:solidFill>
                  <a:schemeClr val="lt1"/>
                </a:solidFill>
              </a:rPr>
              <a:t>2</a:t>
            </a:r>
            <a:r>
              <a:rPr lang="en">
                <a:solidFill>
                  <a:schemeClr val="lt1"/>
                </a:solidFill>
              </a:rPr>
              <a:t> - 12ab + 2</a:t>
            </a:r>
            <a:r>
              <a:rPr baseline="30000" lang="en">
                <a:solidFill>
                  <a:schemeClr val="lt1"/>
                </a:solidFill>
              </a:rPr>
              <a:t>2</a:t>
            </a:r>
            <a:r>
              <a:rPr lang="en">
                <a:solidFill>
                  <a:schemeClr val="lt1"/>
                </a:solidFill>
              </a:rPr>
              <a:t>b</a:t>
            </a:r>
            <a:r>
              <a:rPr baseline="30000" lang="en">
                <a:solidFill>
                  <a:schemeClr val="lt1"/>
                </a:solidFill>
              </a:rPr>
              <a:t>2</a:t>
            </a:r>
            <a:r>
              <a:rPr lang="en">
                <a:solidFill>
                  <a:schemeClr val="lt1"/>
                </a:solidFill>
              </a:rPr>
              <a:t>)</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 (2a+3b)</a:t>
            </a:r>
            <a:r>
              <a:rPr baseline="30000" lang="en">
                <a:solidFill>
                  <a:schemeClr val="lt1"/>
                </a:solidFill>
              </a:rPr>
              <a:t>2</a:t>
            </a:r>
            <a:r>
              <a:rPr lang="en">
                <a:solidFill>
                  <a:schemeClr val="lt1"/>
                </a:solidFill>
              </a:rPr>
              <a:t> + (3a - 2b)</a:t>
            </a:r>
            <a:r>
              <a:rPr baseline="30000" lang="en">
                <a:solidFill>
                  <a:schemeClr val="lt1"/>
                </a:solidFill>
              </a:rPr>
              <a:t>2</a:t>
            </a:r>
            <a:r>
              <a:rPr lang="en">
                <a:solidFill>
                  <a:schemeClr val="lt1"/>
                </a:solidFill>
              </a:rPr>
              <a:t> and now let x = 2a + 3b and y = 3a - 2b which are both integers</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 x</a:t>
            </a:r>
            <a:r>
              <a:rPr baseline="30000" lang="en">
                <a:solidFill>
                  <a:schemeClr val="lt1"/>
                </a:solidFill>
              </a:rPr>
              <a:t>2</a:t>
            </a:r>
            <a:r>
              <a:rPr lang="en">
                <a:solidFill>
                  <a:schemeClr val="lt1"/>
                </a:solidFill>
              </a:rPr>
              <a:t> + y</a:t>
            </a:r>
            <a:r>
              <a:rPr baseline="30000" lang="en">
                <a:solidFill>
                  <a:schemeClr val="lt1"/>
                </a:solidFill>
              </a:rPr>
              <a:t>2</a:t>
            </a:r>
            <a:r>
              <a:rPr lang="en">
                <a:solidFill>
                  <a:schemeClr val="lt1"/>
                </a:solidFill>
              </a:rPr>
              <a:t>  → QED!</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power of 13 can be written as the sum of two squares</a:t>
            </a:r>
            <a:endParaRPr sz="2200"/>
          </a:p>
        </p:txBody>
      </p:sp>
      <p:sp>
        <p:nvSpPr>
          <p:cNvPr id="254" name="Google Shape;254;p45"/>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62500" lnSpcReduction="20000"/>
          </a:bodyPr>
          <a:lstStyle/>
          <a:p>
            <a:pPr indent="-300037" lvl="0" marL="457200" rtl="0" algn="l">
              <a:lnSpc>
                <a:spcPct val="100000"/>
              </a:lnSpc>
              <a:spcBef>
                <a:spcPts val="0"/>
              </a:spcBef>
              <a:spcAft>
                <a:spcPts val="0"/>
              </a:spcAft>
              <a:buSzPct val="100000"/>
              <a:buAutoNum type="arabicParenR"/>
            </a:pPr>
            <a:r>
              <a:rPr lang="en"/>
              <a:t>Problem Statement: For all natural numbers n, there exists integers x and y such that 13</a:t>
            </a:r>
            <a:r>
              <a:rPr baseline="30000" lang="en"/>
              <a:t>n</a:t>
            </a:r>
            <a:r>
              <a:rPr lang="en"/>
              <a:t> = x</a:t>
            </a:r>
            <a:r>
              <a:rPr baseline="30000" lang="en"/>
              <a:t>2</a:t>
            </a:r>
            <a:r>
              <a:rPr lang="en"/>
              <a:t> + y</a:t>
            </a:r>
            <a:r>
              <a:rPr baseline="30000" lang="en"/>
              <a:t>2</a:t>
            </a:r>
            <a:endParaRPr/>
          </a:p>
          <a:p>
            <a:pPr indent="0" lvl="0" marL="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SzPct val="100000"/>
              <a:buAutoNum type="arabicParenR"/>
            </a:pPr>
            <a:r>
              <a:rPr lang="en"/>
              <a:t>Base Case (n=1): 13 = 4 + 9 = 2</a:t>
            </a:r>
            <a:r>
              <a:rPr baseline="30000" lang="en"/>
              <a:t>2</a:t>
            </a:r>
            <a:r>
              <a:rPr lang="en"/>
              <a:t> + 3</a:t>
            </a:r>
            <a:r>
              <a:rPr baseline="30000" lang="en"/>
              <a:t>2</a:t>
            </a:r>
            <a:endParaRPr/>
          </a:p>
          <a:p>
            <a:pPr indent="0" lvl="0" marL="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SzPct val="100000"/>
              <a:buAutoNum type="arabicParenR"/>
            </a:pPr>
            <a:r>
              <a:rPr lang="en"/>
              <a:t>Induction Hypothesis: Let n be a positive integers. Assume that 13</a:t>
            </a:r>
            <a:r>
              <a:rPr baseline="30000" lang="en"/>
              <a:t>n</a:t>
            </a:r>
            <a:r>
              <a:rPr lang="en"/>
              <a:t> = x</a:t>
            </a:r>
            <a:r>
              <a:rPr baseline="30000" lang="en"/>
              <a:t>2</a:t>
            </a:r>
            <a:r>
              <a:rPr lang="en"/>
              <a:t> + y</a:t>
            </a:r>
            <a:r>
              <a:rPr baseline="30000" lang="en"/>
              <a:t>2</a:t>
            </a:r>
            <a:r>
              <a:rPr lang="en"/>
              <a:t> for some integers x and y</a:t>
            </a:r>
            <a:endParaRPr/>
          </a:p>
          <a:p>
            <a:pPr indent="0" lvl="0" marL="457200" rtl="0" algn="l">
              <a:lnSpc>
                <a:spcPct val="100000"/>
              </a:lnSpc>
              <a:spcBef>
                <a:spcPts val="1200"/>
              </a:spcBef>
              <a:spcAft>
                <a:spcPts val="0"/>
              </a:spcAft>
              <a:buNone/>
            </a:pPr>
            <a:r>
              <a:t/>
            </a:r>
            <a:endParaRPr/>
          </a:p>
          <a:p>
            <a:pPr indent="-300037" lvl="0" marL="457200" rtl="0" algn="l">
              <a:lnSpc>
                <a:spcPct val="100000"/>
              </a:lnSpc>
              <a:spcBef>
                <a:spcPts val="1200"/>
              </a:spcBef>
              <a:spcAft>
                <a:spcPts val="0"/>
              </a:spcAft>
              <a:buSzPct val="100000"/>
              <a:buAutoNum type="arabicParenR"/>
            </a:pPr>
            <a:r>
              <a:rPr lang="en"/>
              <a:t>13</a:t>
            </a:r>
            <a:r>
              <a:rPr baseline="30000" lang="en"/>
              <a:t>n+1</a:t>
            </a:r>
            <a:r>
              <a:rPr lang="en"/>
              <a:t>   = 13 x 13</a:t>
            </a:r>
            <a:r>
              <a:rPr baseline="30000" lang="en"/>
              <a:t>n</a:t>
            </a:r>
            <a:r>
              <a:rPr lang="en"/>
              <a:t> </a:t>
            </a:r>
            <a:endParaRPr/>
          </a:p>
          <a:p>
            <a:pPr indent="457200" lvl="0" marL="457200" rtl="0" algn="l">
              <a:lnSpc>
                <a:spcPct val="100000"/>
              </a:lnSpc>
              <a:spcBef>
                <a:spcPts val="1200"/>
              </a:spcBef>
              <a:spcAft>
                <a:spcPts val="0"/>
              </a:spcAft>
              <a:buNone/>
            </a:pPr>
            <a:r>
              <a:rPr lang="en"/>
              <a:t>= (2</a:t>
            </a:r>
            <a:r>
              <a:rPr baseline="30000" lang="en"/>
              <a:t>2</a:t>
            </a:r>
            <a:r>
              <a:rPr lang="en"/>
              <a:t> + 3</a:t>
            </a:r>
            <a:r>
              <a:rPr baseline="30000" lang="en"/>
              <a:t>2</a:t>
            </a:r>
            <a:r>
              <a:rPr lang="en"/>
              <a:t>)13</a:t>
            </a:r>
            <a:r>
              <a:rPr baseline="30000" lang="en"/>
              <a:t>n</a:t>
            </a:r>
            <a:r>
              <a:rPr lang="en"/>
              <a:t> </a:t>
            </a:r>
            <a:endParaRPr/>
          </a:p>
          <a:p>
            <a:pPr indent="457200" lvl="0" marL="457200" rtl="0" algn="l">
              <a:lnSpc>
                <a:spcPct val="100000"/>
              </a:lnSpc>
              <a:spcBef>
                <a:spcPts val="1200"/>
              </a:spcBef>
              <a:spcAft>
                <a:spcPts val="0"/>
              </a:spcAft>
              <a:buNone/>
            </a:pPr>
            <a:r>
              <a:rPr lang="en"/>
              <a:t>= (2</a:t>
            </a:r>
            <a:r>
              <a:rPr baseline="30000" lang="en"/>
              <a:t>2</a:t>
            </a:r>
            <a:r>
              <a:rPr lang="en"/>
              <a:t> + 3</a:t>
            </a:r>
            <a:r>
              <a:rPr baseline="30000" lang="en"/>
              <a:t>2</a:t>
            </a:r>
            <a:r>
              <a:rPr lang="en"/>
              <a:t>)(a</a:t>
            </a:r>
            <a:r>
              <a:rPr baseline="30000" lang="en"/>
              <a:t>2</a:t>
            </a:r>
            <a:r>
              <a:rPr lang="en"/>
              <a:t> + b</a:t>
            </a:r>
            <a:r>
              <a:rPr baseline="30000" lang="en"/>
              <a:t>2</a:t>
            </a:r>
            <a:r>
              <a:rPr lang="en"/>
              <a:t>) for some integers a and b by the induction hypotheses</a:t>
            </a:r>
            <a:endParaRPr/>
          </a:p>
          <a:p>
            <a:pPr indent="457200" lvl="0" marL="457200" rtl="0" algn="l">
              <a:lnSpc>
                <a:spcPct val="100000"/>
              </a:lnSpc>
              <a:spcBef>
                <a:spcPts val="1200"/>
              </a:spcBef>
              <a:spcAft>
                <a:spcPts val="0"/>
              </a:spcAft>
              <a:buNone/>
            </a:pPr>
            <a:r>
              <a:rPr lang="en"/>
              <a:t>= 2</a:t>
            </a:r>
            <a:r>
              <a:rPr baseline="30000" lang="en"/>
              <a:t>2</a:t>
            </a:r>
            <a:r>
              <a:rPr lang="en"/>
              <a:t>a</a:t>
            </a:r>
            <a:r>
              <a:rPr baseline="30000" lang="en"/>
              <a:t>2</a:t>
            </a:r>
            <a:r>
              <a:rPr lang="en"/>
              <a:t> + 3</a:t>
            </a:r>
            <a:r>
              <a:rPr baseline="30000" lang="en"/>
              <a:t>2</a:t>
            </a:r>
            <a:r>
              <a:rPr lang="en"/>
              <a:t>b</a:t>
            </a:r>
            <a:r>
              <a:rPr baseline="30000" lang="en"/>
              <a:t>2</a:t>
            </a:r>
            <a:r>
              <a:rPr lang="en"/>
              <a:t> + 3</a:t>
            </a:r>
            <a:r>
              <a:rPr baseline="30000" lang="en"/>
              <a:t>2</a:t>
            </a:r>
            <a:r>
              <a:rPr lang="en"/>
              <a:t>a</a:t>
            </a:r>
            <a:r>
              <a:rPr baseline="30000" lang="en"/>
              <a:t>2</a:t>
            </a:r>
            <a:r>
              <a:rPr lang="en"/>
              <a:t> + 2</a:t>
            </a:r>
            <a:r>
              <a:rPr baseline="30000" lang="en"/>
              <a:t>2</a:t>
            </a:r>
            <a:r>
              <a:rPr lang="en"/>
              <a:t>b</a:t>
            </a:r>
            <a:r>
              <a:rPr baseline="30000" lang="en"/>
              <a:t>2</a:t>
            </a:r>
            <a:endParaRPr/>
          </a:p>
          <a:p>
            <a:pPr indent="457200" lvl="0" marL="457200" rtl="0" algn="l">
              <a:lnSpc>
                <a:spcPct val="100000"/>
              </a:lnSpc>
              <a:spcBef>
                <a:spcPts val="1200"/>
              </a:spcBef>
              <a:spcAft>
                <a:spcPts val="0"/>
              </a:spcAft>
              <a:buNone/>
            </a:pPr>
            <a:r>
              <a:rPr lang="en"/>
              <a:t>= (2</a:t>
            </a:r>
            <a:r>
              <a:rPr baseline="30000" lang="en"/>
              <a:t>2</a:t>
            </a:r>
            <a:r>
              <a:rPr lang="en"/>
              <a:t>a</a:t>
            </a:r>
            <a:r>
              <a:rPr baseline="30000" lang="en"/>
              <a:t>2</a:t>
            </a:r>
            <a:r>
              <a:rPr lang="en"/>
              <a:t> + 12ab + 3</a:t>
            </a:r>
            <a:r>
              <a:rPr baseline="30000" lang="en"/>
              <a:t>2</a:t>
            </a:r>
            <a:r>
              <a:rPr lang="en"/>
              <a:t>b</a:t>
            </a:r>
            <a:r>
              <a:rPr baseline="30000" lang="en"/>
              <a:t>2</a:t>
            </a:r>
            <a:r>
              <a:rPr lang="en"/>
              <a:t>) + (3</a:t>
            </a:r>
            <a:r>
              <a:rPr baseline="30000" lang="en"/>
              <a:t>2</a:t>
            </a:r>
            <a:r>
              <a:rPr lang="en"/>
              <a:t>a</a:t>
            </a:r>
            <a:r>
              <a:rPr baseline="30000" lang="en"/>
              <a:t>2</a:t>
            </a:r>
            <a:r>
              <a:rPr lang="en"/>
              <a:t> - 12ab + 2</a:t>
            </a:r>
            <a:r>
              <a:rPr baseline="30000" lang="en"/>
              <a:t>2</a:t>
            </a:r>
            <a:r>
              <a:rPr lang="en"/>
              <a:t>b</a:t>
            </a:r>
            <a:r>
              <a:rPr baseline="30000" lang="en"/>
              <a:t>2</a:t>
            </a:r>
            <a:r>
              <a:rPr lang="en"/>
              <a:t>)</a:t>
            </a:r>
            <a:endParaRPr/>
          </a:p>
          <a:p>
            <a:pPr indent="457200" lvl="0" marL="457200" rtl="0" algn="l">
              <a:lnSpc>
                <a:spcPct val="100000"/>
              </a:lnSpc>
              <a:spcBef>
                <a:spcPts val="1200"/>
              </a:spcBef>
              <a:spcAft>
                <a:spcPts val="0"/>
              </a:spcAft>
              <a:buNone/>
            </a:pPr>
            <a:r>
              <a:rPr lang="en"/>
              <a:t>= (2a+3b)</a:t>
            </a:r>
            <a:r>
              <a:rPr baseline="30000" lang="en"/>
              <a:t>2</a:t>
            </a:r>
            <a:r>
              <a:rPr lang="en"/>
              <a:t> + (3a - 2b)</a:t>
            </a:r>
            <a:r>
              <a:rPr baseline="30000" lang="en"/>
              <a:t>2</a:t>
            </a:r>
            <a:r>
              <a:rPr lang="en"/>
              <a:t> and now let x = 2a + 3b and y = 3a - 2b which are both integers</a:t>
            </a:r>
            <a:endParaRPr/>
          </a:p>
          <a:p>
            <a:pPr indent="457200" lvl="0" marL="457200" rtl="0" algn="l">
              <a:lnSpc>
                <a:spcPct val="100000"/>
              </a:lnSpc>
              <a:spcBef>
                <a:spcPts val="1200"/>
              </a:spcBef>
              <a:spcAft>
                <a:spcPts val="1200"/>
              </a:spcAft>
              <a:buNone/>
            </a:pPr>
            <a:r>
              <a:rPr lang="en"/>
              <a:t>= x</a:t>
            </a:r>
            <a:r>
              <a:rPr baseline="30000" lang="en"/>
              <a:t>2</a:t>
            </a:r>
            <a:r>
              <a:rPr lang="en"/>
              <a:t> + y</a:t>
            </a:r>
            <a:r>
              <a:rPr baseline="30000" lang="en"/>
              <a:t>2</a:t>
            </a:r>
            <a:r>
              <a:rPr lang="en"/>
              <a:t>  → QED!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Why</a:t>
            </a:r>
            <a:r>
              <a:rPr lang="en"/>
              <a:t> does induction work?</a:t>
            </a:r>
            <a:endParaRPr/>
          </a:p>
        </p:txBody>
      </p:sp>
      <p:sp>
        <p:nvSpPr>
          <p:cNvPr id="260" name="Google Shape;260;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If you prove the base case, the inductive hypothesis and the inductive proof can be iteratively </a:t>
            </a:r>
            <a:r>
              <a:rPr lang="en"/>
              <a:t>applied to prove that the claim hold for all positive integers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Base Case = </a:t>
            </a:r>
            <a:r>
              <a:rPr b="1" lang="en"/>
              <a:t>P</a:t>
            </a:r>
            <a:r>
              <a:rPr b="1" baseline="-25000" lang="en"/>
              <a:t>0</a:t>
            </a:r>
            <a:r>
              <a:rPr b="1" lang="en"/>
              <a:t> → P</a:t>
            </a:r>
            <a:r>
              <a:rPr b="1" baseline="-25000" lang="en"/>
              <a:t>1</a:t>
            </a:r>
            <a:r>
              <a:rPr b="1" lang="en"/>
              <a:t> → P</a:t>
            </a:r>
            <a:r>
              <a:rPr b="1" baseline="-25000" lang="en"/>
              <a:t>2</a:t>
            </a:r>
            <a:r>
              <a:rPr b="1" lang="en"/>
              <a:t> → P</a:t>
            </a:r>
            <a:r>
              <a:rPr b="1" baseline="-25000" lang="en"/>
              <a:t>3</a:t>
            </a:r>
            <a:r>
              <a:rPr b="1" lang="en"/>
              <a:t> → …. P</a:t>
            </a:r>
            <a:r>
              <a:rPr b="1" baseline="-25000" lang="en"/>
              <a:t>n</a:t>
            </a:r>
            <a:r>
              <a:rPr b="1" lang="en"/>
              <a:t> → P</a:t>
            </a:r>
            <a:r>
              <a:rPr b="1" baseline="-25000" lang="en"/>
              <a:t>n+1</a:t>
            </a:r>
            <a:r>
              <a:rPr b="1" lang="en"/>
              <a:t> → … </a:t>
            </a:r>
            <a:endParaRPr b="1"/>
          </a:p>
          <a:p>
            <a:pPr indent="0" lvl="0" marL="0" rtl="0" algn="l">
              <a:spcBef>
                <a:spcPts val="1200"/>
              </a:spcBef>
              <a:spcAft>
                <a:spcPts val="0"/>
              </a:spcAft>
              <a:buNone/>
            </a:pPr>
            <a:r>
              <a:t/>
            </a:r>
            <a:endParaRPr b="1"/>
          </a:p>
          <a:p>
            <a:pPr indent="0" lvl="0" marL="0" rtl="0" algn="l">
              <a:spcBef>
                <a:spcPts val="1200"/>
              </a:spcBef>
              <a:spcAft>
                <a:spcPts val="1200"/>
              </a:spcAft>
              <a:buNone/>
            </a:pPr>
            <a:r>
              <a:rPr lang="en"/>
              <a:t>And inductive proof is like an algorithm with a loop that proves the claim for each 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Why</a:t>
            </a:r>
            <a:r>
              <a:rPr lang="en"/>
              <a:t> does induction work?</a:t>
            </a:r>
            <a:endParaRPr/>
          </a:p>
        </p:txBody>
      </p:sp>
      <p:sp>
        <p:nvSpPr>
          <p:cNvPr id="266" name="Google Shape;266;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Say we proved the base case for </a:t>
            </a:r>
            <a:r>
              <a:rPr lang="en"/>
              <a:t> P</a:t>
            </a:r>
            <a:r>
              <a:rPr baseline="-25000" lang="en"/>
              <a:t>0</a:t>
            </a:r>
            <a:endParaRPr baseline="-25000"/>
          </a:p>
          <a:p>
            <a:pPr indent="0" lvl="0" marL="0" rtl="0" algn="l">
              <a:spcBef>
                <a:spcPts val="1200"/>
              </a:spcBef>
              <a:spcAft>
                <a:spcPts val="0"/>
              </a:spcAft>
              <a:buNone/>
            </a:pPr>
            <a:r>
              <a:t/>
            </a:r>
            <a:endParaRPr/>
          </a:p>
          <a:p>
            <a:pPr indent="0" lvl="0" marL="0" rtl="0" algn="l">
              <a:spcBef>
                <a:spcPts val="1200"/>
              </a:spcBef>
              <a:spcAft>
                <a:spcPts val="0"/>
              </a:spcAft>
              <a:buNone/>
            </a:pPr>
            <a:r>
              <a:rPr lang="en"/>
              <a:t>Assume for sake of contradictio</a:t>
            </a:r>
            <a:r>
              <a:rPr lang="en"/>
              <a:t>n that claim </a:t>
            </a:r>
            <a:r>
              <a:rPr lang="en"/>
              <a:t>P</a:t>
            </a:r>
            <a:r>
              <a:rPr baseline="-25000" lang="en"/>
              <a:t>n</a:t>
            </a:r>
            <a:r>
              <a:rPr lang="en"/>
              <a:t> does</a:t>
            </a:r>
            <a:r>
              <a:rPr lang="en"/>
              <a:t> not hold for some positive integer n.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Let n* be the smallest positive integer for such that </a:t>
            </a:r>
            <a:r>
              <a:rPr lang="en"/>
              <a:t>P</a:t>
            </a:r>
            <a:r>
              <a:rPr baseline="-25000" lang="en"/>
              <a:t>n*</a:t>
            </a:r>
            <a:r>
              <a:rPr lang="en"/>
              <a:t> does not hold. Then P</a:t>
            </a:r>
            <a:r>
              <a:rPr baseline="-25000" lang="en"/>
              <a:t>n*-1</a:t>
            </a:r>
            <a:r>
              <a:rPr lang="en"/>
              <a:t> must hold.</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But by the inductive step  P</a:t>
            </a:r>
            <a:r>
              <a:rPr baseline="-25000" lang="en"/>
              <a:t>n*-1</a:t>
            </a:r>
            <a:r>
              <a:rPr lang="en"/>
              <a:t> implies  P</a:t>
            </a:r>
            <a:r>
              <a:rPr baseline="-25000" lang="en"/>
              <a:t>n*</a:t>
            </a:r>
            <a:r>
              <a:rPr lang="en"/>
              <a:t>. Thus we have found a contradiction!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When</a:t>
            </a:r>
            <a:r>
              <a:rPr lang="en"/>
              <a:t> does induction fail?</a:t>
            </a:r>
            <a:endParaRPr/>
          </a:p>
        </p:txBody>
      </p:sp>
      <p:sp>
        <p:nvSpPr>
          <p:cNvPr id="272" name="Google Shape;272;p48"/>
          <p:cNvSpPr txBox="1"/>
          <p:nvPr>
            <p:ph idx="1" type="body"/>
          </p:nvPr>
        </p:nvSpPr>
        <p:spPr>
          <a:xfrm>
            <a:off x="311700" y="1152475"/>
            <a:ext cx="8520600" cy="379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Claim: Everyone loves algorithms</a:t>
            </a:r>
            <a:endParaRPr/>
          </a:p>
          <a:p>
            <a:pPr indent="0" lvl="0" marL="0" rtl="0" algn="l">
              <a:spcBef>
                <a:spcPts val="1200"/>
              </a:spcBef>
              <a:spcAft>
                <a:spcPts val="0"/>
              </a:spcAft>
              <a:buNone/>
            </a:pPr>
            <a:r>
              <a:rPr lang="en"/>
              <a:t>Proof: </a:t>
            </a:r>
            <a:endParaRPr/>
          </a:p>
          <a:p>
            <a:pPr indent="0" lvl="0" marL="457200" rtl="0" algn="l">
              <a:spcBef>
                <a:spcPts val="1200"/>
              </a:spcBef>
              <a:spcAft>
                <a:spcPts val="0"/>
              </a:spcAft>
              <a:buNone/>
            </a:pPr>
            <a:r>
              <a:rPr b="1" lang="en"/>
              <a:t>Problem </a:t>
            </a:r>
            <a:r>
              <a:rPr b="1" lang="en"/>
              <a:t>Statement</a:t>
            </a:r>
            <a:r>
              <a:rPr lang="en"/>
              <a:t>: For all positive integers n, any group of n people, all people in the group love algorithms</a:t>
            </a:r>
            <a:endParaRPr/>
          </a:p>
          <a:p>
            <a:pPr indent="0" lvl="0" marL="0" rtl="0" algn="l">
              <a:spcBef>
                <a:spcPts val="1200"/>
              </a:spcBef>
              <a:spcAft>
                <a:spcPts val="0"/>
              </a:spcAft>
              <a:buNone/>
            </a:pPr>
            <a:r>
              <a:rPr lang="en"/>
              <a:t>	</a:t>
            </a:r>
            <a:r>
              <a:rPr b="1" lang="en"/>
              <a:t>Base Case</a:t>
            </a:r>
            <a:r>
              <a:rPr lang="en"/>
              <a:t>: Zoe loves algorithms!</a:t>
            </a:r>
            <a:endParaRPr/>
          </a:p>
          <a:p>
            <a:pPr indent="0" lvl="0" marL="0" rtl="0" algn="l">
              <a:spcBef>
                <a:spcPts val="1200"/>
              </a:spcBef>
              <a:spcAft>
                <a:spcPts val="0"/>
              </a:spcAft>
              <a:buNone/>
            </a:pPr>
            <a:r>
              <a:rPr lang="en"/>
              <a:t>	</a:t>
            </a:r>
            <a:r>
              <a:rPr b="1" lang="en"/>
              <a:t>Inductive Hypothesis</a:t>
            </a:r>
            <a:r>
              <a:rPr lang="en"/>
              <a:t>: Assume that any group of n people love </a:t>
            </a:r>
            <a:r>
              <a:rPr lang="en"/>
              <a:t>algorithms</a:t>
            </a:r>
            <a:endParaRPr/>
          </a:p>
          <a:p>
            <a:pPr indent="0" lvl="0" marL="457200" rtl="0" algn="l">
              <a:spcBef>
                <a:spcPts val="1200"/>
              </a:spcBef>
              <a:spcAft>
                <a:spcPts val="0"/>
              </a:spcAft>
              <a:buNone/>
            </a:pPr>
            <a:r>
              <a:rPr b="1" lang="en"/>
              <a:t>Inductive Step</a:t>
            </a:r>
            <a:r>
              <a:rPr lang="en"/>
              <a:t>: Say you have a group of n+1 people. Isolate the tallest n people in the group. By the IH they all love algorithms. Isolate the shortest n people. By the IH they all love algorithms. The </a:t>
            </a:r>
            <a:r>
              <a:rPr lang="en"/>
              <a:t>union</a:t>
            </a:r>
            <a:r>
              <a:rPr lang="en"/>
              <a:t> of these two subgroup contains all people in the group. Thus all people in the group love algorithms!</a:t>
            </a:r>
            <a:endParaRPr/>
          </a:p>
          <a:p>
            <a:pPr indent="0" lvl="0" marL="457200" rtl="0" algn="ctr">
              <a:spcBef>
                <a:spcPts val="1200"/>
              </a:spcBef>
              <a:spcAft>
                <a:spcPts val="1200"/>
              </a:spcAft>
              <a:buNone/>
            </a:pPr>
            <a:r>
              <a:rPr lang="en" sz="2300">
                <a:solidFill>
                  <a:schemeClr val="lt1"/>
                </a:solidFill>
              </a:rPr>
              <a:t>Where are the </a:t>
            </a:r>
            <a:r>
              <a:rPr lang="en" sz="2300">
                <a:solidFill>
                  <a:schemeClr val="lt1"/>
                </a:solidFill>
              </a:rPr>
              <a:t>errors in this proof? </a:t>
            </a:r>
            <a:endParaRPr sz="23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When</a:t>
            </a:r>
            <a:r>
              <a:rPr lang="en"/>
              <a:t> does induction fail?</a:t>
            </a:r>
            <a:endParaRPr/>
          </a:p>
        </p:txBody>
      </p:sp>
      <p:sp>
        <p:nvSpPr>
          <p:cNvPr id="278" name="Google Shape;278;p49"/>
          <p:cNvSpPr txBox="1"/>
          <p:nvPr>
            <p:ph idx="1" type="body"/>
          </p:nvPr>
        </p:nvSpPr>
        <p:spPr>
          <a:xfrm>
            <a:off x="311700" y="1152475"/>
            <a:ext cx="8520600" cy="3791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Claim: Everyone loves algorithms</a:t>
            </a:r>
            <a:endParaRPr/>
          </a:p>
          <a:p>
            <a:pPr indent="0" lvl="0" marL="0" rtl="0" algn="l">
              <a:spcBef>
                <a:spcPts val="1200"/>
              </a:spcBef>
              <a:spcAft>
                <a:spcPts val="0"/>
              </a:spcAft>
              <a:buNone/>
            </a:pPr>
            <a:r>
              <a:rPr lang="en"/>
              <a:t>Proof: </a:t>
            </a:r>
            <a:endParaRPr/>
          </a:p>
          <a:p>
            <a:pPr indent="0" lvl="0" marL="0" rtl="0" algn="l">
              <a:spcBef>
                <a:spcPts val="1200"/>
              </a:spcBef>
              <a:spcAft>
                <a:spcPts val="0"/>
              </a:spcAft>
              <a:buNone/>
            </a:pPr>
            <a:r>
              <a:rPr lang="en"/>
              <a:t>	</a:t>
            </a:r>
            <a:r>
              <a:rPr b="1" lang="en"/>
              <a:t>Problem </a:t>
            </a:r>
            <a:r>
              <a:rPr b="1" lang="en"/>
              <a:t>Statement</a:t>
            </a:r>
            <a:r>
              <a:rPr lang="en"/>
              <a:t>: For any group of n people, all people in the group love algorithms</a:t>
            </a:r>
            <a:endParaRPr/>
          </a:p>
          <a:p>
            <a:pPr indent="0" lvl="0" marL="0" rtl="0" algn="l">
              <a:spcBef>
                <a:spcPts val="1200"/>
              </a:spcBef>
              <a:spcAft>
                <a:spcPts val="0"/>
              </a:spcAft>
              <a:buNone/>
            </a:pPr>
            <a:r>
              <a:rPr lang="en"/>
              <a:t>	</a:t>
            </a:r>
            <a:r>
              <a:rPr b="1" lang="en"/>
              <a:t>Base Case</a:t>
            </a:r>
            <a:r>
              <a:rPr lang="en"/>
              <a:t>: Zoe loves algorithms!</a:t>
            </a:r>
            <a:endParaRPr/>
          </a:p>
          <a:p>
            <a:pPr indent="0" lvl="0" marL="0" rtl="0" algn="l">
              <a:spcBef>
                <a:spcPts val="1200"/>
              </a:spcBef>
              <a:spcAft>
                <a:spcPts val="0"/>
              </a:spcAft>
              <a:buNone/>
            </a:pPr>
            <a:r>
              <a:rPr lang="en"/>
              <a:t>	</a:t>
            </a:r>
            <a:r>
              <a:rPr b="1" lang="en"/>
              <a:t>Inductive Hypothesis</a:t>
            </a:r>
            <a:r>
              <a:rPr lang="en"/>
              <a:t>: Assume that any group of n people love algorithms</a:t>
            </a:r>
            <a:endParaRPr/>
          </a:p>
          <a:p>
            <a:pPr indent="0" lvl="0" marL="457200" rtl="0" algn="l">
              <a:spcBef>
                <a:spcPts val="1200"/>
              </a:spcBef>
              <a:spcAft>
                <a:spcPts val="0"/>
              </a:spcAft>
              <a:buNone/>
            </a:pPr>
            <a:r>
              <a:rPr b="1" lang="en"/>
              <a:t>Inductive Step</a:t>
            </a:r>
            <a:r>
              <a:rPr lang="en"/>
              <a:t>: Say you have a group of n+1 people. Isolate the tallest n people in the group. By the IH they all love algorithms. Isolate the shortest n people. By the IH they all love algorithms. Clearly, union of these two subgroup contains all people in the group. Thus all people in the group love algorithms!</a:t>
            </a:r>
            <a:endParaRPr/>
          </a:p>
          <a:p>
            <a:pPr indent="0" lvl="0" marL="457200" rtl="0" algn="ctr">
              <a:spcBef>
                <a:spcPts val="1200"/>
              </a:spcBef>
              <a:spcAft>
                <a:spcPts val="1200"/>
              </a:spcAft>
              <a:buNone/>
            </a:pPr>
            <a:r>
              <a:rPr lang="en" sz="2300">
                <a:solidFill>
                  <a:srgbClr val="FF0000"/>
                </a:solidFill>
              </a:rPr>
              <a:t>Where are the errors in this proof? </a:t>
            </a:r>
            <a:endParaRPr sz="230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When</a:t>
            </a:r>
            <a:r>
              <a:rPr lang="en"/>
              <a:t> does induction fail?</a:t>
            </a:r>
            <a:endParaRPr/>
          </a:p>
        </p:txBody>
      </p:sp>
      <p:sp>
        <p:nvSpPr>
          <p:cNvPr id="284" name="Google Shape;284;p50"/>
          <p:cNvSpPr txBox="1"/>
          <p:nvPr>
            <p:ph idx="1" type="body"/>
          </p:nvPr>
        </p:nvSpPr>
        <p:spPr>
          <a:xfrm>
            <a:off x="311700" y="1152475"/>
            <a:ext cx="8520600" cy="37911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Claim: Everyone loves algorithms</a:t>
            </a:r>
            <a:endParaRPr/>
          </a:p>
          <a:p>
            <a:pPr indent="0" lvl="0" marL="0" rtl="0" algn="l">
              <a:spcBef>
                <a:spcPts val="1200"/>
              </a:spcBef>
              <a:spcAft>
                <a:spcPts val="0"/>
              </a:spcAft>
              <a:buNone/>
            </a:pPr>
            <a:r>
              <a:rPr lang="en"/>
              <a:t>Proof: </a:t>
            </a:r>
            <a:endParaRPr/>
          </a:p>
          <a:p>
            <a:pPr indent="0" lvl="0" marL="0" rtl="0" algn="l">
              <a:spcBef>
                <a:spcPts val="1200"/>
              </a:spcBef>
              <a:spcAft>
                <a:spcPts val="0"/>
              </a:spcAft>
              <a:buNone/>
            </a:pPr>
            <a:r>
              <a:rPr lang="en"/>
              <a:t>	</a:t>
            </a:r>
            <a:r>
              <a:rPr b="1" lang="en"/>
              <a:t>Problem</a:t>
            </a:r>
            <a:r>
              <a:rPr lang="en"/>
              <a:t> </a:t>
            </a:r>
            <a:r>
              <a:rPr b="1" lang="en"/>
              <a:t>Statement</a:t>
            </a:r>
            <a:r>
              <a:rPr lang="en"/>
              <a:t>: For any group of n people, all people in the group love algorithms</a:t>
            </a:r>
            <a:endParaRPr/>
          </a:p>
          <a:p>
            <a:pPr indent="0" lvl="0" marL="0" rtl="0" algn="l">
              <a:spcBef>
                <a:spcPts val="1200"/>
              </a:spcBef>
              <a:spcAft>
                <a:spcPts val="0"/>
              </a:spcAft>
              <a:buNone/>
            </a:pPr>
            <a:r>
              <a:rPr lang="en"/>
              <a:t>	</a:t>
            </a:r>
            <a:r>
              <a:rPr b="1" lang="en"/>
              <a:t>Base Case</a:t>
            </a:r>
            <a:r>
              <a:rPr lang="en"/>
              <a:t>: </a:t>
            </a:r>
            <a:r>
              <a:rPr lang="en">
                <a:solidFill>
                  <a:srgbClr val="FF0000"/>
                </a:solidFill>
              </a:rPr>
              <a:t>Zoe loves algorithms! (Base case is not general! Should be for any group of 1)</a:t>
            </a:r>
            <a:endParaRPr>
              <a:solidFill>
                <a:srgbClr val="FF0000"/>
              </a:solidFill>
            </a:endParaRPr>
          </a:p>
          <a:p>
            <a:pPr indent="0" lvl="0" marL="0" rtl="0" algn="l">
              <a:spcBef>
                <a:spcPts val="1200"/>
              </a:spcBef>
              <a:spcAft>
                <a:spcPts val="0"/>
              </a:spcAft>
              <a:buNone/>
            </a:pPr>
            <a:r>
              <a:rPr lang="en"/>
              <a:t>	</a:t>
            </a:r>
            <a:r>
              <a:rPr b="1" lang="en"/>
              <a:t>Inductive Hypothesis</a:t>
            </a:r>
            <a:r>
              <a:rPr lang="en"/>
              <a:t>: Assume that any group of n people love algorithms</a:t>
            </a:r>
            <a:endParaRPr/>
          </a:p>
          <a:p>
            <a:pPr indent="0" lvl="0" marL="457200" rtl="0" algn="l">
              <a:spcBef>
                <a:spcPts val="1200"/>
              </a:spcBef>
              <a:spcAft>
                <a:spcPts val="0"/>
              </a:spcAft>
              <a:buNone/>
            </a:pPr>
            <a:r>
              <a:rPr b="1" lang="en"/>
              <a:t>Inductive Step</a:t>
            </a:r>
            <a:r>
              <a:rPr lang="en"/>
              <a:t>: Say you have a group of n+1 people. Isolate the tallest n people in the group. By the IH they all love algorithms. Isolate the shortest n people. By the IH they all love algorithms. Clearly, union of these two subgroup contains all people in the group. Thus all people in the group love algorithms!</a:t>
            </a:r>
            <a:endParaRPr/>
          </a:p>
          <a:p>
            <a:pPr indent="0" lvl="0" marL="457200" rtl="0" algn="ctr">
              <a:spcBef>
                <a:spcPts val="1200"/>
              </a:spcBef>
              <a:spcAft>
                <a:spcPts val="1200"/>
              </a:spcAft>
              <a:buNone/>
            </a:pPr>
            <a:r>
              <a:rPr lang="en" sz="2300">
                <a:solidFill>
                  <a:srgbClr val="FF0000"/>
                </a:solidFill>
              </a:rPr>
              <a:t>Where are the errors in this proof? </a:t>
            </a:r>
            <a:endParaRPr sz="23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Let’s try another example!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When</a:t>
            </a:r>
            <a:r>
              <a:rPr lang="en"/>
              <a:t> does induction fail?</a:t>
            </a:r>
            <a:endParaRPr/>
          </a:p>
        </p:txBody>
      </p:sp>
      <p:sp>
        <p:nvSpPr>
          <p:cNvPr id="295" name="Google Shape;295;p52"/>
          <p:cNvSpPr txBox="1"/>
          <p:nvPr>
            <p:ph idx="1" type="body"/>
          </p:nvPr>
        </p:nvSpPr>
        <p:spPr>
          <a:xfrm>
            <a:off x="311700" y="1152475"/>
            <a:ext cx="8520600" cy="37911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Claim: Everyone has the same name</a:t>
            </a:r>
            <a:endParaRPr/>
          </a:p>
          <a:p>
            <a:pPr indent="0" lvl="0" marL="0" rtl="0" algn="l">
              <a:spcBef>
                <a:spcPts val="1200"/>
              </a:spcBef>
              <a:spcAft>
                <a:spcPts val="0"/>
              </a:spcAft>
              <a:buNone/>
            </a:pPr>
            <a:r>
              <a:rPr lang="en"/>
              <a:t>Proof: </a:t>
            </a:r>
            <a:endParaRPr/>
          </a:p>
          <a:p>
            <a:pPr indent="0" lvl="0" marL="457200" rtl="0" algn="l">
              <a:spcBef>
                <a:spcPts val="1200"/>
              </a:spcBef>
              <a:spcAft>
                <a:spcPts val="0"/>
              </a:spcAft>
              <a:buNone/>
            </a:pPr>
            <a:r>
              <a:rPr b="1" lang="en"/>
              <a:t>Problem Statement</a:t>
            </a:r>
            <a:r>
              <a:rPr lang="en"/>
              <a:t>: For any group of n people, all people in the group have the same name</a:t>
            </a:r>
            <a:endParaRPr/>
          </a:p>
          <a:p>
            <a:pPr indent="0" lvl="0" marL="0" rtl="0" algn="l">
              <a:spcBef>
                <a:spcPts val="1200"/>
              </a:spcBef>
              <a:spcAft>
                <a:spcPts val="0"/>
              </a:spcAft>
              <a:buNone/>
            </a:pPr>
            <a:r>
              <a:rPr lang="en"/>
              <a:t>	</a:t>
            </a:r>
            <a:r>
              <a:rPr b="1" lang="en"/>
              <a:t>Base Case</a:t>
            </a:r>
            <a:r>
              <a:rPr lang="en"/>
              <a:t>: A single person has their own name</a:t>
            </a:r>
            <a:endParaRPr/>
          </a:p>
          <a:p>
            <a:pPr indent="0" lvl="0" marL="457200" rtl="0" algn="l">
              <a:spcBef>
                <a:spcPts val="1200"/>
              </a:spcBef>
              <a:spcAft>
                <a:spcPts val="0"/>
              </a:spcAft>
              <a:buNone/>
            </a:pPr>
            <a:r>
              <a:rPr b="1" lang="en"/>
              <a:t>Inductive Hypothesis</a:t>
            </a:r>
            <a:r>
              <a:rPr lang="en"/>
              <a:t>: Assume that for any group of n people, everyone in the group has the same name</a:t>
            </a:r>
            <a:endParaRPr/>
          </a:p>
          <a:p>
            <a:pPr indent="0" lvl="0" marL="457200" rtl="0" algn="l">
              <a:spcBef>
                <a:spcPts val="1200"/>
              </a:spcBef>
              <a:spcAft>
                <a:spcPts val="0"/>
              </a:spcAft>
              <a:buNone/>
            </a:pPr>
            <a:r>
              <a:rPr b="1" lang="en"/>
              <a:t>Inductive Step</a:t>
            </a:r>
            <a:r>
              <a:rPr lang="en"/>
              <a:t>: Say you have a group of n+1 people. Isolate the tallest n people in the group. By the IH they all have the same name. Isolate the shortest n people. By the IH they all have the same name. The second tallest person is in both groups. Thus everyone in each subgroup has the same name as the second tallest person. The union of the two subgroups contains the entire group. Thus everyone in the entire group has the same name (the name of the second tallest person). </a:t>
            </a:r>
            <a:endParaRPr/>
          </a:p>
          <a:p>
            <a:pPr indent="0" lvl="0" marL="457200" rtl="0" algn="l">
              <a:spcBef>
                <a:spcPts val="1200"/>
              </a:spcBef>
              <a:spcAft>
                <a:spcPts val="0"/>
              </a:spcAft>
              <a:buNone/>
            </a:pPr>
            <a:r>
              <a:t/>
            </a:r>
            <a:endParaRPr/>
          </a:p>
          <a:p>
            <a:pPr indent="0" lvl="0" marL="457200" rtl="0" algn="ctr">
              <a:spcBef>
                <a:spcPts val="1200"/>
              </a:spcBef>
              <a:spcAft>
                <a:spcPts val="1200"/>
              </a:spcAft>
              <a:buNone/>
            </a:pPr>
            <a:r>
              <a:rPr lang="en" sz="2300">
                <a:solidFill>
                  <a:schemeClr val="lt1"/>
                </a:solidFill>
              </a:rPr>
              <a:t>Where are the errors in this proof? </a:t>
            </a:r>
            <a:endParaRPr sz="23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When</a:t>
            </a:r>
            <a:r>
              <a:rPr lang="en"/>
              <a:t> does induction fail?</a:t>
            </a:r>
            <a:endParaRPr/>
          </a:p>
        </p:txBody>
      </p:sp>
      <p:sp>
        <p:nvSpPr>
          <p:cNvPr id="301" name="Google Shape;301;p53"/>
          <p:cNvSpPr txBox="1"/>
          <p:nvPr>
            <p:ph idx="1" type="body"/>
          </p:nvPr>
        </p:nvSpPr>
        <p:spPr>
          <a:xfrm>
            <a:off x="311700" y="1152475"/>
            <a:ext cx="8520600" cy="37911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Claim: Everyone has the same name</a:t>
            </a:r>
            <a:endParaRPr/>
          </a:p>
          <a:p>
            <a:pPr indent="0" lvl="0" marL="0" rtl="0" algn="l">
              <a:spcBef>
                <a:spcPts val="1200"/>
              </a:spcBef>
              <a:spcAft>
                <a:spcPts val="0"/>
              </a:spcAft>
              <a:buNone/>
            </a:pPr>
            <a:r>
              <a:rPr lang="en"/>
              <a:t>Proof: </a:t>
            </a:r>
            <a:endParaRPr/>
          </a:p>
          <a:p>
            <a:pPr indent="0" lvl="0" marL="457200" rtl="0" algn="l">
              <a:spcBef>
                <a:spcPts val="1200"/>
              </a:spcBef>
              <a:spcAft>
                <a:spcPts val="0"/>
              </a:spcAft>
              <a:buNone/>
            </a:pPr>
            <a:r>
              <a:rPr b="1" lang="en"/>
              <a:t>Problem Statement</a:t>
            </a:r>
            <a:r>
              <a:rPr lang="en"/>
              <a:t>: For any group of n people, all people in the group have the same name</a:t>
            </a:r>
            <a:endParaRPr/>
          </a:p>
          <a:p>
            <a:pPr indent="0" lvl="0" marL="0" rtl="0" algn="l">
              <a:spcBef>
                <a:spcPts val="1200"/>
              </a:spcBef>
              <a:spcAft>
                <a:spcPts val="0"/>
              </a:spcAft>
              <a:buNone/>
            </a:pPr>
            <a:r>
              <a:rPr lang="en"/>
              <a:t>	</a:t>
            </a:r>
            <a:r>
              <a:rPr b="1" lang="en"/>
              <a:t>Base Case</a:t>
            </a:r>
            <a:r>
              <a:rPr lang="en"/>
              <a:t>: A single person has their own name</a:t>
            </a:r>
            <a:endParaRPr/>
          </a:p>
          <a:p>
            <a:pPr indent="0" lvl="0" marL="457200" rtl="0" algn="l">
              <a:spcBef>
                <a:spcPts val="1200"/>
              </a:spcBef>
              <a:spcAft>
                <a:spcPts val="0"/>
              </a:spcAft>
              <a:buNone/>
            </a:pPr>
            <a:r>
              <a:rPr b="1" lang="en"/>
              <a:t>Inductive Hypothesis</a:t>
            </a:r>
            <a:r>
              <a:rPr lang="en"/>
              <a:t>: Assume that for any group of n people, everyone in the group has the same name</a:t>
            </a:r>
            <a:endParaRPr/>
          </a:p>
          <a:p>
            <a:pPr indent="0" lvl="0" marL="457200" rtl="0" algn="l">
              <a:spcBef>
                <a:spcPts val="1200"/>
              </a:spcBef>
              <a:spcAft>
                <a:spcPts val="0"/>
              </a:spcAft>
              <a:buNone/>
            </a:pPr>
            <a:r>
              <a:rPr b="1" lang="en"/>
              <a:t>Inductive Step</a:t>
            </a:r>
            <a:r>
              <a:rPr lang="en"/>
              <a:t>: Say you have a group of n+1 people. Isolate the tallest n people in the group. By the IH they all have the same name. Isolate the shortest n people. By the IH they all have the same name. The second tallest person is in both groups. Thus everyone in each subgroup has the same name as the second tallest person. The union of the two subgroups contains the entire group. Thus everyone in the entire group has the same name (the name of the second tallest person). </a:t>
            </a:r>
            <a:endParaRPr/>
          </a:p>
          <a:p>
            <a:pPr indent="0" lvl="0" marL="457200" rtl="0" algn="l">
              <a:spcBef>
                <a:spcPts val="1200"/>
              </a:spcBef>
              <a:spcAft>
                <a:spcPts val="0"/>
              </a:spcAft>
              <a:buNone/>
            </a:pPr>
            <a:r>
              <a:t/>
            </a:r>
            <a:endParaRPr/>
          </a:p>
          <a:p>
            <a:pPr indent="0" lvl="0" marL="457200" rtl="0" algn="ctr">
              <a:spcBef>
                <a:spcPts val="1200"/>
              </a:spcBef>
              <a:spcAft>
                <a:spcPts val="1200"/>
              </a:spcAft>
              <a:buNone/>
            </a:pPr>
            <a:r>
              <a:rPr lang="en" sz="2300">
                <a:solidFill>
                  <a:srgbClr val="FF0000"/>
                </a:solidFill>
              </a:rPr>
              <a:t>Where are the errors in this proof? </a:t>
            </a:r>
            <a:endParaRPr sz="230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When</a:t>
            </a:r>
            <a:r>
              <a:rPr lang="en"/>
              <a:t> does induction fail?</a:t>
            </a:r>
            <a:endParaRPr/>
          </a:p>
        </p:txBody>
      </p:sp>
      <p:sp>
        <p:nvSpPr>
          <p:cNvPr id="307" name="Google Shape;307;p54"/>
          <p:cNvSpPr txBox="1"/>
          <p:nvPr>
            <p:ph idx="1" type="body"/>
          </p:nvPr>
        </p:nvSpPr>
        <p:spPr>
          <a:xfrm>
            <a:off x="311700" y="1152475"/>
            <a:ext cx="8520600" cy="37911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Claim: Everyone has the same name</a:t>
            </a:r>
            <a:endParaRPr/>
          </a:p>
          <a:p>
            <a:pPr indent="0" lvl="0" marL="0" rtl="0" algn="l">
              <a:spcBef>
                <a:spcPts val="1200"/>
              </a:spcBef>
              <a:spcAft>
                <a:spcPts val="0"/>
              </a:spcAft>
              <a:buNone/>
            </a:pPr>
            <a:r>
              <a:rPr lang="en"/>
              <a:t>Proof: </a:t>
            </a:r>
            <a:endParaRPr/>
          </a:p>
          <a:p>
            <a:pPr indent="0" lvl="0" marL="457200" rtl="0" algn="l">
              <a:spcBef>
                <a:spcPts val="1200"/>
              </a:spcBef>
              <a:spcAft>
                <a:spcPts val="0"/>
              </a:spcAft>
              <a:buNone/>
            </a:pPr>
            <a:r>
              <a:rPr b="1" lang="en"/>
              <a:t>Problem Statement</a:t>
            </a:r>
            <a:r>
              <a:rPr lang="en"/>
              <a:t>: For any group of n people, all people in the group have the same name</a:t>
            </a:r>
            <a:endParaRPr/>
          </a:p>
          <a:p>
            <a:pPr indent="0" lvl="0" marL="0" rtl="0" algn="l">
              <a:spcBef>
                <a:spcPts val="1200"/>
              </a:spcBef>
              <a:spcAft>
                <a:spcPts val="0"/>
              </a:spcAft>
              <a:buNone/>
            </a:pPr>
            <a:r>
              <a:rPr lang="en"/>
              <a:t>	</a:t>
            </a:r>
            <a:r>
              <a:rPr b="1" lang="en"/>
              <a:t>Base Case</a:t>
            </a:r>
            <a:r>
              <a:rPr lang="en"/>
              <a:t>: A single person has their own name</a:t>
            </a:r>
            <a:endParaRPr/>
          </a:p>
          <a:p>
            <a:pPr indent="0" lvl="0" marL="457200" rtl="0" algn="l">
              <a:spcBef>
                <a:spcPts val="1200"/>
              </a:spcBef>
              <a:spcAft>
                <a:spcPts val="0"/>
              </a:spcAft>
              <a:buNone/>
            </a:pPr>
            <a:r>
              <a:rPr b="1" lang="en"/>
              <a:t>Inductive Hypothesis</a:t>
            </a:r>
            <a:r>
              <a:rPr lang="en"/>
              <a:t>: Assume that for any group of n people, everyone in the group has the same name</a:t>
            </a:r>
            <a:endParaRPr/>
          </a:p>
          <a:p>
            <a:pPr indent="0" lvl="0" marL="457200" rtl="0" algn="l">
              <a:spcBef>
                <a:spcPts val="1200"/>
              </a:spcBef>
              <a:spcAft>
                <a:spcPts val="0"/>
              </a:spcAft>
              <a:buNone/>
            </a:pPr>
            <a:r>
              <a:rPr b="1" lang="en"/>
              <a:t>Inductive Step</a:t>
            </a:r>
            <a:r>
              <a:rPr lang="en"/>
              <a:t>: Say you have a group of n+1 people. Isolate the tallest n people in the group. By the IH they all have the same name. Isolate the shortest n people. By the IH they all have the same name. </a:t>
            </a:r>
            <a:r>
              <a:rPr lang="en">
                <a:solidFill>
                  <a:srgbClr val="FF0000"/>
                </a:solidFill>
              </a:rPr>
              <a:t>The second tallest person is in both groups.</a:t>
            </a:r>
            <a:r>
              <a:rPr lang="en"/>
              <a:t> Thus everyone in each subgroup has the same name as the second tallest person. The union of the two subgroups contains the entire group. Thus everyone in the entire group has the same name (the name of the second tallest person).</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rPr b="1" lang="en" sz="1500">
                <a:solidFill>
                  <a:srgbClr val="FF0000"/>
                </a:solidFill>
              </a:rPr>
              <a:t>IS implicitly assume that there are at least 3 people in the group. Base case is for n=1, but missing n=2. IS does not hold for n+1=2</a:t>
            </a:r>
            <a:endParaRPr b="1" sz="150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More examples (increasing difficulty)</a:t>
            </a:r>
            <a:endParaRPr/>
          </a:p>
        </p:txBody>
      </p:sp>
      <p:sp>
        <p:nvSpPr>
          <p:cNvPr id="313" name="Google Shape;313;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arenR"/>
            </a:pPr>
            <a:r>
              <a:rPr lang="en"/>
              <a:t>The sum of the n first odd numbers in n</a:t>
            </a:r>
            <a:r>
              <a:rPr baseline="30000" lang="en"/>
              <a:t>2</a:t>
            </a:r>
            <a:endParaRPr/>
          </a:p>
          <a:p>
            <a:pPr indent="-342900" lvl="0" marL="457200" rtl="0" algn="l">
              <a:spcBef>
                <a:spcPts val="0"/>
              </a:spcBef>
              <a:spcAft>
                <a:spcPts val="0"/>
              </a:spcAft>
              <a:buSzPts val="1800"/>
              <a:buAutoNum type="arabicParenR"/>
            </a:pPr>
            <a:r>
              <a:rPr lang="en"/>
              <a:t>The sum of integers from 1 to n is n(n-1)/2</a:t>
            </a:r>
            <a:endParaRPr/>
          </a:p>
          <a:p>
            <a:pPr indent="-342900" lvl="0" marL="457200" rtl="0" algn="l">
              <a:spcBef>
                <a:spcPts val="0"/>
              </a:spcBef>
              <a:spcAft>
                <a:spcPts val="0"/>
              </a:spcAft>
              <a:buSzPts val="1800"/>
              <a:buAutoNum type="arabicParenR"/>
            </a:pPr>
            <a:r>
              <a:rPr lang="en"/>
              <a:t>The number of nodes in a </a:t>
            </a:r>
            <a:r>
              <a:rPr lang="en"/>
              <a:t>complete</a:t>
            </a:r>
            <a:r>
              <a:rPr lang="en"/>
              <a:t> binary tree of height n is 2</a:t>
            </a:r>
            <a:r>
              <a:rPr baseline="30000" lang="en"/>
              <a:t>n</a:t>
            </a:r>
            <a:r>
              <a:rPr lang="en"/>
              <a:t>-1</a:t>
            </a:r>
            <a:endParaRPr/>
          </a:p>
          <a:p>
            <a:pPr indent="-342900" lvl="0" marL="457200" rtl="0" algn="l">
              <a:spcBef>
                <a:spcPts val="0"/>
              </a:spcBef>
              <a:spcAft>
                <a:spcPts val="0"/>
              </a:spcAft>
              <a:buSzPts val="1800"/>
              <a:buAutoNum type="arabicParenR"/>
            </a:pPr>
            <a:r>
              <a:rPr lang="en"/>
              <a:t>2</a:t>
            </a:r>
            <a:r>
              <a:rPr baseline="30000" lang="en"/>
              <a:t>n+2</a:t>
            </a:r>
            <a:r>
              <a:rPr lang="en"/>
              <a:t> + 3</a:t>
            </a:r>
            <a:r>
              <a:rPr baseline="30000" lang="en"/>
              <a:t>2n+1</a:t>
            </a:r>
            <a:r>
              <a:rPr lang="en"/>
              <a:t> is divisible by 7 for all positive integers</a:t>
            </a:r>
            <a:endParaRPr/>
          </a:p>
          <a:p>
            <a:pPr indent="-342900" lvl="0" marL="457200" rtl="0" algn="l">
              <a:spcBef>
                <a:spcPts val="0"/>
              </a:spcBef>
              <a:spcAft>
                <a:spcPts val="0"/>
              </a:spcAft>
              <a:buSzPts val="1800"/>
              <a:buAutoNum type="arabicParenR"/>
            </a:pPr>
            <a:r>
              <a:rPr lang="en"/>
              <a:t>All polygons can be “triangulated” with diagonals</a:t>
            </a:r>
            <a:endParaRPr/>
          </a:p>
          <a:p>
            <a:pPr indent="-342900" lvl="0" marL="457200" rtl="0" algn="l">
              <a:spcBef>
                <a:spcPts val="0"/>
              </a:spcBef>
              <a:spcAft>
                <a:spcPts val="0"/>
              </a:spcAft>
              <a:buSzPts val="1800"/>
              <a:buAutoNum type="arabicParenR"/>
            </a:pPr>
            <a:r>
              <a:rPr lang="en"/>
              <a:t>Let finitely many lines divides a plane into regions. There is always a way to colors the regions with two colors in such a way that adjacent regions have different colors.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Solutions</a:t>
            </a:r>
            <a:endParaRPr/>
          </a:p>
        </p:txBody>
      </p:sp>
      <p:sp>
        <p:nvSpPr>
          <p:cNvPr id="319" name="Google Shape;319;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4) Page 3 of </a:t>
            </a:r>
            <a:r>
              <a:rPr lang="en" sz="1100" u="sng">
                <a:solidFill>
                  <a:schemeClr val="hlink"/>
                </a:solidFill>
                <a:hlinkClick r:id="rId3"/>
              </a:rPr>
              <a:t>https://math.dartmouth.edu/archive/m25f19/public_html/Documents/InductionPractice_solns.pdf</a:t>
            </a:r>
            <a:endParaRPr/>
          </a:p>
          <a:p>
            <a:pPr indent="0" lvl="0" marL="0" rtl="0" algn="l">
              <a:spcBef>
                <a:spcPts val="1200"/>
              </a:spcBef>
              <a:spcAft>
                <a:spcPts val="0"/>
              </a:spcAft>
              <a:buNone/>
            </a:pPr>
            <a:r>
              <a:rPr lang="en"/>
              <a:t>5) </a:t>
            </a:r>
            <a:r>
              <a:rPr lang="en" sz="1100" u="sng">
                <a:solidFill>
                  <a:schemeClr val="hlink"/>
                </a:solidFill>
                <a:hlinkClick r:id="rId4"/>
              </a:rPr>
              <a:t>https://math.stackexchange.com/questions/1877253/triangulation-of-a-simple-polygon-elementary-proof</a:t>
            </a:r>
            <a:endParaRPr/>
          </a:p>
          <a:p>
            <a:pPr indent="0" lvl="0" marL="0" rtl="0" algn="l">
              <a:spcBef>
                <a:spcPts val="1200"/>
              </a:spcBef>
              <a:spcAft>
                <a:spcPts val="1200"/>
              </a:spcAft>
              <a:buNone/>
            </a:pPr>
            <a:r>
              <a:rPr lang="en"/>
              <a:t>6) </a:t>
            </a:r>
            <a:r>
              <a:rPr lang="en" sz="1100" u="sng">
                <a:solidFill>
                  <a:schemeClr val="hlink"/>
                </a:solidFill>
                <a:hlinkClick r:id="rId5"/>
              </a:rPr>
              <a:t>https://www.cut-the-knot.org/Curriculum/Geometry/TwoColorColoring.shtml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Weak Induction                vs         Strong Induction</a:t>
            </a:r>
            <a:endParaRPr/>
          </a:p>
        </p:txBody>
      </p:sp>
      <p:sp>
        <p:nvSpPr>
          <p:cNvPr id="325" name="Google Shape;325;p57"/>
          <p:cNvSpPr txBox="1"/>
          <p:nvPr>
            <p:ph idx="1" type="body"/>
          </p:nvPr>
        </p:nvSpPr>
        <p:spPr>
          <a:xfrm>
            <a:off x="311700" y="1152475"/>
            <a:ext cx="3638100" cy="356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Base Case: </a:t>
            </a:r>
            <a:r>
              <a:rPr lang="en"/>
              <a:t>Show that </a:t>
            </a:r>
            <a:r>
              <a:rPr lang="en"/>
              <a:t>P</a:t>
            </a:r>
            <a:r>
              <a:rPr baseline="-25000" lang="en"/>
              <a:t>n</a:t>
            </a:r>
            <a:r>
              <a:rPr lang="en"/>
              <a:t> is true for small fixed n (usually n=0 or n=1)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IH:</a:t>
            </a:r>
            <a:r>
              <a:rPr lang="en"/>
              <a:t> Assume that P</a:t>
            </a:r>
            <a:r>
              <a:rPr baseline="-25000" lang="en"/>
              <a:t>n</a:t>
            </a:r>
            <a:r>
              <a:rPr lang="en"/>
              <a:t> is true for some positive integer 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IS:</a:t>
            </a:r>
            <a:r>
              <a:rPr lang="en"/>
              <a:t> Prove that P</a:t>
            </a:r>
            <a:r>
              <a:rPr baseline="-25000" lang="en"/>
              <a:t>n</a:t>
            </a:r>
            <a:r>
              <a:rPr lang="en"/>
              <a:t> implies P</a:t>
            </a:r>
            <a:r>
              <a:rPr baseline="-25000" lang="en"/>
              <a:t>n+1</a:t>
            </a:r>
            <a:r>
              <a:rPr lang="en"/>
              <a:t> </a:t>
            </a:r>
            <a:endParaRPr/>
          </a:p>
        </p:txBody>
      </p:sp>
      <p:sp>
        <p:nvSpPr>
          <p:cNvPr id="326" name="Google Shape;326;p57"/>
          <p:cNvSpPr txBox="1"/>
          <p:nvPr>
            <p:ph idx="1" type="body"/>
          </p:nvPr>
        </p:nvSpPr>
        <p:spPr>
          <a:xfrm>
            <a:off x="5110025" y="1152475"/>
            <a:ext cx="3722100" cy="362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Base Case</a:t>
            </a:r>
            <a:r>
              <a:rPr lang="en"/>
              <a:t>: </a:t>
            </a:r>
            <a:r>
              <a:rPr lang="en"/>
              <a:t>Show that P</a:t>
            </a:r>
            <a:r>
              <a:rPr baseline="-25000" lang="en"/>
              <a:t>n</a:t>
            </a:r>
            <a:r>
              <a:rPr lang="en"/>
              <a:t> is true for small fixed n (usually n=0 or n=1) </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IH</a:t>
            </a:r>
            <a:r>
              <a:rPr lang="en"/>
              <a:t>: </a:t>
            </a:r>
            <a:r>
              <a:rPr lang="en"/>
              <a:t>Show that P</a:t>
            </a:r>
            <a:r>
              <a:rPr baseline="-25000" lang="en"/>
              <a:t>k</a:t>
            </a:r>
            <a:r>
              <a:rPr lang="en"/>
              <a:t> is true for all 0&lt;k&lt;n for some positive integer n</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IS:</a:t>
            </a:r>
            <a:r>
              <a:rPr lang="en"/>
              <a:t> Prove that the IH implies that </a:t>
            </a:r>
            <a:r>
              <a:rPr lang="en"/>
              <a:t>P</a:t>
            </a:r>
            <a:r>
              <a:rPr baseline="-25000" lang="en"/>
              <a:t>n+1</a:t>
            </a:r>
            <a:r>
              <a:rPr lang="en"/>
              <a:t> is also true</a:t>
            </a:r>
            <a:r>
              <a:rPr lang="en"/>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Weak vs Strong Induction</a:t>
            </a:r>
            <a:endParaRPr/>
          </a:p>
        </p:txBody>
      </p:sp>
      <p:sp>
        <p:nvSpPr>
          <p:cNvPr id="332" name="Google Shape;332;p58"/>
          <p:cNvSpPr txBox="1"/>
          <p:nvPr>
            <p:ph idx="1" type="body"/>
          </p:nvPr>
        </p:nvSpPr>
        <p:spPr>
          <a:xfrm>
            <a:off x="37865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Strong Induction assume the statement is true at all steps from the base case to the n-th step</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Weak </a:t>
            </a:r>
            <a:r>
              <a:rPr lang="en"/>
              <a:t>induction</a:t>
            </a:r>
            <a:r>
              <a:rPr lang="en"/>
              <a:t> only </a:t>
            </a:r>
            <a:r>
              <a:rPr lang="en"/>
              <a:t>assumes that the statement is true at the n-th step</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Weak and Strong Induction are logically equivalent, but sometimes it is simpler to prove something with strong induction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Let’s try an example of Strong Induction!</a:t>
            </a:r>
            <a:endParaRPr/>
          </a:p>
        </p:txBody>
      </p:sp>
      <p:sp>
        <p:nvSpPr>
          <p:cNvPr id="338" name="Google Shape;33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Prove that every integer can be written as a product of prime factors.</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integer can be written as a product of prime factors</a:t>
            </a:r>
            <a:endParaRPr sz="2200"/>
          </a:p>
        </p:txBody>
      </p:sp>
      <p:sp>
        <p:nvSpPr>
          <p:cNvPr id="344" name="Google Shape;344;p60"/>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55000" lnSpcReduction="20000"/>
          </a:bodyPr>
          <a:lstStyle/>
          <a:p>
            <a:pPr indent="-291465" lvl="0" marL="457200" rtl="0" algn="l">
              <a:lnSpc>
                <a:spcPct val="100000"/>
              </a:lnSpc>
              <a:spcBef>
                <a:spcPts val="0"/>
              </a:spcBef>
              <a:spcAft>
                <a:spcPts val="0"/>
              </a:spcAft>
              <a:buSzPct val="100000"/>
              <a:buAutoNum type="arabicParenR"/>
            </a:pPr>
            <a:r>
              <a:rPr lang="en"/>
              <a:t>Problem Statement: For all natural numbers n&gt;1, n=x</a:t>
            </a:r>
            <a:r>
              <a:rPr baseline="-25000" lang="en"/>
              <a:t>1</a:t>
            </a:r>
            <a:r>
              <a:rPr lang="en"/>
              <a:t> * x</a:t>
            </a:r>
            <a:r>
              <a:rPr baseline="-25000" lang="en"/>
              <a:t>2</a:t>
            </a:r>
            <a:r>
              <a:rPr lang="en"/>
              <a:t> * … * x</a:t>
            </a:r>
            <a:r>
              <a:rPr baseline="-25000" lang="en"/>
              <a:t>k</a:t>
            </a:r>
            <a:r>
              <a:rPr lang="en"/>
              <a:t> where x</a:t>
            </a:r>
            <a:r>
              <a:rPr baseline="-25000" lang="en"/>
              <a:t>i</a:t>
            </a:r>
            <a:r>
              <a:rPr lang="en"/>
              <a:t> is prime for all i</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Clr>
                <a:schemeClr val="lt1"/>
              </a:buClr>
              <a:buSzPct val="100000"/>
              <a:buAutoNum type="arabicParenR"/>
            </a:pPr>
            <a:r>
              <a:rPr lang="en">
                <a:solidFill>
                  <a:schemeClr val="lt1"/>
                </a:solidFill>
              </a:rPr>
              <a:t>Base Case (n=2): 2 is a product of one prime (itself)</a:t>
            </a:r>
            <a:endParaRPr>
              <a:solidFill>
                <a:schemeClr val="lt1"/>
              </a:solidFill>
            </a:endParaRPr>
          </a:p>
          <a:p>
            <a:pPr indent="0" lvl="0" marL="0" rtl="0" algn="l">
              <a:lnSpc>
                <a:spcPct val="100000"/>
              </a:lnSpc>
              <a:spcBef>
                <a:spcPts val="1200"/>
              </a:spcBef>
              <a:spcAft>
                <a:spcPts val="0"/>
              </a:spcAft>
              <a:buNone/>
            </a:pPr>
            <a:r>
              <a:t/>
            </a:r>
            <a:endParaRPr>
              <a:solidFill>
                <a:schemeClr val="lt1"/>
              </a:solidFill>
            </a:endParaRPr>
          </a:p>
          <a:p>
            <a:pPr indent="-291465" lvl="0" marL="457200" rtl="0" algn="l">
              <a:lnSpc>
                <a:spcPct val="100000"/>
              </a:lnSpc>
              <a:spcBef>
                <a:spcPts val="1200"/>
              </a:spcBef>
              <a:spcAft>
                <a:spcPts val="0"/>
              </a:spcAft>
              <a:buClr>
                <a:schemeClr val="lt1"/>
              </a:buClr>
              <a:buSzPct val="100000"/>
              <a:buAutoNum type="arabicParenR"/>
            </a:pPr>
            <a:r>
              <a:rPr lang="en">
                <a:solidFill>
                  <a:schemeClr val="lt1"/>
                </a:solidFill>
              </a:rPr>
              <a:t>Induction Hypothesis: Let n be a positive integers. Assume that  for all integers 2&lt;k&lt;=n, k can be written as a product of prime numbers</a:t>
            </a:r>
            <a:endParaRPr>
              <a:solidFill>
                <a:schemeClr val="lt1"/>
              </a:solidFill>
            </a:endParaRPr>
          </a:p>
          <a:p>
            <a:pPr indent="0" lvl="0" marL="457200" rtl="0" algn="l">
              <a:lnSpc>
                <a:spcPct val="100000"/>
              </a:lnSpc>
              <a:spcBef>
                <a:spcPts val="1200"/>
              </a:spcBef>
              <a:spcAft>
                <a:spcPts val="0"/>
              </a:spcAft>
              <a:buNone/>
            </a:pPr>
            <a:r>
              <a:t/>
            </a:r>
            <a:endParaRPr>
              <a:solidFill>
                <a:schemeClr val="lt1"/>
              </a:solidFill>
            </a:endParaRPr>
          </a:p>
          <a:p>
            <a:pPr indent="-291465" lvl="0" marL="457200" rtl="0" algn="l">
              <a:lnSpc>
                <a:spcPct val="100000"/>
              </a:lnSpc>
              <a:spcBef>
                <a:spcPts val="1200"/>
              </a:spcBef>
              <a:spcAft>
                <a:spcPts val="0"/>
              </a:spcAft>
              <a:buClr>
                <a:schemeClr val="lt1"/>
              </a:buClr>
              <a:buSzPct val="100000"/>
              <a:buAutoNum type="arabicParenR"/>
            </a:pPr>
            <a:r>
              <a:t/>
            </a:r>
            <a:endParaRPr>
              <a:solidFill>
                <a:schemeClr val="lt1"/>
              </a:solidFill>
            </a:endParaRPr>
          </a:p>
          <a:p>
            <a:pPr indent="0" lvl="0" marL="457200" rtl="0" algn="l">
              <a:lnSpc>
                <a:spcPct val="100000"/>
              </a:lnSpc>
              <a:spcBef>
                <a:spcPts val="1200"/>
              </a:spcBef>
              <a:spcAft>
                <a:spcPts val="0"/>
              </a:spcAft>
              <a:buNone/>
            </a:pPr>
            <a:r>
              <a:rPr lang="en">
                <a:solidFill>
                  <a:schemeClr val="lt1"/>
                </a:solidFill>
              </a:rPr>
              <a:t>Case 1: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If n+1 is prime, then it can be written a product of one prime (itself)</a:t>
            </a:r>
            <a:endParaRPr>
              <a:solidFill>
                <a:schemeClr val="lt1"/>
              </a:solidFill>
            </a:endParaRPr>
          </a:p>
          <a:p>
            <a:pPr indent="0" lvl="0" marL="457200" rtl="0" algn="l">
              <a:lnSpc>
                <a:spcPct val="100000"/>
              </a:lnSpc>
              <a:spcBef>
                <a:spcPts val="1200"/>
              </a:spcBef>
              <a:spcAft>
                <a:spcPts val="0"/>
              </a:spcAft>
              <a:buNone/>
            </a:pPr>
            <a:r>
              <a:rPr lang="en">
                <a:solidFill>
                  <a:schemeClr val="lt1"/>
                </a:solidFill>
              </a:rPr>
              <a:t>Case 2: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If n+1 is not prime then it can be written as the product of two factors,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n+1 = a*b and we know that 2&lt;a,b&lt;n. The IH applies to both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a=x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and b=y</a:t>
            </a:r>
            <a:r>
              <a:rPr baseline="-25000" lang="en">
                <a:solidFill>
                  <a:schemeClr val="lt1"/>
                </a:solidFill>
              </a:rPr>
              <a:t>1</a:t>
            </a:r>
            <a:r>
              <a:rPr lang="en">
                <a:solidFill>
                  <a:schemeClr val="lt1"/>
                </a:solidFill>
              </a:rPr>
              <a:t> * y</a:t>
            </a:r>
            <a:r>
              <a:rPr baseline="-25000" lang="en">
                <a:solidFill>
                  <a:schemeClr val="lt1"/>
                </a:solidFill>
              </a:rPr>
              <a:t>2</a:t>
            </a:r>
            <a:r>
              <a:rPr lang="en">
                <a:solidFill>
                  <a:schemeClr val="lt1"/>
                </a:solidFill>
              </a:rPr>
              <a:t> * … * y</a:t>
            </a:r>
            <a:r>
              <a:rPr baseline="-25000" lang="en">
                <a:solidFill>
                  <a:schemeClr val="lt1"/>
                </a:solidFill>
              </a:rPr>
              <a:t>m</a:t>
            </a:r>
            <a:r>
              <a:rPr lang="en">
                <a:solidFill>
                  <a:schemeClr val="lt1"/>
                </a:solidFill>
              </a:rPr>
              <a:t>  where x</a:t>
            </a:r>
            <a:r>
              <a:rPr baseline="-25000" lang="en">
                <a:solidFill>
                  <a:schemeClr val="lt1"/>
                </a:solidFill>
              </a:rPr>
              <a:t>i</a:t>
            </a:r>
            <a:r>
              <a:rPr lang="en">
                <a:solidFill>
                  <a:schemeClr val="lt1"/>
                </a:solidFill>
              </a:rPr>
              <a:t> and y</a:t>
            </a:r>
            <a:r>
              <a:rPr baseline="-25000" lang="en">
                <a:solidFill>
                  <a:schemeClr val="lt1"/>
                </a:solidFill>
              </a:rPr>
              <a:t>j</a:t>
            </a:r>
            <a:r>
              <a:rPr lang="en">
                <a:solidFill>
                  <a:schemeClr val="lt1"/>
                </a:solidFill>
              </a:rPr>
              <a:t> are prime for all i and j. </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Then n+1 = 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which is a product of primes. Thus the IH hold for n+1</a:t>
            </a:r>
            <a:endParaRPr>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integer can be written as a product of prime factors</a:t>
            </a:r>
            <a:endParaRPr sz="2200"/>
          </a:p>
        </p:txBody>
      </p:sp>
      <p:sp>
        <p:nvSpPr>
          <p:cNvPr id="350" name="Google Shape;350;p61"/>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55000" lnSpcReduction="20000"/>
          </a:bodyPr>
          <a:lstStyle/>
          <a:p>
            <a:pPr indent="-291465" lvl="0" marL="457200" rtl="0" algn="l">
              <a:lnSpc>
                <a:spcPct val="100000"/>
              </a:lnSpc>
              <a:spcBef>
                <a:spcPts val="0"/>
              </a:spcBef>
              <a:spcAft>
                <a:spcPts val="0"/>
              </a:spcAft>
              <a:buSzPct val="100000"/>
              <a:buAutoNum type="arabicParenR"/>
            </a:pPr>
            <a:r>
              <a:rPr lang="en"/>
              <a:t>Problem Statement: For all natural numbers n&gt;1, n=x</a:t>
            </a:r>
            <a:r>
              <a:rPr baseline="-25000" lang="en"/>
              <a:t>1</a:t>
            </a:r>
            <a:r>
              <a:rPr lang="en"/>
              <a:t> * </a:t>
            </a:r>
            <a:r>
              <a:rPr lang="en"/>
              <a:t>x</a:t>
            </a:r>
            <a:r>
              <a:rPr baseline="-25000" lang="en"/>
              <a:t>2</a:t>
            </a:r>
            <a:r>
              <a:rPr lang="en"/>
              <a:t> * … * </a:t>
            </a:r>
            <a:r>
              <a:rPr lang="en"/>
              <a:t>x</a:t>
            </a:r>
            <a:r>
              <a:rPr baseline="-25000" lang="en"/>
              <a:t>k</a:t>
            </a:r>
            <a:r>
              <a:rPr lang="en"/>
              <a:t> where x</a:t>
            </a:r>
            <a:r>
              <a:rPr baseline="-25000" lang="en"/>
              <a:t>i</a:t>
            </a:r>
            <a:r>
              <a:rPr lang="en"/>
              <a:t> is prime for all i</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Base Case (n=2): 2 is a product of one prime (itself)</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Clr>
                <a:schemeClr val="lt1"/>
              </a:buClr>
              <a:buSzPct val="100000"/>
              <a:buAutoNum type="arabicParenR"/>
            </a:pPr>
            <a:r>
              <a:rPr lang="en">
                <a:solidFill>
                  <a:schemeClr val="lt1"/>
                </a:solidFill>
              </a:rPr>
              <a:t>Induction Hypothesis: Let n be a positive integers. Assume that  for all </a:t>
            </a:r>
            <a:r>
              <a:rPr lang="en">
                <a:solidFill>
                  <a:schemeClr val="lt1"/>
                </a:solidFill>
              </a:rPr>
              <a:t>integers</a:t>
            </a:r>
            <a:r>
              <a:rPr lang="en">
                <a:solidFill>
                  <a:schemeClr val="lt1"/>
                </a:solidFill>
              </a:rPr>
              <a:t> 2&lt;k&lt;=n, k can be written as a product of prime numbers</a:t>
            </a:r>
            <a:endParaRPr>
              <a:solidFill>
                <a:schemeClr val="lt1"/>
              </a:solidFill>
            </a:endParaRPr>
          </a:p>
          <a:p>
            <a:pPr indent="0" lvl="0" marL="457200" rtl="0" algn="l">
              <a:lnSpc>
                <a:spcPct val="100000"/>
              </a:lnSpc>
              <a:spcBef>
                <a:spcPts val="1200"/>
              </a:spcBef>
              <a:spcAft>
                <a:spcPts val="0"/>
              </a:spcAft>
              <a:buNone/>
            </a:pPr>
            <a:r>
              <a:t/>
            </a:r>
            <a:endParaRPr>
              <a:solidFill>
                <a:schemeClr val="lt1"/>
              </a:solidFill>
            </a:endParaRPr>
          </a:p>
          <a:p>
            <a:pPr indent="-291465" lvl="0" marL="457200" rtl="0" algn="l">
              <a:lnSpc>
                <a:spcPct val="100000"/>
              </a:lnSpc>
              <a:spcBef>
                <a:spcPts val="1200"/>
              </a:spcBef>
              <a:spcAft>
                <a:spcPts val="0"/>
              </a:spcAft>
              <a:buClr>
                <a:schemeClr val="lt1"/>
              </a:buClr>
              <a:buSzPct val="100000"/>
              <a:buAutoNum type="arabicParenR"/>
            </a:pPr>
            <a:r>
              <a:t/>
            </a:r>
            <a:endParaRPr>
              <a:solidFill>
                <a:schemeClr val="lt1"/>
              </a:solidFill>
            </a:endParaRPr>
          </a:p>
          <a:p>
            <a:pPr indent="0" lvl="0" marL="457200" rtl="0" algn="l">
              <a:lnSpc>
                <a:spcPct val="100000"/>
              </a:lnSpc>
              <a:spcBef>
                <a:spcPts val="1200"/>
              </a:spcBef>
              <a:spcAft>
                <a:spcPts val="0"/>
              </a:spcAft>
              <a:buNone/>
            </a:pPr>
            <a:r>
              <a:rPr lang="en">
                <a:solidFill>
                  <a:schemeClr val="lt1"/>
                </a:solidFill>
              </a:rPr>
              <a:t>Case 1: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If n+1 is prime, then it can be written a product of one prime (itself)</a:t>
            </a:r>
            <a:endParaRPr>
              <a:solidFill>
                <a:schemeClr val="lt1"/>
              </a:solidFill>
            </a:endParaRPr>
          </a:p>
          <a:p>
            <a:pPr indent="0" lvl="0" marL="457200" rtl="0" algn="l">
              <a:lnSpc>
                <a:spcPct val="100000"/>
              </a:lnSpc>
              <a:spcBef>
                <a:spcPts val="1200"/>
              </a:spcBef>
              <a:spcAft>
                <a:spcPts val="0"/>
              </a:spcAft>
              <a:buNone/>
            </a:pPr>
            <a:r>
              <a:rPr lang="en">
                <a:solidFill>
                  <a:schemeClr val="lt1"/>
                </a:solidFill>
              </a:rPr>
              <a:t>Case 2: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If n+1 is not prime then it can be written as the product of two factors,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n+1 = a*b and we know that 2&lt;a,b&lt;n. The IH applies to both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a=</a:t>
            </a:r>
            <a:r>
              <a:rPr lang="en">
                <a:solidFill>
                  <a:schemeClr val="lt1"/>
                </a:solidFill>
              </a:rPr>
              <a:t>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and b=y</a:t>
            </a:r>
            <a:r>
              <a:rPr baseline="-25000" lang="en">
                <a:solidFill>
                  <a:schemeClr val="lt1"/>
                </a:solidFill>
              </a:rPr>
              <a:t>1</a:t>
            </a:r>
            <a:r>
              <a:rPr lang="en">
                <a:solidFill>
                  <a:schemeClr val="lt1"/>
                </a:solidFill>
              </a:rPr>
              <a:t> * y</a:t>
            </a:r>
            <a:r>
              <a:rPr baseline="-25000" lang="en">
                <a:solidFill>
                  <a:schemeClr val="lt1"/>
                </a:solidFill>
              </a:rPr>
              <a:t>2</a:t>
            </a:r>
            <a:r>
              <a:rPr lang="en">
                <a:solidFill>
                  <a:schemeClr val="lt1"/>
                </a:solidFill>
              </a:rPr>
              <a:t> * … * y</a:t>
            </a:r>
            <a:r>
              <a:rPr baseline="-25000" lang="en">
                <a:solidFill>
                  <a:schemeClr val="lt1"/>
                </a:solidFill>
              </a:rPr>
              <a:t>m</a:t>
            </a:r>
            <a:r>
              <a:rPr lang="en">
                <a:solidFill>
                  <a:schemeClr val="lt1"/>
                </a:solidFill>
              </a:rPr>
              <a:t>  where x</a:t>
            </a:r>
            <a:r>
              <a:rPr baseline="-25000" lang="en">
                <a:solidFill>
                  <a:schemeClr val="lt1"/>
                </a:solidFill>
              </a:rPr>
              <a:t>i</a:t>
            </a:r>
            <a:r>
              <a:rPr lang="en">
                <a:solidFill>
                  <a:schemeClr val="lt1"/>
                </a:solidFill>
              </a:rPr>
              <a:t> and y</a:t>
            </a:r>
            <a:r>
              <a:rPr baseline="-25000" lang="en">
                <a:solidFill>
                  <a:schemeClr val="lt1"/>
                </a:solidFill>
              </a:rPr>
              <a:t>j</a:t>
            </a:r>
            <a:r>
              <a:rPr lang="en">
                <a:solidFill>
                  <a:schemeClr val="lt1"/>
                </a:solidFill>
              </a:rPr>
              <a:t> are prime for all i and j. </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Then n+1 = 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which is a product of primes. Thus the IH hold for n+1</a:t>
            </a:r>
            <a:endParaRPr>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6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integer can be written as a product of prime factors</a:t>
            </a:r>
            <a:endParaRPr sz="2200"/>
          </a:p>
        </p:txBody>
      </p:sp>
      <p:sp>
        <p:nvSpPr>
          <p:cNvPr id="356" name="Google Shape;356;p62"/>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55000" lnSpcReduction="20000"/>
          </a:bodyPr>
          <a:lstStyle/>
          <a:p>
            <a:pPr indent="-291465" lvl="0" marL="457200" rtl="0" algn="l">
              <a:lnSpc>
                <a:spcPct val="100000"/>
              </a:lnSpc>
              <a:spcBef>
                <a:spcPts val="0"/>
              </a:spcBef>
              <a:spcAft>
                <a:spcPts val="0"/>
              </a:spcAft>
              <a:buSzPct val="100000"/>
              <a:buAutoNum type="arabicParenR"/>
            </a:pPr>
            <a:r>
              <a:rPr lang="en"/>
              <a:t>Problem Statement: For all natural numbers n&gt;1, n=x</a:t>
            </a:r>
            <a:r>
              <a:rPr baseline="-25000" lang="en"/>
              <a:t>1</a:t>
            </a:r>
            <a:r>
              <a:rPr lang="en"/>
              <a:t> * x</a:t>
            </a:r>
            <a:r>
              <a:rPr baseline="-25000" lang="en"/>
              <a:t>2</a:t>
            </a:r>
            <a:r>
              <a:rPr lang="en"/>
              <a:t> * … * x</a:t>
            </a:r>
            <a:r>
              <a:rPr baseline="-25000" lang="en"/>
              <a:t>k</a:t>
            </a:r>
            <a:r>
              <a:rPr lang="en"/>
              <a:t> where x</a:t>
            </a:r>
            <a:r>
              <a:rPr baseline="-25000" lang="en"/>
              <a:t>i</a:t>
            </a:r>
            <a:r>
              <a:rPr lang="en"/>
              <a:t> is prime for all i</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Base Case (n=2): 2 is a product of one prime (itself)</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Induction Hypothesis: Let n be a positive integers. Assume that  for all integers 2&lt;k&lt;=n, k can be written as a product of prime numbers</a:t>
            </a:r>
            <a:endParaRPr/>
          </a:p>
          <a:p>
            <a:pPr indent="0" lvl="0" marL="45720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Clr>
                <a:schemeClr val="lt1"/>
              </a:buClr>
              <a:buSzPct val="100000"/>
              <a:buAutoNum type="arabicParenR"/>
            </a:pPr>
            <a:r>
              <a:t/>
            </a:r>
            <a:endParaRPr>
              <a:solidFill>
                <a:schemeClr val="lt1"/>
              </a:solidFill>
            </a:endParaRPr>
          </a:p>
          <a:p>
            <a:pPr indent="0" lvl="0" marL="457200" rtl="0" algn="l">
              <a:lnSpc>
                <a:spcPct val="100000"/>
              </a:lnSpc>
              <a:spcBef>
                <a:spcPts val="1200"/>
              </a:spcBef>
              <a:spcAft>
                <a:spcPts val="0"/>
              </a:spcAft>
              <a:buNone/>
            </a:pPr>
            <a:r>
              <a:rPr lang="en">
                <a:solidFill>
                  <a:schemeClr val="lt1"/>
                </a:solidFill>
              </a:rPr>
              <a:t>Case 1: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If n+1 is prime, then it can be written a product of one prime (itself)</a:t>
            </a:r>
            <a:endParaRPr>
              <a:solidFill>
                <a:schemeClr val="lt1"/>
              </a:solidFill>
            </a:endParaRPr>
          </a:p>
          <a:p>
            <a:pPr indent="0" lvl="0" marL="457200" rtl="0" algn="l">
              <a:lnSpc>
                <a:spcPct val="100000"/>
              </a:lnSpc>
              <a:spcBef>
                <a:spcPts val="1200"/>
              </a:spcBef>
              <a:spcAft>
                <a:spcPts val="0"/>
              </a:spcAft>
              <a:buNone/>
            </a:pPr>
            <a:r>
              <a:rPr lang="en">
                <a:solidFill>
                  <a:schemeClr val="lt1"/>
                </a:solidFill>
              </a:rPr>
              <a:t>Case 2: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If n+1 is not prime then it can be written as the product of two factors,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n+1 = a*b and we know that 2&lt;a,b&lt;n. The IH applies to both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a=x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and b=y</a:t>
            </a:r>
            <a:r>
              <a:rPr baseline="-25000" lang="en">
                <a:solidFill>
                  <a:schemeClr val="lt1"/>
                </a:solidFill>
              </a:rPr>
              <a:t>1</a:t>
            </a:r>
            <a:r>
              <a:rPr lang="en">
                <a:solidFill>
                  <a:schemeClr val="lt1"/>
                </a:solidFill>
              </a:rPr>
              <a:t> * y</a:t>
            </a:r>
            <a:r>
              <a:rPr baseline="-25000" lang="en">
                <a:solidFill>
                  <a:schemeClr val="lt1"/>
                </a:solidFill>
              </a:rPr>
              <a:t>2</a:t>
            </a:r>
            <a:r>
              <a:rPr lang="en">
                <a:solidFill>
                  <a:schemeClr val="lt1"/>
                </a:solidFill>
              </a:rPr>
              <a:t> * … * y</a:t>
            </a:r>
            <a:r>
              <a:rPr baseline="-25000" lang="en">
                <a:solidFill>
                  <a:schemeClr val="lt1"/>
                </a:solidFill>
              </a:rPr>
              <a:t>m</a:t>
            </a:r>
            <a:r>
              <a:rPr lang="en">
                <a:solidFill>
                  <a:schemeClr val="lt1"/>
                </a:solidFill>
              </a:rPr>
              <a:t>  where x</a:t>
            </a:r>
            <a:r>
              <a:rPr baseline="-25000" lang="en">
                <a:solidFill>
                  <a:schemeClr val="lt1"/>
                </a:solidFill>
              </a:rPr>
              <a:t>i</a:t>
            </a:r>
            <a:r>
              <a:rPr lang="en">
                <a:solidFill>
                  <a:schemeClr val="lt1"/>
                </a:solidFill>
              </a:rPr>
              <a:t> and y</a:t>
            </a:r>
            <a:r>
              <a:rPr baseline="-25000" lang="en">
                <a:solidFill>
                  <a:schemeClr val="lt1"/>
                </a:solidFill>
              </a:rPr>
              <a:t>j</a:t>
            </a:r>
            <a:r>
              <a:rPr lang="en">
                <a:solidFill>
                  <a:schemeClr val="lt1"/>
                </a:solidFill>
              </a:rPr>
              <a:t> are prime for all i and j. </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Then n+1 = 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which is a product of primes. Thus the IH hold for n+1</a:t>
            </a:r>
            <a:endParaRPr>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integer can be written as a product of prime factors</a:t>
            </a:r>
            <a:endParaRPr sz="2200"/>
          </a:p>
        </p:txBody>
      </p:sp>
      <p:sp>
        <p:nvSpPr>
          <p:cNvPr id="362" name="Google Shape;362;p63"/>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55000" lnSpcReduction="20000"/>
          </a:bodyPr>
          <a:lstStyle/>
          <a:p>
            <a:pPr indent="-291465" lvl="0" marL="457200" rtl="0" algn="l">
              <a:lnSpc>
                <a:spcPct val="100000"/>
              </a:lnSpc>
              <a:spcBef>
                <a:spcPts val="0"/>
              </a:spcBef>
              <a:spcAft>
                <a:spcPts val="0"/>
              </a:spcAft>
              <a:buSzPct val="100000"/>
              <a:buAutoNum type="arabicParenR"/>
            </a:pPr>
            <a:r>
              <a:rPr lang="en"/>
              <a:t>Problem Statement: For all natural numbers n&gt;1, n=x</a:t>
            </a:r>
            <a:r>
              <a:rPr baseline="-25000" lang="en"/>
              <a:t>1</a:t>
            </a:r>
            <a:r>
              <a:rPr lang="en"/>
              <a:t> * x</a:t>
            </a:r>
            <a:r>
              <a:rPr baseline="-25000" lang="en"/>
              <a:t>2</a:t>
            </a:r>
            <a:r>
              <a:rPr lang="en"/>
              <a:t> * … * x</a:t>
            </a:r>
            <a:r>
              <a:rPr baseline="-25000" lang="en"/>
              <a:t>k</a:t>
            </a:r>
            <a:r>
              <a:rPr lang="en"/>
              <a:t> where x</a:t>
            </a:r>
            <a:r>
              <a:rPr baseline="-25000" lang="en"/>
              <a:t>i</a:t>
            </a:r>
            <a:r>
              <a:rPr lang="en"/>
              <a:t> is prime for all i</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Base Case (n=2): 2 is a product of one prime (itself)</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Induction Hypothesis: Let n be a positive integers. Assume that  for all integers 2&lt;k&lt;=n, k can be written as a product of prime numbers</a:t>
            </a:r>
            <a:endParaRPr/>
          </a:p>
          <a:p>
            <a:pPr indent="0" lvl="0" marL="45720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t/>
            </a:r>
            <a:endParaRPr/>
          </a:p>
          <a:p>
            <a:pPr indent="0" lvl="0" marL="457200" rtl="0" algn="l">
              <a:lnSpc>
                <a:spcPct val="100000"/>
              </a:lnSpc>
              <a:spcBef>
                <a:spcPts val="1200"/>
              </a:spcBef>
              <a:spcAft>
                <a:spcPts val="0"/>
              </a:spcAft>
              <a:buNone/>
            </a:pPr>
            <a:r>
              <a:rPr lang="en"/>
              <a:t>Case 1: </a:t>
            </a:r>
            <a:endParaRPr/>
          </a:p>
          <a:p>
            <a:pPr indent="457200" lvl="0" marL="457200" rtl="0" algn="l">
              <a:lnSpc>
                <a:spcPct val="100000"/>
              </a:lnSpc>
              <a:spcBef>
                <a:spcPts val="1200"/>
              </a:spcBef>
              <a:spcAft>
                <a:spcPts val="0"/>
              </a:spcAft>
              <a:buNone/>
            </a:pPr>
            <a:r>
              <a:rPr lang="en"/>
              <a:t>If n+1 is prime then</a:t>
            </a:r>
            <a:r>
              <a:rPr lang="en">
                <a:solidFill>
                  <a:schemeClr val="lt1"/>
                </a:solidFill>
              </a:rPr>
              <a:t>then it can be written a product of one prime (itself)</a:t>
            </a:r>
            <a:endParaRPr>
              <a:solidFill>
                <a:schemeClr val="lt1"/>
              </a:solidFill>
            </a:endParaRPr>
          </a:p>
          <a:p>
            <a:pPr indent="0" lvl="0" marL="457200" rtl="0" algn="l">
              <a:lnSpc>
                <a:spcPct val="100000"/>
              </a:lnSpc>
              <a:spcBef>
                <a:spcPts val="1200"/>
              </a:spcBef>
              <a:spcAft>
                <a:spcPts val="0"/>
              </a:spcAft>
              <a:buNone/>
            </a:pPr>
            <a:r>
              <a:rPr lang="en"/>
              <a:t>Case 2: </a:t>
            </a:r>
            <a:endParaRPr/>
          </a:p>
          <a:p>
            <a:pPr indent="457200" lvl="0" marL="457200" rtl="0" algn="l">
              <a:lnSpc>
                <a:spcPct val="100000"/>
              </a:lnSpc>
              <a:spcBef>
                <a:spcPts val="1200"/>
              </a:spcBef>
              <a:spcAft>
                <a:spcPts val="0"/>
              </a:spcAft>
              <a:buNone/>
            </a:pPr>
            <a:r>
              <a:rPr lang="en"/>
              <a:t>If n+1 is not prime then </a:t>
            </a:r>
            <a:r>
              <a:rPr lang="en">
                <a:solidFill>
                  <a:schemeClr val="lt1"/>
                </a:solidFill>
              </a:rPr>
              <a:t>it can be written as the product of two factors,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n+1 = a*b and we know that 2&lt;a,b&lt;n. The IH applies to both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a=x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and b=y</a:t>
            </a:r>
            <a:r>
              <a:rPr baseline="-25000" lang="en">
                <a:solidFill>
                  <a:schemeClr val="lt1"/>
                </a:solidFill>
              </a:rPr>
              <a:t>1</a:t>
            </a:r>
            <a:r>
              <a:rPr lang="en">
                <a:solidFill>
                  <a:schemeClr val="lt1"/>
                </a:solidFill>
              </a:rPr>
              <a:t> * y</a:t>
            </a:r>
            <a:r>
              <a:rPr baseline="-25000" lang="en">
                <a:solidFill>
                  <a:schemeClr val="lt1"/>
                </a:solidFill>
              </a:rPr>
              <a:t>2</a:t>
            </a:r>
            <a:r>
              <a:rPr lang="en">
                <a:solidFill>
                  <a:schemeClr val="lt1"/>
                </a:solidFill>
              </a:rPr>
              <a:t> * … * y</a:t>
            </a:r>
            <a:r>
              <a:rPr baseline="-25000" lang="en">
                <a:solidFill>
                  <a:schemeClr val="lt1"/>
                </a:solidFill>
              </a:rPr>
              <a:t>m</a:t>
            </a:r>
            <a:r>
              <a:rPr lang="en">
                <a:solidFill>
                  <a:schemeClr val="lt1"/>
                </a:solidFill>
              </a:rPr>
              <a:t>  where x</a:t>
            </a:r>
            <a:r>
              <a:rPr baseline="-25000" lang="en">
                <a:solidFill>
                  <a:schemeClr val="lt1"/>
                </a:solidFill>
              </a:rPr>
              <a:t>i</a:t>
            </a:r>
            <a:r>
              <a:rPr lang="en">
                <a:solidFill>
                  <a:schemeClr val="lt1"/>
                </a:solidFill>
              </a:rPr>
              <a:t> and y</a:t>
            </a:r>
            <a:r>
              <a:rPr baseline="-25000" lang="en">
                <a:solidFill>
                  <a:schemeClr val="lt1"/>
                </a:solidFill>
              </a:rPr>
              <a:t>j</a:t>
            </a:r>
            <a:r>
              <a:rPr lang="en">
                <a:solidFill>
                  <a:schemeClr val="lt1"/>
                </a:solidFill>
              </a:rPr>
              <a:t> are prime for all i and j. </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Then n+1 = 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which is a product of primes. Thus the IH hold for n+1</a:t>
            </a:r>
            <a:endParaRPr>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integer can be written as a product of prime factors</a:t>
            </a:r>
            <a:endParaRPr sz="2200"/>
          </a:p>
        </p:txBody>
      </p:sp>
      <p:sp>
        <p:nvSpPr>
          <p:cNvPr id="368" name="Google Shape;368;p64"/>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55000" lnSpcReduction="20000"/>
          </a:bodyPr>
          <a:lstStyle/>
          <a:p>
            <a:pPr indent="-291465" lvl="0" marL="457200" rtl="0" algn="l">
              <a:lnSpc>
                <a:spcPct val="100000"/>
              </a:lnSpc>
              <a:spcBef>
                <a:spcPts val="0"/>
              </a:spcBef>
              <a:spcAft>
                <a:spcPts val="0"/>
              </a:spcAft>
              <a:buSzPct val="100000"/>
              <a:buAutoNum type="arabicParenR"/>
            </a:pPr>
            <a:r>
              <a:rPr lang="en"/>
              <a:t>Problem Statement: For all natural numbers n&gt;1, n=x</a:t>
            </a:r>
            <a:r>
              <a:rPr baseline="-25000" lang="en"/>
              <a:t>1</a:t>
            </a:r>
            <a:r>
              <a:rPr lang="en"/>
              <a:t> * x</a:t>
            </a:r>
            <a:r>
              <a:rPr baseline="-25000" lang="en"/>
              <a:t>2</a:t>
            </a:r>
            <a:r>
              <a:rPr lang="en"/>
              <a:t> * … * x</a:t>
            </a:r>
            <a:r>
              <a:rPr baseline="-25000" lang="en"/>
              <a:t>k</a:t>
            </a:r>
            <a:r>
              <a:rPr lang="en"/>
              <a:t> where x</a:t>
            </a:r>
            <a:r>
              <a:rPr baseline="-25000" lang="en"/>
              <a:t>i</a:t>
            </a:r>
            <a:r>
              <a:rPr lang="en"/>
              <a:t> is prime for all i</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Base Case (n=2): 2 is a product of one prime (itself)</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Induction Hypothesis: Let n be a positive integers. Assume that  for all integers 2&lt;k&lt;=n, k can be written as a product of prime numbers</a:t>
            </a:r>
            <a:endParaRPr/>
          </a:p>
          <a:p>
            <a:pPr indent="0" lvl="0" marL="45720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t/>
            </a:r>
            <a:endParaRPr/>
          </a:p>
          <a:p>
            <a:pPr indent="0" lvl="0" marL="457200" rtl="0" algn="l">
              <a:lnSpc>
                <a:spcPct val="100000"/>
              </a:lnSpc>
              <a:spcBef>
                <a:spcPts val="1200"/>
              </a:spcBef>
              <a:spcAft>
                <a:spcPts val="0"/>
              </a:spcAft>
              <a:buNone/>
            </a:pPr>
            <a:r>
              <a:rPr lang="en"/>
              <a:t>Case 1: </a:t>
            </a:r>
            <a:endParaRPr/>
          </a:p>
          <a:p>
            <a:pPr indent="457200" lvl="0" marL="457200" rtl="0" algn="l">
              <a:lnSpc>
                <a:spcPct val="100000"/>
              </a:lnSpc>
              <a:spcBef>
                <a:spcPts val="1200"/>
              </a:spcBef>
              <a:spcAft>
                <a:spcPts val="0"/>
              </a:spcAft>
              <a:buNone/>
            </a:pPr>
            <a:r>
              <a:rPr lang="en"/>
              <a:t>If n+1 is prime then it can be written a product of one prime (itself)</a:t>
            </a:r>
            <a:endParaRPr/>
          </a:p>
          <a:p>
            <a:pPr indent="0" lvl="0" marL="457200" rtl="0" algn="l">
              <a:lnSpc>
                <a:spcPct val="100000"/>
              </a:lnSpc>
              <a:spcBef>
                <a:spcPts val="1200"/>
              </a:spcBef>
              <a:spcAft>
                <a:spcPts val="0"/>
              </a:spcAft>
              <a:buNone/>
            </a:pPr>
            <a:r>
              <a:rPr lang="en"/>
              <a:t>Case 2: </a:t>
            </a:r>
            <a:endParaRPr/>
          </a:p>
          <a:p>
            <a:pPr indent="457200" lvl="0" marL="457200" rtl="0" algn="l">
              <a:lnSpc>
                <a:spcPct val="100000"/>
              </a:lnSpc>
              <a:spcBef>
                <a:spcPts val="1200"/>
              </a:spcBef>
              <a:spcAft>
                <a:spcPts val="0"/>
              </a:spcAft>
              <a:buNone/>
            </a:pPr>
            <a:r>
              <a:rPr lang="en"/>
              <a:t>If n+1 is not prime then </a:t>
            </a:r>
            <a:r>
              <a:rPr lang="en">
                <a:solidFill>
                  <a:schemeClr val="lt1"/>
                </a:solidFill>
              </a:rPr>
              <a:t>it can be written as the product of two factors,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n+1 = a*b and we know that 2&lt;a,b&lt;n. The IH applies to both a and b. </a:t>
            </a:r>
            <a:endParaRPr>
              <a:solidFill>
                <a:schemeClr val="lt1"/>
              </a:solidFill>
            </a:endParaRPr>
          </a:p>
          <a:p>
            <a:pPr indent="457200" lvl="0" marL="457200" rtl="0" algn="l">
              <a:lnSpc>
                <a:spcPct val="100000"/>
              </a:lnSpc>
              <a:spcBef>
                <a:spcPts val="1200"/>
              </a:spcBef>
              <a:spcAft>
                <a:spcPts val="0"/>
              </a:spcAft>
              <a:buNone/>
            </a:pPr>
            <a:r>
              <a:rPr lang="en">
                <a:solidFill>
                  <a:schemeClr val="lt1"/>
                </a:solidFill>
              </a:rPr>
              <a:t>So a=x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and b=y</a:t>
            </a:r>
            <a:r>
              <a:rPr baseline="-25000" lang="en">
                <a:solidFill>
                  <a:schemeClr val="lt1"/>
                </a:solidFill>
              </a:rPr>
              <a:t>1</a:t>
            </a:r>
            <a:r>
              <a:rPr lang="en">
                <a:solidFill>
                  <a:schemeClr val="lt1"/>
                </a:solidFill>
              </a:rPr>
              <a:t> * y</a:t>
            </a:r>
            <a:r>
              <a:rPr baseline="-25000" lang="en">
                <a:solidFill>
                  <a:schemeClr val="lt1"/>
                </a:solidFill>
              </a:rPr>
              <a:t>2</a:t>
            </a:r>
            <a:r>
              <a:rPr lang="en">
                <a:solidFill>
                  <a:schemeClr val="lt1"/>
                </a:solidFill>
              </a:rPr>
              <a:t> * … * y</a:t>
            </a:r>
            <a:r>
              <a:rPr baseline="-25000" lang="en">
                <a:solidFill>
                  <a:schemeClr val="lt1"/>
                </a:solidFill>
              </a:rPr>
              <a:t>m</a:t>
            </a:r>
            <a:r>
              <a:rPr lang="en">
                <a:solidFill>
                  <a:schemeClr val="lt1"/>
                </a:solidFill>
              </a:rPr>
              <a:t>  where x</a:t>
            </a:r>
            <a:r>
              <a:rPr baseline="-25000" lang="en">
                <a:solidFill>
                  <a:schemeClr val="lt1"/>
                </a:solidFill>
              </a:rPr>
              <a:t>i</a:t>
            </a:r>
            <a:r>
              <a:rPr lang="en">
                <a:solidFill>
                  <a:schemeClr val="lt1"/>
                </a:solidFill>
              </a:rPr>
              <a:t> and y</a:t>
            </a:r>
            <a:r>
              <a:rPr baseline="-25000" lang="en">
                <a:solidFill>
                  <a:schemeClr val="lt1"/>
                </a:solidFill>
              </a:rPr>
              <a:t>j</a:t>
            </a:r>
            <a:r>
              <a:rPr lang="en">
                <a:solidFill>
                  <a:schemeClr val="lt1"/>
                </a:solidFill>
              </a:rPr>
              <a:t> are prime for all i and j. </a:t>
            </a:r>
            <a:endParaRPr>
              <a:solidFill>
                <a:schemeClr val="lt1"/>
              </a:solidFill>
            </a:endParaRPr>
          </a:p>
          <a:p>
            <a:pPr indent="457200" lvl="0" marL="457200" rtl="0" algn="l">
              <a:lnSpc>
                <a:spcPct val="100000"/>
              </a:lnSpc>
              <a:spcBef>
                <a:spcPts val="1200"/>
              </a:spcBef>
              <a:spcAft>
                <a:spcPts val="1200"/>
              </a:spcAft>
              <a:buNone/>
            </a:pPr>
            <a:r>
              <a:rPr lang="en">
                <a:solidFill>
                  <a:schemeClr val="lt1"/>
                </a:solidFill>
              </a:rPr>
              <a:t>Then n+1 = 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*x</a:t>
            </a:r>
            <a:r>
              <a:rPr baseline="-25000" lang="en">
                <a:solidFill>
                  <a:schemeClr val="lt1"/>
                </a:solidFill>
              </a:rPr>
              <a:t>1</a:t>
            </a:r>
            <a:r>
              <a:rPr lang="en">
                <a:solidFill>
                  <a:schemeClr val="lt1"/>
                </a:solidFill>
              </a:rPr>
              <a:t> * x</a:t>
            </a:r>
            <a:r>
              <a:rPr baseline="-25000" lang="en">
                <a:solidFill>
                  <a:schemeClr val="lt1"/>
                </a:solidFill>
              </a:rPr>
              <a:t>2</a:t>
            </a:r>
            <a:r>
              <a:rPr lang="en">
                <a:solidFill>
                  <a:schemeClr val="lt1"/>
                </a:solidFill>
              </a:rPr>
              <a:t> * … * x</a:t>
            </a:r>
            <a:r>
              <a:rPr baseline="-25000" lang="en">
                <a:solidFill>
                  <a:schemeClr val="lt1"/>
                </a:solidFill>
              </a:rPr>
              <a:t>k</a:t>
            </a:r>
            <a:r>
              <a:rPr lang="en">
                <a:solidFill>
                  <a:schemeClr val="lt1"/>
                </a:solidFill>
              </a:rPr>
              <a:t>  which is a product of primes. Thus the IH hold for n+1</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Claim: Every integer can be written as a product of prime factors</a:t>
            </a:r>
            <a:endParaRPr sz="2200"/>
          </a:p>
        </p:txBody>
      </p:sp>
      <p:sp>
        <p:nvSpPr>
          <p:cNvPr id="374" name="Google Shape;374;p65"/>
          <p:cNvSpPr txBox="1"/>
          <p:nvPr>
            <p:ph idx="1" type="body"/>
          </p:nvPr>
        </p:nvSpPr>
        <p:spPr>
          <a:xfrm>
            <a:off x="311700" y="1152475"/>
            <a:ext cx="8520600" cy="3921000"/>
          </a:xfrm>
          <a:prstGeom prst="rect">
            <a:avLst/>
          </a:prstGeom>
        </p:spPr>
        <p:txBody>
          <a:bodyPr anchorCtr="0" anchor="t" bIns="91425" lIns="91425" spcFirstLastPara="1" rIns="91425" wrap="square" tIns="91425">
            <a:normAutofit fontScale="55000" lnSpcReduction="20000"/>
          </a:bodyPr>
          <a:lstStyle/>
          <a:p>
            <a:pPr indent="-291465" lvl="0" marL="457200" rtl="0" algn="l">
              <a:lnSpc>
                <a:spcPct val="100000"/>
              </a:lnSpc>
              <a:spcBef>
                <a:spcPts val="0"/>
              </a:spcBef>
              <a:spcAft>
                <a:spcPts val="0"/>
              </a:spcAft>
              <a:buSzPct val="100000"/>
              <a:buAutoNum type="arabicParenR"/>
            </a:pPr>
            <a:r>
              <a:rPr lang="en"/>
              <a:t>Problem Statement: For all natural numbers n&gt;1, n=x</a:t>
            </a:r>
            <a:r>
              <a:rPr baseline="-25000" lang="en"/>
              <a:t>1</a:t>
            </a:r>
            <a:r>
              <a:rPr lang="en"/>
              <a:t> * x</a:t>
            </a:r>
            <a:r>
              <a:rPr baseline="-25000" lang="en"/>
              <a:t>2</a:t>
            </a:r>
            <a:r>
              <a:rPr lang="en"/>
              <a:t> * … * x</a:t>
            </a:r>
            <a:r>
              <a:rPr baseline="-25000" lang="en"/>
              <a:t>k</a:t>
            </a:r>
            <a:r>
              <a:rPr lang="en"/>
              <a:t> where x</a:t>
            </a:r>
            <a:r>
              <a:rPr baseline="-25000" lang="en"/>
              <a:t>i</a:t>
            </a:r>
            <a:r>
              <a:rPr lang="en"/>
              <a:t> is prime for all i</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Base Case (n=2): 2 is a product of one prime (itself)</a:t>
            </a:r>
            <a:endParaRPr/>
          </a:p>
          <a:p>
            <a:pPr indent="0" lvl="0" marL="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rPr lang="en"/>
              <a:t>Induction Hypothesis: Let n be a positive integers. Assume that  for all integers 2&lt;k&lt;=n, k can be written as a product of prime numbers</a:t>
            </a:r>
            <a:endParaRPr/>
          </a:p>
          <a:p>
            <a:pPr indent="0" lvl="0" marL="457200" rtl="0" algn="l">
              <a:lnSpc>
                <a:spcPct val="100000"/>
              </a:lnSpc>
              <a:spcBef>
                <a:spcPts val="1200"/>
              </a:spcBef>
              <a:spcAft>
                <a:spcPts val="0"/>
              </a:spcAft>
              <a:buNone/>
            </a:pPr>
            <a:r>
              <a:t/>
            </a:r>
            <a:endParaRPr/>
          </a:p>
          <a:p>
            <a:pPr indent="-291465" lvl="0" marL="457200" rtl="0" algn="l">
              <a:lnSpc>
                <a:spcPct val="100000"/>
              </a:lnSpc>
              <a:spcBef>
                <a:spcPts val="1200"/>
              </a:spcBef>
              <a:spcAft>
                <a:spcPts val="0"/>
              </a:spcAft>
              <a:buSzPct val="100000"/>
              <a:buAutoNum type="arabicParenR"/>
            </a:pPr>
            <a:r>
              <a:t/>
            </a:r>
            <a:endParaRPr/>
          </a:p>
          <a:p>
            <a:pPr indent="0" lvl="0" marL="457200" rtl="0" algn="l">
              <a:lnSpc>
                <a:spcPct val="100000"/>
              </a:lnSpc>
              <a:spcBef>
                <a:spcPts val="1200"/>
              </a:spcBef>
              <a:spcAft>
                <a:spcPts val="0"/>
              </a:spcAft>
              <a:buNone/>
            </a:pPr>
            <a:r>
              <a:rPr lang="en"/>
              <a:t>Case 1: </a:t>
            </a:r>
            <a:endParaRPr/>
          </a:p>
          <a:p>
            <a:pPr indent="457200" lvl="0" marL="457200" rtl="0" algn="l">
              <a:lnSpc>
                <a:spcPct val="100000"/>
              </a:lnSpc>
              <a:spcBef>
                <a:spcPts val="1200"/>
              </a:spcBef>
              <a:spcAft>
                <a:spcPts val="0"/>
              </a:spcAft>
              <a:buNone/>
            </a:pPr>
            <a:r>
              <a:rPr lang="en"/>
              <a:t>If n+1 is prime then it can be written a product of one prime (itself)</a:t>
            </a:r>
            <a:endParaRPr/>
          </a:p>
          <a:p>
            <a:pPr indent="0" lvl="0" marL="457200" rtl="0" algn="l">
              <a:lnSpc>
                <a:spcPct val="100000"/>
              </a:lnSpc>
              <a:spcBef>
                <a:spcPts val="1200"/>
              </a:spcBef>
              <a:spcAft>
                <a:spcPts val="0"/>
              </a:spcAft>
              <a:buNone/>
            </a:pPr>
            <a:r>
              <a:rPr lang="en"/>
              <a:t>Case 2: </a:t>
            </a:r>
            <a:endParaRPr/>
          </a:p>
          <a:p>
            <a:pPr indent="457200" lvl="0" marL="457200" rtl="0" algn="l">
              <a:lnSpc>
                <a:spcPct val="100000"/>
              </a:lnSpc>
              <a:spcBef>
                <a:spcPts val="1200"/>
              </a:spcBef>
              <a:spcAft>
                <a:spcPts val="0"/>
              </a:spcAft>
              <a:buNone/>
            </a:pPr>
            <a:r>
              <a:rPr lang="en"/>
              <a:t>If n+1 is not prime then it can be written as the product of two factors, a and b. </a:t>
            </a:r>
            <a:endParaRPr/>
          </a:p>
          <a:p>
            <a:pPr indent="457200" lvl="0" marL="457200" rtl="0" algn="l">
              <a:lnSpc>
                <a:spcPct val="100000"/>
              </a:lnSpc>
              <a:spcBef>
                <a:spcPts val="1200"/>
              </a:spcBef>
              <a:spcAft>
                <a:spcPts val="0"/>
              </a:spcAft>
              <a:buNone/>
            </a:pPr>
            <a:r>
              <a:rPr lang="en"/>
              <a:t>So n+1 = a*b. And we know that 2&lt;a,b&lt;n, so te IH applies to both a and b. </a:t>
            </a:r>
            <a:endParaRPr/>
          </a:p>
          <a:p>
            <a:pPr indent="457200" lvl="0" marL="457200" rtl="0" algn="l">
              <a:lnSpc>
                <a:spcPct val="100000"/>
              </a:lnSpc>
              <a:spcBef>
                <a:spcPts val="1200"/>
              </a:spcBef>
              <a:spcAft>
                <a:spcPts val="0"/>
              </a:spcAft>
              <a:buNone/>
            </a:pPr>
            <a:r>
              <a:rPr lang="en"/>
              <a:t>So a=x</a:t>
            </a:r>
            <a:r>
              <a:rPr baseline="-25000" lang="en"/>
              <a:t>1</a:t>
            </a:r>
            <a:r>
              <a:rPr lang="en"/>
              <a:t> * x</a:t>
            </a:r>
            <a:r>
              <a:rPr baseline="-25000" lang="en"/>
              <a:t>2</a:t>
            </a:r>
            <a:r>
              <a:rPr lang="en"/>
              <a:t> * … * x</a:t>
            </a:r>
            <a:r>
              <a:rPr baseline="-25000" lang="en"/>
              <a:t>k</a:t>
            </a:r>
            <a:r>
              <a:rPr lang="en"/>
              <a:t>  and b=y</a:t>
            </a:r>
            <a:r>
              <a:rPr baseline="-25000" lang="en"/>
              <a:t>1</a:t>
            </a:r>
            <a:r>
              <a:rPr lang="en"/>
              <a:t> * y</a:t>
            </a:r>
            <a:r>
              <a:rPr baseline="-25000" lang="en"/>
              <a:t>2</a:t>
            </a:r>
            <a:r>
              <a:rPr lang="en"/>
              <a:t> * … * y</a:t>
            </a:r>
            <a:r>
              <a:rPr baseline="-25000" lang="en"/>
              <a:t>m</a:t>
            </a:r>
            <a:r>
              <a:rPr lang="en"/>
              <a:t>  where x</a:t>
            </a:r>
            <a:r>
              <a:rPr baseline="-25000" lang="en"/>
              <a:t>i</a:t>
            </a:r>
            <a:r>
              <a:rPr lang="en"/>
              <a:t> and y</a:t>
            </a:r>
            <a:r>
              <a:rPr baseline="-25000" lang="en"/>
              <a:t>j</a:t>
            </a:r>
            <a:r>
              <a:rPr lang="en"/>
              <a:t> are prime for all i and j. </a:t>
            </a:r>
            <a:endParaRPr/>
          </a:p>
          <a:p>
            <a:pPr indent="457200" lvl="0" marL="457200" rtl="0" algn="l">
              <a:lnSpc>
                <a:spcPct val="100000"/>
              </a:lnSpc>
              <a:spcBef>
                <a:spcPts val="1200"/>
              </a:spcBef>
              <a:spcAft>
                <a:spcPts val="1200"/>
              </a:spcAft>
              <a:buNone/>
            </a:pPr>
            <a:r>
              <a:rPr lang="en"/>
              <a:t>Then n+1 = x</a:t>
            </a:r>
            <a:r>
              <a:rPr baseline="-25000" lang="en"/>
              <a:t>1</a:t>
            </a:r>
            <a:r>
              <a:rPr lang="en"/>
              <a:t> * x</a:t>
            </a:r>
            <a:r>
              <a:rPr baseline="-25000" lang="en"/>
              <a:t>2</a:t>
            </a:r>
            <a:r>
              <a:rPr lang="en"/>
              <a:t> * … * x</a:t>
            </a:r>
            <a:r>
              <a:rPr baseline="-25000" lang="en"/>
              <a:t>k</a:t>
            </a:r>
            <a:r>
              <a:rPr lang="en"/>
              <a:t>*x</a:t>
            </a:r>
            <a:r>
              <a:rPr baseline="-25000" lang="en"/>
              <a:t>1</a:t>
            </a:r>
            <a:r>
              <a:rPr lang="en"/>
              <a:t> * x</a:t>
            </a:r>
            <a:r>
              <a:rPr baseline="-25000" lang="en"/>
              <a:t>2</a:t>
            </a:r>
            <a:r>
              <a:rPr lang="en"/>
              <a:t> * … * x</a:t>
            </a:r>
            <a:r>
              <a:rPr baseline="-25000" lang="en"/>
              <a:t>k</a:t>
            </a:r>
            <a:r>
              <a:rPr lang="en"/>
              <a:t>  which is a product of primes. Thus the IH hold for n+1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6"/>
          <p:cNvSpPr txBox="1"/>
          <p:nvPr>
            <p:ph type="title"/>
          </p:nvPr>
        </p:nvSpPr>
        <p:spPr>
          <a:xfrm>
            <a:off x="1106100" y="2205606"/>
            <a:ext cx="6931800" cy="7323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t/>
            </a:r>
            <a:endParaRPr sz="6100"/>
          </a:p>
          <a:p>
            <a:pPr indent="0" lvl="0" marL="0" rtl="0" algn="ctr">
              <a:lnSpc>
                <a:spcPct val="90000"/>
              </a:lnSpc>
              <a:spcBef>
                <a:spcPts val="0"/>
              </a:spcBef>
              <a:spcAft>
                <a:spcPts val="0"/>
              </a:spcAft>
              <a:buClr>
                <a:schemeClr val="dk1"/>
              </a:buClr>
              <a:buSzPts val="6000"/>
              <a:buFont typeface="Calibri"/>
              <a:buNone/>
            </a:pPr>
            <a:r>
              <a:t/>
            </a:r>
            <a:endParaRPr sz="6100"/>
          </a:p>
          <a:p>
            <a:pPr indent="0" lvl="0" marL="0" rtl="0" algn="ctr">
              <a:lnSpc>
                <a:spcPct val="90000"/>
              </a:lnSpc>
              <a:spcBef>
                <a:spcPts val="0"/>
              </a:spcBef>
              <a:spcAft>
                <a:spcPts val="0"/>
              </a:spcAft>
              <a:buClr>
                <a:schemeClr val="dk1"/>
              </a:buClr>
              <a:buSzPts val="6000"/>
              <a:buFont typeface="Calibri"/>
              <a:buNone/>
            </a:pPr>
            <a:r>
              <a:rPr lang="en" sz="6100"/>
              <a:t>Big-O</a:t>
            </a:r>
            <a:r>
              <a:rPr lang="en" sz="6100"/>
              <a:t>h</a:t>
            </a:r>
            <a:r>
              <a:rPr lang="en" sz="6100"/>
              <a:t> Notation!</a:t>
            </a:r>
            <a:endParaRPr sz="6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67"/>
          <p:cNvSpPr txBox="1"/>
          <p:nvPr>
            <p:ph type="title"/>
          </p:nvPr>
        </p:nvSpPr>
        <p:spPr>
          <a:xfrm>
            <a:off x="628650" y="273844"/>
            <a:ext cx="64434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In this class we will use…</a:t>
            </a:r>
            <a:endParaRPr/>
          </a:p>
        </p:txBody>
      </p:sp>
      <p:sp>
        <p:nvSpPr>
          <p:cNvPr id="385" name="Google Shape;385;p67"/>
          <p:cNvSpPr txBox="1"/>
          <p:nvPr>
            <p:ph idx="1" type="body"/>
          </p:nvPr>
        </p:nvSpPr>
        <p:spPr>
          <a:xfrm>
            <a:off x="659049" y="1056702"/>
            <a:ext cx="7786200" cy="3610500"/>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chemeClr val="dk1"/>
              </a:buClr>
              <a:buSzPts val="2400"/>
              <a:buNone/>
            </a:pPr>
            <a:r>
              <a:t/>
            </a:r>
            <a:endParaRPr>
              <a:solidFill>
                <a:schemeClr val="accent4"/>
              </a:solidFill>
            </a:endParaRPr>
          </a:p>
          <a:p>
            <a:pPr indent="-228600" lvl="0" marL="228600" rtl="0" algn="l">
              <a:lnSpc>
                <a:spcPct val="90000"/>
              </a:lnSpc>
              <a:spcBef>
                <a:spcPts val="1000"/>
              </a:spcBef>
              <a:spcAft>
                <a:spcPts val="0"/>
              </a:spcAft>
              <a:buClr>
                <a:schemeClr val="dk1"/>
              </a:buClr>
              <a:buSzPts val="2800"/>
              <a:buChar char="•"/>
            </a:pPr>
            <a:r>
              <a:rPr b="1" lang="en"/>
              <a:t>Big-Oh notation!</a:t>
            </a:r>
            <a:endParaRPr/>
          </a:p>
          <a:p>
            <a:pPr indent="-228600" lvl="0" marL="228600" rtl="0" algn="l">
              <a:lnSpc>
                <a:spcPct val="90000"/>
              </a:lnSpc>
              <a:spcBef>
                <a:spcPts val="1000"/>
              </a:spcBef>
              <a:spcAft>
                <a:spcPts val="0"/>
              </a:spcAft>
              <a:buClr>
                <a:schemeClr val="dk1"/>
              </a:buClr>
              <a:buSzPts val="2800"/>
              <a:buChar char="•"/>
            </a:pPr>
            <a:r>
              <a:rPr lang="en"/>
              <a:t>Gives us a meaningful way to talk about the running time of an algorithm independent of programming language, computing platform, etc., without having to count all the operations.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8"/>
          <p:cNvSpPr txBox="1"/>
          <p:nvPr>
            <p:ph type="title"/>
          </p:nvPr>
        </p:nvSpPr>
        <p:spPr>
          <a:xfrm>
            <a:off x="258498" y="0"/>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Main idea:</a:t>
            </a:r>
            <a:endParaRPr sz="3600">
              <a:solidFill>
                <a:srgbClr val="F26021"/>
              </a:solidFill>
            </a:endParaRPr>
          </a:p>
        </p:txBody>
      </p:sp>
      <p:sp>
        <p:nvSpPr>
          <p:cNvPr id="391" name="Google Shape;391;p68"/>
          <p:cNvSpPr txBox="1"/>
          <p:nvPr/>
        </p:nvSpPr>
        <p:spPr>
          <a:xfrm>
            <a:off x="368857" y="1042414"/>
            <a:ext cx="84282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Calibri"/>
                <a:ea typeface="Calibri"/>
                <a:cs typeface="Calibri"/>
                <a:sym typeface="Calibri"/>
              </a:rPr>
              <a:t>Focus on how the runtime</a:t>
            </a:r>
            <a:r>
              <a:rPr b="1" i="0" lang="en" sz="2800" u="none" cap="none" strike="noStrike">
                <a:solidFill>
                  <a:schemeClr val="dk1"/>
                </a:solidFill>
                <a:latin typeface="Calibri"/>
                <a:ea typeface="Calibri"/>
                <a:cs typeface="Calibri"/>
                <a:sym typeface="Calibri"/>
              </a:rPr>
              <a:t> scales </a:t>
            </a:r>
            <a:r>
              <a:rPr b="0" i="0" lang="en" sz="2800" u="none" cap="none" strike="noStrike">
                <a:solidFill>
                  <a:schemeClr val="dk1"/>
                </a:solidFill>
                <a:latin typeface="Calibri"/>
                <a:ea typeface="Calibri"/>
                <a:cs typeface="Calibri"/>
                <a:sym typeface="Calibri"/>
              </a:rPr>
              <a:t>with n (the input size). </a:t>
            </a:r>
            <a:endParaRPr b="0" i="0" sz="1400" u="none" cap="none" strike="noStrike">
              <a:solidFill>
                <a:srgbClr val="000000"/>
              </a:solidFill>
              <a:latin typeface="Arial"/>
              <a:ea typeface="Arial"/>
              <a:cs typeface="Arial"/>
              <a:sym typeface="Arial"/>
            </a:endParaRPr>
          </a:p>
        </p:txBody>
      </p:sp>
      <p:graphicFrame>
        <p:nvGraphicFramePr>
          <p:cNvPr id="392" name="Google Shape;392;p68"/>
          <p:cNvGraphicFramePr/>
          <p:nvPr/>
        </p:nvGraphicFramePr>
        <p:xfrm>
          <a:off x="739757" y="2373560"/>
          <a:ext cx="3000000" cy="3000000"/>
        </p:xfrm>
        <a:graphic>
          <a:graphicData uri="http://schemas.openxmlformats.org/drawingml/2006/table">
            <a:tbl>
              <a:tblPr bandRow="1" firstRow="1">
                <a:noFill/>
                <a:tableStyleId>{C6E0F84B-326E-49E8-AF4F-64E728882638}</a:tableStyleId>
              </a:tblPr>
              <a:tblGrid>
                <a:gridCol w="3440250"/>
                <a:gridCol w="2313700"/>
              </a:tblGrid>
              <a:tr h="525800">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lt1"/>
                          </a:solidFill>
                        </a:rPr>
                        <a:t>Number of operations</a:t>
                      </a:r>
                      <a:endParaRPr sz="1100" u="none" cap="none" strike="noStrike"/>
                    </a:p>
                  </a:txBody>
                  <a:tcPr marT="34300" marB="34300" marR="91450" marL="91450" anchor="ctr"/>
                </a:tc>
                <a:tc>
                  <a:txBody>
                    <a:bodyPr/>
                    <a:lstStyle/>
                    <a:p>
                      <a:pPr indent="0" lvl="0" marL="0" marR="0" rtl="0" algn="ctr">
                        <a:lnSpc>
                          <a:spcPct val="100000"/>
                        </a:lnSpc>
                        <a:spcBef>
                          <a:spcPts val="0"/>
                        </a:spcBef>
                        <a:spcAft>
                          <a:spcPts val="0"/>
                        </a:spcAft>
                        <a:buClr>
                          <a:srgbClr val="000000"/>
                        </a:buClr>
                        <a:buSzPts val="1500"/>
                        <a:buFont typeface="Arial"/>
                        <a:buNone/>
                      </a:pPr>
                      <a:r>
                        <a:rPr lang="en" sz="1500" u="none" cap="none" strike="noStrike">
                          <a:solidFill>
                            <a:schemeClr val="lt1"/>
                          </a:solidFill>
                        </a:rPr>
                        <a:t>Asymptotic Running Time</a:t>
                      </a:r>
                      <a:endParaRPr sz="1100" u="none" cap="none" strike="noStrike"/>
                    </a:p>
                  </a:txBody>
                  <a:tcPr marT="34300" marB="34300" marR="91450" marL="91450" anchor="ctr"/>
                </a:tc>
              </a:tr>
              <a:tr h="476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r>
              <a:tr h="451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r>
              <a:tr h="510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r>
              <a:tr h="6035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34300" marB="34300" marR="91450" marL="91450" anchor="ctr"/>
                </a:tc>
              </a:tr>
            </a:tbl>
          </a:graphicData>
        </a:graphic>
      </p:graphicFrame>
      <p:sp>
        <p:nvSpPr>
          <p:cNvPr id="393" name="Google Shape;393;p68"/>
          <p:cNvSpPr txBox="1"/>
          <p:nvPr/>
        </p:nvSpPr>
        <p:spPr>
          <a:xfrm>
            <a:off x="6761018" y="4062845"/>
            <a:ext cx="2382900" cy="9234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We say this algorithm is “asymptotically faster” than the others.</a:t>
            </a:r>
            <a:endParaRPr b="0" i="0" sz="1400" u="none" cap="none" strike="noStrike">
              <a:solidFill>
                <a:srgbClr val="000000"/>
              </a:solidFill>
              <a:latin typeface="Arial"/>
              <a:ea typeface="Arial"/>
              <a:cs typeface="Arial"/>
              <a:sym typeface="Arial"/>
            </a:endParaRPr>
          </a:p>
        </p:txBody>
      </p:sp>
      <p:cxnSp>
        <p:nvCxnSpPr>
          <p:cNvPr id="394" name="Google Shape;394;p68"/>
          <p:cNvCxnSpPr/>
          <p:nvPr/>
        </p:nvCxnSpPr>
        <p:spPr>
          <a:xfrm flipH="1">
            <a:off x="6017618" y="4336358"/>
            <a:ext cx="743400" cy="213900"/>
          </a:xfrm>
          <a:prstGeom prst="straightConnector1">
            <a:avLst/>
          </a:prstGeom>
          <a:noFill/>
          <a:ln cap="flat" cmpd="sng" w="9525">
            <a:solidFill>
              <a:srgbClr val="FF0000"/>
            </a:solidFill>
            <a:prstDash val="solid"/>
            <a:miter lim="800000"/>
            <a:headEnd len="sm" w="sm" type="none"/>
            <a:tailEnd len="med" w="med" type="triangle"/>
          </a:ln>
        </p:spPr>
      </p:cxnSp>
      <p:sp>
        <p:nvSpPr>
          <p:cNvPr id="395" name="Google Shape;395;p68"/>
          <p:cNvSpPr/>
          <p:nvPr/>
        </p:nvSpPr>
        <p:spPr>
          <a:xfrm>
            <a:off x="1971462" y="2924474"/>
            <a:ext cx="526500" cy="437100"/>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6" name="Google Shape;396;p68"/>
          <p:cNvSpPr/>
          <p:nvPr/>
        </p:nvSpPr>
        <p:spPr>
          <a:xfrm>
            <a:off x="1736307" y="3387455"/>
            <a:ext cx="526500" cy="437100"/>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7" name="Google Shape;397;p68"/>
          <p:cNvSpPr/>
          <p:nvPr/>
        </p:nvSpPr>
        <p:spPr>
          <a:xfrm>
            <a:off x="1630200" y="3877150"/>
            <a:ext cx="417000" cy="437100"/>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8" name="Google Shape;398;p68"/>
          <p:cNvSpPr/>
          <p:nvPr/>
        </p:nvSpPr>
        <p:spPr>
          <a:xfrm>
            <a:off x="1821303" y="4478850"/>
            <a:ext cx="826800" cy="437100"/>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9" name="Google Shape;399;p68"/>
          <p:cNvSpPr txBox="1"/>
          <p:nvPr/>
        </p:nvSpPr>
        <p:spPr>
          <a:xfrm>
            <a:off x="5542283" y="1717814"/>
            <a:ext cx="3354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(Only pay attention to the largest function of n that appears.)</a:t>
            </a:r>
            <a:endParaRPr b="0" i="0" sz="1400" u="none" cap="none" strike="noStrike">
              <a:solidFill>
                <a:srgbClr val="000000"/>
              </a:solidFill>
              <a:latin typeface="Arial"/>
              <a:ea typeface="Arial"/>
              <a:cs typeface="Arial"/>
              <a:sym typeface="Arial"/>
            </a:endParaRPr>
          </a:p>
        </p:txBody>
      </p:sp>
      <p:sp>
        <p:nvSpPr>
          <p:cNvPr id="400" name="Google Shape;400;p68"/>
          <p:cNvSpPr txBox="1"/>
          <p:nvPr/>
        </p:nvSpPr>
        <p:spPr>
          <a:xfrm>
            <a:off x="448213" y="1788807"/>
            <a:ext cx="52845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Calibri"/>
                <a:ea typeface="Calibri"/>
                <a:cs typeface="Calibri"/>
                <a:sym typeface="Calibri"/>
              </a:rPr>
              <a:t>Some examples…</a:t>
            </a:r>
            <a:endParaRPr b="0" i="0" sz="1400" u="none" cap="none" strike="noStrike">
              <a:solidFill>
                <a:srgbClr val="000000"/>
              </a:solidFill>
              <a:latin typeface="Arial"/>
              <a:ea typeface="Arial"/>
              <a:cs typeface="Arial"/>
              <a:sym typeface="Arial"/>
            </a:endParaRPr>
          </a:p>
        </p:txBody>
      </p:sp>
      <p:pic>
        <p:nvPicPr>
          <p:cNvPr id="401" name="Google Shape;401;p68"/>
          <p:cNvPicPr preferRelativeResize="0"/>
          <p:nvPr/>
        </p:nvPicPr>
        <p:blipFill rotWithShape="1">
          <a:blip r:embed="rId3">
            <a:alphaModFix/>
          </a:blip>
          <a:srcRect b="0" l="0" r="0" t="0"/>
          <a:stretch/>
        </p:blipFill>
        <p:spPr>
          <a:xfrm>
            <a:off x="1840467" y="3457810"/>
            <a:ext cx="1470228" cy="290213"/>
          </a:xfrm>
          <a:prstGeom prst="rect">
            <a:avLst/>
          </a:prstGeom>
          <a:noFill/>
          <a:ln>
            <a:noFill/>
          </a:ln>
        </p:spPr>
      </p:pic>
      <p:pic>
        <p:nvPicPr>
          <p:cNvPr id="402" name="Google Shape;402;p68"/>
          <p:cNvPicPr preferRelativeResize="0"/>
          <p:nvPr/>
        </p:nvPicPr>
        <p:blipFill rotWithShape="1">
          <a:blip r:embed="rId4">
            <a:alphaModFix/>
          </a:blip>
          <a:srcRect b="0" l="0" r="0" t="0"/>
          <a:stretch/>
        </p:blipFill>
        <p:spPr>
          <a:xfrm>
            <a:off x="1764273" y="2882700"/>
            <a:ext cx="1174921" cy="484744"/>
          </a:xfrm>
          <a:prstGeom prst="rect">
            <a:avLst/>
          </a:prstGeom>
          <a:noFill/>
          <a:ln>
            <a:noFill/>
          </a:ln>
        </p:spPr>
      </p:pic>
      <p:pic>
        <p:nvPicPr>
          <p:cNvPr id="403" name="Google Shape;403;p68"/>
          <p:cNvPicPr preferRelativeResize="0"/>
          <p:nvPr/>
        </p:nvPicPr>
        <p:blipFill rotWithShape="1">
          <a:blip r:embed="rId5">
            <a:alphaModFix/>
          </a:blip>
          <a:srcRect b="0" l="0" r="0" t="0"/>
          <a:stretch/>
        </p:blipFill>
        <p:spPr>
          <a:xfrm>
            <a:off x="5012629" y="2975849"/>
            <a:ext cx="605400" cy="269908"/>
          </a:xfrm>
          <a:prstGeom prst="rect">
            <a:avLst/>
          </a:prstGeom>
          <a:noFill/>
          <a:ln>
            <a:noFill/>
          </a:ln>
        </p:spPr>
      </p:pic>
      <p:pic>
        <p:nvPicPr>
          <p:cNvPr id="404" name="Google Shape;404;p68"/>
          <p:cNvPicPr preferRelativeResize="0"/>
          <p:nvPr/>
        </p:nvPicPr>
        <p:blipFill rotWithShape="1">
          <a:blip r:embed="rId6">
            <a:alphaModFix/>
          </a:blip>
          <a:srcRect b="0" l="0" r="0" t="0"/>
          <a:stretch/>
        </p:blipFill>
        <p:spPr>
          <a:xfrm>
            <a:off x="5012625" y="3419270"/>
            <a:ext cx="605400" cy="311429"/>
          </a:xfrm>
          <a:prstGeom prst="rect">
            <a:avLst/>
          </a:prstGeom>
          <a:noFill/>
          <a:ln>
            <a:noFill/>
          </a:ln>
        </p:spPr>
      </p:pic>
      <p:pic>
        <p:nvPicPr>
          <p:cNvPr id="405" name="Google Shape;405;p68"/>
          <p:cNvPicPr preferRelativeResize="0"/>
          <p:nvPr/>
        </p:nvPicPr>
        <p:blipFill rotWithShape="1">
          <a:blip r:embed="rId7">
            <a:alphaModFix/>
          </a:blip>
          <a:srcRect b="0" l="0" r="0" t="0"/>
          <a:stretch/>
        </p:blipFill>
        <p:spPr>
          <a:xfrm>
            <a:off x="1590450" y="4550381"/>
            <a:ext cx="1470225" cy="294045"/>
          </a:xfrm>
          <a:prstGeom prst="rect">
            <a:avLst/>
          </a:prstGeom>
          <a:noFill/>
          <a:ln>
            <a:noFill/>
          </a:ln>
        </p:spPr>
      </p:pic>
      <p:pic>
        <p:nvPicPr>
          <p:cNvPr id="406" name="Google Shape;406;p68"/>
          <p:cNvPicPr preferRelativeResize="0"/>
          <p:nvPr/>
        </p:nvPicPr>
        <p:blipFill rotWithShape="1">
          <a:blip r:embed="rId8">
            <a:alphaModFix/>
          </a:blip>
          <a:srcRect b="0" l="0" r="0" t="0"/>
          <a:stretch/>
        </p:blipFill>
        <p:spPr>
          <a:xfrm>
            <a:off x="4697974" y="4493096"/>
            <a:ext cx="1174913" cy="307784"/>
          </a:xfrm>
          <a:prstGeom prst="rect">
            <a:avLst/>
          </a:prstGeom>
          <a:noFill/>
          <a:ln>
            <a:noFill/>
          </a:ln>
        </p:spPr>
      </p:pic>
      <p:pic>
        <p:nvPicPr>
          <p:cNvPr id="407" name="Google Shape;407;p68"/>
          <p:cNvPicPr preferRelativeResize="0"/>
          <p:nvPr/>
        </p:nvPicPr>
        <p:blipFill rotWithShape="1">
          <a:blip r:embed="rId9">
            <a:alphaModFix/>
          </a:blip>
          <a:srcRect b="0" l="0" r="0" t="0"/>
          <a:stretch/>
        </p:blipFill>
        <p:spPr>
          <a:xfrm>
            <a:off x="1302166" y="3907166"/>
            <a:ext cx="1902648" cy="311438"/>
          </a:xfrm>
          <a:prstGeom prst="rect">
            <a:avLst/>
          </a:prstGeom>
          <a:noFill/>
          <a:ln>
            <a:noFill/>
          </a:ln>
        </p:spPr>
      </p:pic>
      <p:pic>
        <p:nvPicPr>
          <p:cNvPr id="408" name="Google Shape;408;p68"/>
          <p:cNvPicPr preferRelativeResize="0"/>
          <p:nvPr/>
        </p:nvPicPr>
        <p:blipFill rotWithShape="1">
          <a:blip r:embed="rId10">
            <a:alphaModFix/>
          </a:blip>
          <a:srcRect b="0" l="0" r="0" t="0"/>
          <a:stretch/>
        </p:blipFill>
        <p:spPr>
          <a:xfrm>
            <a:off x="4919648" y="3932194"/>
            <a:ext cx="760277" cy="2940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t>Example Runtime</a:t>
            </a:r>
            <a:endParaRPr/>
          </a:p>
        </p:txBody>
      </p:sp>
      <p:sp>
        <p:nvSpPr>
          <p:cNvPr id="414" name="Google Shape;414;p69"/>
          <p:cNvSpPr txBox="1"/>
          <p:nvPr>
            <p:ph idx="1" type="body"/>
          </p:nvPr>
        </p:nvSpPr>
        <p:spPr>
          <a:xfrm>
            <a:off x="2371800" y="1558125"/>
            <a:ext cx="4400400" cy="48030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1000"/>
              </a:spcBef>
              <a:spcAft>
                <a:spcPts val="0"/>
              </a:spcAft>
              <a:buSzPts val="1800"/>
              <a:buNone/>
            </a:pPr>
            <a:r>
              <a:rPr lang="en"/>
              <a:t>T(n) = 25n</a:t>
            </a:r>
            <a:r>
              <a:rPr baseline="30000" lang="en"/>
              <a:t>2 </a:t>
            </a:r>
            <a:r>
              <a:rPr lang="en"/>
              <a:t>+ 5n + 7 ms</a:t>
            </a:r>
            <a:endParaRPr/>
          </a:p>
        </p:txBody>
      </p:sp>
      <p:cxnSp>
        <p:nvCxnSpPr>
          <p:cNvPr id="415" name="Google Shape;415;p69"/>
          <p:cNvCxnSpPr/>
          <p:nvPr/>
        </p:nvCxnSpPr>
        <p:spPr>
          <a:xfrm flipH="1" rot="10800000">
            <a:off x="3125175" y="2018325"/>
            <a:ext cx="846300" cy="1012800"/>
          </a:xfrm>
          <a:prstGeom prst="straightConnector1">
            <a:avLst/>
          </a:prstGeom>
          <a:noFill/>
          <a:ln cap="flat" cmpd="sng" w="9525">
            <a:solidFill>
              <a:srgbClr val="005ECE"/>
            </a:solidFill>
            <a:prstDash val="solid"/>
            <a:round/>
            <a:headEnd len="sm" w="sm" type="none"/>
            <a:tailEnd len="med" w="med" type="triangle"/>
          </a:ln>
        </p:spPr>
      </p:cxnSp>
      <p:sp>
        <p:nvSpPr>
          <p:cNvPr id="416" name="Google Shape;416;p69"/>
          <p:cNvSpPr txBox="1"/>
          <p:nvPr/>
        </p:nvSpPr>
        <p:spPr>
          <a:xfrm>
            <a:off x="2177475" y="3031125"/>
            <a:ext cx="1758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155CC"/>
                </a:solidFill>
                <a:latin typeface="Calibri"/>
                <a:ea typeface="Calibri"/>
                <a:cs typeface="Calibri"/>
                <a:sym typeface="Calibri"/>
              </a:rPr>
              <a:t>The constant factor of 25 depends on the computing platform..</a:t>
            </a:r>
            <a:endParaRPr b="0" i="0" sz="1400" u="none" cap="none" strike="noStrike">
              <a:solidFill>
                <a:srgbClr val="1155CC"/>
              </a:solidFill>
              <a:latin typeface="Calibri"/>
              <a:ea typeface="Calibri"/>
              <a:cs typeface="Calibri"/>
              <a:sym typeface="Calibri"/>
            </a:endParaRPr>
          </a:p>
        </p:txBody>
      </p:sp>
      <p:cxnSp>
        <p:nvCxnSpPr>
          <p:cNvPr id="417" name="Google Shape;417;p69"/>
          <p:cNvCxnSpPr/>
          <p:nvPr/>
        </p:nvCxnSpPr>
        <p:spPr>
          <a:xfrm rot="10800000">
            <a:off x="5028026" y="2021694"/>
            <a:ext cx="983700" cy="939000"/>
          </a:xfrm>
          <a:prstGeom prst="straightConnector1">
            <a:avLst/>
          </a:prstGeom>
          <a:noFill/>
          <a:ln cap="flat" cmpd="sng" w="9525">
            <a:solidFill>
              <a:srgbClr val="38761D"/>
            </a:solidFill>
            <a:prstDash val="solid"/>
            <a:round/>
            <a:headEnd len="sm" w="sm" type="none"/>
            <a:tailEnd len="med" w="med" type="triangle"/>
          </a:ln>
        </p:spPr>
      </p:cxnSp>
      <p:cxnSp>
        <p:nvCxnSpPr>
          <p:cNvPr id="418" name="Google Shape;418;p69"/>
          <p:cNvCxnSpPr/>
          <p:nvPr/>
        </p:nvCxnSpPr>
        <p:spPr>
          <a:xfrm rot="10800000">
            <a:off x="5533125" y="1960575"/>
            <a:ext cx="485700" cy="1012800"/>
          </a:xfrm>
          <a:prstGeom prst="straightConnector1">
            <a:avLst/>
          </a:prstGeom>
          <a:noFill/>
          <a:ln cap="flat" cmpd="sng" w="9525">
            <a:solidFill>
              <a:srgbClr val="38761D"/>
            </a:solidFill>
            <a:prstDash val="solid"/>
            <a:round/>
            <a:headEnd len="sm" w="sm" type="none"/>
            <a:tailEnd len="med" w="med" type="triangle"/>
          </a:ln>
        </p:spPr>
      </p:cxnSp>
      <p:sp>
        <p:nvSpPr>
          <p:cNvPr id="419" name="Google Shape;419;p69"/>
          <p:cNvSpPr txBox="1"/>
          <p:nvPr/>
        </p:nvSpPr>
        <p:spPr>
          <a:xfrm>
            <a:off x="5382675" y="3031125"/>
            <a:ext cx="1758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38761D"/>
                </a:solidFill>
                <a:latin typeface="Calibri"/>
                <a:ea typeface="Calibri"/>
                <a:cs typeface="Calibri"/>
                <a:sym typeface="Calibri"/>
              </a:rPr>
              <a:t>As n gets large, the lower-order terms don’t really matter</a:t>
            </a:r>
            <a:endParaRPr b="0" i="0" sz="1400" u="none" cap="none" strike="noStrike">
              <a:solidFill>
                <a:srgbClr val="38761D"/>
              </a:solidFill>
              <a:latin typeface="Calibri"/>
              <a:ea typeface="Calibri"/>
              <a:cs typeface="Calibri"/>
              <a:sym typeface="Calibri"/>
            </a:endParaRPr>
          </a:p>
        </p:txBody>
      </p:sp>
      <p:sp>
        <p:nvSpPr>
          <p:cNvPr id="420" name="Google Shape;420;p69"/>
          <p:cNvSpPr txBox="1"/>
          <p:nvPr/>
        </p:nvSpPr>
        <p:spPr>
          <a:xfrm>
            <a:off x="3740075" y="4369450"/>
            <a:ext cx="1237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Calibri"/>
                <a:ea typeface="Calibri"/>
                <a:cs typeface="Calibri"/>
                <a:sym typeface="Calibri"/>
              </a:rPr>
              <a:t>= O(n</a:t>
            </a:r>
            <a:r>
              <a:rPr b="0" baseline="30000" i="0" lang="en" sz="2800" u="none" cap="none" strike="noStrike">
                <a:solidFill>
                  <a:schemeClr val="dk1"/>
                </a:solidFill>
                <a:latin typeface="Calibri"/>
                <a:ea typeface="Calibri"/>
                <a:cs typeface="Calibri"/>
                <a:sym typeface="Calibri"/>
              </a:rPr>
              <a:t>2</a:t>
            </a:r>
            <a:r>
              <a:rPr b="0" i="0" lang="en"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0"/>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Informal definition for O(…)</a:t>
            </a:r>
            <a:endParaRPr/>
          </a:p>
        </p:txBody>
      </p:sp>
      <p:sp>
        <p:nvSpPr>
          <p:cNvPr id="426" name="Google Shape;426;p70"/>
          <p:cNvSpPr txBox="1"/>
          <p:nvPr>
            <p:ph idx="1" type="body"/>
          </p:nvPr>
        </p:nvSpPr>
        <p:spPr>
          <a:xfrm>
            <a:off x="628650" y="1369225"/>
            <a:ext cx="6287100" cy="3263400"/>
          </a:xfrm>
          <a:prstGeom prst="rect">
            <a:avLst/>
          </a:prstGeom>
          <a:blipFill rotWithShape="1">
            <a:blip r:embed="rId3">
              <a:alphaModFix/>
            </a:blip>
            <a:stretch>
              <a:fillRect b="0" l="-1439" r="-149" t="-2629"/>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
              <a:t> </a:t>
            </a:r>
            <a:endParaRPr/>
          </a:p>
        </p:txBody>
      </p:sp>
      <p:pic>
        <p:nvPicPr>
          <p:cNvPr id="427" name="Google Shape;427;p70"/>
          <p:cNvPicPr preferRelativeResize="0"/>
          <p:nvPr/>
        </p:nvPicPr>
        <p:blipFill rotWithShape="1">
          <a:blip r:embed="rId4">
            <a:alphaModFix/>
          </a:blip>
          <a:srcRect b="0" l="0" r="0" t="0"/>
          <a:stretch/>
        </p:blipFill>
        <p:spPr>
          <a:xfrm>
            <a:off x="7586278" y="172643"/>
            <a:ext cx="892053" cy="984924"/>
          </a:xfrm>
          <a:prstGeom prst="rect">
            <a:avLst/>
          </a:prstGeom>
          <a:noFill/>
          <a:ln>
            <a:noFill/>
          </a:ln>
        </p:spPr>
      </p:pic>
      <p:sp>
        <p:nvSpPr>
          <p:cNvPr id="428" name="Google Shape;428;p70"/>
          <p:cNvSpPr txBox="1"/>
          <p:nvPr/>
        </p:nvSpPr>
        <p:spPr>
          <a:xfrm>
            <a:off x="4710896" y="4496765"/>
            <a:ext cx="39585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accent4"/>
                </a:solidFill>
                <a:latin typeface="Calibri"/>
                <a:ea typeface="Calibri"/>
                <a:cs typeface="Calibri"/>
                <a:sym typeface="Calibri"/>
              </a:rPr>
              <a:t>Here, “constant” means “some number that doesn’t depend on n.”</a:t>
            </a:r>
            <a:endParaRPr b="0" i="0" sz="1400" u="none" cap="none" strike="noStrike">
              <a:solidFill>
                <a:srgbClr val="000000"/>
              </a:solidFill>
              <a:latin typeface="Arial"/>
              <a:ea typeface="Arial"/>
              <a:cs typeface="Arial"/>
              <a:sym typeface="Arial"/>
            </a:endParaRPr>
          </a:p>
        </p:txBody>
      </p:sp>
      <p:cxnSp>
        <p:nvCxnSpPr>
          <p:cNvPr id="429" name="Google Shape;429;p70"/>
          <p:cNvCxnSpPr/>
          <p:nvPr/>
        </p:nvCxnSpPr>
        <p:spPr>
          <a:xfrm rot="10800000">
            <a:off x="4253750" y="3580875"/>
            <a:ext cx="1598700" cy="1005600"/>
          </a:xfrm>
          <a:prstGeom prst="straightConnector1">
            <a:avLst/>
          </a:prstGeom>
          <a:noFill/>
          <a:ln cap="flat" cmpd="sng" w="9525">
            <a:solidFill>
              <a:schemeClr val="accent4"/>
            </a:solidFill>
            <a:prstDash val="solid"/>
            <a:miter lim="800000"/>
            <a:headEnd len="sm" w="sm" type="none"/>
            <a:tailEnd len="med" w="med" type="triangle"/>
          </a:ln>
        </p:spPr>
      </p:cxnSp>
      <p:sp>
        <p:nvSpPr>
          <p:cNvPr id="430" name="Google Shape;430;p70"/>
          <p:cNvSpPr txBox="1"/>
          <p:nvPr/>
        </p:nvSpPr>
        <p:spPr>
          <a:xfrm>
            <a:off x="742860" y="126173"/>
            <a:ext cx="6420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pronounced “big-oh of …” or sometimes “oh of …”</a:t>
            </a:r>
            <a:endParaRPr b="0" i="0" sz="1400" u="none" cap="none" strike="noStrike">
              <a:solidFill>
                <a:srgbClr val="000000"/>
              </a:solidFill>
              <a:latin typeface="Arial"/>
              <a:ea typeface="Arial"/>
              <a:cs typeface="Arial"/>
              <a:sym typeface="Arial"/>
            </a:endParaRPr>
          </a:p>
        </p:txBody>
      </p:sp>
      <p:cxnSp>
        <p:nvCxnSpPr>
          <p:cNvPr id="431" name="Google Shape;431;p70"/>
          <p:cNvCxnSpPr/>
          <p:nvPr/>
        </p:nvCxnSpPr>
        <p:spPr>
          <a:xfrm>
            <a:off x="5357525" y="397600"/>
            <a:ext cx="547800" cy="233400"/>
          </a:xfrm>
          <a:prstGeom prst="straightConnector1">
            <a:avLst/>
          </a:prstGeom>
          <a:noFill/>
          <a:ln cap="flat" cmpd="sng" w="9525">
            <a:solidFill>
              <a:srgbClr val="FF000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71"/>
          <p:cNvSpPr txBox="1"/>
          <p:nvPr>
            <p:ph type="title"/>
          </p:nvPr>
        </p:nvSpPr>
        <p:spPr>
          <a:xfrm>
            <a:off x="360626" y="123200"/>
            <a:ext cx="7112400" cy="994200"/>
          </a:xfrm>
          <a:prstGeom prst="rect">
            <a:avLst/>
          </a:prstGeom>
          <a:blipFill rotWithShape="1">
            <a:blip r:embed="rId3">
              <a:alphaModFix/>
            </a:blip>
            <a:stretch>
              <a:fillRect b="0" l="-3089" r="0" t="-920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437" name="Google Shape;437;p71"/>
          <p:cNvSpPr txBox="1"/>
          <p:nvPr/>
        </p:nvSpPr>
        <p:spPr>
          <a:xfrm rot="-1719576">
            <a:off x="5514392" y="1434282"/>
            <a:ext cx="1842767" cy="3077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71"/>
          <p:cNvSpPr txBox="1"/>
          <p:nvPr/>
        </p:nvSpPr>
        <p:spPr>
          <a:xfrm>
            <a:off x="5646105" y="3053852"/>
            <a:ext cx="137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5ECE"/>
                </a:solidFill>
                <a:latin typeface="Calibri"/>
                <a:ea typeface="Calibri"/>
                <a:cs typeface="Calibri"/>
                <a:sym typeface="Calibri"/>
              </a:rPr>
              <a:t>g(n) = n</a:t>
            </a:r>
            <a:r>
              <a:rPr b="0" baseline="30000" i="0" lang="en" sz="2400" u="none" cap="none" strike="noStrike">
                <a:solidFill>
                  <a:srgbClr val="005ECE"/>
                </a:solidFill>
                <a:latin typeface="Calibri"/>
                <a:ea typeface="Calibri"/>
                <a:cs typeface="Calibri"/>
                <a:sym typeface="Calibri"/>
              </a:rPr>
              <a:t>2</a:t>
            </a:r>
            <a:endParaRPr b="0" i="0" sz="2400" u="none" cap="none" strike="noStrike">
              <a:solidFill>
                <a:srgbClr val="005ECE"/>
              </a:solidFill>
              <a:latin typeface="Calibri"/>
              <a:ea typeface="Calibri"/>
              <a:cs typeface="Calibri"/>
              <a:sym typeface="Calibri"/>
            </a:endParaRPr>
          </a:p>
        </p:txBody>
      </p:sp>
      <p:sp>
        <p:nvSpPr>
          <p:cNvPr id="439" name="Google Shape;439;p71"/>
          <p:cNvSpPr/>
          <p:nvPr/>
        </p:nvSpPr>
        <p:spPr>
          <a:xfrm>
            <a:off x="5762099" y="190100"/>
            <a:ext cx="2911800" cy="692700"/>
          </a:xfrm>
          <a:prstGeom prst="rect">
            <a:avLst/>
          </a:prstGeom>
          <a:blipFill rotWithShape="1">
            <a:blip r:embed="rId4">
              <a:alphaModFix/>
            </a:blip>
            <a:stretch>
              <a:fillRect b="-8089" l="0" r="0" t="-269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440" name="Google Shape;440;p71"/>
          <p:cNvPicPr preferRelativeResize="0"/>
          <p:nvPr/>
        </p:nvPicPr>
        <p:blipFill rotWithShape="1">
          <a:blip r:embed="rId5">
            <a:alphaModFix/>
          </a:blip>
          <a:srcRect b="0" l="0" r="0" t="0"/>
          <a:stretch/>
        </p:blipFill>
        <p:spPr>
          <a:xfrm>
            <a:off x="911875" y="1310450"/>
            <a:ext cx="4850225" cy="3386254"/>
          </a:xfrm>
          <a:prstGeom prst="rect">
            <a:avLst/>
          </a:prstGeom>
          <a:noFill/>
          <a:ln>
            <a:noFill/>
          </a:ln>
        </p:spPr>
      </p:pic>
      <p:sp>
        <p:nvSpPr>
          <p:cNvPr id="441" name="Google Shape;441;p71"/>
          <p:cNvSpPr txBox="1"/>
          <p:nvPr/>
        </p:nvSpPr>
        <p:spPr>
          <a:xfrm>
            <a:off x="5646101" y="1232133"/>
            <a:ext cx="175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3g(n) = 3n</a:t>
            </a:r>
            <a:r>
              <a:rPr b="0" baseline="30000" i="0" lang="en" sz="2400" u="none" cap="none" strike="noStrike">
                <a:solidFill>
                  <a:srgbClr val="00B050"/>
                </a:solidFill>
                <a:latin typeface="Calibri"/>
                <a:ea typeface="Calibri"/>
                <a:cs typeface="Calibri"/>
                <a:sym typeface="Calibri"/>
              </a:rPr>
              <a:t>2</a:t>
            </a:r>
            <a:endParaRPr b="0" i="0" sz="2400" u="none" cap="none" strike="noStrike">
              <a:solidFill>
                <a:srgbClr val="00B050"/>
              </a:solidFill>
              <a:latin typeface="Calibri"/>
              <a:ea typeface="Calibri"/>
              <a:cs typeface="Calibri"/>
              <a:sym typeface="Calibri"/>
            </a:endParaRPr>
          </a:p>
        </p:txBody>
      </p:sp>
      <p:sp>
        <p:nvSpPr>
          <p:cNvPr id="442" name="Google Shape;442;p71"/>
          <p:cNvSpPr txBox="1"/>
          <p:nvPr/>
        </p:nvSpPr>
        <p:spPr>
          <a:xfrm>
            <a:off x="5646100" y="1808575"/>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2n</a:t>
            </a:r>
            <a:r>
              <a:rPr b="0" baseline="30000" i="0" lang="en" sz="2400" u="none" cap="none" strike="noStrike">
                <a:solidFill>
                  <a:srgbClr val="FF0000"/>
                </a:solidFill>
                <a:latin typeface="Calibri"/>
                <a:ea typeface="Calibri"/>
                <a:cs typeface="Calibri"/>
                <a:sym typeface="Calibri"/>
              </a:rPr>
              <a:t>2 </a:t>
            </a:r>
            <a:r>
              <a:rPr b="0" i="0" lang="en" sz="2400" u="none" cap="none" strike="noStrike">
                <a:solidFill>
                  <a:srgbClr val="FF0000"/>
                </a:solidFill>
                <a:latin typeface="Calibri"/>
                <a:ea typeface="Calibri"/>
                <a:cs typeface="Calibri"/>
                <a:sym typeface="Calibri"/>
              </a:rPr>
              <a:t>+ 10</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72"/>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Formal definition of O(…)</a:t>
            </a:r>
            <a:endParaRPr/>
          </a:p>
        </p:txBody>
      </p:sp>
      <p:sp>
        <p:nvSpPr>
          <p:cNvPr id="448" name="Google Shape;448;p72"/>
          <p:cNvSpPr txBox="1"/>
          <p:nvPr>
            <p:ph idx="1" type="body"/>
          </p:nvPr>
        </p:nvSpPr>
        <p:spPr>
          <a:xfrm>
            <a:off x="628650" y="1342150"/>
            <a:ext cx="6594300" cy="3430500"/>
          </a:xfrm>
          <a:prstGeom prst="rect">
            <a:avLst/>
          </a:prstGeom>
          <a:blipFill rotWithShape="1">
            <a:blip r:embed="rId3">
              <a:alphaModFix/>
            </a:blip>
            <a:stretch>
              <a:fillRect b="0" l="-1439" r="-149" t="-2209"/>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
              <a:t> </a:t>
            </a:r>
            <a:endParaRPr/>
          </a:p>
        </p:txBody>
      </p:sp>
      <p:sp>
        <p:nvSpPr>
          <p:cNvPr id="449" name="Google Shape;449;p72"/>
          <p:cNvSpPr txBox="1"/>
          <p:nvPr/>
        </p:nvSpPr>
        <p:spPr>
          <a:xfrm>
            <a:off x="498337" y="4088752"/>
            <a:ext cx="152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“There exists”</a:t>
            </a:r>
            <a:endParaRPr b="0" i="0" sz="1400" u="none" cap="none" strike="noStrike">
              <a:solidFill>
                <a:srgbClr val="000000"/>
              </a:solidFill>
              <a:latin typeface="Arial"/>
              <a:ea typeface="Arial"/>
              <a:cs typeface="Arial"/>
              <a:sym typeface="Arial"/>
            </a:endParaRPr>
          </a:p>
        </p:txBody>
      </p:sp>
      <p:cxnSp>
        <p:nvCxnSpPr>
          <p:cNvPr id="450" name="Google Shape;450;p72"/>
          <p:cNvCxnSpPr/>
          <p:nvPr/>
        </p:nvCxnSpPr>
        <p:spPr>
          <a:xfrm flipH="1" rot="10800000">
            <a:off x="1688945" y="3863027"/>
            <a:ext cx="680100" cy="296700"/>
          </a:xfrm>
          <a:prstGeom prst="straightConnector1">
            <a:avLst/>
          </a:prstGeom>
          <a:noFill/>
          <a:ln cap="flat" cmpd="sng" w="9525">
            <a:solidFill>
              <a:srgbClr val="FF0000"/>
            </a:solidFill>
            <a:prstDash val="solid"/>
            <a:miter lim="800000"/>
            <a:headEnd len="sm" w="sm" type="none"/>
            <a:tailEnd len="med" w="med" type="triangle"/>
          </a:ln>
        </p:spPr>
      </p:cxnSp>
      <p:sp>
        <p:nvSpPr>
          <p:cNvPr id="451" name="Google Shape;451;p72"/>
          <p:cNvSpPr txBox="1"/>
          <p:nvPr/>
        </p:nvSpPr>
        <p:spPr>
          <a:xfrm>
            <a:off x="5389579" y="3060850"/>
            <a:ext cx="1011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“For all”</a:t>
            </a:r>
            <a:endParaRPr b="0" i="0" sz="1400" u="none" cap="none" strike="noStrike">
              <a:solidFill>
                <a:srgbClr val="000000"/>
              </a:solidFill>
              <a:latin typeface="Arial"/>
              <a:ea typeface="Arial"/>
              <a:cs typeface="Arial"/>
              <a:sym typeface="Arial"/>
            </a:endParaRPr>
          </a:p>
        </p:txBody>
      </p:sp>
      <p:cxnSp>
        <p:nvCxnSpPr>
          <p:cNvPr id="452" name="Google Shape;452;p72"/>
          <p:cNvCxnSpPr/>
          <p:nvPr/>
        </p:nvCxnSpPr>
        <p:spPr>
          <a:xfrm flipH="1">
            <a:off x="4462579" y="3245500"/>
            <a:ext cx="927000" cy="422100"/>
          </a:xfrm>
          <a:prstGeom prst="straightConnector1">
            <a:avLst/>
          </a:prstGeom>
          <a:noFill/>
          <a:ln cap="flat" cmpd="sng" w="9525">
            <a:solidFill>
              <a:srgbClr val="FF0000"/>
            </a:solidFill>
            <a:prstDash val="solid"/>
            <a:miter lim="800000"/>
            <a:headEnd len="sm" w="sm" type="none"/>
            <a:tailEnd len="med" w="med" type="triangle"/>
          </a:ln>
        </p:spPr>
      </p:cxnSp>
      <p:sp>
        <p:nvSpPr>
          <p:cNvPr id="453" name="Google Shape;453;p72"/>
          <p:cNvSpPr txBox="1"/>
          <p:nvPr/>
        </p:nvSpPr>
        <p:spPr>
          <a:xfrm>
            <a:off x="6039241" y="3960330"/>
            <a:ext cx="152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“such that”</a:t>
            </a:r>
            <a:endParaRPr b="0" i="0" sz="1400" u="none" cap="none" strike="noStrike">
              <a:solidFill>
                <a:srgbClr val="000000"/>
              </a:solidFill>
              <a:latin typeface="Arial"/>
              <a:ea typeface="Arial"/>
              <a:cs typeface="Arial"/>
              <a:sym typeface="Arial"/>
            </a:endParaRPr>
          </a:p>
        </p:txBody>
      </p:sp>
      <p:cxnSp>
        <p:nvCxnSpPr>
          <p:cNvPr id="454" name="Google Shape;454;p72"/>
          <p:cNvCxnSpPr/>
          <p:nvPr/>
        </p:nvCxnSpPr>
        <p:spPr>
          <a:xfrm rot="10800000">
            <a:off x="4010500" y="3870375"/>
            <a:ext cx="2069100" cy="274800"/>
          </a:xfrm>
          <a:prstGeom prst="straightConnector1">
            <a:avLst/>
          </a:prstGeom>
          <a:noFill/>
          <a:ln cap="flat" cmpd="sng" w="9525">
            <a:solidFill>
              <a:srgbClr val="FF0000"/>
            </a:solidFill>
            <a:prstDash val="solid"/>
            <a:miter lim="800000"/>
            <a:headEnd len="sm" w="sm" type="none"/>
            <a:tailEnd len="med" w="med" type="triangle"/>
          </a:ln>
        </p:spPr>
      </p:cxnSp>
      <p:sp>
        <p:nvSpPr>
          <p:cNvPr id="455" name="Google Shape;455;p72"/>
          <p:cNvSpPr txBox="1"/>
          <p:nvPr/>
        </p:nvSpPr>
        <p:spPr>
          <a:xfrm>
            <a:off x="761830" y="3145073"/>
            <a:ext cx="2062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“If and only if”</a:t>
            </a:r>
            <a:endParaRPr b="0" i="0" sz="1400" u="none" cap="none" strike="noStrike">
              <a:solidFill>
                <a:srgbClr val="000000"/>
              </a:solidFill>
              <a:latin typeface="Arial"/>
              <a:ea typeface="Arial"/>
              <a:cs typeface="Arial"/>
              <a:sym typeface="Arial"/>
            </a:endParaRPr>
          </a:p>
        </p:txBody>
      </p:sp>
      <p:cxnSp>
        <p:nvCxnSpPr>
          <p:cNvPr id="456" name="Google Shape;456;p72"/>
          <p:cNvCxnSpPr/>
          <p:nvPr/>
        </p:nvCxnSpPr>
        <p:spPr>
          <a:xfrm>
            <a:off x="2279248" y="3360115"/>
            <a:ext cx="1470900" cy="0"/>
          </a:xfrm>
          <a:prstGeom prst="straightConnector1">
            <a:avLst/>
          </a:prstGeom>
          <a:noFill/>
          <a:ln cap="flat" cmpd="sng" w="9525">
            <a:solidFill>
              <a:srgbClr val="FF0000"/>
            </a:solidFill>
            <a:prstDash val="solid"/>
            <a:miter lim="800000"/>
            <a:headEnd len="sm" w="sm" type="none"/>
            <a:tailEnd len="med" w="med" type="triangle"/>
          </a:ln>
        </p:spPr>
      </p:cxnSp>
      <p:pic>
        <p:nvPicPr>
          <p:cNvPr id="457" name="Google Shape;457;p72"/>
          <p:cNvPicPr preferRelativeResize="0"/>
          <p:nvPr/>
        </p:nvPicPr>
        <p:blipFill rotWithShape="1">
          <a:blip r:embed="rId4">
            <a:alphaModFix/>
          </a:blip>
          <a:srcRect b="0" l="0" r="0" t="0"/>
          <a:stretch/>
        </p:blipFill>
        <p:spPr>
          <a:xfrm>
            <a:off x="6760179" y="279698"/>
            <a:ext cx="584037" cy="8171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3"/>
          <p:cNvSpPr txBox="1"/>
          <p:nvPr>
            <p:ph type="title"/>
          </p:nvPr>
        </p:nvSpPr>
        <p:spPr>
          <a:xfrm>
            <a:off x="360626" y="123200"/>
            <a:ext cx="7112400" cy="994200"/>
          </a:xfrm>
          <a:prstGeom prst="rect">
            <a:avLst/>
          </a:prstGeom>
          <a:blipFill rotWithShape="1">
            <a:blip r:embed="rId3">
              <a:alphaModFix/>
            </a:blip>
            <a:stretch>
              <a:fillRect b="0" l="-3089" r="0" t="-920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463" name="Google Shape;463;p73"/>
          <p:cNvSpPr txBox="1"/>
          <p:nvPr/>
        </p:nvSpPr>
        <p:spPr>
          <a:xfrm rot="-1719576">
            <a:off x="5514392" y="1434282"/>
            <a:ext cx="1842767" cy="3077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73"/>
          <p:cNvSpPr txBox="1"/>
          <p:nvPr/>
        </p:nvSpPr>
        <p:spPr>
          <a:xfrm>
            <a:off x="5646105" y="3053852"/>
            <a:ext cx="137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5ECE"/>
                </a:solidFill>
                <a:latin typeface="Calibri"/>
                <a:ea typeface="Calibri"/>
                <a:cs typeface="Calibri"/>
                <a:sym typeface="Calibri"/>
              </a:rPr>
              <a:t>g(n) = n</a:t>
            </a:r>
            <a:r>
              <a:rPr b="0" baseline="30000" i="0" lang="en" sz="2400" u="none" cap="none" strike="noStrike">
                <a:solidFill>
                  <a:srgbClr val="005ECE"/>
                </a:solidFill>
                <a:latin typeface="Calibri"/>
                <a:ea typeface="Calibri"/>
                <a:cs typeface="Calibri"/>
                <a:sym typeface="Calibri"/>
              </a:rPr>
              <a:t>2</a:t>
            </a:r>
            <a:endParaRPr b="0" i="0" sz="2400" u="none" cap="none" strike="noStrike">
              <a:solidFill>
                <a:srgbClr val="005ECE"/>
              </a:solidFill>
              <a:latin typeface="Calibri"/>
              <a:ea typeface="Calibri"/>
              <a:cs typeface="Calibri"/>
              <a:sym typeface="Calibri"/>
            </a:endParaRPr>
          </a:p>
        </p:txBody>
      </p:sp>
      <p:pic>
        <p:nvPicPr>
          <p:cNvPr id="465" name="Google Shape;465;p73"/>
          <p:cNvPicPr preferRelativeResize="0"/>
          <p:nvPr/>
        </p:nvPicPr>
        <p:blipFill rotWithShape="1">
          <a:blip r:embed="rId4">
            <a:alphaModFix/>
          </a:blip>
          <a:srcRect b="0" l="0" r="0" t="0"/>
          <a:stretch/>
        </p:blipFill>
        <p:spPr>
          <a:xfrm>
            <a:off x="911875" y="1310450"/>
            <a:ext cx="4850225" cy="3386254"/>
          </a:xfrm>
          <a:prstGeom prst="rect">
            <a:avLst/>
          </a:prstGeom>
          <a:noFill/>
          <a:ln>
            <a:noFill/>
          </a:ln>
        </p:spPr>
      </p:pic>
      <p:sp>
        <p:nvSpPr>
          <p:cNvPr id="466" name="Google Shape;466;p73"/>
          <p:cNvSpPr txBox="1"/>
          <p:nvPr/>
        </p:nvSpPr>
        <p:spPr>
          <a:xfrm>
            <a:off x="5646101" y="1232133"/>
            <a:ext cx="175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3g(n) = 3n</a:t>
            </a:r>
            <a:r>
              <a:rPr b="0" baseline="30000" i="0" lang="en" sz="2400" u="none" cap="none" strike="noStrike">
                <a:solidFill>
                  <a:srgbClr val="00B050"/>
                </a:solidFill>
                <a:latin typeface="Calibri"/>
                <a:ea typeface="Calibri"/>
                <a:cs typeface="Calibri"/>
                <a:sym typeface="Calibri"/>
              </a:rPr>
              <a:t>2</a:t>
            </a:r>
            <a:endParaRPr b="0" i="0" sz="2400" u="none" cap="none" strike="noStrike">
              <a:solidFill>
                <a:srgbClr val="00B050"/>
              </a:solidFill>
              <a:latin typeface="Calibri"/>
              <a:ea typeface="Calibri"/>
              <a:cs typeface="Calibri"/>
              <a:sym typeface="Calibri"/>
            </a:endParaRPr>
          </a:p>
        </p:txBody>
      </p:sp>
      <p:sp>
        <p:nvSpPr>
          <p:cNvPr id="467" name="Google Shape;467;p73"/>
          <p:cNvSpPr txBox="1"/>
          <p:nvPr/>
        </p:nvSpPr>
        <p:spPr>
          <a:xfrm>
            <a:off x="5646100" y="1808575"/>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2n</a:t>
            </a:r>
            <a:r>
              <a:rPr b="0" baseline="30000" i="0" lang="en" sz="2400" u="none" cap="none" strike="noStrike">
                <a:solidFill>
                  <a:srgbClr val="FF0000"/>
                </a:solidFill>
                <a:latin typeface="Calibri"/>
                <a:ea typeface="Calibri"/>
                <a:cs typeface="Calibri"/>
                <a:sym typeface="Calibri"/>
              </a:rPr>
              <a:t>2 </a:t>
            </a:r>
            <a:r>
              <a:rPr b="0" i="0" lang="en" sz="2400" u="none" cap="none" strike="noStrike">
                <a:solidFill>
                  <a:srgbClr val="FF0000"/>
                </a:solidFill>
                <a:latin typeface="Calibri"/>
                <a:ea typeface="Calibri"/>
                <a:cs typeface="Calibri"/>
                <a:sym typeface="Calibri"/>
              </a:rPr>
              <a:t>+ 10</a:t>
            </a:r>
            <a:endParaRPr b="0" i="0" sz="1400" u="none" cap="none" strike="noStrike">
              <a:solidFill>
                <a:schemeClr val="dk1"/>
              </a:solidFill>
              <a:latin typeface="Arial"/>
              <a:ea typeface="Arial"/>
              <a:cs typeface="Arial"/>
              <a:sym typeface="Arial"/>
            </a:endParaRPr>
          </a:p>
        </p:txBody>
      </p:sp>
      <p:sp>
        <p:nvSpPr>
          <p:cNvPr id="468" name="Google Shape;468;p73"/>
          <p:cNvSpPr/>
          <p:nvPr/>
        </p:nvSpPr>
        <p:spPr>
          <a:xfrm>
            <a:off x="5533700" y="-109675"/>
            <a:ext cx="3936000" cy="1227300"/>
          </a:xfrm>
          <a:prstGeom prst="rect">
            <a:avLst/>
          </a:prstGeom>
          <a:blipFill rotWithShape="1">
            <a:blip r:embed="rId5">
              <a:alphaModFix/>
            </a:blip>
            <a:stretch>
              <a:fillRect b="-23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4"/>
          <p:cNvSpPr txBox="1"/>
          <p:nvPr>
            <p:ph type="title"/>
          </p:nvPr>
        </p:nvSpPr>
        <p:spPr>
          <a:xfrm>
            <a:off x="360626" y="123200"/>
            <a:ext cx="7112400" cy="994200"/>
          </a:xfrm>
          <a:prstGeom prst="rect">
            <a:avLst/>
          </a:prstGeom>
          <a:blipFill rotWithShape="1">
            <a:blip r:embed="rId3">
              <a:alphaModFix/>
            </a:blip>
            <a:stretch>
              <a:fillRect b="0" l="-3089" r="0" t="-920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474" name="Google Shape;474;p74"/>
          <p:cNvSpPr txBox="1"/>
          <p:nvPr/>
        </p:nvSpPr>
        <p:spPr>
          <a:xfrm rot="-1719576">
            <a:off x="5514392" y="1434282"/>
            <a:ext cx="1842767" cy="3077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74"/>
          <p:cNvSpPr txBox="1"/>
          <p:nvPr/>
        </p:nvSpPr>
        <p:spPr>
          <a:xfrm>
            <a:off x="5646105" y="3053852"/>
            <a:ext cx="137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5ECE"/>
                </a:solidFill>
                <a:latin typeface="Calibri"/>
                <a:ea typeface="Calibri"/>
                <a:cs typeface="Calibri"/>
                <a:sym typeface="Calibri"/>
              </a:rPr>
              <a:t>g(n) = n</a:t>
            </a:r>
            <a:r>
              <a:rPr b="0" baseline="30000" i="0" lang="en" sz="2400" u="none" cap="none" strike="noStrike">
                <a:solidFill>
                  <a:srgbClr val="005ECE"/>
                </a:solidFill>
                <a:latin typeface="Calibri"/>
                <a:ea typeface="Calibri"/>
                <a:cs typeface="Calibri"/>
                <a:sym typeface="Calibri"/>
              </a:rPr>
              <a:t>2</a:t>
            </a:r>
            <a:endParaRPr b="0" i="0" sz="2400" u="none" cap="none" strike="noStrike">
              <a:solidFill>
                <a:srgbClr val="005ECE"/>
              </a:solidFill>
              <a:latin typeface="Calibri"/>
              <a:ea typeface="Calibri"/>
              <a:cs typeface="Calibri"/>
              <a:sym typeface="Calibri"/>
            </a:endParaRPr>
          </a:p>
        </p:txBody>
      </p:sp>
      <p:sp>
        <p:nvSpPr>
          <p:cNvPr id="476" name="Google Shape;476;p74"/>
          <p:cNvSpPr txBox="1"/>
          <p:nvPr/>
        </p:nvSpPr>
        <p:spPr>
          <a:xfrm>
            <a:off x="5562601" y="1117633"/>
            <a:ext cx="1752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3g(n) = 3n</a:t>
            </a:r>
            <a:r>
              <a:rPr b="0" baseline="30000" i="0" lang="en" sz="2400" u="none" cap="none" strike="noStrike">
                <a:solidFill>
                  <a:srgbClr val="00B050"/>
                </a:solidFill>
                <a:latin typeface="Calibri"/>
                <a:ea typeface="Calibri"/>
                <a:cs typeface="Calibri"/>
                <a:sym typeface="Calibri"/>
              </a:rPr>
              <a:t>2</a:t>
            </a:r>
            <a:endParaRPr b="0" baseline="30000" i="0" sz="2400" u="none" cap="none" strike="noStrike">
              <a:solidFill>
                <a:srgbClr val="00B05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(c = 3)</a:t>
            </a:r>
            <a:endParaRPr b="0" i="0" sz="2400" u="none" cap="none" strike="noStrike">
              <a:solidFill>
                <a:srgbClr val="00B050"/>
              </a:solidFill>
              <a:latin typeface="Calibri"/>
              <a:ea typeface="Calibri"/>
              <a:cs typeface="Calibri"/>
              <a:sym typeface="Calibri"/>
            </a:endParaRPr>
          </a:p>
        </p:txBody>
      </p:sp>
      <p:sp>
        <p:nvSpPr>
          <p:cNvPr id="477" name="Google Shape;477;p74"/>
          <p:cNvSpPr txBox="1"/>
          <p:nvPr/>
        </p:nvSpPr>
        <p:spPr>
          <a:xfrm>
            <a:off x="5562600" y="201765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2n</a:t>
            </a:r>
            <a:r>
              <a:rPr b="0" baseline="30000" i="0" lang="en" sz="2400" u="none" cap="none" strike="noStrike">
                <a:solidFill>
                  <a:srgbClr val="FF0000"/>
                </a:solidFill>
                <a:latin typeface="Calibri"/>
                <a:ea typeface="Calibri"/>
                <a:cs typeface="Calibri"/>
                <a:sym typeface="Calibri"/>
              </a:rPr>
              <a:t>2 </a:t>
            </a:r>
            <a:r>
              <a:rPr b="0" i="0" lang="en" sz="2400" u="none" cap="none" strike="noStrike">
                <a:solidFill>
                  <a:srgbClr val="FF0000"/>
                </a:solidFill>
                <a:latin typeface="Calibri"/>
                <a:ea typeface="Calibri"/>
                <a:cs typeface="Calibri"/>
                <a:sym typeface="Calibri"/>
              </a:rPr>
              <a:t>+ 10</a:t>
            </a:r>
            <a:endParaRPr b="0" i="0" sz="1400" u="none" cap="none" strike="noStrike">
              <a:solidFill>
                <a:schemeClr val="dk1"/>
              </a:solidFill>
              <a:latin typeface="Arial"/>
              <a:ea typeface="Arial"/>
              <a:cs typeface="Arial"/>
              <a:sym typeface="Arial"/>
            </a:endParaRPr>
          </a:p>
        </p:txBody>
      </p:sp>
      <p:sp>
        <p:nvSpPr>
          <p:cNvPr id="478" name="Google Shape;478;p74"/>
          <p:cNvSpPr/>
          <p:nvPr/>
        </p:nvSpPr>
        <p:spPr>
          <a:xfrm>
            <a:off x="5533700" y="-109675"/>
            <a:ext cx="3936000" cy="1227300"/>
          </a:xfrm>
          <a:prstGeom prst="rect">
            <a:avLst/>
          </a:prstGeom>
          <a:blipFill rotWithShape="1">
            <a:blip r:embed="rId4">
              <a:alphaModFix/>
            </a:blip>
            <a:stretch>
              <a:fillRect b="-23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479" name="Google Shape;479;p74"/>
          <p:cNvPicPr preferRelativeResize="0"/>
          <p:nvPr/>
        </p:nvPicPr>
        <p:blipFill rotWithShape="1">
          <a:blip r:embed="rId5">
            <a:alphaModFix/>
          </a:blip>
          <a:srcRect b="0" l="0" r="0" t="0"/>
          <a:stretch/>
        </p:blipFill>
        <p:spPr>
          <a:xfrm>
            <a:off x="572576" y="1312050"/>
            <a:ext cx="5125275" cy="3578275"/>
          </a:xfrm>
          <a:prstGeom prst="rect">
            <a:avLst/>
          </a:prstGeom>
          <a:noFill/>
          <a:ln>
            <a:noFill/>
          </a:ln>
        </p:spPr>
      </p:pic>
      <p:sp>
        <p:nvSpPr>
          <p:cNvPr id="480" name="Google Shape;480;p74"/>
          <p:cNvSpPr txBox="1"/>
          <p:nvPr/>
        </p:nvSpPr>
        <p:spPr>
          <a:xfrm>
            <a:off x="2915065" y="1483004"/>
            <a:ext cx="133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6"/>
                </a:solidFill>
                <a:latin typeface="Calibri"/>
                <a:ea typeface="Calibri"/>
                <a:cs typeface="Calibri"/>
                <a:sym typeface="Calibri"/>
              </a:rPr>
              <a:t>n</a:t>
            </a:r>
            <a:r>
              <a:rPr b="0" baseline="-25000" i="0" lang="en" sz="1800" u="none" cap="none" strike="noStrike">
                <a:solidFill>
                  <a:schemeClr val="accent6"/>
                </a:solidFill>
                <a:latin typeface="Calibri"/>
                <a:ea typeface="Calibri"/>
                <a:cs typeface="Calibri"/>
                <a:sym typeface="Calibri"/>
              </a:rPr>
              <a:t>0</a:t>
            </a:r>
            <a:r>
              <a:rPr b="0" i="0" lang="en" sz="1800" u="none" cap="none" strike="noStrike">
                <a:solidFill>
                  <a:schemeClr val="accent6"/>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5"/>
          <p:cNvSpPr txBox="1"/>
          <p:nvPr>
            <p:ph type="title"/>
          </p:nvPr>
        </p:nvSpPr>
        <p:spPr>
          <a:xfrm>
            <a:off x="360626" y="123200"/>
            <a:ext cx="7112400" cy="994200"/>
          </a:xfrm>
          <a:prstGeom prst="rect">
            <a:avLst/>
          </a:prstGeom>
          <a:blipFill rotWithShape="1">
            <a:blip r:embed="rId3">
              <a:alphaModFix/>
            </a:blip>
            <a:stretch>
              <a:fillRect b="0" l="-3089" r="0" t="-920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486" name="Google Shape;486;p75"/>
          <p:cNvSpPr txBox="1"/>
          <p:nvPr/>
        </p:nvSpPr>
        <p:spPr>
          <a:xfrm rot="-1719576">
            <a:off x="5514392" y="1434282"/>
            <a:ext cx="1842767" cy="3077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75"/>
          <p:cNvSpPr txBox="1"/>
          <p:nvPr/>
        </p:nvSpPr>
        <p:spPr>
          <a:xfrm>
            <a:off x="5646105" y="3053852"/>
            <a:ext cx="137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5ECE"/>
                </a:solidFill>
                <a:latin typeface="Calibri"/>
                <a:ea typeface="Calibri"/>
                <a:cs typeface="Calibri"/>
                <a:sym typeface="Calibri"/>
              </a:rPr>
              <a:t>g(n) = n</a:t>
            </a:r>
            <a:r>
              <a:rPr b="0" baseline="30000" i="0" lang="en" sz="2400" u="none" cap="none" strike="noStrike">
                <a:solidFill>
                  <a:srgbClr val="005ECE"/>
                </a:solidFill>
                <a:latin typeface="Calibri"/>
                <a:ea typeface="Calibri"/>
                <a:cs typeface="Calibri"/>
                <a:sym typeface="Calibri"/>
              </a:rPr>
              <a:t>2</a:t>
            </a:r>
            <a:endParaRPr b="0" i="0" sz="2400" u="none" cap="none" strike="noStrike">
              <a:solidFill>
                <a:srgbClr val="005ECE"/>
              </a:solidFill>
              <a:latin typeface="Calibri"/>
              <a:ea typeface="Calibri"/>
              <a:cs typeface="Calibri"/>
              <a:sym typeface="Calibri"/>
            </a:endParaRPr>
          </a:p>
        </p:txBody>
      </p:sp>
      <p:sp>
        <p:nvSpPr>
          <p:cNvPr id="488" name="Google Shape;488;p75"/>
          <p:cNvSpPr txBox="1"/>
          <p:nvPr/>
        </p:nvSpPr>
        <p:spPr>
          <a:xfrm>
            <a:off x="5562601" y="1117633"/>
            <a:ext cx="1752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3g(n) = 3n</a:t>
            </a:r>
            <a:r>
              <a:rPr b="0" baseline="30000" i="0" lang="en" sz="2400" u="none" cap="none" strike="noStrike">
                <a:solidFill>
                  <a:srgbClr val="00B050"/>
                </a:solidFill>
                <a:latin typeface="Calibri"/>
                <a:ea typeface="Calibri"/>
                <a:cs typeface="Calibri"/>
                <a:sym typeface="Calibri"/>
              </a:rPr>
              <a:t>2</a:t>
            </a:r>
            <a:endParaRPr b="0" baseline="30000" i="0" sz="2400" u="none" cap="none" strike="noStrike">
              <a:solidFill>
                <a:srgbClr val="00B05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(c = 3)</a:t>
            </a:r>
            <a:endParaRPr b="0" i="0" sz="2400" u="none" cap="none" strike="noStrike">
              <a:solidFill>
                <a:srgbClr val="00B050"/>
              </a:solidFill>
              <a:latin typeface="Calibri"/>
              <a:ea typeface="Calibri"/>
              <a:cs typeface="Calibri"/>
              <a:sym typeface="Calibri"/>
            </a:endParaRPr>
          </a:p>
        </p:txBody>
      </p:sp>
      <p:sp>
        <p:nvSpPr>
          <p:cNvPr id="489" name="Google Shape;489;p75"/>
          <p:cNvSpPr txBox="1"/>
          <p:nvPr/>
        </p:nvSpPr>
        <p:spPr>
          <a:xfrm>
            <a:off x="5562600" y="201765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2n</a:t>
            </a:r>
            <a:r>
              <a:rPr b="0" baseline="30000" i="0" lang="en" sz="2400" u="none" cap="none" strike="noStrike">
                <a:solidFill>
                  <a:srgbClr val="FF0000"/>
                </a:solidFill>
                <a:latin typeface="Calibri"/>
                <a:ea typeface="Calibri"/>
                <a:cs typeface="Calibri"/>
                <a:sym typeface="Calibri"/>
              </a:rPr>
              <a:t>2 </a:t>
            </a:r>
            <a:r>
              <a:rPr b="0" i="0" lang="en" sz="2400" u="none" cap="none" strike="noStrike">
                <a:solidFill>
                  <a:srgbClr val="FF0000"/>
                </a:solidFill>
                <a:latin typeface="Calibri"/>
                <a:ea typeface="Calibri"/>
                <a:cs typeface="Calibri"/>
                <a:sym typeface="Calibri"/>
              </a:rPr>
              <a:t>+ 10</a:t>
            </a:r>
            <a:endParaRPr b="0" i="0" sz="1400" u="none" cap="none" strike="noStrike">
              <a:solidFill>
                <a:schemeClr val="dk1"/>
              </a:solidFill>
              <a:latin typeface="Arial"/>
              <a:ea typeface="Arial"/>
              <a:cs typeface="Arial"/>
              <a:sym typeface="Arial"/>
            </a:endParaRPr>
          </a:p>
        </p:txBody>
      </p:sp>
      <p:sp>
        <p:nvSpPr>
          <p:cNvPr id="490" name="Google Shape;490;p75"/>
          <p:cNvSpPr/>
          <p:nvPr/>
        </p:nvSpPr>
        <p:spPr>
          <a:xfrm>
            <a:off x="5533700" y="-109675"/>
            <a:ext cx="3936000" cy="1227300"/>
          </a:xfrm>
          <a:prstGeom prst="rect">
            <a:avLst/>
          </a:prstGeom>
          <a:blipFill rotWithShape="1">
            <a:blip r:embed="rId4">
              <a:alphaModFix/>
            </a:blip>
            <a:stretch>
              <a:fillRect b="-23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491" name="Google Shape;491;p75"/>
          <p:cNvPicPr preferRelativeResize="0"/>
          <p:nvPr/>
        </p:nvPicPr>
        <p:blipFill rotWithShape="1">
          <a:blip r:embed="rId5">
            <a:alphaModFix/>
          </a:blip>
          <a:srcRect b="0" l="0" r="0" t="0"/>
          <a:stretch/>
        </p:blipFill>
        <p:spPr>
          <a:xfrm>
            <a:off x="572576" y="1312050"/>
            <a:ext cx="5125275" cy="3578275"/>
          </a:xfrm>
          <a:prstGeom prst="rect">
            <a:avLst/>
          </a:prstGeom>
          <a:noFill/>
          <a:ln>
            <a:noFill/>
          </a:ln>
        </p:spPr>
      </p:pic>
      <p:sp>
        <p:nvSpPr>
          <p:cNvPr id="492" name="Google Shape;492;p75"/>
          <p:cNvSpPr txBox="1"/>
          <p:nvPr/>
        </p:nvSpPr>
        <p:spPr>
          <a:xfrm>
            <a:off x="2915065" y="1483004"/>
            <a:ext cx="133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accent6"/>
                </a:solidFill>
                <a:latin typeface="Calibri"/>
                <a:ea typeface="Calibri"/>
                <a:cs typeface="Calibri"/>
                <a:sym typeface="Calibri"/>
              </a:rPr>
              <a:t>n</a:t>
            </a:r>
            <a:r>
              <a:rPr b="0" baseline="-25000" i="0" lang="en" sz="1800" u="none" cap="none" strike="noStrike">
                <a:solidFill>
                  <a:schemeClr val="accent6"/>
                </a:solidFill>
                <a:latin typeface="Calibri"/>
                <a:ea typeface="Calibri"/>
                <a:cs typeface="Calibri"/>
                <a:sym typeface="Calibri"/>
              </a:rPr>
              <a:t>0</a:t>
            </a:r>
            <a:r>
              <a:rPr b="0" i="0" lang="en" sz="1800" u="none" cap="none" strike="noStrike">
                <a:solidFill>
                  <a:schemeClr val="accent6"/>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493" name="Google Shape;493;p75"/>
          <p:cNvSpPr txBox="1"/>
          <p:nvPr/>
        </p:nvSpPr>
        <p:spPr>
          <a:xfrm>
            <a:off x="7282025" y="1098200"/>
            <a:ext cx="22563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 sz="2400" u="none" cap="none" strike="noStrike">
                <a:solidFill>
                  <a:schemeClr val="dk1"/>
                </a:solidFill>
                <a:latin typeface="Calibri"/>
                <a:ea typeface="Calibri"/>
                <a:cs typeface="Calibri"/>
                <a:sym typeface="Calibri"/>
              </a:rPr>
              <a:t>Formally:</a:t>
            </a:r>
            <a:endParaRPr b="0" i="0" sz="1000" u="none" cap="none" strike="noStrike">
              <a:solidFill>
                <a:srgbClr val="000000"/>
              </a:solidFill>
              <a:latin typeface="Arial"/>
              <a:ea typeface="Arial"/>
              <a:cs typeface="Arial"/>
              <a:sym typeface="Arial"/>
            </a:endParaRPr>
          </a:p>
          <a:p>
            <a:pPr indent="-260350" lvl="0" marL="28575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Choose c = 3</a:t>
            </a:r>
            <a:endParaRPr b="0" i="0" sz="1000" u="none" cap="none" strike="noStrike">
              <a:solidFill>
                <a:srgbClr val="000000"/>
              </a:solidFill>
              <a:latin typeface="Arial"/>
              <a:ea typeface="Arial"/>
              <a:cs typeface="Arial"/>
              <a:sym typeface="Arial"/>
            </a:endParaRPr>
          </a:p>
          <a:p>
            <a:pPr indent="-260350" lvl="0" marL="28575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Choose n</a:t>
            </a:r>
            <a:r>
              <a:rPr b="0" baseline="-25000" i="0" lang="en" sz="2000" u="none" cap="none" strike="noStrike">
                <a:solidFill>
                  <a:schemeClr val="dk1"/>
                </a:solidFill>
                <a:latin typeface="Calibri"/>
                <a:ea typeface="Calibri"/>
                <a:cs typeface="Calibri"/>
                <a:sym typeface="Calibri"/>
              </a:rPr>
              <a:t>0</a:t>
            </a:r>
            <a:r>
              <a:rPr b="0" i="0" lang="en" sz="2000" u="none" cap="none" strike="noStrike">
                <a:solidFill>
                  <a:schemeClr val="dk1"/>
                </a:solidFill>
                <a:latin typeface="Calibri"/>
                <a:ea typeface="Calibri"/>
                <a:cs typeface="Calibri"/>
                <a:sym typeface="Calibri"/>
              </a:rPr>
              <a:t> = 4</a:t>
            </a:r>
            <a:endParaRPr b="0" i="0" sz="1000" u="none" cap="none" strike="noStrike">
              <a:solidFill>
                <a:srgbClr val="000000"/>
              </a:solidFill>
              <a:latin typeface="Arial"/>
              <a:ea typeface="Arial"/>
              <a:cs typeface="Arial"/>
              <a:sym typeface="Arial"/>
            </a:endParaRPr>
          </a:p>
          <a:p>
            <a:pPr indent="-260350" lvl="0" marL="285750" marR="0" rtl="0" algn="l">
              <a:lnSpc>
                <a:spcPct val="100000"/>
              </a:lnSpc>
              <a:spcBef>
                <a:spcPts val="0"/>
              </a:spcBef>
              <a:spcAft>
                <a:spcPts val="0"/>
              </a:spcAft>
              <a:buClr>
                <a:schemeClr val="dk1"/>
              </a:buClr>
              <a:buSzPts val="2000"/>
              <a:buFont typeface="Arial"/>
              <a:buChar char="•"/>
            </a:pPr>
            <a:r>
              <a:rPr b="0" i="0" lang="en" sz="2000" u="none" cap="none" strike="noStrike">
                <a:solidFill>
                  <a:schemeClr val="dk1"/>
                </a:solidFill>
                <a:latin typeface="Calibri"/>
                <a:ea typeface="Calibri"/>
                <a:cs typeface="Calibri"/>
                <a:sym typeface="Calibri"/>
              </a:rPr>
              <a:t>Then:</a:t>
            </a:r>
            <a:endParaRPr b="0" i="0" sz="1000" u="none" cap="none" strike="noStrike">
              <a:solidFill>
                <a:srgbClr val="000000"/>
              </a:solidFill>
              <a:latin typeface="Arial"/>
              <a:ea typeface="Arial"/>
              <a:cs typeface="Arial"/>
              <a:sym typeface="Arial"/>
            </a:endParaRPr>
          </a:p>
        </p:txBody>
      </p:sp>
      <p:sp>
        <p:nvSpPr>
          <p:cNvPr id="494" name="Google Shape;494;p75"/>
          <p:cNvSpPr/>
          <p:nvPr/>
        </p:nvSpPr>
        <p:spPr>
          <a:xfrm>
            <a:off x="6444450" y="2414900"/>
            <a:ext cx="3529500" cy="73860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id="499" name="Google Shape;499;p76"/>
          <p:cNvPicPr preferRelativeResize="0"/>
          <p:nvPr/>
        </p:nvPicPr>
        <p:blipFill rotWithShape="1">
          <a:blip r:embed="rId3">
            <a:alphaModFix/>
          </a:blip>
          <a:srcRect b="0" l="0" r="0" t="0"/>
          <a:stretch/>
        </p:blipFill>
        <p:spPr>
          <a:xfrm>
            <a:off x="197650" y="1569848"/>
            <a:ext cx="4539686" cy="3169440"/>
          </a:xfrm>
          <a:prstGeom prst="rect">
            <a:avLst/>
          </a:prstGeom>
          <a:noFill/>
          <a:ln>
            <a:noFill/>
          </a:ln>
        </p:spPr>
      </p:pic>
      <p:sp>
        <p:nvSpPr>
          <p:cNvPr id="500" name="Google Shape;500;p76"/>
          <p:cNvSpPr/>
          <p:nvPr/>
        </p:nvSpPr>
        <p:spPr>
          <a:xfrm>
            <a:off x="5533697" y="-109683"/>
            <a:ext cx="4572000" cy="1227300"/>
          </a:xfrm>
          <a:prstGeom prst="rect">
            <a:avLst/>
          </a:prstGeom>
          <a:blipFill rotWithShape="1">
            <a:blip r:embed="rId4">
              <a:alphaModFix/>
            </a:blip>
            <a:stretch>
              <a:fillRect b="-23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1" name="Google Shape;501;p76"/>
          <p:cNvSpPr txBox="1"/>
          <p:nvPr>
            <p:ph type="title"/>
          </p:nvPr>
        </p:nvSpPr>
        <p:spPr>
          <a:xfrm>
            <a:off x="360626" y="123200"/>
            <a:ext cx="6866400" cy="994200"/>
          </a:xfrm>
          <a:prstGeom prst="rect">
            <a:avLst/>
          </a:prstGeom>
          <a:blipFill rotWithShape="1">
            <a:blip r:embed="rId5">
              <a:alphaModFix/>
            </a:blip>
            <a:stretch>
              <a:fillRect b="0" l="-3049" r="0" t="-856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502" name="Google Shape;502;p76"/>
          <p:cNvSpPr txBox="1"/>
          <p:nvPr/>
        </p:nvSpPr>
        <p:spPr>
          <a:xfrm>
            <a:off x="6520026" y="1250607"/>
            <a:ext cx="3454500" cy="163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Calibri"/>
                <a:ea typeface="Calibri"/>
                <a:cs typeface="Calibri"/>
                <a:sym typeface="Calibri"/>
              </a:rPr>
              <a:t>Formally: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Choose c = 7</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Choose n</a:t>
            </a:r>
            <a:r>
              <a:rPr b="0" baseline="-25000" i="0" lang="en" sz="2400" u="none" cap="none" strike="noStrike">
                <a:solidFill>
                  <a:schemeClr val="dk1"/>
                </a:solidFill>
                <a:latin typeface="Calibri"/>
                <a:ea typeface="Calibri"/>
                <a:cs typeface="Calibri"/>
                <a:sym typeface="Calibri"/>
              </a:rPr>
              <a:t>0</a:t>
            </a:r>
            <a:r>
              <a:rPr b="0" i="0" lang="en" sz="2400" u="none" cap="none" strike="noStrike">
                <a:solidFill>
                  <a:schemeClr val="dk1"/>
                </a:solidFill>
                <a:latin typeface="Calibri"/>
                <a:ea typeface="Calibri"/>
                <a:cs typeface="Calibri"/>
                <a:sym typeface="Calibri"/>
              </a:rPr>
              <a:t> = 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Then:</a:t>
            </a:r>
            <a:endParaRPr b="0" i="0" sz="1400" u="none" cap="none" strike="noStrike">
              <a:solidFill>
                <a:srgbClr val="000000"/>
              </a:solidFill>
              <a:latin typeface="Arial"/>
              <a:ea typeface="Arial"/>
              <a:cs typeface="Arial"/>
              <a:sym typeface="Arial"/>
            </a:endParaRPr>
          </a:p>
        </p:txBody>
      </p:sp>
      <p:sp>
        <p:nvSpPr>
          <p:cNvPr id="503" name="Google Shape;503;p76"/>
          <p:cNvSpPr/>
          <p:nvPr/>
        </p:nvSpPr>
        <p:spPr>
          <a:xfrm>
            <a:off x="5757875" y="2882300"/>
            <a:ext cx="3885300" cy="73860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4" name="Google Shape;504;p76"/>
          <p:cNvSpPr txBox="1"/>
          <p:nvPr/>
        </p:nvSpPr>
        <p:spPr>
          <a:xfrm>
            <a:off x="4614873" y="3159200"/>
            <a:ext cx="1832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5ECE"/>
                </a:solidFill>
                <a:latin typeface="Calibri"/>
                <a:ea typeface="Calibri"/>
                <a:cs typeface="Calibri"/>
                <a:sym typeface="Calibri"/>
              </a:rPr>
              <a:t>g(n) = n</a:t>
            </a:r>
            <a:r>
              <a:rPr b="0" baseline="30000" i="0" lang="en" sz="2400" u="none" cap="none" strike="noStrike">
                <a:solidFill>
                  <a:srgbClr val="005ECE"/>
                </a:solidFill>
                <a:latin typeface="Calibri"/>
                <a:ea typeface="Calibri"/>
                <a:cs typeface="Calibri"/>
                <a:sym typeface="Calibri"/>
              </a:rPr>
              <a:t>2</a:t>
            </a:r>
            <a:endParaRPr b="0" i="0" sz="2400" u="none" cap="none" strike="noStrike">
              <a:solidFill>
                <a:srgbClr val="005ECE"/>
              </a:solidFill>
              <a:latin typeface="Calibri"/>
              <a:ea typeface="Calibri"/>
              <a:cs typeface="Calibri"/>
              <a:sym typeface="Calibri"/>
            </a:endParaRPr>
          </a:p>
        </p:txBody>
      </p:sp>
      <p:sp>
        <p:nvSpPr>
          <p:cNvPr id="505" name="Google Shape;505;p76"/>
          <p:cNvSpPr txBox="1"/>
          <p:nvPr/>
        </p:nvSpPr>
        <p:spPr>
          <a:xfrm>
            <a:off x="2967398" y="1250603"/>
            <a:ext cx="2158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7g(n) = 7n</a:t>
            </a:r>
            <a:r>
              <a:rPr b="0" baseline="30000" i="0" lang="en" sz="2400" u="none" cap="none" strike="noStrike">
                <a:solidFill>
                  <a:srgbClr val="00B050"/>
                </a:solidFill>
                <a:latin typeface="Calibri"/>
                <a:ea typeface="Calibri"/>
                <a:cs typeface="Calibri"/>
                <a:sym typeface="Calibri"/>
              </a:rPr>
              <a:t>2</a:t>
            </a:r>
            <a:endParaRPr b="0" i="0" sz="2400" u="none" cap="none" strike="noStrike">
              <a:solidFill>
                <a:srgbClr val="00B050"/>
              </a:solidFill>
              <a:latin typeface="Calibri"/>
              <a:ea typeface="Calibri"/>
              <a:cs typeface="Calibri"/>
              <a:sym typeface="Calibri"/>
            </a:endParaRPr>
          </a:p>
        </p:txBody>
      </p:sp>
      <p:sp>
        <p:nvSpPr>
          <p:cNvPr id="506" name="Google Shape;506;p76"/>
          <p:cNvSpPr txBox="1"/>
          <p:nvPr/>
        </p:nvSpPr>
        <p:spPr>
          <a:xfrm>
            <a:off x="1482810" y="4462289"/>
            <a:ext cx="957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accent6"/>
                </a:solidFill>
                <a:latin typeface="Calibri"/>
                <a:ea typeface="Calibri"/>
                <a:cs typeface="Calibri"/>
                <a:sym typeface="Calibri"/>
              </a:rPr>
              <a:t>n</a:t>
            </a:r>
            <a:r>
              <a:rPr b="0" baseline="-25000" i="0" lang="en" sz="2400" u="none" cap="none" strike="noStrike">
                <a:solidFill>
                  <a:schemeClr val="accent6"/>
                </a:solidFill>
                <a:latin typeface="Calibri"/>
                <a:ea typeface="Calibri"/>
                <a:cs typeface="Calibri"/>
                <a:sym typeface="Calibri"/>
              </a:rPr>
              <a:t>0</a:t>
            </a:r>
            <a:r>
              <a:rPr b="0" i="0" lang="en" sz="2400" u="none" cap="none" strike="noStrike">
                <a:solidFill>
                  <a:schemeClr val="accent6"/>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507" name="Google Shape;507;p76"/>
          <p:cNvSpPr txBox="1"/>
          <p:nvPr/>
        </p:nvSpPr>
        <p:spPr>
          <a:xfrm>
            <a:off x="4572000" y="2068775"/>
            <a:ext cx="20067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2n</a:t>
            </a:r>
            <a:r>
              <a:rPr b="0" baseline="30000" i="0" lang="en" sz="2400" u="none" cap="none" strike="noStrike">
                <a:solidFill>
                  <a:srgbClr val="FF0000"/>
                </a:solidFill>
                <a:latin typeface="Calibri"/>
                <a:ea typeface="Calibri"/>
                <a:cs typeface="Calibri"/>
                <a:sym typeface="Calibri"/>
              </a:rPr>
              <a:t>2 </a:t>
            </a:r>
            <a:r>
              <a:rPr b="0" i="0" lang="en" sz="2400" u="none" cap="none" strike="noStrike">
                <a:solidFill>
                  <a:srgbClr val="FF0000"/>
                </a:solidFill>
                <a:latin typeface="Calibri"/>
                <a:ea typeface="Calibri"/>
                <a:cs typeface="Calibri"/>
                <a:sym typeface="Calibri"/>
              </a:rPr>
              <a:t>+ 10</a:t>
            </a:r>
            <a:endParaRPr b="0" i="0" sz="1400" u="none" cap="none" strike="noStrike">
              <a:solidFill>
                <a:schemeClr val="dk1"/>
              </a:solidFill>
              <a:latin typeface="Arial"/>
              <a:ea typeface="Arial"/>
              <a:cs typeface="Arial"/>
              <a:sym typeface="Arial"/>
            </a:endParaRPr>
          </a:p>
        </p:txBody>
      </p:sp>
      <p:sp>
        <p:nvSpPr>
          <p:cNvPr id="508" name="Google Shape;508;p76"/>
          <p:cNvSpPr txBox="1"/>
          <p:nvPr/>
        </p:nvSpPr>
        <p:spPr>
          <a:xfrm>
            <a:off x="6098400" y="4000600"/>
            <a:ext cx="30000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FF0000"/>
                </a:solidFill>
                <a:latin typeface="Calibri"/>
                <a:ea typeface="Calibri"/>
                <a:cs typeface="Calibri"/>
                <a:sym typeface="Calibri"/>
              </a:rPr>
              <a:t>There is no “correct” choice of c and n</a:t>
            </a:r>
            <a:r>
              <a:rPr b="1" baseline="-25000" i="0" lang="en" sz="2400" u="none" cap="none" strike="noStrike">
                <a:solidFill>
                  <a:srgbClr val="FF0000"/>
                </a:solidFill>
                <a:latin typeface="Calibri"/>
                <a:ea typeface="Calibri"/>
                <a:cs typeface="Calibri"/>
                <a:sym typeface="Calibri"/>
              </a:rPr>
              <a:t>0</a:t>
            </a:r>
            <a:endParaRPr b="1" i="0" sz="2400" u="none" cap="none" strike="noStrike">
              <a:solidFill>
                <a:srgbClr val="FF0000"/>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7"/>
          <p:cNvSpPr txBox="1"/>
          <p:nvPr>
            <p:ph type="title"/>
          </p:nvPr>
        </p:nvSpPr>
        <p:spPr>
          <a:xfrm>
            <a:off x="628650" y="273850"/>
            <a:ext cx="6193200" cy="994200"/>
          </a:xfrm>
          <a:prstGeom prst="rect">
            <a:avLst/>
          </a:prstGeom>
          <a:blipFill rotWithShape="1">
            <a:blip r:embed="rId3">
              <a:alphaModFix/>
            </a:blip>
            <a:stretch>
              <a:fillRect b="0" l="-3089" r="0" t="-1335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514" name="Google Shape;514;p77"/>
          <p:cNvSpPr/>
          <p:nvPr/>
        </p:nvSpPr>
        <p:spPr>
          <a:xfrm>
            <a:off x="5533697" y="-109683"/>
            <a:ext cx="4572000" cy="1227300"/>
          </a:xfrm>
          <a:prstGeom prst="rect">
            <a:avLst/>
          </a:prstGeom>
          <a:blipFill rotWithShape="1">
            <a:blip r:embed="rId4">
              <a:alphaModFix/>
            </a:blip>
            <a:stretch>
              <a:fillRect b="-23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515" name="Google Shape;515;p77"/>
          <p:cNvPicPr preferRelativeResize="0"/>
          <p:nvPr/>
        </p:nvPicPr>
        <p:blipFill rotWithShape="1">
          <a:blip r:embed="rId5">
            <a:alphaModFix/>
          </a:blip>
          <a:srcRect b="0" l="0" r="0" t="0"/>
          <a:stretch/>
        </p:blipFill>
        <p:spPr>
          <a:xfrm>
            <a:off x="266043" y="1374434"/>
            <a:ext cx="5068305" cy="3378869"/>
          </a:xfrm>
          <a:prstGeom prst="rect">
            <a:avLst/>
          </a:prstGeom>
          <a:noFill/>
          <a:ln>
            <a:noFill/>
          </a:ln>
        </p:spPr>
      </p:pic>
      <p:pic>
        <p:nvPicPr>
          <p:cNvPr id="516" name="Google Shape;516;p77"/>
          <p:cNvPicPr preferRelativeResize="0"/>
          <p:nvPr/>
        </p:nvPicPr>
        <p:blipFill rotWithShape="1">
          <a:blip r:embed="rId6">
            <a:alphaModFix/>
          </a:blip>
          <a:srcRect b="0" l="0" r="0" t="0"/>
          <a:stretch/>
        </p:blipFill>
        <p:spPr>
          <a:xfrm>
            <a:off x="266043" y="1374434"/>
            <a:ext cx="5068305" cy="3378869"/>
          </a:xfrm>
          <a:prstGeom prst="rect">
            <a:avLst/>
          </a:prstGeom>
          <a:noFill/>
          <a:ln>
            <a:noFill/>
          </a:ln>
        </p:spPr>
      </p:pic>
      <p:sp>
        <p:nvSpPr>
          <p:cNvPr id="517" name="Google Shape;517;p77"/>
          <p:cNvSpPr txBox="1"/>
          <p:nvPr/>
        </p:nvSpPr>
        <p:spPr>
          <a:xfrm>
            <a:off x="6621665" y="1910654"/>
            <a:ext cx="34545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Choose c = 1</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Choose n</a:t>
            </a:r>
            <a:r>
              <a:rPr b="0" baseline="-25000" i="0" lang="en" sz="2400" u="none" cap="none" strike="noStrike">
                <a:solidFill>
                  <a:schemeClr val="dk1"/>
                </a:solidFill>
                <a:latin typeface="Calibri"/>
                <a:ea typeface="Calibri"/>
                <a:cs typeface="Calibri"/>
                <a:sym typeface="Calibri"/>
              </a:rPr>
              <a:t>0</a:t>
            </a:r>
            <a:r>
              <a:rPr b="0" i="0" lang="en" sz="2400" u="none" cap="none" strike="noStrike">
                <a:solidFill>
                  <a:schemeClr val="dk1"/>
                </a:solidFill>
                <a:latin typeface="Calibri"/>
                <a:ea typeface="Calibri"/>
                <a:cs typeface="Calibri"/>
                <a:sym typeface="Calibri"/>
              </a:rPr>
              <a:t> = 1</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Then</a:t>
            </a:r>
            <a:endParaRPr b="0" i="0" sz="1400" u="none" cap="none" strike="noStrike">
              <a:solidFill>
                <a:srgbClr val="000000"/>
              </a:solidFill>
              <a:latin typeface="Arial"/>
              <a:ea typeface="Arial"/>
              <a:cs typeface="Arial"/>
              <a:sym typeface="Arial"/>
            </a:endParaRPr>
          </a:p>
        </p:txBody>
      </p:sp>
      <p:sp>
        <p:nvSpPr>
          <p:cNvPr id="518" name="Google Shape;518;p77"/>
          <p:cNvSpPr/>
          <p:nvPr/>
        </p:nvSpPr>
        <p:spPr>
          <a:xfrm>
            <a:off x="5978152" y="3111250"/>
            <a:ext cx="3683100" cy="86460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19" name="Google Shape;519;p77"/>
          <p:cNvSpPr txBox="1"/>
          <p:nvPr/>
        </p:nvSpPr>
        <p:spPr>
          <a:xfrm>
            <a:off x="4900877" y="1663480"/>
            <a:ext cx="1358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chemeClr val="accent1"/>
                </a:solidFill>
                <a:latin typeface="Calibri"/>
                <a:ea typeface="Calibri"/>
                <a:cs typeface="Calibri"/>
                <a:sym typeface="Calibri"/>
              </a:rPr>
              <a:t>g(n) = n</a:t>
            </a:r>
            <a:r>
              <a:rPr b="0" baseline="30000" i="0" lang="en" sz="2400" u="none" cap="none" strike="noStrike">
                <a:solidFill>
                  <a:schemeClr val="accent1"/>
                </a:solidFill>
                <a:latin typeface="Calibri"/>
                <a:ea typeface="Calibri"/>
                <a:cs typeface="Calibri"/>
                <a:sym typeface="Calibri"/>
              </a:rPr>
              <a:t>2</a:t>
            </a:r>
            <a:endParaRPr b="0" i="0" sz="2400" u="none" cap="none" strike="noStrike">
              <a:solidFill>
                <a:schemeClr val="accent1"/>
              </a:solidFill>
              <a:latin typeface="Calibri"/>
              <a:ea typeface="Calibri"/>
              <a:cs typeface="Calibri"/>
              <a:sym typeface="Calibri"/>
            </a:endParaRPr>
          </a:p>
        </p:txBody>
      </p:sp>
      <p:sp>
        <p:nvSpPr>
          <p:cNvPr id="520" name="Google Shape;520;p77"/>
          <p:cNvSpPr txBox="1"/>
          <p:nvPr/>
        </p:nvSpPr>
        <p:spPr>
          <a:xfrm>
            <a:off x="4836218" y="2762167"/>
            <a:ext cx="1379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n</a:t>
            </a:r>
            <a:endParaRPr b="0" i="0" sz="24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78"/>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Ω(…) means a lower bound</a:t>
            </a:r>
            <a:endParaRPr/>
          </a:p>
        </p:txBody>
      </p:sp>
      <p:sp>
        <p:nvSpPr>
          <p:cNvPr id="526" name="Google Shape;526;p78"/>
          <p:cNvSpPr txBox="1"/>
          <p:nvPr>
            <p:ph idx="1" type="body"/>
          </p:nvPr>
        </p:nvSpPr>
        <p:spPr>
          <a:xfrm>
            <a:off x="758875" y="1369325"/>
            <a:ext cx="7003500" cy="3263400"/>
          </a:xfrm>
          <a:prstGeom prst="rect">
            <a:avLst/>
          </a:prstGeom>
          <a:blipFill rotWithShape="1">
            <a:blip r:embed="rId3">
              <a:alphaModFix/>
            </a:blip>
            <a:stretch>
              <a:fillRect b="0" l="-1399" r="0" t="-1749"/>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
              <a:t> </a:t>
            </a:r>
            <a:endParaRPr/>
          </a:p>
        </p:txBody>
      </p:sp>
      <p:sp>
        <p:nvSpPr>
          <p:cNvPr id="527" name="Google Shape;527;p78"/>
          <p:cNvSpPr txBox="1"/>
          <p:nvPr/>
        </p:nvSpPr>
        <p:spPr>
          <a:xfrm>
            <a:off x="3670272" y="4632722"/>
            <a:ext cx="1860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Switched these!!</a:t>
            </a:r>
            <a:endParaRPr b="0" i="0" sz="1400" u="none" cap="none" strike="noStrike">
              <a:solidFill>
                <a:srgbClr val="000000"/>
              </a:solidFill>
              <a:latin typeface="Arial"/>
              <a:ea typeface="Arial"/>
              <a:cs typeface="Arial"/>
              <a:sym typeface="Arial"/>
            </a:endParaRPr>
          </a:p>
        </p:txBody>
      </p:sp>
      <p:cxnSp>
        <p:nvCxnSpPr>
          <p:cNvPr id="528" name="Google Shape;528;p78"/>
          <p:cNvCxnSpPr/>
          <p:nvPr/>
        </p:nvCxnSpPr>
        <p:spPr>
          <a:xfrm flipH="1" rot="10800000">
            <a:off x="4960417" y="4375022"/>
            <a:ext cx="220800" cy="257700"/>
          </a:xfrm>
          <a:prstGeom prst="straightConnector1">
            <a:avLst/>
          </a:prstGeom>
          <a:noFill/>
          <a:ln cap="flat" cmpd="sng" w="25400">
            <a:solidFill>
              <a:srgbClr val="FF0000"/>
            </a:solidFill>
            <a:prstDash val="solid"/>
            <a:miter lim="800000"/>
            <a:headEnd len="sm" w="sm" type="none"/>
            <a:tailEnd len="med" w="med" type="triangle"/>
          </a:ln>
        </p:spPr>
      </p:cxnSp>
      <p:cxnSp>
        <p:nvCxnSpPr>
          <p:cNvPr id="529" name="Google Shape;529;p78"/>
          <p:cNvCxnSpPr/>
          <p:nvPr/>
        </p:nvCxnSpPr>
        <p:spPr>
          <a:xfrm rot="10800000">
            <a:off x="3938286" y="4375022"/>
            <a:ext cx="228600" cy="257700"/>
          </a:xfrm>
          <a:prstGeom prst="straightConnector1">
            <a:avLst/>
          </a:prstGeom>
          <a:noFill/>
          <a:ln cap="flat" cmpd="sng" w="25400">
            <a:solidFill>
              <a:srgbClr val="FF0000"/>
            </a:solidFill>
            <a:prstDash val="solid"/>
            <a:miter lim="800000"/>
            <a:headEnd len="sm" w="sm" type="none"/>
            <a:tailEnd len="med" w="med" type="triangle"/>
          </a:ln>
        </p:spPr>
      </p:cxnSp>
      <p:sp>
        <p:nvSpPr>
          <p:cNvPr id="530" name="Google Shape;530;p78"/>
          <p:cNvSpPr txBox="1"/>
          <p:nvPr/>
        </p:nvSpPr>
        <p:spPr>
          <a:xfrm>
            <a:off x="742860" y="126173"/>
            <a:ext cx="6420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pronounced “big-omega of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79"/>
          <p:cNvSpPr txBox="1"/>
          <p:nvPr>
            <p:ph type="title"/>
          </p:nvPr>
        </p:nvSpPr>
        <p:spPr>
          <a:xfrm>
            <a:off x="628650" y="273850"/>
            <a:ext cx="6678000" cy="994200"/>
          </a:xfrm>
          <a:prstGeom prst="rect">
            <a:avLst/>
          </a:prstGeom>
          <a:blipFill rotWithShape="1">
            <a:blip r:embed="rId3">
              <a:alphaModFix/>
            </a:blip>
            <a:stretch>
              <a:fillRect b="0" l="-3089" r="0" t="-13359"/>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536" name="Google Shape;536;p79"/>
          <p:cNvSpPr txBox="1"/>
          <p:nvPr/>
        </p:nvSpPr>
        <p:spPr>
          <a:xfrm>
            <a:off x="6544844" y="1921904"/>
            <a:ext cx="3454500" cy="12006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Choose c = 1/3</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Choose n</a:t>
            </a:r>
            <a:r>
              <a:rPr b="0" baseline="-25000" i="0" lang="en" sz="2400" u="none" cap="none" strike="noStrike">
                <a:solidFill>
                  <a:schemeClr val="dk1"/>
                </a:solidFill>
                <a:latin typeface="Calibri"/>
                <a:ea typeface="Calibri"/>
                <a:cs typeface="Calibri"/>
                <a:sym typeface="Calibri"/>
              </a:rPr>
              <a:t>0</a:t>
            </a:r>
            <a:r>
              <a:rPr b="0" i="0" lang="en" sz="2400" u="none" cap="none" strike="noStrike">
                <a:solidFill>
                  <a:schemeClr val="dk1"/>
                </a:solidFill>
                <a:latin typeface="Calibri"/>
                <a:ea typeface="Calibri"/>
                <a:cs typeface="Calibri"/>
                <a:sym typeface="Calibri"/>
              </a:rPr>
              <a:t> = 2</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 sz="2400" u="none" cap="none" strike="noStrike">
                <a:solidFill>
                  <a:schemeClr val="dk1"/>
                </a:solidFill>
                <a:latin typeface="Calibri"/>
                <a:ea typeface="Calibri"/>
                <a:cs typeface="Calibri"/>
                <a:sym typeface="Calibri"/>
              </a:rPr>
              <a:t>Then</a:t>
            </a:r>
            <a:endParaRPr b="0" i="0" sz="1400" u="none" cap="none" strike="noStrike">
              <a:solidFill>
                <a:srgbClr val="000000"/>
              </a:solidFill>
              <a:latin typeface="Arial"/>
              <a:ea typeface="Arial"/>
              <a:cs typeface="Arial"/>
              <a:sym typeface="Arial"/>
            </a:endParaRPr>
          </a:p>
        </p:txBody>
      </p:sp>
      <p:sp>
        <p:nvSpPr>
          <p:cNvPr id="537" name="Google Shape;537;p79"/>
          <p:cNvSpPr/>
          <p:nvPr/>
        </p:nvSpPr>
        <p:spPr>
          <a:xfrm>
            <a:off x="5486400" y="96429"/>
            <a:ext cx="4572000" cy="1019400"/>
          </a:xfrm>
          <a:prstGeom prst="rect">
            <a:avLst/>
          </a:prstGeom>
          <a:blipFill rotWithShape="1">
            <a:blip r:embed="rId4">
              <a:alphaModFix/>
            </a:blip>
            <a:stretch>
              <a:fillRect b="-9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538" name="Google Shape;538;p79"/>
          <p:cNvPicPr preferRelativeResize="0"/>
          <p:nvPr/>
        </p:nvPicPr>
        <p:blipFill rotWithShape="1">
          <a:blip r:embed="rId5">
            <a:alphaModFix/>
          </a:blip>
          <a:srcRect b="0" l="0" r="0" t="0"/>
          <a:stretch/>
        </p:blipFill>
        <p:spPr>
          <a:xfrm>
            <a:off x="-20715" y="1445432"/>
            <a:ext cx="4924169" cy="3282780"/>
          </a:xfrm>
          <a:prstGeom prst="rect">
            <a:avLst/>
          </a:prstGeom>
          <a:noFill/>
          <a:ln>
            <a:noFill/>
          </a:ln>
        </p:spPr>
      </p:pic>
      <p:pic>
        <p:nvPicPr>
          <p:cNvPr id="539" name="Google Shape;539;p79"/>
          <p:cNvPicPr preferRelativeResize="0"/>
          <p:nvPr/>
        </p:nvPicPr>
        <p:blipFill rotWithShape="1">
          <a:blip r:embed="rId6">
            <a:alphaModFix/>
          </a:blip>
          <a:srcRect b="0" l="0" r="0" t="0"/>
          <a:stretch/>
        </p:blipFill>
        <p:spPr>
          <a:xfrm>
            <a:off x="-20716" y="1445431"/>
            <a:ext cx="4924169" cy="3282780"/>
          </a:xfrm>
          <a:prstGeom prst="rect">
            <a:avLst/>
          </a:prstGeom>
          <a:noFill/>
          <a:ln>
            <a:noFill/>
          </a:ln>
        </p:spPr>
      </p:pic>
      <p:sp>
        <p:nvSpPr>
          <p:cNvPr id="540" name="Google Shape;540;p79"/>
          <p:cNvSpPr/>
          <p:nvPr/>
        </p:nvSpPr>
        <p:spPr>
          <a:xfrm>
            <a:off x="6694500" y="3046200"/>
            <a:ext cx="2449500" cy="982200"/>
          </a:xfrm>
          <a:prstGeom prst="rect">
            <a:avLst/>
          </a:prstGeom>
          <a:blipFill rotWithShape="1">
            <a:blip r:embed="rId7">
              <a:alphaModFix/>
            </a:blip>
            <a:stretch>
              <a:fillRect b="-287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41" name="Google Shape;541;p79"/>
          <p:cNvSpPr txBox="1"/>
          <p:nvPr/>
        </p:nvSpPr>
        <p:spPr>
          <a:xfrm>
            <a:off x="4425975" y="1842113"/>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Calibri"/>
                <a:ea typeface="Calibri"/>
                <a:cs typeface="Calibri"/>
                <a:sym typeface="Calibri"/>
              </a:rPr>
              <a:t>T(n) = nlog(n)</a:t>
            </a:r>
            <a:endParaRPr b="0" i="0" sz="1400" u="none" cap="none" strike="noStrike">
              <a:solidFill>
                <a:schemeClr val="dk1"/>
              </a:solidFill>
              <a:latin typeface="Arial"/>
              <a:ea typeface="Arial"/>
              <a:cs typeface="Arial"/>
              <a:sym typeface="Arial"/>
            </a:endParaRPr>
          </a:p>
        </p:txBody>
      </p:sp>
      <p:sp>
        <p:nvSpPr>
          <p:cNvPr id="542" name="Google Shape;542;p79"/>
          <p:cNvSpPr txBox="1"/>
          <p:nvPr/>
        </p:nvSpPr>
        <p:spPr>
          <a:xfrm>
            <a:off x="4071500" y="1359125"/>
            <a:ext cx="1287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5ECE"/>
                </a:solidFill>
                <a:latin typeface="Calibri"/>
                <a:ea typeface="Calibri"/>
                <a:cs typeface="Calibri"/>
                <a:sym typeface="Calibri"/>
              </a:rPr>
              <a:t>g(n) = 3n</a:t>
            </a:r>
            <a:endParaRPr b="0" i="0" sz="2400" u="none" cap="none" strike="noStrike">
              <a:solidFill>
                <a:srgbClr val="005ECE"/>
              </a:solidFill>
              <a:latin typeface="Calibri"/>
              <a:ea typeface="Calibri"/>
              <a:cs typeface="Calibri"/>
              <a:sym typeface="Calibri"/>
            </a:endParaRPr>
          </a:p>
        </p:txBody>
      </p:sp>
      <p:sp>
        <p:nvSpPr>
          <p:cNvPr id="543" name="Google Shape;543;p79"/>
          <p:cNvSpPr txBox="1"/>
          <p:nvPr/>
        </p:nvSpPr>
        <p:spPr>
          <a:xfrm>
            <a:off x="4425975" y="31225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B050"/>
                </a:solidFill>
                <a:latin typeface="Calibri"/>
                <a:ea typeface="Calibri"/>
                <a:cs typeface="Calibri"/>
                <a:sym typeface="Calibri"/>
              </a:rPr>
              <a:t>g(n)/3 = n</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80"/>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Θ(…) means both!</a:t>
            </a:r>
            <a:endParaRPr/>
          </a:p>
        </p:txBody>
      </p:sp>
      <p:sp>
        <p:nvSpPr>
          <p:cNvPr id="549" name="Google Shape;549;p80"/>
          <p:cNvSpPr txBox="1"/>
          <p:nvPr>
            <p:ph idx="1" type="body"/>
          </p:nvPr>
        </p:nvSpPr>
        <p:spPr>
          <a:xfrm>
            <a:off x="628650" y="1369225"/>
            <a:ext cx="6887700" cy="3263400"/>
          </a:xfrm>
          <a:prstGeom prst="rect">
            <a:avLst/>
          </a:prstGeom>
          <a:blipFill rotWithShape="1">
            <a:blip r:embed="rId3">
              <a:alphaModFix/>
            </a:blip>
            <a:stretch>
              <a:fillRect b="0" l="-1759" r="0" t="-3209"/>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
              <a:t> </a:t>
            </a:r>
            <a:endParaRPr/>
          </a:p>
        </p:txBody>
      </p:sp>
      <p:sp>
        <p:nvSpPr>
          <p:cNvPr id="550" name="Google Shape;550;p80"/>
          <p:cNvSpPr txBox="1"/>
          <p:nvPr/>
        </p:nvSpPr>
        <p:spPr>
          <a:xfrm>
            <a:off x="550085" y="126173"/>
            <a:ext cx="6420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Calibri"/>
                <a:ea typeface="Calibri"/>
                <a:cs typeface="Calibri"/>
                <a:sym typeface="Calibri"/>
              </a:rPr>
              <a:t>pronounced “big-theta of …” or sometimes “theta of”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81"/>
          <p:cNvSpPr txBox="1"/>
          <p:nvPr>
            <p:ph type="title"/>
          </p:nvPr>
        </p:nvSpPr>
        <p:spPr>
          <a:xfrm>
            <a:off x="628650" y="273850"/>
            <a:ext cx="6887700" cy="994200"/>
          </a:xfrm>
          <a:prstGeom prst="rect">
            <a:avLst/>
          </a:prstGeom>
          <a:blipFill rotWithShape="1">
            <a:blip r:embed="rId3">
              <a:alphaModFix/>
            </a:blip>
            <a:stretch>
              <a:fillRect b="-21879" l="-3209" r="0" t="-13328"/>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
              <a:t> </a:t>
            </a:r>
            <a:endParaRPr/>
          </a:p>
        </p:txBody>
      </p:sp>
      <p:sp>
        <p:nvSpPr>
          <p:cNvPr id="556" name="Google Shape;556;p81"/>
          <p:cNvSpPr txBox="1"/>
          <p:nvPr>
            <p:ph idx="1" type="body"/>
          </p:nvPr>
        </p:nvSpPr>
        <p:spPr>
          <a:xfrm>
            <a:off x="628650" y="1369225"/>
            <a:ext cx="6641700" cy="3579000"/>
          </a:xfrm>
          <a:prstGeom prst="rect">
            <a:avLst/>
          </a:prstGeom>
          <a:blipFill rotWithShape="1">
            <a:blip r:embed="rId4">
              <a:alphaModFix/>
            </a:blip>
            <a:stretch>
              <a:fillRect b="0" l="-1439" r="0" t="-2399"/>
            </a:stretch>
          </a:blip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
              <a:t> </a:t>
            </a:r>
            <a:endParaRPr/>
          </a:p>
        </p:txBody>
      </p:sp>
      <p:sp>
        <p:nvSpPr>
          <p:cNvPr id="557" name="Google Shape;557;p81"/>
          <p:cNvSpPr/>
          <p:nvPr/>
        </p:nvSpPr>
        <p:spPr>
          <a:xfrm>
            <a:off x="5533697" y="-109683"/>
            <a:ext cx="4572000" cy="1227300"/>
          </a:xfrm>
          <a:prstGeom prst="rect">
            <a:avLst/>
          </a:prstGeom>
          <a:blipFill rotWithShape="1">
            <a:blip r:embed="rId5">
              <a:alphaModFix/>
            </a:blip>
            <a:stretch>
              <a:fillRect b="-231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82"/>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
              <a:t>Take-away from examples</a:t>
            </a:r>
            <a:endParaRPr/>
          </a:p>
        </p:txBody>
      </p:sp>
      <p:sp>
        <p:nvSpPr>
          <p:cNvPr id="563" name="Google Shape;563;p82"/>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
              <a:t>To prove T(n) = O(g(n)), you have to come up with c and n</a:t>
            </a:r>
            <a:r>
              <a:rPr baseline="-25000" lang="en"/>
              <a:t>0 </a:t>
            </a:r>
            <a:r>
              <a:rPr lang="en"/>
              <a:t>so that the definition is satisfied.</a:t>
            </a:r>
            <a:endParaRPr/>
          </a:p>
          <a:p>
            <a:pPr indent="-228600" lvl="0" marL="228600" rtl="0" algn="l">
              <a:lnSpc>
                <a:spcPct val="90000"/>
              </a:lnSpc>
              <a:spcBef>
                <a:spcPts val="1000"/>
              </a:spcBef>
              <a:spcAft>
                <a:spcPts val="0"/>
              </a:spcAft>
              <a:buClr>
                <a:schemeClr val="dk1"/>
              </a:buClr>
              <a:buSzPts val="2800"/>
              <a:buChar char="•"/>
            </a:pPr>
            <a:r>
              <a:rPr lang="en"/>
              <a:t>To prove T(n) is </a:t>
            </a:r>
            <a:r>
              <a:rPr lang="en">
                <a:solidFill>
                  <a:srgbClr val="FF0000"/>
                </a:solidFill>
              </a:rPr>
              <a:t>NOT</a:t>
            </a:r>
            <a:r>
              <a:rPr lang="en"/>
              <a:t> O(g(n)), one way is </a:t>
            </a:r>
            <a:r>
              <a:rPr b="1" lang="en"/>
              <a:t>proof by contradiction</a:t>
            </a:r>
            <a:r>
              <a:rPr lang="en"/>
              <a:t>:</a:t>
            </a:r>
            <a:endParaRPr/>
          </a:p>
          <a:p>
            <a:pPr indent="-228600" lvl="1" marL="685800" rtl="0" algn="l">
              <a:lnSpc>
                <a:spcPct val="90000"/>
              </a:lnSpc>
              <a:spcBef>
                <a:spcPts val="500"/>
              </a:spcBef>
              <a:spcAft>
                <a:spcPts val="0"/>
              </a:spcAft>
              <a:buClr>
                <a:schemeClr val="accent4"/>
              </a:buClr>
              <a:buSzPts val="2400"/>
              <a:buChar char="•"/>
            </a:pPr>
            <a:r>
              <a:rPr lang="en">
                <a:solidFill>
                  <a:schemeClr val="accent4"/>
                </a:solidFill>
              </a:rPr>
              <a:t>Suppose (to get a contradiction) that someone gives you a c and an n</a:t>
            </a:r>
            <a:r>
              <a:rPr baseline="-25000" lang="en">
                <a:solidFill>
                  <a:schemeClr val="accent4"/>
                </a:solidFill>
              </a:rPr>
              <a:t>0</a:t>
            </a:r>
            <a:r>
              <a:rPr lang="en">
                <a:solidFill>
                  <a:schemeClr val="accent4"/>
                </a:solidFill>
              </a:rPr>
              <a:t> so that the definition </a:t>
            </a:r>
            <a:r>
              <a:rPr b="1" i="1" lang="en">
                <a:solidFill>
                  <a:schemeClr val="accent4"/>
                </a:solidFill>
              </a:rPr>
              <a:t>is</a:t>
            </a:r>
            <a:r>
              <a:rPr lang="en">
                <a:solidFill>
                  <a:schemeClr val="accent4"/>
                </a:solidFill>
              </a:rPr>
              <a:t> satisfied.</a:t>
            </a:r>
            <a:endParaRPr/>
          </a:p>
          <a:p>
            <a:pPr indent="-228600" lvl="1" marL="685800" rtl="0" algn="l">
              <a:lnSpc>
                <a:spcPct val="90000"/>
              </a:lnSpc>
              <a:spcBef>
                <a:spcPts val="500"/>
              </a:spcBef>
              <a:spcAft>
                <a:spcPts val="0"/>
              </a:spcAft>
              <a:buClr>
                <a:schemeClr val="accent4"/>
              </a:buClr>
              <a:buSzPts val="2400"/>
              <a:buChar char="•"/>
            </a:pPr>
            <a:r>
              <a:rPr lang="en">
                <a:solidFill>
                  <a:schemeClr val="accent4"/>
                </a:solidFill>
              </a:rPr>
              <a:t>Show that this someone must by lying to you by deriving a contradiction.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3"/>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t>Practice</a:t>
            </a:r>
            <a:endParaRPr/>
          </a:p>
        </p:txBody>
      </p:sp>
      <p:sp>
        <p:nvSpPr>
          <p:cNvPr id="569" name="Google Shape;569;p83"/>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i="1" lang="en"/>
              <a:t>f(n) = n</a:t>
            </a:r>
            <a:r>
              <a:rPr lang="en"/>
              <a:t> and </a:t>
            </a:r>
            <a:r>
              <a:rPr i="1" lang="en"/>
              <a:t>g(n) = n</a:t>
            </a:r>
            <a:r>
              <a:rPr baseline="30000" i="1" lang="en"/>
              <a:t>2</a:t>
            </a:r>
            <a:r>
              <a:rPr i="1" lang="en"/>
              <a:t> - n </a:t>
            </a:r>
            <a:endParaRPr i="1"/>
          </a:p>
          <a:p>
            <a:pPr indent="0" lvl="0" marL="914400" rtl="0" algn="l">
              <a:lnSpc>
                <a:spcPct val="90000"/>
              </a:lnSpc>
              <a:spcBef>
                <a:spcPts val="1000"/>
              </a:spcBef>
              <a:spcAft>
                <a:spcPts val="0"/>
              </a:spcAft>
              <a:buSzPts val="1800"/>
              <a:buNone/>
            </a:pPr>
            <a:r>
              <a:rPr i="1" lang="en"/>
              <a:t>f(n)</a:t>
            </a:r>
            <a:r>
              <a:rPr lang="en"/>
              <a:t> =</a:t>
            </a:r>
            <a:r>
              <a:rPr lang="en" u="sng"/>
              <a:t>      </a:t>
            </a:r>
            <a:r>
              <a:rPr i="1" lang="en"/>
              <a:t>g(n)</a:t>
            </a:r>
            <a:endParaRPr i="1"/>
          </a:p>
          <a:p>
            <a:pPr indent="-342900" lvl="0" marL="457200" rtl="0" algn="l">
              <a:lnSpc>
                <a:spcPct val="90000"/>
              </a:lnSpc>
              <a:spcBef>
                <a:spcPts val="1000"/>
              </a:spcBef>
              <a:spcAft>
                <a:spcPts val="0"/>
              </a:spcAft>
              <a:buSzPts val="1800"/>
              <a:buChar char="•"/>
            </a:pPr>
            <a:r>
              <a:rPr i="1" lang="en"/>
              <a:t>f(n) = 2</a:t>
            </a:r>
            <a:r>
              <a:rPr baseline="30000" i="1" lang="en"/>
              <a:t>n</a:t>
            </a:r>
            <a:r>
              <a:rPr lang="en"/>
              <a:t> and </a:t>
            </a:r>
            <a:r>
              <a:rPr i="1" lang="en"/>
              <a:t>g(n) = n</a:t>
            </a:r>
            <a:r>
              <a:rPr baseline="30000" i="1" lang="en"/>
              <a:t>2</a:t>
            </a:r>
            <a:endParaRPr baseline="30000" i="1"/>
          </a:p>
          <a:p>
            <a:pPr indent="0" lvl="0" marL="0" rtl="0" algn="l">
              <a:lnSpc>
                <a:spcPct val="90000"/>
              </a:lnSpc>
              <a:spcBef>
                <a:spcPts val="1000"/>
              </a:spcBef>
              <a:spcAft>
                <a:spcPts val="0"/>
              </a:spcAft>
              <a:buSzPts val="1800"/>
              <a:buNone/>
            </a:pPr>
            <a:r>
              <a:rPr baseline="30000" i="1" lang="en"/>
              <a:t>		</a:t>
            </a:r>
            <a:r>
              <a:rPr i="1" lang="en"/>
              <a:t>f(n)</a:t>
            </a:r>
            <a:r>
              <a:rPr lang="en"/>
              <a:t> =</a:t>
            </a:r>
            <a:r>
              <a:rPr lang="en" u="sng"/>
              <a:t>      </a:t>
            </a:r>
            <a:r>
              <a:rPr i="1" lang="en"/>
              <a:t>g(n)</a:t>
            </a:r>
            <a:endParaRPr i="1"/>
          </a:p>
          <a:p>
            <a:pPr indent="-342900" lvl="0" marL="457200" rtl="0" algn="l">
              <a:lnSpc>
                <a:spcPct val="90000"/>
              </a:lnSpc>
              <a:spcBef>
                <a:spcPts val="1000"/>
              </a:spcBef>
              <a:spcAft>
                <a:spcPts val="0"/>
              </a:spcAft>
              <a:buSzPts val="1800"/>
              <a:buChar char="•"/>
            </a:pPr>
            <a:r>
              <a:rPr i="1" lang="en"/>
              <a:t>f(n) = 8n</a:t>
            </a:r>
            <a:r>
              <a:rPr lang="en"/>
              <a:t> and </a:t>
            </a:r>
            <a:r>
              <a:rPr i="1" lang="en"/>
              <a:t>g(n) = n log n</a:t>
            </a:r>
            <a:endParaRPr i="1"/>
          </a:p>
          <a:p>
            <a:pPr indent="0" lvl="0" marL="457200" rtl="0" algn="l">
              <a:lnSpc>
                <a:spcPct val="90000"/>
              </a:lnSpc>
              <a:spcBef>
                <a:spcPts val="1000"/>
              </a:spcBef>
              <a:spcAft>
                <a:spcPts val="0"/>
              </a:spcAft>
              <a:buSzPts val="1800"/>
              <a:buNone/>
            </a:pPr>
            <a:r>
              <a:rPr lang="en"/>
              <a:t>	</a:t>
            </a:r>
            <a:r>
              <a:rPr i="1" lang="en"/>
              <a:t>f(n)</a:t>
            </a:r>
            <a:r>
              <a:rPr lang="en"/>
              <a:t> =</a:t>
            </a:r>
            <a:r>
              <a:rPr lang="en" u="sng"/>
              <a:t>      </a:t>
            </a:r>
            <a:r>
              <a:rPr i="1" lang="en"/>
              <a:t>g(n)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4"/>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t>Practice</a:t>
            </a:r>
            <a:endParaRPr/>
          </a:p>
        </p:txBody>
      </p:sp>
      <p:sp>
        <p:nvSpPr>
          <p:cNvPr id="575" name="Google Shape;575;p84"/>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i="1" lang="en"/>
              <a:t>f(n) = n</a:t>
            </a:r>
            <a:r>
              <a:rPr lang="en"/>
              <a:t> and </a:t>
            </a:r>
            <a:r>
              <a:rPr i="1" lang="en"/>
              <a:t>g(n) = n</a:t>
            </a:r>
            <a:r>
              <a:rPr baseline="30000" i="1" lang="en"/>
              <a:t>2</a:t>
            </a:r>
            <a:r>
              <a:rPr i="1" lang="en"/>
              <a:t> - n </a:t>
            </a:r>
            <a:endParaRPr i="1"/>
          </a:p>
          <a:p>
            <a:pPr indent="0" lvl="0" marL="914400" rtl="0" algn="l">
              <a:lnSpc>
                <a:spcPct val="90000"/>
              </a:lnSpc>
              <a:spcBef>
                <a:spcPts val="1000"/>
              </a:spcBef>
              <a:spcAft>
                <a:spcPts val="0"/>
              </a:spcAft>
              <a:buSzPts val="1800"/>
              <a:buNone/>
            </a:pPr>
            <a:r>
              <a:rPr i="1" lang="en">
                <a:solidFill>
                  <a:schemeClr val="accent5"/>
                </a:solidFill>
              </a:rPr>
              <a:t>f(n)</a:t>
            </a:r>
            <a:r>
              <a:rPr lang="en">
                <a:solidFill>
                  <a:schemeClr val="accent5"/>
                </a:solidFill>
              </a:rPr>
              <a:t> =O(</a:t>
            </a:r>
            <a:r>
              <a:rPr i="1" lang="en">
                <a:solidFill>
                  <a:schemeClr val="accent5"/>
                </a:solidFill>
              </a:rPr>
              <a:t>g(n))</a:t>
            </a:r>
            <a:r>
              <a:rPr lang="en">
                <a:solidFill>
                  <a:schemeClr val="accent5"/>
                </a:solidFill>
              </a:rPr>
              <a:t>     </a:t>
            </a:r>
            <a:endParaRPr baseline="30000">
              <a:solidFill>
                <a:schemeClr val="accent5"/>
              </a:solidFill>
            </a:endParaRPr>
          </a:p>
          <a:p>
            <a:pPr indent="-342900" lvl="0" marL="457200" rtl="0" algn="l">
              <a:lnSpc>
                <a:spcPct val="90000"/>
              </a:lnSpc>
              <a:spcBef>
                <a:spcPts val="1000"/>
              </a:spcBef>
              <a:spcAft>
                <a:spcPts val="0"/>
              </a:spcAft>
              <a:buSzPts val="1800"/>
              <a:buChar char="•"/>
            </a:pPr>
            <a:r>
              <a:rPr i="1" lang="en"/>
              <a:t>f(n) = 2</a:t>
            </a:r>
            <a:r>
              <a:rPr baseline="30000" i="1" lang="en"/>
              <a:t>n</a:t>
            </a:r>
            <a:r>
              <a:rPr lang="en"/>
              <a:t> and </a:t>
            </a:r>
            <a:r>
              <a:rPr i="1" lang="en"/>
              <a:t>g(n) = n</a:t>
            </a:r>
            <a:r>
              <a:rPr baseline="30000" i="1" lang="en"/>
              <a:t>2</a:t>
            </a:r>
            <a:endParaRPr baseline="30000" i="1"/>
          </a:p>
          <a:p>
            <a:pPr indent="0" lvl="0" marL="0" rtl="0" algn="l">
              <a:lnSpc>
                <a:spcPct val="90000"/>
              </a:lnSpc>
              <a:spcBef>
                <a:spcPts val="1000"/>
              </a:spcBef>
              <a:spcAft>
                <a:spcPts val="0"/>
              </a:spcAft>
              <a:buSzPts val="1800"/>
              <a:buNone/>
            </a:pPr>
            <a:r>
              <a:rPr baseline="30000" i="1" lang="en">
                <a:solidFill>
                  <a:schemeClr val="accent5"/>
                </a:solidFill>
              </a:rPr>
              <a:t>		</a:t>
            </a:r>
            <a:r>
              <a:rPr i="1" lang="en">
                <a:solidFill>
                  <a:schemeClr val="accent5"/>
                </a:solidFill>
              </a:rPr>
              <a:t>f(n)</a:t>
            </a:r>
            <a:r>
              <a:rPr lang="en">
                <a:solidFill>
                  <a:schemeClr val="accent5"/>
                </a:solidFill>
              </a:rPr>
              <a:t> =Ω(</a:t>
            </a:r>
            <a:r>
              <a:rPr i="1" lang="en">
                <a:solidFill>
                  <a:schemeClr val="accent5"/>
                </a:solidFill>
              </a:rPr>
              <a:t>g(n))</a:t>
            </a:r>
            <a:r>
              <a:rPr lang="en">
                <a:solidFill>
                  <a:schemeClr val="accent5"/>
                </a:solidFill>
              </a:rPr>
              <a:t>   </a:t>
            </a:r>
            <a:endParaRPr>
              <a:solidFill>
                <a:schemeClr val="accent5"/>
              </a:solidFill>
            </a:endParaRPr>
          </a:p>
          <a:p>
            <a:pPr indent="0" lvl="0" marL="457200" rtl="0" algn="l">
              <a:lnSpc>
                <a:spcPct val="90000"/>
              </a:lnSpc>
              <a:spcBef>
                <a:spcPts val="1000"/>
              </a:spcBef>
              <a:spcAft>
                <a:spcPts val="0"/>
              </a:spcAft>
              <a:buSzPts val="1800"/>
              <a:buNone/>
            </a:pPr>
            <a:r>
              <a:t/>
            </a:r>
            <a:endParaRPr>
              <a:solidFill>
                <a:schemeClr val="accent5"/>
              </a:solidFill>
            </a:endParaRPr>
          </a:p>
        </p:txBody>
      </p:sp>
      <p:sp>
        <p:nvSpPr>
          <p:cNvPr id="576" name="Google Shape;576;p84"/>
          <p:cNvSpPr txBox="1"/>
          <p:nvPr/>
        </p:nvSpPr>
        <p:spPr>
          <a:xfrm>
            <a:off x="3689400" y="2705600"/>
            <a:ext cx="5244900" cy="8772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chemeClr val="dk1"/>
              </a:buClr>
              <a:buSzPts val="1100"/>
              <a:buFont typeface="Arial"/>
              <a:buNone/>
            </a:pPr>
            <a:r>
              <a:rPr b="0" i="0" lang="en" sz="2500" u="none" cap="none" strike="noStrike">
                <a:solidFill>
                  <a:schemeClr val="accent5"/>
                </a:solidFill>
                <a:latin typeface="Calibri"/>
                <a:ea typeface="Calibri"/>
                <a:cs typeface="Calibri"/>
                <a:sym typeface="Calibri"/>
              </a:rPr>
              <a:t>polynomial functions are slower than exponential functions</a:t>
            </a:r>
            <a:endParaRPr b="0" i="0" sz="2500" u="none" cap="none" strike="noStrike">
              <a:solidFill>
                <a:schemeClr val="dk1"/>
              </a:solidFill>
              <a:latin typeface="Calibri"/>
              <a:ea typeface="Calibri"/>
              <a:cs typeface="Calibri"/>
              <a:sym typeface="Calibri"/>
            </a:endParaRPr>
          </a:p>
        </p:txBody>
      </p:sp>
      <p:sp>
        <p:nvSpPr>
          <p:cNvPr id="577" name="Google Shape;577;p84"/>
          <p:cNvSpPr txBox="1"/>
          <p:nvPr/>
        </p:nvSpPr>
        <p:spPr>
          <a:xfrm>
            <a:off x="3765600" y="1844700"/>
            <a:ext cx="3139500" cy="5310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2500"/>
              <a:buFont typeface="Arial"/>
              <a:buNone/>
            </a:pPr>
            <a:r>
              <a:rPr b="0" i="0" lang="en" sz="2500" u="none" cap="none" strike="noStrike">
                <a:solidFill>
                  <a:schemeClr val="accent5"/>
                </a:solidFill>
                <a:latin typeface="Calibri"/>
                <a:ea typeface="Calibri"/>
                <a:cs typeface="Calibri"/>
                <a:sym typeface="Calibri"/>
              </a:rPr>
              <a:t>n grows slower than n</a:t>
            </a:r>
            <a:r>
              <a:rPr b="0" baseline="30000" i="0" lang="en" sz="2500" u="none" cap="none" strike="noStrike">
                <a:solidFill>
                  <a:schemeClr val="accent5"/>
                </a:solidFill>
                <a:latin typeface="Calibri"/>
                <a:ea typeface="Calibri"/>
                <a:cs typeface="Calibri"/>
                <a:sym typeface="Calibri"/>
              </a:rPr>
              <a:t>2</a:t>
            </a:r>
            <a:endParaRPr b="0" i="0" sz="25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5"/>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t>Practice</a:t>
            </a:r>
            <a:endParaRPr/>
          </a:p>
        </p:txBody>
      </p:sp>
      <p:sp>
        <p:nvSpPr>
          <p:cNvPr id="583" name="Google Shape;583;p85"/>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i="1" lang="en"/>
              <a:t>f(n) = 8n</a:t>
            </a:r>
            <a:r>
              <a:rPr lang="en"/>
              <a:t> and </a:t>
            </a:r>
            <a:r>
              <a:rPr i="1" lang="en"/>
              <a:t>g(n) = n log n</a:t>
            </a:r>
            <a:endParaRPr i="1"/>
          </a:p>
          <a:p>
            <a:pPr indent="0" lvl="0" marL="457200" rtl="0" algn="l">
              <a:lnSpc>
                <a:spcPct val="90000"/>
              </a:lnSpc>
              <a:spcBef>
                <a:spcPts val="1000"/>
              </a:spcBef>
              <a:spcAft>
                <a:spcPts val="0"/>
              </a:spcAft>
              <a:buSzPts val="1800"/>
              <a:buNone/>
            </a:pPr>
            <a:r>
              <a:rPr lang="en">
                <a:solidFill>
                  <a:schemeClr val="accent5"/>
                </a:solidFill>
              </a:rPr>
              <a:t>	</a:t>
            </a:r>
            <a:r>
              <a:rPr i="1" lang="en">
                <a:solidFill>
                  <a:schemeClr val="accent5"/>
                </a:solidFill>
              </a:rPr>
              <a:t>f(n)</a:t>
            </a:r>
            <a:r>
              <a:rPr lang="en">
                <a:solidFill>
                  <a:schemeClr val="accent5"/>
                </a:solidFill>
              </a:rPr>
              <a:t> =O(</a:t>
            </a:r>
            <a:r>
              <a:rPr i="1" lang="en">
                <a:solidFill>
                  <a:schemeClr val="accent5"/>
                </a:solidFill>
              </a:rPr>
              <a:t>g(n))</a:t>
            </a:r>
            <a:endParaRPr>
              <a:solidFill>
                <a:schemeClr val="accent5"/>
              </a:solidFill>
            </a:endParaRPr>
          </a:p>
        </p:txBody>
      </p:sp>
      <p:sp>
        <p:nvSpPr>
          <p:cNvPr id="584" name="Google Shape;584;p85"/>
          <p:cNvSpPr txBox="1"/>
          <p:nvPr/>
        </p:nvSpPr>
        <p:spPr>
          <a:xfrm>
            <a:off x="1566400" y="2322200"/>
            <a:ext cx="5244900" cy="27969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2500"/>
              <a:buFont typeface="Arial"/>
              <a:buNone/>
            </a:pPr>
            <a:r>
              <a:rPr b="0" i="0" lang="en" sz="1900" u="none" cap="none" strike="noStrike">
                <a:solidFill>
                  <a:schemeClr val="accent5"/>
                </a:solidFill>
                <a:latin typeface="Calibri"/>
                <a:ea typeface="Calibri"/>
                <a:cs typeface="Calibri"/>
                <a:sym typeface="Calibri"/>
              </a:rPr>
              <a:t>with c = 8, n</a:t>
            </a:r>
            <a:r>
              <a:rPr b="0" baseline="-25000" i="0" lang="en" sz="1900" u="none" cap="none" strike="noStrike">
                <a:solidFill>
                  <a:schemeClr val="accent5"/>
                </a:solidFill>
                <a:latin typeface="Calibri"/>
                <a:ea typeface="Calibri"/>
                <a:cs typeface="Calibri"/>
                <a:sym typeface="Calibri"/>
              </a:rPr>
              <a:t>0</a:t>
            </a:r>
            <a:r>
              <a:rPr b="0" i="0" lang="en" sz="1900" u="none" cap="none" strike="noStrike">
                <a:solidFill>
                  <a:schemeClr val="accent5"/>
                </a:solidFill>
                <a:latin typeface="Calibri"/>
                <a:ea typeface="Calibri"/>
                <a:cs typeface="Calibri"/>
                <a:sym typeface="Calibri"/>
              </a:rPr>
              <a:t> = 2, 8n ≤ 8n log n</a:t>
            </a:r>
            <a:endParaRPr b="0" i="0" sz="1900" u="none" cap="none" strike="noStrike">
              <a:solidFill>
                <a:schemeClr val="accent5"/>
              </a:solidFill>
              <a:latin typeface="Calibri"/>
              <a:ea typeface="Calibri"/>
              <a:cs typeface="Calibri"/>
              <a:sym typeface="Calibri"/>
            </a:endParaRPr>
          </a:p>
          <a:p>
            <a:pPr indent="457200" lvl="0" marL="1371600" marR="0" rtl="0" algn="l">
              <a:lnSpc>
                <a:spcPct val="90000"/>
              </a:lnSpc>
              <a:spcBef>
                <a:spcPts val="1000"/>
              </a:spcBef>
              <a:spcAft>
                <a:spcPts val="0"/>
              </a:spcAft>
              <a:buClr>
                <a:srgbClr val="000000"/>
              </a:buClr>
              <a:buSzPts val="2500"/>
              <a:buFont typeface="Arial"/>
              <a:buNone/>
            </a:pPr>
            <a:r>
              <a:rPr b="0" i="0" lang="en" sz="1900" u="none" cap="none" strike="noStrike">
                <a:solidFill>
                  <a:schemeClr val="accent5"/>
                </a:solidFill>
                <a:latin typeface="Calibri"/>
                <a:ea typeface="Calibri"/>
                <a:cs typeface="Calibri"/>
                <a:sym typeface="Calibri"/>
              </a:rPr>
              <a:t>1 ≤ log n, ∀n ≥ 2</a:t>
            </a:r>
            <a:endParaRPr b="0" i="0" sz="1900" u="none" cap="none" strike="noStrike">
              <a:solidFill>
                <a:schemeClr val="accent5"/>
              </a:solidFill>
              <a:latin typeface="Calibri"/>
              <a:ea typeface="Calibri"/>
              <a:cs typeface="Calibri"/>
              <a:sym typeface="Calibri"/>
            </a:endParaRPr>
          </a:p>
          <a:p>
            <a:pPr indent="457200" lvl="0" marL="1371600" marR="0" rtl="0" algn="l">
              <a:lnSpc>
                <a:spcPct val="90000"/>
              </a:lnSpc>
              <a:spcBef>
                <a:spcPts val="1000"/>
              </a:spcBef>
              <a:spcAft>
                <a:spcPts val="0"/>
              </a:spcAft>
              <a:buClr>
                <a:srgbClr val="000000"/>
              </a:buClr>
              <a:buSzPts val="2500"/>
              <a:buFont typeface="Arial"/>
              <a:buNone/>
            </a:pPr>
            <a:r>
              <a:rPr b="0" i="0" lang="en" sz="1900" u="none" cap="none" strike="noStrike">
                <a:solidFill>
                  <a:schemeClr val="accent5"/>
                </a:solidFill>
                <a:latin typeface="Calibri"/>
                <a:ea typeface="Calibri"/>
                <a:cs typeface="Calibri"/>
                <a:sym typeface="Calibri"/>
              </a:rPr>
              <a:t>f(n) = O(g(n))</a:t>
            </a:r>
            <a:endParaRPr b="0" i="0" sz="1900" u="none" cap="none" strike="noStrike">
              <a:solidFill>
                <a:schemeClr val="accent5"/>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500"/>
              <a:buFont typeface="Arial"/>
              <a:buNone/>
            </a:pPr>
            <a:r>
              <a:t/>
            </a:r>
            <a:endParaRPr b="0" i="0" sz="1900" u="none" cap="none" strike="noStrike">
              <a:solidFill>
                <a:schemeClr val="accent5"/>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500"/>
              <a:buFont typeface="Arial"/>
              <a:buNone/>
            </a:pPr>
            <a:r>
              <a:rPr b="0" i="0" lang="en" sz="1900" u="none" cap="none" strike="noStrike">
                <a:solidFill>
                  <a:schemeClr val="accent5"/>
                </a:solidFill>
                <a:latin typeface="Calibri"/>
                <a:ea typeface="Calibri"/>
                <a:cs typeface="Calibri"/>
                <a:sym typeface="Calibri"/>
              </a:rPr>
              <a:t>lim</a:t>
            </a:r>
            <a:r>
              <a:rPr b="0" baseline="-25000" i="0" lang="en" sz="1900" u="none" cap="none" strike="noStrike">
                <a:solidFill>
                  <a:schemeClr val="accent5"/>
                </a:solidFill>
                <a:latin typeface="Calibri"/>
                <a:ea typeface="Calibri"/>
                <a:cs typeface="Calibri"/>
                <a:sym typeface="Calibri"/>
              </a:rPr>
              <a:t>n→∞ </a:t>
            </a:r>
            <a:r>
              <a:rPr b="0" i="0" lang="en" sz="1900" u="none" cap="none" strike="noStrike">
                <a:solidFill>
                  <a:schemeClr val="accent5"/>
                </a:solidFill>
                <a:latin typeface="Calibri"/>
                <a:ea typeface="Calibri"/>
                <a:cs typeface="Calibri"/>
                <a:sym typeface="Calibri"/>
              </a:rPr>
              <a:t>8n / n log n </a:t>
            </a:r>
            <a:endParaRPr b="0" i="0" sz="1900" u="none" cap="none" strike="noStrike">
              <a:solidFill>
                <a:schemeClr val="accent5"/>
              </a:solidFill>
              <a:latin typeface="Calibri"/>
              <a:ea typeface="Calibri"/>
              <a:cs typeface="Calibri"/>
              <a:sym typeface="Calibri"/>
            </a:endParaRPr>
          </a:p>
          <a:p>
            <a:pPr indent="457200" lvl="0" marL="0" marR="0" rtl="0" algn="l">
              <a:lnSpc>
                <a:spcPct val="90000"/>
              </a:lnSpc>
              <a:spcBef>
                <a:spcPts val="1000"/>
              </a:spcBef>
              <a:spcAft>
                <a:spcPts val="0"/>
              </a:spcAft>
              <a:buClr>
                <a:srgbClr val="000000"/>
              </a:buClr>
              <a:buSzPts val="2500"/>
              <a:buFont typeface="Arial"/>
              <a:buNone/>
            </a:pPr>
            <a:r>
              <a:rPr b="0" i="0" lang="en" sz="1900" u="none" cap="none" strike="noStrike">
                <a:solidFill>
                  <a:schemeClr val="accent5"/>
                </a:solidFill>
                <a:latin typeface="Calibri"/>
                <a:ea typeface="Calibri"/>
                <a:cs typeface="Calibri"/>
                <a:sym typeface="Calibri"/>
              </a:rPr>
              <a:t>= lim</a:t>
            </a:r>
            <a:r>
              <a:rPr b="0" baseline="-25000" i="0" lang="en" sz="1900" u="none" cap="none" strike="noStrike">
                <a:solidFill>
                  <a:schemeClr val="accent5"/>
                </a:solidFill>
                <a:latin typeface="Calibri"/>
                <a:ea typeface="Calibri"/>
                <a:cs typeface="Calibri"/>
                <a:sym typeface="Calibri"/>
              </a:rPr>
              <a:t>n→∞ </a:t>
            </a:r>
            <a:r>
              <a:rPr b="0" i="0" lang="en" sz="1900" u="none" cap="none" strike="noStrike">
                <a:solidFill>
                  <a:schemeClr val="accent5"/>
                </a:solidFill>
                <a:latin typeface="Calibri"/>
                <a:ea typeface="Calibri"/>
                <a:cs typeface="Calibri"/>
                <a:sym typeface="Calibri"/>
              </a:rPr>
              <a:t>8 / log n </a:t>
            </a:r>
            <a:endParaRPr b="0" i="0" sz="1900" u="none" cap="none" strike="noStrike">
              <a:solidFill>
                <a:schemeClr val="accent5"/>
              </a:solidFill>
              <a:latin typeface="Calibri"/>
              <a:ea typeface="Calibri"/>
              <a:cs typeface="Calibri"/>
              <a:sym typeface="Calibri"/>
            </a:endParaRPr>
          </a:p>
          <a:p>
            <a:pPr indent="457200" lvl="0" marL="457200" marR="0" rtl="0" algn="l">
              <a:lnSpc>
                <a:spcPct val="90000"/>
              </a:lnSpc>
              <a:spcBef>
                <a:spcPts val="1000"/>
              </a:spcBef>
              <a:spcAft>
                <a:spcPts val="0"/>
              </a:spcAft>
              <a:buClr>
                <a:srgbClr val="000000"/>
              </a:buClr>
              <a:buSzPts val="2500"/>
              <a:buFont typeface="Arial"/>
              <a:buNone/>
            </a:pPr>
            <a:r>
              <a:rPr b="0" i="0" lang="en" sz="1900" u="none" cap="none" strike="noStrike">
                <a:solidFill>
                  <a:schemeClr val="accent5"/>
                </a:solidFill>
                <a:latin typeface="Calibri"/>
                <a:ea typeface="Calibri"/>
                <a:cs typeface="Calibri"/>
                <a:sym typeface="Calibri"/>
              </a:rPr>
              <a:t>= 0</a:t>
            </a:r>
            <a:endParaRPr b="0" i="0" sz="1900" u="none" cap="none" strike="noStrike">
              <a:solidFill>
                <a:schemeClr val="accent5"/>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6"/>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sz="3900"/>
              <a:t>State order of growth in Θ notation</a:t>
            </a:r>
            <a:endParaRPr sz="3900"/>
          </a:p>
        </p:txBody>
      </p:sp>
      <p:sp>
        <p:nvSpPr>
          <p:cNvPr id="590" name="Google Shape;590;p86"/>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
              <a:t>f(n) = 50</a:t>
            </a:r>
            <a:endParaRPr/>
          </a:p>
          <a:p>
            <a:pPr indent="0" lvl="0" marL="0" rtl="0" algn="l">
              <a:lnSpc>
                <a:spcPct val="90000"/>
              </a:lnSpc>
              <a:spcBef>
                <a:spcPts val="1000"/>
              </a:spcBef>
              <a:spcAft>
                <a:spcPts val="0"/>
              </a:spcAft>
              <a:buSzPts val="1800"/>
              <a:buNone/>
            </a:pPr>
            <a:r>
              <a:t/>
            </a:r>
            <a:endParaRPr/>
          </a:p>
          <a:p>
            <a:pPr indent="-342900" lvl="0" marL="457200" rtl="0" algn="l">
              <a:lnSpc>
                <a:spcPct val="90000"/>
              </a:lnSpc>
              <a:spcBef>
                <a:spcPts val="1000"/>
              </a:spcBef>
              <a:spcAft>
                <a:spcPts val="0"/>
              </a:spcAft>
              <a:buSzPts val="1800"/>
              <a:buChar char="•"/>
            </a:pPr>
            <a:r>
              <a:rPr lang="en"/>
              <a:t>f(n) = n + … + 3 + 2 + 1</a:t>
            </a:r>
            <a:endParaRPr/>
          </a:p>
          <a:p>
            <a:pPr indent="0" lvl="0" marL="0" rtl="0" algn="l">
              <a:lnSpc>
                <a:spcPct val="90000"/>
              </a:lnSpc>
              <a:spcBef>
                <a:spcPts val="1000"/>
              </a:spcBef>
              <a:spcAft>
                <a:spcPts val="0"/>
              </a:spcAft>
              <a:buSzPts val="1800"/>
              <a:buNone/>
            </a:pPr>
            <a:r>
              <a:t/>
            </a:r>
            <a:endParaRPr/>
          </a:p>
          <a:p>
            <a:pPr indent="-342900" lvl="0" marL="457200" rtl="0" algn="l">
              <a:lnSpc>
                <a:spcPct val="90000"/>
              </a:lnSpc>
              <a:spcBef>
                <a:spcPts val="1000"/>
              </a:spcBef>
              <a:spcAft>
                <a:spcPts val="0"/>
              </a:spcAft>
              <a:buSzPts val="1800"/>
              <a:buChar char="•"/>
            </a:pPr>
            <a:r>
              <a:rPr lang="en"/>
              <a:t>f(n) = (g(n))</a:t>
            </a:r>
            <a:r>
              <a:rPr baseline="30000" lang="en"/>
              <a:t>2 </a:t>
            </a:r>
            <a:r>
              <a:rPr lang="en"/>
              <a:t>where g(n) = √n + 5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7"/>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sz="3900"/>
              <a:t>State order of growth in Θ  notation</a:t>
            </a:r>
            <a:endParaRPr sz="3900"/>
          </a:p>
        </p:txBody>
      </p:sp>
      <p:sp>
        <p:nvSpPr>
          <p:cNvPr id="596" name="Google Shape;596;p87"/>
          <p:cNvSpPr txBox="1"/>
          <p:nvPr>
            <p:ph idx="1" type="body"/>
          </p:nvPr>
        </p:nvSpPr>
        <p:spPr>
          <a:xfrm>
            <a:off x="628650" y="1369219"/>
            <a:ext cx="7886700" cy="32634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
              <a:t>f(n) = 50</a:t>
            </a:r>
            <a:endParaRPr/>
          </a:p>
          <a:p>
            <a:pPr indent="0" lvl="0" marL="0" rtl="0" algn="l">
              <a:lnSpc>
                <a:spcPct val="90000"/>
              </a:lnSpc>
              <a:spcBef>
                <a:spcPts val="1000"/>
              </a:spcBef>
              <a:spcAft>
                <a:spcPts val="0"/>
              </a:spcAft>
              <a:buSzPts val="1800"/>
              <a:buNone/>
            </a:pPr>
            <a:r>
              <a:rPr lang="en"/>
              <a:t>	</a:t>
            </a:r>
            <a:r>
              <a:rPr lang="en">
                <a:solidFill>
                  <a:schemeClr val="accent5"/>
                </a:solidFill>
              </a:rPr>
              <a:t>f(n) = Θ(1) </a:t>
            </a:r>
            <a:endParaRPr>
              <a:solidFill>
                <a:schemeClr val="accent5"/>
              </a:solidFill>
            </a:endParaRPr>
          </a:p>
          <a:p>
            <a:pPr indent="-342900" lvl="0" marL="457200" rtl="0" algn="l">
              <a:lnSpc>
                <a:spcPct val="90000"/>
              </a:lnSpc>
              <a:spcBef>
                <a:spcPts val="1000"/>
              </a:spcBef>
              <a:spcAft>
                <a:spcPts val="0"/>
              </a:spcAft>
              <a:buSzPts val="1800"/>
              <a:buChar char="•"/>
            </a:pPr>
            <a:r>
              <a:rPr lang="en"/>
              <a:t>f(n) = n + … + 3 + 2 + 1</a:t>
            </a:r>
            <a:endParaRPr/>
          </a:p>
          <a:p>
            <a:pPr indent="0" lvl="0" marL="0" rtl="0" algn="l">
              <a:lnSpc>
                <a:spcPct val="90000"/>
              </a:lnSpc>
              <a:spcBef>
                <a:spcPts val="1000"/>
              </a:spcBef>
              <a:spcAft>
                <a:spcPts val="0"/>
              </a:spcAft>
              <a:buSzPts val="1800"/>
              <a:buNone/>
            </a:pPr>
            <a:r>
              <a:rPr lang="en"/>
              <a:t>	</a:t>
            </a:r>
            <a:r>
              <a:rPr lang="en">
                <a:solidFill>
                  <a:schemeClr val="accent5"/>
                </a:solidFill>
              </a:rPr>
              <a:t>f(n) = n(n+1)/2 = (n</a:t>
            </a:r>
            <a:r>
              <a:rPr baseline="30000" lang="en">
                <a:solidFill>
                  <a:schemeClr val="accent5"/>
                </a:solidFill>
              </a:rPr>
              <a:t>2</a:t>
            </a:r>
            <a:r>
              <a:rPr lang="en">
                <a:solidFill>
                  <a:schemeClr val="accent5"/>
                </a:solidFill>
              </a:rPr>
              <a:t> + n)/2 = Θ(n</a:t>
            </a:r>
            <a:r>
              <a:rPr baseline="30000" lang="en">
                <a:solidFill>
                  <a:schemeClr val="accent5"/>
                </a:solidFill>
              </a:rPr>
              <a:t>2</a:t>
            </a:r>
            <a:r>
              <a:rPr lang="en">
                <a:solidFill>
                  <a:schemeClr val="accent5"/>
                </a:solidFill>
              </a:rPr>
              <a:t>) </a:t>
            </a:r>
            <a:endParaRPr/>
          </a:p>
          <a:p>
            <a:pPr indent="-342900" lvl="0" marL="457200" rtl="0" algn="l">
              <a:lnSpc>
                <a:spcPct val="90000"/>
              </a:lnSpc>
              <a:spcBef>
                <a:spcPts val="1000"/>
              </a:spcBef>
              <a:spcAft>
                <a:spcPts val="0"/>
              </a:spcAft>
              <a:buSzPts val="1800"/>
              <a:buChar char="•"/>
            </a:pPr>
            <a:r>
              <a:rPr lang="en"/>
              <a:t>f(n) = (g(n))</a:t>
            </a:r>
            <a:r>
              <a:rPr baseline="30000" lang="en"/>
              <a:t>2 </a:t>
            </a:r>
            <a:r>
              <a:rPr lang="en"/>
              <a:t>where g(n) = √n + 5</a:t>
            </a:r>
            <a:endParaRPr/>
          </a:p>
          <a:p>
            <a:pPr indent="0" lvl="0" marL="457200" rtl="0" algn="l">
              <a:lnSpc>
                <a:spcPct val="90000"/>
              </a:lnSpc>
              <a:spcBef>
                <a:spcPts val="1000"/>
              </a:spcBef>
              <a:spcAft>
                <a:spcPts val="0"/>
              </a:spcAft>
              <a:buSzPts val="1800"/>
              <a:buNone/>
            </a:pPr>
            <a:r>
              <a:rPr lang="en">
                <a:solidFill>
                  <a:schemeClr val="accent5"/>
                </a:solidFill>
              </a:rPr>
              <a:t>f(n) = (√n + 5)</a:t>
            </a:r>
            <a:r>
              <a:rPr baseline="30000" lang="en">
                <a:solidFill>
                  <a:schemeClr val="accent5"/>
                </a:solidFill>
              </a:rPr>
              <a:t>2</a:t>
            </a:r>
            <a:r>
              <a:rPr lang="en">
                <a:solidFill>
                  <a:schemeClr val="accent5"/>
                </a:solidFill>
              </a:rPr>
              <a:t> = n + 10√n + 25 = Θ(n)</a:t>
            </a:r>
            <a:endParaRPr>
              <a:solidFill>
                <a:schemeClr val="accent5"/>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8"/>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t>Summary of Definitions</a:t>
            </a:r>
            <a:endParaRPr/>
          </a:p>
        </p:txBody>
      </p:sp>
      <p:sp>
        <p:nvSpPr>
          <p:cNvPr id="602" name="Google Shape;602;p88"/>
          <p:cNvSpPr txBox="1"/>
          <p:nvPr>
            <p:ph idx="1" type="body"/>
          </p:nvPr>
        </p:nvSpPr>
        <p:spPr>
          <a:xfrm>
            <a:off x="628650" y="1369225"/>
            <a:ext cx="7886700" cy="3487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
              <a:t>f(n) = O(g(n)) if there exists a c &gt; 0 where after large enough n, f(n) ≤ c * g(n)</a:t>
            </a:r>
            <a:endParaRPr/>
          </a:p>
          <a:p>
            <a:pPr indent="457200" lvl="0" marL="0" rtl="0" algn="l">
              <a:lnSpc>
                <a:spcPct val="90000"/>
              </a:lnSpc>
              <a:spcBef>
                <a:spcPts val="1000"/>
              </a:spcBef>
              <a:spcAft>
                <a:spcPts val="0"/>
              </a:spcAft>
              <a:buSzPts val="1800"/>
              <a:buNone/>
            </a:pPr>
            <a:r>
              <a:rPr lang="en" sz="2500">
                <a:solidFill>
                  <a:schemeClr val="accent1"/>
                </a:solidFill>
              </a:rPr>
              <a:t>Asymptotically f grows as most as much as g</a:t>
            </a:r>
            <a:endParaRPr sz="2500">
              <a:solidFill>
                <a:schemeClr val="accent1"/>
              </a:solidFill>
            </a:endParaRPr>
          </a:p>
          <a:p>
            <a:pPr indent="0" lvl="0" marL="0" rtl="0" algn="l">
              <a:lnSpc>
                <a:spcPct val="90000"/>
              </a:lnSpc>
              <a:spcBef>
                <a:spcPts val="1000"/>
              </a:spcBef>
              <a:spcAft>
                <a:spcPts val="0"/>
              </a:spcAft>
              <a:buSzPts val="1800"/>
              <a:buNone/>
            </a:pPr>
            <a:r>
              <a:rPr lang="en"/>
              <a:t>f(n) = Ω(g(n)) if g(n) = O(f(n))</a:t>
            </a:r>
            <a:endParaRPr/>
          </a:p>
          <a:p>
            <a:pPr indent="0" lvl="0" marL="0" rtl="0" algn="l">
              <a:lnSpc>
                <a:spcPct val="90000"/>
              </a:lnSpc>
              <a:spcBef>
                <a:spcPts val="1000"/>
              </a:spcBef>
              <a:spcAft>
                <a:spcPts val="0"/>
              </a:spcAft>
              <a:buSzPts val="1800"/>
              <a:buNone/>
            </a:pPr>
            <a:r>
              <a:rPr lang="en"/>
              <a:t>	</a:t>
            </a:r>
            <a:r>
              <a:rPr lang="en" sz="2500">
                <a:solidFill>
                  <a:schemeClr val="accent1"/>
                </a:solidFill>
              </a:rPr>
              <a:t>Asymptotically, f grows at least as much as g</a:t>
            </a:r>
            <a:endParaRPr sz="2500">
              <a:solidFill>
                <a:schemeClr val="accent1"/>
              </a:solidFill>
            </a:endParaRPr>
          </a:p>
          <a:p>
            <a:pPr indent="0" lvl="0" marL="0" rtl="0" algn="l">
              <a:lnSpc>
                <a:spcPct val="90000"/>
              </a:lnSpc>
              <a:spcBef>
                <a:spcPts val="1000"/>
              </a:spcBef>
              <a:spcAft>
                <a:spcPts val="0"/>
              </a:spcAft>
              <a:buSzPts val="1800"/>
              <a:buNone/>
            </a:pPr>
            <a:r>
              <a:rPr lang="en"/>
              <a:t>f(n) = Θ(g(n)) if f(n) = O(g(n)) and g(n) = O(f(n))</a:t>
            </a:r>
            <a:endParaRPr/>
          </a:p>
          <a:p>
            <a:pPr indent="0" lvl="0" marL="457200" rtl="0" algn="l">
              <a:lnSpc>
                <a:spcPct val="90000"/>
              </a:lnSpc>
              <a:spcBef>
                <a:spcPts val="1000"/>
              </a:spcBef>
              <a:spcAft>
                <a:spcPts val="0"/>
              </a:spcAft>
              <a:buSzPts val="1800"/>
              <a:buNone/>
            </a:pPr>
            <a:r>
              <a:rPr lang="en">
                <a:solidFill>
                  <a:schemeClr val="accent1"/>
                </a:solidFill>
              </a:rPr>
              <a:t>Asymptotically, f and g grow the same</a:t>
            </a:r>
            <a:endParaRPr>
              <a:solidFill>
                <a:schemeClr val="accen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89"/>
          <p:cNvSpPr txBox="1"/>
          <p:nvPr>
            <p:ph type="title"/>
          </p:nvPr>
        </p:nvSpPr>
        <p:spPr>
          <a:xfrm>
            <a:off x="628650" y="273844"/>
            <a:ext cx="7886700" cy="994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
              <a:t>Important Takeaways</a:t>
            </a:r>
            <a:endParaRPr/>
          </a:p>
        </p:txBody>
      </p:sp>
      <p:sp>
        <p:nvSpPr>
          <p:cNvPr id="608" name="Google Shape;608;p89"/>
          <p:cNvSpPr txBox="1"/>
          <p:nvPr>
            <p:ph idx="1" type="body"/>
          </p:nvPr>
        </p:nvSpPr>
        <p:spPr>
          <a:xfrm>
            <a:off x="628650" y="1083300"/>
            <a:ext cx="7886700" cy="38061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
              <a:t>If d &gt; c, n</a:t>
            </a:r>
            <a:r>
              <a:rPr baseline="30000" lang="en"/>
              <a:t>c</a:t>
            </a:r>
            <a:r>
              <a:rPr lang="en"/>
              <a:t> = O(n</a:t>
            </a:r>
            <a:r>
              <a:rPr baseline="30000" lang="en"/>
              <a:t>d</a:t>
            </a:r>
            <a:r>
              <a:rPr lang="en"/>
              <a:t>) but n</a:t>
            </a:r>
            <a:r>
              <a:rPr baseline="30000" lang="en"/>
              <a:t>c</a:t>
            </a:r>
            <a:r>
              <a:rPr lang="en"/>
              <a:t> ≠ Ω(n</a:t>
            </a:r>
            <a:r>
              <a:rPr baseline="30000" lang="en"/>
              <a:t>d</a:t>
            </a:r>
            <a:r>
              <a:rPr lang="en"/>
              <a:t>)</a:t>
            </a:r>
            <a:endParaRPr/>
          </a:p>
          <a:p>
            <a:pPr indent="-342900" lvl="0" marL="457200" rtl="0" algn="l">
              <a:lnSpc>
                <a:spcPct val="90000"/>
              </a:lnSpc>
              <a:spcBef>
                <a:spcPts val="0"/>
              </a:spcBef>
              <a:spcAft>
                <a:spcPts val="0"/>
              </a:spcAft>
              <a:buSzPts val="1800"/>
              <a:buChar char="•"/>
            </a:pPr>
            <a:r>
              <a:rPr lang="en"/>
              <a:t>Asymptotic notation only cares about the highest growing terms: e.g. n</a:t>
            </a:r>
            <a:r>
              <a:rPr baseline="30000" lang="en"/>
              <a:t>2</a:t>
            </a:r>
            <a:r>
              <a:rPr lang="en"/>
              <a:t> + n = Ω(n</a:t>
            </a:r>
            <a:r>
              <a:rPr baseline="30000" lang="en"/>
              <a:t>2</a:t>
            </a:r>
            <a:r>
              <a:rPr lang="en"/>
              <a:t>)</a:t>
            </a:r>
            <a:endParaRPr/>
          </a:p>
          <a:p>
            <a:pPr indent="-342900" lvl="0" marL="457200" rtl="0" algn="l">
              <a:lnSpc>
                <a:spcPct val="90000"/>
              </a:lnSpc>
              <a:spcBef>
                <a:spcPts val="0"/>
              </a:spcBef>
              <a:spcAft>
                <a:spcPts val="0"/>
              </a:spcAft>
              <a:buSzPts val="1800"/>
              <a:buChar char="•"/>
            </a:pPr>
            <a:r>
              <a:rPr lang="en"/>
              <a:t>Asymptotic notation does not care about leading constants: e.g. 50n = Θ(n)</a:t>
            </a:r>
            <a:endParaRPr/>
          </a:p>
          <a:p>
            <a:pPr indent="-342900" lvl="0" marL="457200" rtl="0" algn="l">
              <a:lnSpc>
                <a:spcPct val="90000"/>
              </a:lnSpc>
              <a:spcBef>
                <a:spcPts val="0"/>
              </a:spcBef>
              <a:spcAft>
                <a:spcPts val="0"/>
              </a:spcAft>
              <a:buSzPts val="1800"/>
              <a:buChar char="•"/>
            </a:pPr>
            <a:r>
              <a:rPr lang="en"/>
              <a:t>Any exponential with base &gt; 1 grows more than any polynomial</a:t>
            </a:r>
            <a:endParaRPr/>
          </a:p>
          <a:p>
            <a:pPr indent="-342900" lvl="0" marL="457200" rtl="0" algn="l">
              <a:lnSpc>
                <a:spcPct val="90000"/>
              </a:lnSpc>
              <a:spcBef>
                <a:spcPts val="0"/>
              </a:spcBef>
              <a:spcAft>
                <a:spcPts val="0"/>
              </a:spcAft>
              <a:buSzPts val="1800"/>
              <a:buChar char="•"/>
            </a:pPr>
            <a:r>
              <a:rPr lang="en"/>
              <a:t>The base of the exponential matters: e.g. 3</a:t>
            </a:r>
            <a:r>
              <a:rPr baseline="30000" lang="en"/>
              <a:t>n</a:t>
            </a:r>
            <a:r>
              <a:rPr lang="en"/>
              <a:t> = O(4</a:t>
            </a:r>
            <a:r>
              <a:rPr baseline="30000" lang="en"/>
              <a:t>n</a:t>
            </a:r>
            <a:r>
              <a:rPr lang="en"/>
              <a:t>) but 3</a:t>
            </a:r>
            <a:r>
              <a:rPr baseline="30000" lang="en"/>
              <a:t>n</a:t>
            </a:r>
            <a:r>
              <a:rPr lang="en"/>
              <a:t> ≠ Ω(4</a:t>
            </a:r>
            <a:r>
              <a:rPr baseline="30000" lang="en"/>
              <a:t>n</a:t>
            </a:r>
            <a:r>
              <a:rPr lang="en"/>
              <a:t>)</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90"/>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Calibri"/>
              <a:buNone/>
            </a:pPr>
            <a:r>
              <a:rPr b="1" lang="en"/>
              <a:t>Any questions?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91"/>
          <p:cNvSpPr txBox="1"/>
          <p:nvPr>
            <p:ph type="title"/>
          </p:nvPr>
        </p:nvSpPr>
        <p:spPr>
          <a:xfrm>
            <a:off x="628650" y="273844"/>
            <a:ext cx="7886700" cy="9942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
              <a:t>More Practice! (If time)</a:t>
            </a:r>
            <a:endParaRPr/>
          </a:p>
        </p:txBody>
      </p:sp>
      <p:sp>
        <p:nvSpPr>
          <p:cNvPr id="619" name="Google Shape;619;p91"/>
          <p:cNvSpPr txBox="1"/>
          <p:nvPr>
            <p:ph idx="1" type="body"/>
          </p:nvPr>
        </p:nvSpPr>
        <p:spPr>
          <a:xfrm>
            <a:off x="628650" y="1369219"/>
            <a:ext cx="7886700" cy="3263400"/>
          </a:xfrm>
          <a:prstGeom prst="rect">
            <a:avLst/>
          </a:prstGeom>
        </p:spPr>
        <p:txBody>
          <a:bodyPr anchorCtr="0" anchor="t" bIns="45700" lIns="91425" spcFirstLastPara="1" rIns="91425" wrap="square" tIns="45700">
            <a:normAutofit/>
          </a:bodyPr>
          <a:lstStyle/>
          <a:p>
            <a:pPr indent="0" lvl="0" marL="0" rtl="0" algn="l">
              <a:spcBef>
                <a:spcPts val="750"/>
              </a:spcBef>
              <a:spcAft>
                <a:spcPts val="0"/>
              </a:spcAft>
              <a:buNone/>
            </a:pPr>
            <a:r>
              <a:rPr lang="en"/>
              <a:t>Assume that f(n), g(n), and h(n) are all non-negative functions of integers.</a:t>
            </a:r>
            <a:endParaRPr/>
          </a:p>
          <a:p>
            <a:pPr indent="0" lvl="0" marL="0" rtl="0" algn="l">
              <a:spcBef>
                <a:spcPts val="750"/>
              </a:spcBef>
              <a:spcAft>
                <a:spcPts val="0"/>
              </a:spcAft>
              <a:buNone/>
            </a:pPr>
            <a:r>
              <a:t/>
            </a:r>
            <a:endParaRPr/>
          </a:p>
          <a:p>
            <a:pPr indent="-342900" lvl="0" marL="457200" rtl="0" algn="l">
              <a:spcBef>
                <a:spcPts val="750"/>
              </a:spcBef>
              <a:spcAft>
                <a:spcPts val="0"/>
              </a:spcAft>
              <a:buSzPts val="1800"/>
              <a:buAutoNum type="arabicPeriod"/>
            </a:pPr>
            <a:r>
              <a:rPr lang="en"/>
              <a:t>If </a:t>
            </a:r>
            <a:r>
              <a:rPr lang="en" sz="2800"/>
              <a:t>f(n) = O(g(n)), then f(n) * h(n) = O(g(n) * h(n))</a:t>
            </a:r>
            <a:endParaRPr/>
          </a:p>
          <a:p>
            <a:pPr indent="0" lvl="0" marL="0" rtl="0" algn="l">
              <a:spcBef>
                <a:spcPts val="750"/>
              </a:spcBef>
              <a:spcAft>
                <a:spcPts val="0"/>
              </a:spcAft>
              <a:buNone/>
            </a:pPr>
            <a:r>
              <a:t/>
            </a:r>
            <a:endParaRPr/>
          </a:p>
          <a:p>
            <a:pPr indent="0" lvl="0" marL="0" rtl="0" algn="l">
              <a:spcBef>
                <a:spcPts val="1000"/>
              </a:spcBef>
              <a:spcAft>
                <a:spcPts val="0"/>
              </a:spcAft>
              <a:buClr>
                <a:schemeClr val="dk1"/>
              </a:buClr>
              <a:buSzPts val="1800"/>
              <a:buFont typeface="Arial"/>
              <a:buNone/>
            </a:pPr>
            <a:r>
              <a:rPr lang="en" sz="2800"/>
              <a:t>f(n) = Ω(g(n)) if g(n) = O(f(n))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92"/>
          <p:cNvSpPr txBox="1"/>
          <p:nvPr>
            <p:ph type="ctrTitle"/>
          </p:nvPr>
        </p:nvSpPr>
        <p:spPr>
          <a:xfrm>
            <a:off x="1143000" y="841772"/>
            <a:ext cx="6858000" cy="1790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
              <a:t>More Practice! (if time)</a:t>
            </a:r>
            <a:endParaRPr/>
          </a:p>
        </p:txBody>
      </p:sp>
      <p:sp>
        <p:nvSpPr>
          <p:cNvPr id="625" name="Google Shape;625;p92"/>
          <p:cNvSpPr txBox="1"/>
          <p:nvPr>
            <p:ph idx="1" type="subTitle"/>
          </p:nvPr>
        </p:nvSpPr>
        <p:spPr>
          <a:xfrm>
            <a:off x="1143000" y="2701529"/>
            <a:ext cx="6858000" cy="1241700"/>
          </a:xfrm>
          <a:prstGeom prst="rect">
            <a:avLst/>
          </a:prstGeom>
        </p:spPr>
        <p:txBody>
          <a:bodyPr anchorCtr="0" anchor="t" bIns="45700" lIns="91425" spcFirstLastPara="1" rIns="91425" wrap="square" tIns="45700">
            <a:normAutofit/>
          </a:bodyPr>
          <a:lstStyle/>
          <a:p>
            <a:pPr indent="0" lvl="0" marL="0" rtl="0" algn="ctr">
              <a:spcBef>
                <a:spcPts val="75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